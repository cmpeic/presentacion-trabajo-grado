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Pablo Enrique Cañez Larico. Presento el trabajo de grado «Modelo de Procesamiento de Lenguaje Natural en la validación de correspondencia de productos del ecosistema Philips», desarrollado en el área de operaciones de la empresa Agilsoft. Mi tutor es el ingeniero Víctor Rodríguez Estévez.</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comercio electrónico publica el mismo producto en miles de tiendas, y cada tienda lo describe a su manera.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Philips necesita saber qué está publicado de su marca en cada país. Eso exige cruzar millones de publicaciones contra un catálogo oficial.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 cruce es un problema de lenguaje natural: dos textos que hablan del mismo objeto sin escribirlo igual.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Hoy ese cruce lo resuelve una persona, publicación por publicación. Ahí empieza este trabajo.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Mosaico de antecedentes: vista general de los seis antecedentes antes del detalle.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Agilsoft opera para Philips el monitoreo de sus productos en comercios de decenas de países.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equipo de web scraping extrae automáticamente las publicaciones de cada retailer: título, precio, imagen y enlace.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la extracción no resuelve es la correspondencia. Un analista abre la publicación y el catálogo, y decide si son el mismo producto.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lote diario se reparte entre los analistas del turno. Cada uno arrastra su propio criterio.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decisión no es binaria: el analista clasifica en Match, NIC, Hidden o Delete, según qué encontró y qué faltaba.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área de Quality Assurance revisa una muestra y corrige. Es el único control que existe sobre la consistencia del criterio.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tiene cuatro causas y cada una produce un efecto medible.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Criterio no formalizado produce decisiones inconsistentes. Dos analistas pueden clasificar el mismo par de manera opuesta.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volumen de publicaciones crece continuamente y el tiempo de respuesta aumenta.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inspección es puramente visual: fatiga del operador y riesgo de error humano.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Ausencia de trazabilidad en la decisión: no queda registro de por qué se aceptó o rechazó un par.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qué manera la aplicación de un modelo de Procesamiento de Lenguaje Natural incide en la consistencia de la calidad del matching y en el tiempo de validación?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Diseñar e implementar un modelo basado en Procesamiento de Lenguaje Natural para validar la correspondencia de productos entre publicaciones de comercios electrónicos y los catálogos oficiales de Philips.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aplicación de un modelo de Procesamiento de Lenguaje Natural mejora la consistencia de la calidad del matching y reduce el tiempo de validación respecto al proceso manual actual.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contrastar esta hipótesis se definen tres variables: Como variable independiente, el Modelo de Procesamiento de Lenguaje Natural aplicado a la correspondencia de productos. Y como variables dependientes, los dos efectos medibles del problema: la consistencia de la calidad del matching y el tiempo de validación.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operacionalización descompone cada variable en dimensiones e indicadores concretos. La variable independiente se evalúa mediante la arquitectura algorítmica y su capacidad frente al ruido textual. La consistencia de la calidad se mide a través del rendimiento predictivo —con métricas de Accuracy, Precisión, Recall y F1-score— y la estabilidad operativa frente a la tasa de error humano. Y el tiempo de validación se cuantifica mediante la eficiencia temporal en segundos, comparando la latencia del modelo frente al promedio manual y evaluando el porcentaje de reducción alcanzado.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marco teórico se organiza en doce temas. Metodologías de desarrollo 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notación de modelado de procesos, que sostienen el método.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Fundamentos computacionales 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minería de texto y procesamiento de lenguaje natural, que son el núcleo.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Modelos de representación de texto,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correspondencia de entidades 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modelos de clasificación, que definen la solución.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Métricas de similitud,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evaluación de modelos 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medición de eficiencia, que permiten contrastar la hipótesis. Y por último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sistemas de apoyo a la decisión 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web, para la entrega.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 elección metodológica de este trabajo se decidió con la misma escala de uno a cinco, definida antes de comparar. Esto evita justificar a posteriori la opción que ya se prefería.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cinco criterios, CRISP-DM obtiene 23 puntos frente a 14 de KDD y 14 de SEMMA. Gana por dos razones concretas: comprensión del negocio e iteratividad, que es exactamente lo que exigía un problema definido por criterios operativos.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la gestión, Kanban obtiene 30 puntos frente a 21 de Scrum y 21 de XP. Pesó el seguimiento continuo sin sprints obligatorios y el bajo requerimiento de roles formales: el desarrollo lo ejecuta una sola persona.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actores. El equipo de web scraping entrega registros estructurados. Los analistas de Product Matching validan a mano contra el catálogo y producen la clasificación operativa. Quality Assurance supervisa y corrige.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criterio que hoy vive en la cabeza del analista, formalizado por primera vez. Nótese que la decisión no es «¿corresponde o no?»: es una cadena de preguntas que termina en Match, NIC, Hidden o Delete.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proceso AS-IS. Todo el trabajo de decisión ocurre en un solo carril: el del analista. No hay ningún punto donde el sistema aporte evidencia.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proceso propuesto. Aparece un carril de sistema automático que resuelve lo evidente y prioriza lo dudoso. El analista no desaparece: recibe menos casos y mejor preparados.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medida. Un caso fácil toma 15 a 30 segundos; uno difícil, 60 a 120. El promedio operativo es de 65 segundos por producto, con una cuota de 440 productos diarios por analista y 10 operadores por turno: 4.400 productos por día. Contra esta cifra se contrastará el resultado.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dataset principal trae 36 columnas. Agrupadas por rol se ve la estructura real: trazabilidad del snapshot, lado fabricante, lado retailer, geografía y calidad del match. Solo dos de esos grupos contienen el texto que el modelo va a leer.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está la asimetría del problema. El nombre del fabricante promedia 42 caracteres; el del retailer, 61, y el 90,19% contiene un token con forma de código. El identificador del retailer no es confiable: 8.528 casos aparecen reutilizados entre comercios distintos.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banderas sirven de filtro: Invalid, IsDeleted y MatchConfidence. La cuarta, LinkIsValid, parece un filtro y no lo es: describe el estado del enlace, no la validez de la correspondencia. Usarla habría descartado datos buenos.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aporta 15.355 filas con solo cuatro columnas. Su contrato es de una sola clase: el pipeline se detiene si aparece un estado distinto de Hidden. Un contrato verificable vale más que una comprobación manual.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NIC aporta 47.333 filas y es la fuente más compleja: cinco columnas de contrato base más ocho de etiquetado heurístico. El 83% queda como unknown_review. Por eso NIC no entra como verdad fuerte, sino con peso reducido — una decisión metodológica, no una limitación técnica.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catálogo oficial es la referencia contra la que se compara todo. Ucrania y Bélgica comparten contrato de 11 columnas. La llave real es el ProductId con barra, como BAR700/00. Los dos campos de precio están en cero en todo el snapshot: por eso no se usan.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la única fuente que llega ya en forma de par etiquetado: 896 filas con los dos textos y su etiqueta. Y trae el tipo de negativo — sufijo distinto y reacondicionado —, que es justamente lo que después va a costar más.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fuente no tiene archivo físico hoy. Aun así el contrato es verificable, porque el código que lo consume lo declara y lo valida antes de leer. Es la diferencia entre documentar un supuesto y hacerlo comprobable.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las 36 columnas originales se seleccionan siete campos textuales: cinco del fabricante y dos del retailer. Estos campos forman dos vistas comparables: manufacturer text y retailer text.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y NIC aportan un único campo de texto, sin mezclarlo con nada. El catálogo compone marca, nombre y descripción, y extrae los códigos aparte. Cada regla está verificada en su módulo de preparación.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lote de prueba reutiliza el mismo compositor de texto que Match — esto es deliberado: evita que el modelo vea en producción un texto formado de otra manera que en entrenamiento. Los pares negativos llegan ya compuestos.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volcado trae 129.507 filas. El filtro base conserva 127.093, el 98,14%: el dataset ya venía limpio a nivel de banderas. El trabajo real fue definir la identidad — la unidad canónica de publicación — y llegar a 110.706 publicaciones y 17.416 productos oficiales.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tres cosas que parecen duplicados y no lo son. Duplicado exacto: 8 filas, se eliminan. Repetición histórica del mismo par entre meses: 20,92%, no se borra, se colapsa. Y co-ocurrencia por usar la llave equivocada, que no es duplicado en absoluto. Lo ambiguo se marca con su severidad.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hallazgos que cambian el diseño. Uno: una fila no es un producto, así que la división train/test se hace por par, nunca por fila. Dos: el código vive dentro del texto libre, en el 90,19% de los títulos. Tres: lo que parece ruido es sintaxis — la barra y las comillas significan algo.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fuentes, muy desiguales. Match aporta 127.093 pares; el catálogo, apenas 4.316 productos. Esa desproporción es la que obliga a una arquitectura de recuperación y no de comparación exhaustiva.</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preparadores distintos, un solo pipeline de 19 pasos. Lo único propio de cada fuente es qué columnas leer; de ahí en adelante son las mismas funciones. Eso elimina el training-serving skew: el texto de producción se forma exactamente igual que el de entrenamiento.</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título real. Del crudo con entidades y mayúsculas, a la normalización Unicode, a las diez reglas técnicas de dominio, y finalmente los códigos separados del texto. La barra, las comillas y el alfabeto se conservan: son sintaxis, no ruido. La normalización es idempotente, verificado sobre 254.186 textos.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 entidades HTML eliminadas: eso sí era ruido. 30.919 filas en alfabeto no latino conservadas íntegras: cero pérdidas, porque una limpieza estándar habría borrado mercados enteros. Y separar los códigos del texto sube el Recall@1 de 51 a 83 por ciento: 32 puntos.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que ordena los tres modelos es qué puede mirar cada uno. TF-IDF no mira nada: es geometría de vectores. Los embeddings miran cada texto por separado. El cross-encoder mira los dos textos juntos en una sola secuencia. Esa diferencia explica todos los resultados que siguen.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leer los dos textos juntos aparecen dos cuadrantes de atención que ningún otro modelo tiene: cada token del catálogo consulta el título del retailer y viceversa. Ahí es donde el sufijo /90 se confronta con /INT. El falso positivo por sufijo distinto cae de 36 y 90 por ciento a 4,88%.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se fijó antes de mirar resultados. Entrenamiento hasta octubre, validación en noviembre con 428 consultas, y test en diciembre con 147, que se abre una sola vez, al cerrar. Veintitrés configuraciones declaradas de antemano.</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medidas de similitud, pero con funciones distintas. Solo una decide: el coseno sobre TF-IDF. Una contrasta: BM25. Y cinco explican — sirven para auditar un par, nunca para decidir solas. Distinguir esto evita el error de promediar métricas que miden cosas diferentes.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arquitectura es una cascada. El catálogo tiene 4.316 productos por consulta; TF-IDF los reduce a 20 candidatos, con la verdad dentro el 91,84% de las veces. Sobre esos veinte, el cross-encoder decide. Ninguno de los dos puede hacer el trabajo del otro.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el sistema completo es una escalera. Las capas cero a tres son reglas deterministas y resuelven 1.274 de las 1.282 decisiones automáticas — el 99,4%, sin GPU. El modelo interviene en la capa cuatro. Y la capa cinco es la abstención: 1.083 publicaciones que llegan al revisor ya ordenadas.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caso real. La consulta es una publicación ucraniana de un monitor. El catálogo está en inglés. Aun así el producto correcto queda primero, con 0,69, el doble que el segundo. Los n-gramas de caracteres cruzan el idioma porque el código es la parte que ambos textos comparten.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aquí el límite. Misma clase de consulta, pero los dos primeros candidatos son el mismo texto: solo cambia /00 por /01. La separación es de cinco centésimas. Una bolsa de n-gramas no puede resolver esto, y por eso hace falta un segundo modelo que lea los dos textos juntos.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diecisiete configuraciones del recuperador. Lean por columnas, no por filas: pasar de texto básico a texto enriquecido con los códigos vale 32 puntos de Recall@1. Elegir el mejor analizador dentro de una columna vale cinco. La decisión de qué texto indexar pesó más que la de qué algoritmo usar.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mismo par, medido por las cinco funciones. Un título en ucraniano y uno en español, sin un solo token compartido: TF-IDF da 0,16, Jaccard 0,09. El cross-encoder da 0,99927 — entiende que hablan del mismo tipo de producto. Pero se equivoca de referencia: acierta el concepto y falla el modelo exacto.</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esa duda es detectable. En los cuatro errores de ranking más graves, la distancia entre el primer y el segundo candidato va de cero a siete millonésimas. El score no avisa: todos pasan de 0,998. El margen sí. Por eso la compuerta exige score y margen, y estos casos van a revisión.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cuatro falsos positivos que sobreviven, con su título real. Un título con dos códigos; un sufijo /RH que designa otra referencia; un producto reacondicionado que comparte texto con el original; y un paquete de televisor más barra de sonido. Ninguno es caprichoso: en los cuatro, el texto sí describe el producto.</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Recuperación sobre el test. La mejor cascada acierta en primera posición el 87,07%. Pero las dos mejores difieren en tres consultas y el test de McNemar da p igual a 1. Por eso se reporta como el mejor resultado observado, no como superioridad demostrada.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Clasificación de pares. Los modelos uno y dos parecen equivalentes por F1 — 72% contra 73% — y sus matrices son opuestas: uno rechaza de más, el otro acepta casi todo. El cross-encoder llega a 97,41% con 4,62% de falsos positivos. Aquí la superioridad sí es contundente.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esta es la cifra que cuenta la historia. Sobre variantes casi idénticas del mismo producto, los embeddings fallan el 90% de las veces y TF-IDF el 36%. El cross-encoder, el 4,88%. Esto es exactamente la variabilidad de criterio que el planteamiento del problema identificaba.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completa sobre los 344 pares de test: 222 aciertos positivos, 109 negativos correctos, 4 falsos positivos y 9 falsos negativos. El umbral se fijó en validación y se aplicó al test sin retocarlo — es la única forma de que la cifra signifique algo.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una limitación que conviene decir antes de que la pregunten. De los 26 fallos de primera posición, 12 son irrecuperables: el candidato correcto nunca entró al pool. Mejorar el reordenador no los arregla; hay que ensanchar la recuperación.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213 consultas anotadas a mano, fuera del entrenamiento. Y aquí el resultado es honesto: modelo uno y modelo tres empatan en Recall@1. El bootstrap de diez mil muestras da una diferencia de exactamente cero. El aporte del reordenador no es recuperar mejor: es decidir cuándo automatizar.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publicaciones belgas reales. La primera se resuelve bien. La segunda vende un televisor y una barra de sonido: no corresponde a un solo producto del catálogo. El score es altísimo, pero el margen de 0,0022 delata la ambigüedad y el sistema se abstiene. Se abstiene por la razón correcta.</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de generalización: 2.365 publicaciones, 19 países, ningún retailer visto en el entrenamiento. 54,2% automatizado con 94,5% de precisión. Los dos peores resultados son los dos marketplaces más grandes, donde el título lo escribe un vendedor tercero. La degradación tiene una causa identificable.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esta lámina explica por qué. Dos publicaciones, mismo umbral, scores casi idénticos. La primera lleva el código en el título y acierta. La segunda dice solo «Philips Air Fryer, 7,2 litros» — que describe varias freidoras del catálogo — y el modelo elige una plausible con total confianza. Es el límite del método.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reúne dos semanas operativas. Se registraron 62.580 segundos para 3.768 publicaciones-semana. El promedio combinado es 16,608 segundos por publicación-semana.</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corrida v7.5 procesó 2.365 consultas en 15.411,8 segundos. La latencia promedio fue 6,5166 segundos por consulta, equivalente a una reducción unitaria del 60,76% frente a la línea base manual.</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mismo lote, el proceso manual proyecta 10,91 horas humanas. Con el modelo, el operador revisa 1.083 casos y utiliza 5,00 horas humanas. La reducción del trabajo humano es 54,21%; si máquina y persona se consideran secuenciales, la reducción total es 14,97%.</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evaluación interna del Modelo 3 alcanza 96,89% de exactitud y 97,41% de F1. En el benchmark externo, la coincidencia selectiva es 94,54%. Los 70 casos son desacuerdos externos; durante el uso controlado se registraron cero errores.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94 verdaderos positivos, 62 verdaderos negativos, 3 falsos positivos y 2 falsos negativos, la exactitud es 96,89%, la precisión 96,91%, el recall 97,92%, el F1 97,41% y la tasa de error 3,11%. En el uso controlado, la tasa de error observada es cero.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manual resulta de dividir 62.580 segundos entre 3.768 publicaciones-semana: 16,608 segundos. La latencia del modelo es 15.411,8 entre 2.365: 6,5166 segundos. La reducción unitaria es 60,76%, la reducción de horas humanas 54,21% y la reducción secuencial total 14,97%.</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variable independiente se materializa en el Modelo 3, la cascada v7.5 y el esquema Human in the Loop. Para la primera variable dependiente, la evidencia interna, externa y de uso muestra mejora de consistencia. Para la segunda, la latencia y las horas humanas demuestran reducción del tiempo.</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tanto, el modelo de Procesamiento de Lenguaje Natural mejora la consistencia de la calidad del matching y reduce el tiempo de validación, en comparación con el proceso manual, en el área de operaciones de Agilsoft SRL. Se acepta la hipótesis dentro del alcance del estudio.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por su atención. Quedo atento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23.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5.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6.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7.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8.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8.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9.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29.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30.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0.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1.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1.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2.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3.png"/><Relationship Id="rId15" Type="http://schemas.openxmlformats.org/officeDocument/2006/relationships/image" Target="../media/image34.png"/><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3.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 Id="rId15" Type="http://schemas.openxmlformats.org/officeDocument/2006/relationships/image" Target="../media/image34.png"/><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4.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 Id="rId15" Type="http://schemas.openxmlformats.org/officeDocument/2006/relationships/image" Target="../media/image33.png"/><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8.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39.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0.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0.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4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Tarjeta logo EMI"/>
          <p:cNvSpPr/>
          <p:nvPr/>
        </p:nvSpPr>
        <p:spPr>
          <a:xfrm>
            <a:off x="914400" y="723900"/>
            <a:ext cx="3848100" cy="1866900"/>
          </a:xfrm>
          <a:prstGeom prst="roundRect">
            <a:avLst>
              <a:gd name="adj" fmla="val 918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Logo EMI" descr="logo_universidad_2e81de3fa5.png"/>
          <p:cNvPicPr>
            <a:picLocks noChangeAspect="1"/>
          </p:cNvPicPr>
          <p:nvPr/>
        </p:nvPicPr>
        <p:blipFill>
          <a:blip r:embed="rId3"/>
          <a:stretch>
            <a:fillRect/>
          </a:stretch>
        </p:blipFill>
        <p:spPr>
          <a:xfrm>
            <a:off x="1099102" y="857250"/>
            <a:ext cx="3478696" cy="1600200"/>
          </a:xfrm>
          <a:prstGeom prst="rect">
            <a:avLst/>
          </a:prstGeom>
        </p:spPr>
      </p:pic>
      <p:pic>
        <p:nvPicPr>
          <p:cNvPr id="5" name="Logo carrera" descr="logo_carrera_sistemas_blanco_4b1f370dbe.png"/>
          <p:cNvPicPr>
            <a:picLocks noChangeAspect="1"/>
          </p:cNvPicPr>
          <p:nvPr/>
        </p:nvPicPr>
        <p:blipFill>
          <a:blip r:embed="rId4"/>
          <a:stretch>
            <a:fillRect/>
          </a:stretch>
        </p:blipFill>
        <p:spPr>
          <a:xfrm>
            <a:off x="5257800" y="1233920"/>
            <a:ext cx="2857500" cy="846859"/>
          </a:xfrm>
          <a:prstGeom prst="rect">
            <a:avLst/>
          </a:prstGeom>
        </p:spPr>
      </p:pic>
      <p:sp>
        <p:nvSpPr>
          <p:cNvPr id="6" name="Esquinero"/>
          <p:cNvSpPr/>
          <p:nvPr/>
        </p:nvSpPr>
        <p:spPr>
          <a:xfrm>
            <a:off x="1428750" y="3429000"/>
            <a:ext cx="20955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Esquinero"/>
          <p:cNvSpPr/>
          <p:nvPr/>
        </p:nvSpPr>
        <p:spPr>
          <a:xfrm>
            <a:off x="1428750" y="3429000"/>
            <a:ext cx="28575" cy="2095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5695950" y="3429000"/>
            <a:ext cx="20955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5876925" y="3429000"/>
            <a:ext cx="28575" cy="2095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428750" y="3905250"/>
            <a:ext cx="28575" cy="2095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428750" y="4086225"/>
            <a:ext cx="20955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5876925" y="3905250"/>
            <a:ext cx="28575" cy="2095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5695950" y="4086225"/>
            <a:ext cx="20955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428750" y="3429000"/>
            <a:ext cx="4476750" cy="685800"/>
          </a:xfrm>
          <a:prstGeom prst="rect">
            <a:avLst/>
          </a:prstGeom>
          <a:noFill/>
        </p:spPr>
        <p:txBody>
          <a:bodyPr wrap="square" lIns="0" rIns="0" tIns="0" bIns="0" anchor="ctr">
            <a:spAutoFit/>
          </a:bodyPr>
          <a:lstStyle/>
          <a:p>
            <a:pPr algn="ctr">
              <a:lnSpc>
                <a:spcPct val="100000"/>
              </a:lnSpc>
            </a:pPr>
            <a:r>
              <a:rPr sz="1950" b="1" i="0" spc="400">
                <a:solidFill>
                  <a:srgbClr val="FFD21F"/>
                </a:solidFill>
                <a:latin typeface="Montserrat"/>
              </a:rPr>
              <a:t>TRABAJO DE GRADO</a:t>
            </a:r>
          </a:p>
        </p:txBody>
      </p:sp>
      <p:sp>
        <p:nvSpPr>
          <p:cNvPr id="15" name="Titulo"/>
          <p:cNvSpPr txBox="1"/>
          <p:nvPr/>
        </p:nvSpPr>
        <p:spPr>
          <a:xfrm>
            <a:off x="1428750" y="4476750"/>
            <a:ext cx="11620500" cy="1809750"/>
          </a:xfrm>
          <a:prstGeom prst="rect">
            <a:avLst/>
          </a:prstGeom>
          <a:noFill/>
        </p:spPr>
        <p:txBody>
          <a:bodyPr wrap="square" lIns="0" rIns="0" tIns="0" bIns="0" anchor="t">
            <a:spAutoFit/>
          </a:bodyPr>
          <a:lstStyle/>
          <a:p>
            <a:pPr algn="l">
              <a:lnSpc>
                <a:spcPct val="101700"/>
              </a:lnSpc>
            </a:pPr>
            <a:r>
              <a:rPr sz="3750" b="1" i="0">
                <a:solidFill>
                  <a:srgbClr val="F3F7FC"/>
                </a:solidFill>
                <a:latin typeface="Montserrat"/>
              </a:rPr>
              <a:t>Modelo de Procesamiento de Lenguaje</a:t>
            </a:r>
          </a:p>
          <a:p>
            <a:pPr algn="l">
              <a:lnSpc>
                <a:spcPct val="101700"/>
              </a:lnSpc>
            </a:pPr>
            <a:r>
              <a:rPr sz="3750" b="1" i="0">
                <a:solidFill>
                  <a:srgbClr val="F3F7FC"/>
                </a:solidFill>
                <a:latin typeface="Montserrat"/>
              </a:rPr>
              <a:t>Natural en la validación de correspondencia</a:t>
            </a:r>
          </a:p>
          <a:p>
            <a:pPr algn="l">
              <a:lnSpc>
                <a:spcPct val="101700"/>
              </a:lnSpc>
            </a:pPr>
            <a:r>
              <a:rPr sz="3750" b="1" i="0">
                <a:solidFill>
                  <a:srgbClr val="F3F7FC"/>
                </a:solidFill>
                <a:latin typeface="Montserrat"/>
              </a:rPr>
              <a:t>de productos del ecosistema Philips</a:t>
            </a:r>
          </a:p>
        </p:txBody>
      </p:sp>
      <p:sp>
        <p:nvSpPr>
          <p:cNvPr id="16" name="TextBox 15"/>
          <p:cNvSpPr txBox="1"/>
          <p:nvPr/>
        </p:nvSpPr>
        <p:spPr>
          <a:xfrm>
            <a:off x="1428750" y="6743700"/>
            <a:ext cx="10668000" cy="438150"/>
          </a:xfrm>
          <a:prstGeom prst="rect">
            <a:avLst/>
          </a:prstGeom>
          <a:noFill/>
        </p:spPr>
        <p:txBody>
          <a:bodyPr wrap="square" lIns="0" rIns="0" tIns="0" bIns="0" anchor="t">
            <a:spAutoFit/>
          </a:bodyPr>
          <a:lstStyle/>
          <a:p>
            <a:pPr algn="l">
              <a:lnSpc>
                <a:spcPct val="100000"/>
              </a:lnSpc>
            </a:pPr>
            <a:r>
              <a:rPr sz="2400" b="1" i="0">
                <a:solidFill>
                  <a:srgbClr val="4F9BFF"/>
                </a:solidFill>
                <a:latin typeface="Barlow"/>
              </a:rPr>
              <a:t>Caso de estudio: área de Agilsoft SRL.</a:t>
            </a:r>
          </a:p>
        </p:txBody>
      </p:sp>
      <p:sp>
        <p:nvSpPr>
          <p:cNvPr id="17" name="Rectangle 16"/>
          <p:cNvSpPr/>
          <p:nvPr/>
        </p:nvSpPr>
        <p:spPr>
          <a:xfrm>
            <a:off x="1428750" y="8420100"/>
            <a:ext cx="15430500" cy="19050"/>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Autor"/>
          <p:cNvSpPr txBox="1"/>
          <p:nvPr/>
        </p:nvSpPr>
        <p:spPr>
          <a:xfrm>
            <a:off x="1428750" y="8686800"/>
            <a:ext cx="9525000" cy="609600"/>
          </a:xfrm>
          <a:prstGeom prst="rect">
            <a:avLst/>
          </a:prstGeom>
          <a:noFill/>
        </p:spPr>
        <p:txBody>
          <a:bodyPr wrap="square" lIns="0" rIns="0" tIns="0" bIns="0" anchor="ctr">
            <a:spAutoFit/>
          </a:bodyPr>
          <a:lstStyle/>
          <a:p>
            <a:pPr algn="l">
              <a:lnSpc>
                <a:spcPct val="100000"/>
              </a:lnSpc>
            </a:pPr>
            <a:r>
              <a:rPr sz="3150" b="1" i="0">
                <a:solidFill>
                  <a:srgbClr val="F3F7FC"/>
                </a:solidFill>
                <a:latin typeface="Montserrat"/>
              </a:rPr>
              <a:t>Est. Cañez Larico Pablo Enrique</a:t>
            </a:r>
          </a:p>
        </p:txBody>
      </p:sp>
      <p:sp>
        <p:nvSpPr>
          <p:cNvPr id="19" name="TextBox 18"/>
          <p:cNvSpPr txBox="1"/>
          <p:nvPr/>
        </p:nvSpPr>
        <p:spPr>
          <a:xfrm>
            <a:off x="11144250" y="8686800"/>
            <a:ext cx="5715000" cy="609600"/>
          </a:xfrm>
          <a:prstGeom prst="rect">
            <a:avLst/>
          </a:prstGeom>
          <a:noFill/>
        </p:spPr>
        <p:txBody>
          <a:bodyPr wrap="square" lIns="0" rIns="0" tIns="0" bIns="0" anchor="ctr">
            <a:spAutoFit/>
          </a:bodyPr>
          <a:lstStyle/>
          <a:p>
            <a:pPr algn="r">
              <a:lnSpc>
                <a:spcPct val="100000"/>
              </a:lnSpc>
            </a:pPr>
            <a:r>
              <a:rPr sz="2100" b="0" i="0">
                <a:solidFill>
                  <a:srgbClr val="9FB4CC"/>
                </a:solidFill>
                <a:latin typeface="Barlow"/>
              </a:rPr>
              <a:t>Tutor: Ing. Víctor Rodríguez Estévez</a:t>
            </a:r>
          </a:p>
        </p:txBody>
      </p:sp>
      <p:cxnSp>
        <p:nvCxnSpPr>
          <p:cNvPr id="20" name="Connector 19"/>
          <p:cNvCxnSpPr/>
          <p:nvPr/>
        </p:nvCxnSpPr>
        <p:spPr>
          <a:xfrm flipH="1">
            <a:off x="13411200" y="1866900"/>
            <a:ext cx="304800" cy="260985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3716000" y="1143000"/>
            <a:ext cx="2000250" cy="72390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716250" y="1143000"/>
            <a:ext cx="1962150" cy="142875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7678400" y="2571750"/>
            <a:ext cx="228600" cy="323850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411200" y="4476750"/>
            <a:ext cx="285750" cy="276225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696950" y="7239000"/>
            <a:ext cx="2495550" cy="55245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16192500" y="5810250"/>
            <a:ext cx="1714500" cy="1981200"/>
          </a:xfrm>
          <a:prstGeom prst="line">
            <a:avLst/>
          </a:prstGeom>
          <a:ln w="14287">
            <a:solidFill>
              <a:srgbClr val="2F7BFF">
                <a:alpha val="45000"/>
              </a:srgbClr>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13649325" y="180022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5649575" y="107632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7611725" y="250507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7840325" y="574357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3344525" y="441007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630275" y="717232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125825" y="7724775"/>
            <a:ext cx="133350" cy="133350"/>
          </a:xfrm>
          <a:prstGeom prst="ellipse">
            <a:avLst/>
          </a:prstGeom>
          <a:solidFill>
            <a:srgbClr val="4F9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3430250" y="2419350"/>
            <a:ext cx="4305300" cy="4305300"/>
          </a:xfrm>
          <a:prstGeom prst="ellipse">
            <a:avLst/>
          </a:prstGeom>
          <a:noFill/>
          <a:ln w="19050">
            <a:solidFill>
              <a:srgbClr val="0B5EA8">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849350" y="2838450"/>
            <a:ext cx="3467100" cy="3467100"/>
          </a:xfrm>
          <a:prstGeom prst="ellipse">
            <a:avLst/>
          </a:prstGeom>
          <a:solidFill>
            <a:srgbClr val="0D2748"/>
          </a:solidFill>
          <a:ln w="47625">
            <a:solidFill>
              <a:srgbClr val="2F7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Red neuronal" descr="int_3_1e09114745.png"/>
          <p:cNvPicPr>
            <a:picLocks noChangeAspect="1"/>
          </p:cNvPicPr>
          <p:nvPr/>
        </p:nvPicPr>
        <p:blipFill>
          <a:blip r:embed="rId5"/>
          <a:stretch>
            <a:fillRect/>
          </a:stretch>
        </p:blipFill>
        <p:spPr>
          <a:xfrm>
            <a:off x="14649429" y="3429000"/>
            <a:ext cx="1866942"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INTRODUCCIÓN</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11811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2287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2792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2792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2287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676650" y="2190750"/>
            <a:ext cx="6286500" cy="62865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6760" y="3070860"/>
            <a:ext cx="4526280" cy="452628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t_1_493a033fb6.png"/>
          <p:cNvPicPr>
            <a:picLocks noChangeAspect="1"/>
          </p:cNvPicPr>
          <p:nvPr/>
        </p:nvPicPr>
        <p:blipFill>
          <a:blip r:embed="rId4"/>
          <a:stretch>
            <a:fillRect/>
          </a:stretch>
        </p:blipFill>
        <p:spPr>
          <a:xfrm>
            <a:off x="3661988" y="2571750"/>
            <a:ext cx="6315823" cy="5334000"/>
          </a:xfrm>
          <a:prstGeom prst="rect">
            <a:avLst/>
          </a:prstGeom>
        </p:spPr>
      </p:pic>
      <p:sp>
        <p:nvSpPr>
          <p:cNvPr id="19" name="Rectangle 18"/>
          <p:cNvSpPr/>
          <p:nvPr/>
        </p:nvSpPr>
        <p:spPr>
          <a:xfrm>
            <a:off x="1295400" y="8534400"/>
            <a:ext cx="110490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95400" y="85344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600200" y="8534400"/>
            <a:ext cx="105918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01 · El ecosistema de comercios</a:t>
            </a:r>
          </a:p>
        </p:txBody>
      </p:sp>
      <p:sp>
        <p:nvSpPr>
          <p:cNvPr id="22" name="Rectangle 21"/>
          <p:cNvSpPr/>
          <p:nvPr/>
        </p:nvSpPr>
        <p:spPr>
          <a:xfrm>
            <a:off x="13106400" y="1905000"/>
            <a:ext cx="4267200" cy="1762125"/>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nt_1_493a033fb6.png"/>
          <p:cNvPicPr>
            <a:picLocks noChangeAspect="1"/>
          </p:cNvPicPr>
          <p:nvPr/>
        </p:nvPicPr>
        <p:blipFill>
          <a:blip r:embed="rId4"/>
          <a:stretch>
            <a:fillRect/>
          </a:stretch>
        </p:blipFill>
        <p:spPr>
          <a:xfrm>
            <a:off x="14159133" y="2114550"/>
            <a:ext cx="1590234" cy="1343025"/>
          </a:xfrm>
          <a:prstGeom prst="rect">
            <a:avLst/>
          </a:prstGeom>
        </p:spPr>
      </p:pic>
      <p:sp>
        <p:nvSpPr>
          <p:cNvPr id="24" name="Rectangle 23"/>
          <p:cNvSpPr/>
          <p:nvPr/>
        </p:nvSpPr>
        <p:spPr>
          <a:xfrm>
            <a:off x="16821150" y="3267075"/>
            <a:ext cx="419100" cy="30175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6821150" y="3267075"/>
            <a:ext cx="419100" cy="301752"/>
          </a:xfrm>
          <a:prstGeom prst="rect">
            <a:avLst/>
          </a:prstGeom>
          <a:noFill/>
        </p:spPr>
        <p:txBody>
          <a:bodyPr wrap="none" lIns="0" rIns="0" tIns="0" bIns="0" anchor="ctr">
            <a:spAutoFit/>
          </a:bodyPr>
          <a:lstStyle/>
          <a:p>
            <a:pPr algn="ctr">
              <a:lnSpc>
                <a:spcPct val="100000"/>
              </a:lnSpc>
            </a:pPr>
            <a:r>
              <a:rPr sz="1188" b="1" i="0">
                <a:solidFill>
                  <a:srgbClr val="07172D"/>
                </a:solidFill>
                <a:latin typeface="Montserrat"/>
              </a:rPr>
              <a:t>01</a:t>
            </a:r>
          </a:p>
        </p:txBody>
      </p:sp>
      <p:sp>
        <p:nvSpPr>
          <p:cNvPr id="26" name="Rectangle 25"/>
          <p:cNvSpPr/>
          <p:nvPr/>
        </p:nvSpPr>
        <p:spPr>
          <a:xfrm>
            <a:off x="13106400" y="385762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nt_2_3bc65c03bb.png"/>
          <p:cNvPicPr>
            <a:picLocks noChangeAspect="1"/>
          </p:cNvPicPr>
          <p:nvPr/>
        </p:nvPicPr>
        <p:blipFill>
          <a:blip r:embed="rId5">
            <a:alphaModFix amt="45000"/>
          </a:blip>
          <a:stretch>
            <a:fillRect/>
          </a:stretch>
        </p:blipFill>
        <p:spPr>
          <a:xfrm>
            <a:off x="14301292" y="4067175"/>
            <a:ext cx="1305915" cy="1343025"/>
          </a:xfrm>
          <a:prstGeom prst="rect">
            <a:avLst/>
          </a:prstGeom>
        </p:spPr>
      </p:pic>
      <p:sp>
        <p:nvSpPr>
          <p:cNvPr id="28" name="Rectangle 27"/>
          <p:cNvSpPr/>
          <p:nvPr/>
        </p:nvSpPr>
        <p:spPr>
          <a:xfrm>
            <a:off x="16821150" y="521970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6821150" y="521970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02</a:t>
            </a:r>
          </a:p>
        </p:txBody>
      </p:sp>
      <p:sp>
        <p:nvSpPr>
          <p:cNvPr id="30" name="Rectangle 29"/>
          <p:cNvSpPr/>
          <p:nvPr/>
        </p:nvSpPr>
        <p:spPr>
          <a:xfrm>
            <a:off x="13106400" y="581025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int_3_1e09114745.png"/>
          <p:cNvPicPr>
            <a:picLocks noChangeAspect="1"/>
          </p:cNvPicPr>
          <p:nvPr/>
        </p:nvPicPr>
        <p:blipFill>
          <a:blip r:embed="rId6">
            <a:alphaModFix amt="45000"/>
          </a:blip>
          <a:stretch>
            <a:fillRect/>
          </a:stretch>
        </p:blipFill>
        <p:spPr>
          <a:xfrm>
            <a:off x="14405836" y="6019800"/>
            <a:ext cx="1096828" cy="1343025"/>
          </a:xfrm>
          <a:prstGeom prst="rect">
            <a:avLst/>
          </a:prstGeom>
        </p:spPr>
      </p:pic>
      <p:sp>
        <p:nvSpPr>
          <p:cNvPr id="32" name="Rectangle 31"/>
          <p:cNvSpPr/>
          <p:nvPr/>
        </p:nvSpPr>
        <p:spPr>
          <a:xfrm>
            <a:off x="16821150" y="717232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6821150" y="717232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03</a:t>
            </a:r>
          </a:p>
        </p:txBody>
      </p:sp>
      <p:sp>
        <p:nvSpPr>
          <p:cNvPr id="34" name="Rectangle 33"/>
          <p:cNvSpPr/>
          <p:nvPr/>
        </p:nvSpPr>
        <p:spPr>
          <a:xfrm>
            <a:off x="13106400" y="776287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int_4_0df1e31025.png"/>
          <p:cNvPicPr>
            <a:picLocks noChangeAspect="1"/>
          </p:cNvPicPr>
          <p:nvPr/>
        </p:nvPicPr>
        <p:blipFill>
          <a:blip r:embed="rId7">
            <a:alphaModFix amt="45000"/>
          </a:blip>
          <a:stretch>
            <a:fillRect/>
          </a:stretch>
        </p:blipFill>
        <p:spPr>
          <a:xfrm>
            <a:off x="14120648" y="7972425"/>
            <a:ext cx="1667203" cy="1343025"/>
          </a:xfrm>
          <a:prstGeom prst="rect">
            <a:avLst/>
          </a:prstGeom>
        </p:spPr>
      </p:pic>
      <p:sp>
        <p:nvSpPr>
          <p:cNvPr id="36" name="Rectangle 35"/>
          <p:cNvSpPr/>
          <p:nvPr/>
        </p:nvSpPr>
        <p:spPr>
          <a:xfrm>
            <a:off x="16821150" y="912495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821150" y="912495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INTRODUCCIÓN</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11811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2287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2792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2792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2287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676650" y="2190750"/>
            <a:ext cx="6286500" cy="62865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6760" y="3070860"/>
            <a:ext cx="4526280" cy="452628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t_2_3bc65c03bb.png"/>
          <p:cNvPicPr>
            <a:picLocks noChangeAspect="1"/>
          </p:cNvPicPr>
          <p:nvPr/>
        </p:nvPicPr>
        <p:blipFill>
          <a:blip r:embed="rId4"/>
          <a:stretch>
            <a:fillRect/>
          </a:stretch>
        </p:blipFill>
        <p:spPr>
          <a:xfrm>
            <a:off x="4226593" y="2571750"/>
            <a:ext cx="5186613" cy="5334000"/>
          </a:xfrm>
          <a:prstGeom prst="rect">
            <a:avLst/>
          </a:prstGeom>
        </p:spPr>
      </p:pic>
      <p:sp>
        <p:nvSpPr>
          <p:cNvPr id="19" name="Rectangle 18"/>
          <p:cNvSpPr/>
          <p:nvPr/>
        </p:nvSpPr>
        <p:spPr>
          <a:xfrm>
            <a:off x="1295400" y="8534400"/>
            <a:ext cx="110490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95400" y="85344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600200" y="8534400"/>
            <a:ext cx="105918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02 · El volumen de datos</a:t>
            </a:r>
          </a:p>
        </p:txBody>
      </p:sp>
      <p:sp>
        <p:nvSpPr>
          <p:cNvPr id="22" name="Rectangle 21"/>
          <p:cNvSpPr/>
          <p:nvPr/>
        </p:nvSpPr>
        <p:spPr>
          <a:xfrm>
            <a:off x="13106400" y="190500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nt_1_493a033fb6.png"/>
          <p:cNvPicPr>
            <a:picLocks noChangeAspect="1"/>
          </p:cNvPicPr>
          <p:nvPr/>
        </p:nvPicPr>
        <p:blipFill>
          <a:blip r:embed="rId5">
            <a:alphaModFix amt="45000"/>
          </a:blip>
          <a:stretch>
            <a:fillRect/>
          </a:stretch>
        </p:blipFill>
        <p:spPr>
          <a:xfrm>
            <a:off x="14159133" y="2114550"/>
            <a:ext cx="1590234" cy="1343025"/>
          </a:xfrm>
          <a:prstGeom prst="rect">
            <a:avLst/>
          </a:prstGeom>
        </p:spPr>
      </p:pic>
      <p:sp>
        <p:nvSpPr>
          <p:cNvPr id="24" name="Rectangle 23"/>
          <p:cNvSpPr/>
          <p:nvPr/>
        </p:nvSpPr>
        <p:spPr>
          <a:xfrm>
            <a:off x="16821150" y="326707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6821150" y="326707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01</a:t>
            </a:r>
          </a:p>
        </p:txBody>
      </p:sp>
      <p:sp>
        <p:nvSpPr>
          <p:cNvPr id="26" name="Rectangle 25"/>
          <p:cNvSpPr/>
          <p:nvPr/>
        </p:nvSpPr>
        <p:spPr>
          <a:xfrm>
            <a:off x="13106400" y="3857625"/>
            <a:ext cx="4267200" cy="1762125"/>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nt_2_3bc65c03bb.png"/>
          <p:cNvPicPr>
            <a:picLocks noChangeAspect="1"/>
          </p:cNvPicPr>
          <p:nvPr/>
        </p:nvPicPr>
        <p:blipFill>
          <a:blip r:embed="rId4"/>
          <a:stretch>
            <a:fillRect/>
          </a:stretch>
        </p:blipFill>
        <p:spPr>
          <a:xfrm>
            <a:off x="14301292" y="4067175"/>
            <a:ext cx="1305915" cy="1343025"/>
          </a:xfrm>
          <a:prstGeom prst="rect">
            <a:avLst/>
          </a:prstGeom>
        </p:spPr>
      </p:pic>
      <p:sp>
        <p:nvSpPr>
          <p:cNvPr id="28" name="Rectangle 27"/>
          <p:cNvSpPr/>
          <p:nvPr/>
        </p:nvSpPr>
        <p:spPr>
          <a:xfrm>
            <a:off x="16821150" y="5219700"/>
            <a:ext cx="419100" cy="30175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6821150" y="5219700"/>
            <a:ext cx="419100" cy="301752"/>
          </a:xfrm>
          <a:prstGeom prst="rect">
            <a:avLst/>
          </a:prstGeom>
          <a:noFill/>
        </p:spPr>
        <p:txBody>
          <a:bodyPr wrap="none" lIns="0" rIns="0" tIns="0" bIns="0" anchor="ctr">
            <a:spAutoFit/>
          </a:bodyPr>
          <a:lstStyle/>
          <a:p>
            <a:pPr algn="ctr">
              <a:lnSpc>
                <a:spcPct val="100000"/>
              </a:lnSpc>
            </a:pPr>
            <a:r>
              <a:rPr sz="1188" b="1" i="0">
                <a:solidFill>
                  <a:srgbClr val="07172D"/>
                </a:solidFill>
                <a:latin typeface="Montserrat"/>
              </a:rPr>
              <a:t>02</a:t>
            </a:r>
          </a:p>
        </p:txBody>
      </p:sp>
      <p:sp>
        <p:nvSpPr>
          <p:cNvPr id="30" name="Rectangle 29"/>
          <p:cNvSpPr/>
          <p:nvPr/>
        </p:nvSpPr>
        <p:spPr>
          <a:xfrm>
            <a:off x="13106400" y="581025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int_3_1e09114745.png"/>
          <p:cNvPicPr>
            <a:picLocks noChangeAspect="1"/>
          </p:cNvPicPr>
          <p:nvPr/>
        </p:nvPicPr>
        <p:blipFill>
          <a:blip r:embed="rId6">
            <a:alphaModFix amt="45000"/>
          </a:blip>
          <a:stretch>
            <a:fillRect/>
          </a:stretch>
        </p:blipFill>
        <p:spPr>
          <a:xfrm>
            <a:off x="14405836" y="6019800"/>
            <a:ext cx="1096828" cy="1343025"/>
          </a:xfrm>
          <a:prstGeom prst="rect">
            <a:avLst/>
          </a:prstGeom>
        </p:spPr>
      </p:pic>
      <p:sp>
        <p:nvSpPr>
          <p:cNvPr id="32" name="Rectangle 31"/>
          <p:cNvSpPr/>
          <p:nvPr/>
        </p:nvSpPr>
        <p:spPr>
          <a:xfrm>
            <a:off x="16821150" y="717232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6821150" y="717232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03</a:t>
            </a:r>
          </a:p>
        </p:txBody>
      </p:sp>
      <p:sp>
        <p:nvSpPr>
          <p:cNvPr id="34" name="Rectangle 33"/>
          <p:cNvSpPr/>
          <p:nvPr/>
        </p:nvSpPr>
        <p:spPr>
          <a:xfrm>
            <a:off x="13106400" y="776287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int_4_0df1e31025.png"/>
          <p:cNvPicPr>
            <a:picLocks noChangeAspect="1"/>
          </p:cNvPicPr>
          <p:nvPr/>
        </p:nvPicPr>
        <p:blipFill>
          <a:blip r:embed="rId7">
            <a:alphaModFix amt="45000"/>
          </a:blip>
          <a:stretch>
            <a:fillRect/>
          </a:stretch>
        </p:blipFill>
        <p:spPr>
          <a:xfrm>
            <a:off x="14120648" y="7972425"/>
            <a:ext cx="1667203" cy="1343025"/>
          </a:xfrm>
          <a:prstGeom prst="rect">
            <a:avLst/>
          </a:prstGeom>
        </p:spPr>
      </p:pic>
      <p:sp>
        <p:nvSpPr>
          <p:cNvPr id="36" name="Rectangle 35"/>
          <p:cNvSpPr/>
          <p:nvPr/>
        </p:nvSpPr>
        <p:spPr>
          <a:xfrm>
            <a:off x="16821150" y="912495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821150" y="912495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INTRODUCCIÓN</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11811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2287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2792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2792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2287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676650" y="2190750"/>
            <a:ext cx="6286500" cy="62865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6760" y="3070860"/>
            <a:ext cx="4526280" cy="452628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t_3_1e09114745.png"/>
          <p:cNvPicPr>
            <a:picLocks noChangeAspect="1"/>
          </p:cNvPicPr>
          <p:nvPr/>
        </p:nvPicPr>
        <p:blipFill>
          <a:blip r:embed="rId4"/>
          <a:stretch>
            <a:fillRect/>
          </a:stretch>
        </p:blipFill>
        <p:spPr>
          <a:xfrm>
            <a:off x="4641801" y="2571750"/>
            <a:ext cx="4356198" cy="5334000"/>
          </a:xfrm>
          <a:prstGeom prst="rect">
            <a:avLst/>
          </a:prstGeom>
        </p:spPr>
      </p:pic>
      <p:sp>
        <p:nvSpPr>
          <p:cNvPr id="19" name="Rectangle 18"/>
          <p:cNvSpPr/>
          <p:nvPr/>
        </p:nvSpPr>
        <p:spPr>
          <a:xfrm>
            <a:off x="1295400" y="8534400"/>
            <a:ext cx="110490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95400" y="85344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600200" y="8534400"/>
            <a:ext cx="105918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03 · El enfoque de PLN</a:t>
            </a:r>
          </a:p>
        </p:txBody>
      </p:sp>
      <p:sp>
        <p:nvSpPr>
          <p:cNvPr id="22" name="Rectangle 21"/>
          <p:cNvSpPr/>
          <p:nvPr/>
        </p:nvSpPr>
        <p:spPr>
          <a:xfrm>
            <a:off x="13106400" y="190500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nt_1_493a033fb6.png"/>
          <p:cNvPicPr>
            <a:picLocks noChangeAspect="1"/>
          </p:cNvPicPr>
          <p:nvPr/>
        </p:nvPicPr>
        <p:blipFill>
          <a:blip r:embed="rId5">
            <a:alphaModFix amt="45000"/>
          </a:blip>
          <a:stretch>
            <a:fillRect/>
          </a:stretch>
        </p:blipFill>
        <p:spPr>
          <a:xfrm>
            <a:off x="14159133" y="2114550"/>
            <a:ext cx="1590234" cy="1343025"/>
          </a:xfrm>
          <a:prstGeom prst="rect">
            <a:avLst/>
          </a:prstGeom>
        </p:spPr>
      </p:pic>
      <p:sp>
        <p:nvSpPr>
          <p:cNvPr id="24" name="Rectangle 23"/>
          <p:cNvSpPr/>
          <p:nvPr/>
        </p:nvSpPr>
        <p:spPr>
          <a:xfrm>
            <a:off x="16821150" y="326707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6821150" y="326707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01</a:t>
            </a:r>
          </a:p>
        </p:txBody>
      </p:sp>
      <p:sp>
        <p:nvSpPr>
          <p:cNvPr id="26" name="Rectangle 25"/>
          <p:cNvSpPr/>
          <p:nvPr/>
        </p:nvSpPr>
        <p:spPr>
          <a:xfrm>
            <a:off x="13106400" y="385762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nt_2_3bc65c03bb.png"/>
          <p:cNvPicPr>
            <a:picLocks noChangeAspect="1"/>
          </p:cNvPicPr>
          <p:nvPr/>
        </p:nvPicPr>
        <p:blipFill>
          <a:blip r:embed="rId6">
            <a:alphaModFix amt="45000"/>
          </a:blip>
          <a:stretch>
            <a:fillRect/>
          </a:stretch>
        </p:blipFill>
        <p:spPr>
          <a:xfrm>
            <a:off x="14301292" y="4067175"/>
            <a:ext cx="1305915" cy="1343025"/>
          </a:xfrm>
          <a:prstGeom prst="rect">
            <a:avLst/>
          </a:prstGeom>
        </p:spPr>
      </p:pic>
      <p:sp>
        <p:nvSpPr>
          <p:cNvPr id="28" name="Rectangle 27"/>
          <p:cNvSpPr/>
          <p:nvPr/>
        </p:nvSpPr>
        <p:spPr>
          <a:xfrm>
            <a:off x="16821150" y="521970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6821150" y="521970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02</a:t>
            </a:r>
          </a:p>
        </p:txBody>
      </p:sp>
      <p:sp>
        <p:nvSpPr>
          <p:cNvPr id="30" name="Rectangle 29"/>
          <p:cNvSpPr/>
          <p:nvPr/>
        </p:nvSpPr>
        <p:spPr>
          <a:xfrm>
            <a:off x="13106400" y="5810250"/>
            <a:ext cx="4267200" cy="1762125"/>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int_3_1e09114745.png"/>
          <p:cNvPicPr>
            <a:picLocks noChangeAspect="1"/>
          </p:cNvPicPr>
          <p:nvPr/>
        </p:nvPicPr>
        <p:blipFill>
          <a:blip r:embed="rId4"/>
          <a:stretch>
            <a:fillRect/>
          </a:stretch>
        </p:blipFill>
        <p:spPr>
          <a:xfrm>
            <a:off x="14405836" y="6019800"/>
            <a:ext cx="1096828" cy="1343025"/>
          </a:xfrm>
          <a:prstGeom prst="rect">
            <a:avLst/>
          </a:prstGeom>
        </p:spPr>
      </p:pic>
      <p:sp>
        <p:nvSpPr>
          <p:cNvPr id="32" name="Rectangle 31"/>
          <p:cNvSpPr/>
          <p:nvPr/>
        </p:nvSpPr>
        <p:spPr>
          <a:xfrm>
            <a:off x="16821150" y="7172325"/>
            <a:ext cx="419100" cy="30175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6821150" y="7172325"/>
            <a:ext cx="419100" cy="301752"/>
          </a:xfrm>
          <a:prstGeom prst="rect">
            <a:avLst/>
          </a:prstGeom>
          <a:noFill/>
        </p:spPr>
        <p:txBody>
          <a:bodyPr wrap="none" lIns="0" rIns="0" tIns="0" bIns="0" anchor="ctr">
            <a:spAutoFit/>
          </a:bodyPr>
          <a:lstStyle/>
          <a:p>
            <a:pPr algn="ctr">
              <a:lnSpc>
                <a:spcPct val="100000"/>
              </a:lnSpc>
            </a:pPr>
            <a:r>
              <a:rPr sz="1188" b="1" i="0">
                <a:solidFill>
                  <a:srgbClr val="07172D"/>
                </a:solidFill>
                <a:latin typeface="Montserrat"/>
              </a:rPr>
              <a:t>03</a:t>
            </a:r>
          </a:p>
        </p:txBody>
      </p:sp>
      <p:sp>
        <p:nvSpPr>
          <p:cNvPr id="34" name="Rectangle 33"/>
          <p:cNvSpPr/>
          <p:nvPr/>
        </p:nvSpPr>
        <p:spPr>
          <a:xfrm>
            <a:off x="13106400" y="776287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int_4_0df1e31025.png"/>
          <p:cNvPicPr>
            <a:picLocks noChangeAspect="1"/>
          </p:cNvPicPr>
          <p:nvPr/>
        </p:nvPicPr>
        <p:blipFill>
          <a:blip r:embed="rId7">
            <a:alphaModFix amt="45000"/>
          </a:blip>
          <a:stretch>
            <a:fillRect/>
          </a:stretch>
        </p:blipFill>
        <p:spPr>
          <a:xfrm>
            <a:off x="14120648" y="7972425"/>
            <a:ext cx="1667203" cy="1343025"/>
          </a:xfrm>
          <a:prstGeom prst="rect">
            <a:avLst/>
          </a:prstGeom>
        </p:spPr>
      </p:pic>
      <p:sp>
        <p:nvSpPr>
          <p:cNvPr id="36" name="Rectangle 35"/>
          <p:cNvSpPr/>
          <p:nvPr/>
        </p:nvSpPr>
        <p:spPr>
          <a:xfrm>
            <a:off x="16821150" y="912495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821150" y="912495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INTRODUCCIÓN</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11811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2287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2792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2792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2287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676650" y="2190750"/>
            <a:ext cx="6286500" cy="62865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6760" y="3070860"/>
            <a:ext cx="4526280" cy="452628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nt_4_0df1e31025.png"/>
          <p:cNvPicPr>
            <a:picLocks noChangeAspect="1"/>
          </p:cNvPicPr>
          <p:nvPr/>
        </p:nvPicPr>
        <p:blipFill>
          <a:blip r:embed="rId4"/>
          <a:stretch>
            <a:fillRect/>
          </a:stretch>
        </p:blipFill>
        <p:spPr>
          <a:xfrm>
            <a:off x="3509141" y="2571750"/>
            <a:ext cx="6621517" cy="5334000"/>
          </a:xfrm>
          <a:prstGeom prst="rect">
            <a:avLst/>
          </a:prstGeom>
        </p:spPr>
      </p:pic>
      <p:sp>
        <p:nvSpPr>
          <p:cNvPr id="19" name="Rectangle 18"/>
          <p:cNvSpPr/>
          <p:nvPr/>
        </p:nvSpPr>
        <p:spPr>
          <a:xfrm>
            <a:off x="1295400" y="8534400"/>
            <a:ext cx="110490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95400" y="85344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600200" y="8534400"/>
            <a:ext cx="105918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04 · El operador y el problema</a:t>
            </a:r>
          </a:p>
        </p:txBody>
      </p:sp>
      <p:sp>
        <p:nvSpPr>
          <p:cNvPr id="22" name="Rectangle 21"/>
          <p:cNvSpPr/>
          <p:nvPr/>
        </p:nvSpPr>
        <p:spPr>
          <a:xfrm>
            <a:off x="13106400" y="190500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int_1_493a033fb6.png"/>
          <p:cNvPicPr>
            <a:picLocks noChangeAspect="1"/>
          </p:cNvPicPr>
          <p:nvPr/>
        </p:nvPicPr>
        <p:blipFill>
          <a:blip r:embed="rId5">
            <a:alphaModFix amt="45000"/>
          </a:blip>
          <a:stretch>
            <a:fillRect/>
          </a:stretch>
        </p:blipFill>
        <p:spPr>
          <a:xfrm>
            <a:off x="14159133" y="2114550"/>
            <a:ext cx="1590234" cy="1343025"/>
          </a:xfrm>
          <a:prstGeom prst="rect">
            <a:avLst/>
          </a:prstGeom>
        </p:spPr>
      </p:pic>
      <p:sp>
        <p:nvSpPr>
          <p:cNvPr id="24" name="Rectangle 23"/>
          <p:cNvSpPr/>
          <p:nvPr/>
        </p:nvSpPr>
        <p:spPr>
          <a:xfrm>
            <a:off x="16821150" y="326707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6821150" y="326707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01</a:t>
            </a:r>
          </a:p>
        </p:txBody>
      </p:sp>
      <p:sp>
        <p:nvSpPr>
          <p:cNvPr id="26" name="Rectangle 25"/>
          <p:cNvSpPr/>
          <p:nvPr/>
        </p:nvSpPr>
        <p:spPr>
          <a:xfrm>
            <a:off x="13106400" y="3857625"/>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int_2_3bc65c03bb.png"/>
          <p:cNvPicPr>
            <a:picLocks noChangeAspect="1"/>
          </p:cNvPicPr>
          <p:nvPr/>
        </p:nvPicPr>
        <p:blipFill>
          <a:blip r:embed="rId6">
            <a:alphaModFix amt="45000"/>
          </a:blip>
          <a:stretch>
            <a:fillRect/>
          </a:stretch>
        </p:blipFill>
        <p:spPr>
          <a:xfrm>
            <a:off x="14301292" y="4067175"/>
            <a:ext cx="1305915" cy="1343025"/>
          </a:xfrm>
          <a:prstGeom prst="rect">
            <a:avLst/>
          </a:prstGeom>
        </p:spPr>
      </p:pic>
      <p:sp>
        <p:nvSpPr>
          <p:cNvPr id="28" name="Rectangle 27"/>
          <p:cNvSpPr/>
          <p:nvPr/>
        </p:nvSpPr>
        <p:spPr>
          <a:xfrm>
            <a:off x="16821150" y="5219700"/>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6821150" y="5219700"/>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02</a:t>
            </a:r>
          </a:p>
        </p:txBody>
      </p:sp>
      <p:sp>
        <p:nvSpPr>
          <p:cNvPr id="30" name="Rectangle 29"/>
          <p:cNvSpPr/>
          <p:nvPr/>
        </p:nvSpPr>
        <p:spPr>
          <a:xfrm>
            <a:off x="13106400" y="5810250"/>
            <a:ext cx="4267200" cy="1762125"/>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int_3_1e09114745.png"/>
          <p:cNvPicPr>
            <a:picLocks noChangeAspect="1"/>
          </p:cNvPicPr>
          <p:nvPr/>
        </p:nvPicPr>
        <p:blipFill>
          <a:blip r:embed="rId7">
            <a:alphaModFix amt="45000"/>
          </a:blip>
          <a:stretch>
            <a:fillRect/>
          </a:stretch>
        </p:blipFill>
        <p:spPr>
          <a:xfrm>
            <a:off x="14405836" y="6019800"/>
            <a:ext cx="1096828" cy="1343025"/>
          </a:xfrm>
          <a:prstGeom prst="rect">
            <a:avLst/>
          </a:prstGeom>
        </p:spPr>
      </p:pic>
      <p:sp>
        <p:nvSpPr>
          <p:cNvPr id="32" name="Rectangle 31"/>
          <p:cNvSpPr/>
          <p:nvPr/>
        </p:nvSpPr>
        <p:spPr>
          <a:xfrm>
            <a:off x="16821150" y="7172325"/>
            <a:ext cx="419100" cy="301752"/>
          </a:xfrm>
          <a:prstGeom prst="rect">
            <a:avLst/>
          </a:prstGeom>
          <a:solidFill>
            <a:srgbClr val="1B3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6821150" y="7172325"/>
            <a:ext cx="419100" cy="301752"/>
          </a:xfrm>
          <a:prstGeom prst="rect">
            <a:avLst/>
          </a:prstGeom>
          <a:noFill/>
        </p:spPr>
        <p:txBody>
          <a:bodyPr wrap="none" lIns="0" rIns="0" tIns="0" bIns="0" anchor="ctr">
            <a:spAutoFit/>
          </a:bodyPr>
          <a:lstStyle/>
          <a:p>
            <a:pPr algn="ctr">
              <a:lnSpc>
                <a:spcPct val="100000"/>
              </a:lnSpc>
            </a:pPr>
            <a:r>
              <a:rPr sz="1188" b="1" i="0">
                <a:solidFill>
                  <a:srgbClr val="F3F7FC"/>
                </a:solidFill>
                <a:latin typeface="Montserrat"/>
              </a:rPr>
              <a:t>03</a:t>
            </a:r>
          </a:p>
        </p:txBody>
      </p:sp>
      <p:sp>
        <p:nvSpPr>
          <p:cNvPr id="34" name="Rectangle 33"/>
          <p:cNvSpPr/>
          <p:nvPr/>
        </p:nvSpPr>
        <p:spPr>
          <a:xfrm>
            <a:off x="13106400" y="7762875"/>
            <a:ext cx="4267200" cy="1762125"/>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int_4_0df1e31025.png"/>
          <p:cNvPicPr>
            <a:picLocks noChangeAspect="1"/>
          </p:cNvPicPr>
          <p:nvPr/>
        </p:nvPicPr>
        <p:blipFill>
          <a:blip r:embed="rId4"/>
          <a:stretch>
            <a:fillRect/>
          </a:stretch>
        </p:blipFill>
        <p:spPr>
          <a:xfrm>
            <a:off x="14120648" y="7972425"/>
            <a:ext cx="1667203" cy="1343025"/>
          </a:xfrm>
          <a:prstGeom prst="rect">
            <a:avLst/>
          </a:prstGeom>
        </p:spPr>
      </p:pic>
      <p:sp>
        <p:nvSpPr>
          <p:cNvPr id="36" name="Rectangle 35"/>
          <p:cNvSpPr/>
          <p:nvPr/>
        </p:nvSpPr>
        <p:spPr>
          <a:xfrm>
            <a:off x="16821150" y="9124950"/>
            <a:ext cx="419100" cy="30175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6821150" y="9124950"/>
            <a:ext cx="419100" cy="301752"/>
          </a:xfrm>
          <a:prstGeom prst="rect">
            <a:avLst/>
          </a:prstGeom>
          <a:noFill/>
        </p:spPr>
        <p:txBody>
          <a:bodyPr wrap="none" lIns="0" rIns="0" tIns="0" bIns="0" anchor="ctr">
            <a:spAutoFit/>
          </a:bodyPr>
          <a:lstStyle/>
          <a:p>
            <a:pPr algn="ctr">
              <a:lnSpc>
                <a:spcPct val="100000"/>
              </a:lnSpc>
            </a:pPr>
            <a:r>
              <a:rPr sz="1188" b="1" i="0">
                <a:solidFill>
                  <a:srgbClr val="07172D"/>
                </a:solidFill>
                <a:latin typeface="Montserrat"/>
              </a:rPr>
              <a:t>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3820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38200"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602615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6249988"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38200"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3820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6249988"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602615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1_0a4b2e9b0c.png"/>
          <p:cNvPicPr>
            <a:picLocks noChangeAspect="1"/>
          </p:cNvPicPr>
          <p:nvPr/>
        </p:nvPicPr>
        <p:blipFill>
          <a:blip r:embed="rId4"/>
          <a:stretch>
            <a:fillRect/>
          </a:stretch>
        </p:blipFill>
        <p:spPr>
          <a:xfrm>
            <a:off x="1485900" y="2771302"/>
            <a:ext cx="4140200" cy="2096447"/>
          </a:xfrm>
          <a:prstGeom prst="rect">
            <a:avLst/>
          </a:prstGeom>
        </p:spPr>
      </p:pic>
      <p:sp>
        <p:nvSpPr>
          <p:cNvPr id="17" name="Rectangle 16"/>
          <p:cNvSpPr/>
          <p:nvPr/>
        </p:nvSpPr>
        <p:spPr>
          <a:xfrm>
            <a:off x="1085850" y="20574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85850" y="20574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01</a:t>
            </a:r>
          </a:p>
        </p:txBody>
      </p:sp>
      <p:sp>
        <p:nvSpPr>
          <p:cNvPr id="19" name="Rectangle 18"/>
          <p:cNvSpPr/>
          <p:nvPr/>
        </p:nvSpPr>
        <p:spPr>
          <a:xfrm>
            <a:off x="6502400" y="19050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642620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6426200"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161415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1837988"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6426200"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642620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1837988"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161415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ant_2_b73efd4cb7.png"/>
          <p:cNvPicPr>
            <a:picLocks noChangeAspect="1"/>
          </p:cNvPicPr>
          <p:nvPr/>
        </p:nvPicPr>
        <p:blipFill>
          <a:blip r:embed="rId5"/>
          <a:stretch>
            <a:fillRect/>
          </a:stretch>
        </p:blipFill>
        <p:spPr>
          <a:xfrm>
            <a:off x="7105055" y="2514600"/>
            <a:ext cx="4077891" cy="2609850"/>
          </a:xfrm>
          <a:prstGeom prst="rect">
            <a:avLst/>
          </a:prstGeom>
        </p:spPr>
      </p:pic>
      <p:sp>
        <p:nvSpPr>
          <p:cNvPr id="29" name="Rectangle 28"/>
          <p:cNvSpPr/>
          <p:nvPr/>
        </p:nvSpPr>
        <p:spPr>
          <a:xfrm>
            <a:off x="6673850" y="20574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73850" y="20574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02</a:t>
            </a:r>
          </a:p>
        </p:txBody>
      </p:sp>
      <p:sp>
        <p:nvSpPr>
          <p:cNvPr id="31" name="Rectangle 30"/>
          <p:cNvSpPr/>
          <p:nvPr/>
        </p:nvSpPr>
        <p:spPr>
          <a:xfrm>
            <a:off x="12090400" y="19050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squinero"/>
          <p:cNvSpPr/>
          <p:nvPr/>
        </p:nvSpPr>
        <p:spPr>
          <a:xfrm>
            <a:off x="1201420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Esquinero"/>
          <p:cNvSpPr/>
          <p:nvPr/>
        </p:nvSpPr>
        <p:spPr>
          <a:xfrm>
            <a:off x="12014200"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squinero"/>
          <p:cNvSpPr/>
          <p:nvPr/>
        </p:nvSpPr>
        <p:spPr>
          <a:xfrm>
            <a:off x="17202150" y="18288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Esquinero"/>
          <p:cNvSpPr/>
          <p:nvPr/>
        </p:nvSpPr>
        <p:spPr>
          <a:xfrm>
            <a:off x="17425988" y="18288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squinero"/>
          <p:cNvSpPr/>
          <p:nvPr/>
        </p:nvSpPr>
        <p:spPr>
          <a:xfrm>
            <a:off x="12014200"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Esquinero"/>
          <p:cNvSpPr/>
          <p:nvPr/>
        </p:nvSpPr>
        <p:spPr>
          <a:xfrm>
            <a:off x="1201420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squinero"/>
          <p:cNvSpPr/>
          <p:nvPr/>
        </p:nvSpPr>
        <p:spPr>
          <a:xfrm>
            <a:off x="17425988" y="53911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Esquinero"/>
          <p:cNvSpPr/>
          <p:nvPr/>
        </p:nvSpPr>
        <p:spPr>
          <a:xfrm>
            <a:off x="17202150" y="56149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ant_3_da8b2c0805.png"/>
          <p:cNvPicPr>
            <a:picLocks noChangeAspect="1"/>
          </p:cNvPicPr>
          <p:nvPr/>
        </p:nvPicPr>
        <p:blipFill>
          <a:blip r:embed="rId6"/>
          <a:stretch>
            <a:fillRect/>
          </a:stretch>
        </p:blipFill>
        <p:spPr>
          <a:xfrm>
            <a:off x="12661900" y="2568055"/>
            <a:ext cx="4140200" cy="2502939"/>
          </a:xfrm>
          <a:prstGeom prst="rect">
            <a:avLst/>
          </a:prstGeom>
        </p:spPr>
      </p:pic>
      <p:sp>
        <p:nvSpPr>
          <p:cNvPr id="41" name="Rectangle 40"/>
          <p:cNvSpPr/>
          <p:nvPr/>
        </p:nvSpPr>
        <p:spPr>
          <a:xfrm>
            <a:off x="12261850" y="20574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12261850" y="20574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03</a:t>
            </a:r>
          </a:p>
        </p:txBody>
      </p:sp>
      <p:sp>
        <p:nvSpPr>
          <p:cNvPr id="43" name="Rectangle 42"/>
          <p:cNvSpPr/>
          <p:nvPr/>
        </p:nvSpPr>
        <p:spPr>
          <a:xfrm>
            <a:off x="914400" y="58674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Esquinero"/>
          <p:cNvSpPr/>
          <p:nvPr/>
        </p:nvSpPr>
        <p:spPr>
          <a:xfrm>
            <a:off x="83820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Esquinero"/>
          <p:cNvSpPr/>
          <p:nvPr/>
        </p:nvSpPr>
        <p:spPr>
          <a:xfrm>
            <a:off x="838200"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Esquinero"/>
          <p:cNvSpPr/>
          <p:nvPr/>
        </p:nvSpPr>
        <p:spPr>
          <a:xfrm>
            <a:off x="602615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Esquinero"/>
          <p:cNvSpPr/>
          <p:nvPr/>
        </p:nvSpPr>
        <p:spPr>
          <a:xfrm>
            <a:off x="6249988"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Esquinero"/>
          <p:cNvSpPr/>
          <p:nvPr/>
        </p:nvSpPr>
        <p:spPr>
          <a:xfrm>
            <a:off x="838200"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Esquinero"/>
          <p:cNvSpPr/>
          <p:nvPr/>
        </p:nvSpPr>
        <p:spPr>
          <a:xfrm>
            <a:off x="83820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Esquinero"/>
          <p:cNvSpPr/>
          <p:nvPr/>
        </p:nvSpPr>
        <p:spPr>
          <a:xfrm>
            <a:off x="6249988"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Esquinero"/>
          <p:cNvSpPr/>
          <p:nvPr/>
        </p:nvSpPr>
        <p:spPr>
          <a:xfrm>
            <a:off x="602615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2" name="Picture 51" descr="ant_4_616fccdda7.png"/>
          <p:cNvPicPr>
            <a:picLocks noChangeAspect="1"/>
          </p:cNvPicPr>
          <p:nvPr/>
        </p:nvPicPr>
        <p:blipFill>
          <a:blip r:embed="rId7"/>
          <a:stretch>
            <a:fillRect/>
          </a:stretch>
        </p:blipFill>
        <p:spPr>
          <a:xfrm>
            <a:off x="1485900" y="6827797"/>
            <a:ext cx="4140200" cy="1908256"/>
          </a:xfrm>
          <a:prstGeom prst="rect">
            <a:avLst/>
          </a:prstGeom>
        </p:spPr>
      </p:pic>
      <p:sp>
        <p:nvSpPr>
          <p:cNvPr id="53" name="Rectangle 52"/>
          <p:cNvSpPr/>
          <p:nvPr/>
        </p:nvSpPr>
        <p:spPr>
          <a:xfrm>
            <a:off x="1085850" y="60198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85850" y="60198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04</a:t>
            </a:r>
          </a:p>
        </p:txBody>
      </p:sp>
      <p:sp>
        <p:nvSpPr>
          <p:cNvPr id="55" name="Rectangle 54"/>
          <p:cNvSpPr/>
          <p:nvPr/>
        </p:nvSpPr>
        <p:spPr>
          <a:xfrm>
            <a:off x="6502400" y="58674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Esquinero"/>
          <p:cNvSpPr/>
          <p:nvPr/>
        </p:nvSpPr>
        <p:spPr>
          <a:xfrm>
            <a:off x="642620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Esquinero"/>
          <p:cNvSpPr/>
          <p:nvPr/>
        </p:nvSpPr>
        <p:spPr>
          <a:xfrm>
            <a:off x="6426200"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Esquinero"/>
          <p:cNvSpPr/>
          <p:nvPr/>
        </p:nvSpPr>
        <p:spPr>
          <a:xfrm>
            <a:off x="1161415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Esquinero"/>
          <p:cNvSpPr/>
          <p:nvPr/>
        </p:nvSpPr>
        <p:spPr>
          <a:xfrm>
            <a:off x="11837988"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Esquinero"/>
          <p:cNvSpPr/>
          <p:nvPr/>
        </p:nvSpPr>
        <p:spPr>
          <a:xfrm>
            <a:off x="6426200"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Esquinero"/>
          <p:cNvSpPr/>
          <p:nvPr/>
        </p:nvSpPr>
        <p:spPr>
          <a:xfrm>
            <a:off x="642620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Esquinero"/>
          <p:cNvSpPr/>
          <p:nvPr/>
        </p:nvSpPr>
        <p:spPr>
          <a:xfrm>
            <a:off x="11837988"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Esquinero"/>
          <p:cNvSpPr/>
          <p:nvPr/>
        </p:nvSpPr>
        <p:spPr>
          <a:xfrm>
            <a:off x="1161415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ant_5_9b8edb1b8b.png"/>
          <p:cNvPicPr>
            <a:picLocks noChangeAspect="1"/>
          </p:cNvPicPr>
          <p:nvPr/>
        </p:nvPicPr>
        <p:blipFill>
          <a:blip r:embed="rId8"/>
          <a:stretch>
            <a:fillRect/>
          </a:stretch>
        </p:blipFill>
        <p:spPr>
          <a:xfrm>
            <a:off x="7073900" y="7226762"/>
            <a:ext cx="4140200" cy="1110326"/>
          </a:xfrm>
          <a:prstGeom prst="rect">
            <a:avLst/>
          </a:prstGeom>
        </p:spPr>
      </p:pic>
      <p:sp>
        <p:nvSpPr>
          <p:cNvPr id="65" name="Rectangle 64"/>
          <p:cNvSpPr/>
          <p:nvPr/>
        </p:nvSpPr>
        <p:spPr>
          <a:xfrm>
            <a:off x="6673850" y="60198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673850" y="60198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05</a:t>
            </a:r>
          </a:p>
        </p:txBody>
      </p:sp>
      <p:sp>
        <p:nvSpPr>
          <p:cNvPr id="67" name="Rectangle 66"/>
          <p:cNvSpPr/>
          <p:nvPr/>
        </p:nvSpPr>
        <p:spPr>
          <a:xfrm>
            <a:off x="12090400" y="5867400"/>
            <a:ext cx="5283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Esquinero"/>
          <p:cNvSpPr/>
          <p:nvPr/>
        </p:nvSpPr>
        <p:spPr>
          <a:xfrm>
            <a:off x="1201420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Esquinero"/>
          <p:cNvSpPr/>
          <p:nvPr/>
        </p:nvSpPr>
        <p:spPr>
          <a:xfrm>
            <a:off x="12014200"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Esquinero"/>
          <p:cNvSpPr/>
          <p:nvPr/>
        </p:nvSpPr>
        <p:spPr>
          <a:xfrm>
            <a:off x="17202150" y="5791200"/>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Esquinero"/>
          <p:cNvSpPr/>
          <p:nvPr/>
        </p:nvSpPr>
        <p:spPr>
          <a:xfrm>
            <a:off x="17425988" y="579120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Esquinero"/>
          <p:cNvSpPr/>
          <p:nvPr/>
        </p:nvSpPr>
        <p:spPr>
          <a:xfrm>
            <a:off x="12014200"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Esquinero"/>
          <p:cNvSpPr/>
          <p:nvPr/>
        </p:nvSpPr>
        <p:spPr>
          <a:xfrm>
            <a:off x="1201420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Esquinero"/>
          <p:cNvSpPr/>
          <p:nvPr/>
        </p:nvSpPr>
        <p:spPr>
          <a:xfrm>
            <a:off x="17425988" y="9353550"/>
            <a:ext cx="23812" cy="247650"/>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Esquinero"/>
          <p:cNvSpPr/>
          <p:nvPr/>
        </p:nvSpPr>
        <p:spPr>
          <a:xfrm>
            <a:off x="17202150" y="9577388"/>
            <a:ext cx="247650" cy="23812"/>
          </a:xfrm>
          <a:prstGeom prst="rect">
            <a:avLst/>
          </a:prstGeom>
          <a:solidFill>
            <a:srgbClr val="2F7BFF">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6" name="Picture 75" descr="ant_6_fd457ab3d8.png"/>
          <p:cNvPicPr>
            <a:picLocks noChangeAspect="1"/>
          </p:cNvPicPr>
          <p:nvPr/>
        </p:nvPicPr>
        <p:blipFill>
          <a:blip r:embed="rId9"/>
          <a:stretch>
            <a:fillRect/>
          </a:stretch>
        </p:blipFill>
        <p:spPr>
          <a:xfrm>
            <a:off x="12661900" y="7042335"/>
            <a:ext cx="4140200" cy="1479181"/>
          </a:xfrm>
          <a:prstGeom prst="rect">
            <a:avLst/>
          </a:prstGeom>
        </p:spPr>
      </p:pic>
      <p:sp>
        <p:nvSpPr>
          <p:cNvPr id="77" name="Rectangle 76"/>
          <p:cNvSpPr/>
          <p:nvPr/>
        </p:nvSpPr>
        <p:spPr>
          <a:xfrm>
            <a:off x="12261850" y="6019800"/>
            <a:ext cx="381000" cy="2743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12261850" y="6019800"/>
            <a:ext cx="381000" cy="274320"/>
          </a:xfrm>
          <a:prstGeom prst="rect">
            <a:avLst/>
          </a:prstGeom>
          <a:noFill/>
        </p:spPr>
        <p:txBody>
          <a:bodyPr wrap="none" lIns="0" rIns="0" tIns="0" bIns="0" anchor="ctr">
            <a:spAutoFit/>
          </a:bodyPr>
          <a:lstStyle/>
          <a:p>
            <a:pPr algn="ctr">
              <a:lnSpc>
                <a:spcPct val="100000"/>
              </a:lnSpc>
            </a:pPr>
            <a:r>
              <a:rPr sz="1080" b="1" i="0">
                <a:solidFill>
                  <a:srgbClr val="07172D"/>
                </a:solidFill>
                <a:latin typeface="Montserrat"/>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1_0a4b2e9b0c.png"/>
          <p:cNvPicPr>
            <a:picLocks noChangeAspect="1"/>
          </p:cNvPicPr>
          <p:nvPr/>
        </p:nvPicPr>
        <p:blipFill>
          <a:blip r:embed="rId4"/>
          <a:stretch>
            <a:fillRect/>
          </a:stretch>
        </p:blipFill>
        <p:spPr>
          <a:xfrm>
            <a:off x="4629458" y="3067050"/>
            <a:ext cx="9029084" cy="4572000"/>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01</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01 · La empresa y los comercios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2_b73efd4cb7.png"/>
          <p:cNvPicPr>
            <a:picLocks noChangeAspect="1"/>
          </p:cNvPicPr>
          <p:nvPr/>
        </p:nvPicPr>
        <p:blipFill>
          <a:blip r:embed="rId5"/>
          <a:stretch>
            <a:fillRect/>
          </a:stretch>
        </p:blipFill>
        <p:spPr>
          <a:xfrm>
            <a:off x="5572125" y="3067050"/>
            <a:ext cx="7143750" cy="4572000"/>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02</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02 · La extracción automática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3_da8b2c0805.png"/>
          <p:cNvPicPr>
            <a:picLocks noChangeAspect="1"/>
          </p:cNvPicPr>
          <p:nvPr/>
        </p:nvPicPr>
        <p:blipFill>
          <a:blip r:embed="rId6"/>
          <a:stretch>
            <a:fillRect/>
          </a:stretch>
        </p:blipFill>
        <p:spPr>
          <a:xfrm>
            <a:off x="5362647" y="3067050"/>
            <a:ext cx="7562707" cy="4572000"/>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03</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03 · La comparación manual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4_616fccdda7.png"/>
          <p:cNvPicPr>
            <a:picLocks noChangeAspect="1"/>
          </p:cNvPicPr>
          <p:nvPr/>
        </p:nvPicPr>
        <p:blipFill>
          <a:blip r:embed="rId7"/>
          <a:stretch>
            <a:fillRect/>
          </a:stretch>
        </p:blipFill>
        <p:spPr>
          <a:xfrm>
            <a:off x="4476750" y="3201872"/>
            <a:ext cx="9334500" cy="4302356"/>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04</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04 · El reparto del trabajo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5_9b8edb1b8b.png"/>
          <p:cNvPicPr>
            <a:picLocks noChangeAspect="1"/>
          </p:cNvPicPr>
          <p:nvPr/>
        </p:nvPicPr>
        <p:blipFill>
          <a:blip r:embed="rId8"/>
          <a:stretch>
            <a:fillRect/>
          </a:stretch>
        </p:blipFill>
        <p:spPr>
          <a:xfrm>
            <a:off x="4476750" y="4101378"/>
            <a:ext cx="9334500" cy="2503343"/>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05</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05 · Los cuatro estados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ANTECEDENTES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nt_1_0a4b2e9b0c.png"/>
          <p:cNvPicPr>
            <a:picLocks noChangeAspect="1"/>
          </p:cNvPicPr>
          <p:nvPr/>
        </p:nvPicPr>
        <p:blipFill>
          <a:blip r:embed="rId4">
            <a:alphaModFix amt="18000"/>
          </a:blip>
          <a:stretch>
            <a:fillRect/>
          </a:stretch>
        </p:blipFill>
        <p:spPr>
          <a:xfrm>
            <a:off x="1485900" y="2771302"/>
            <a:ext cx="4140200" cy="2096447"/>
          </a:xfrm>
          <a:prstGeom prst="rect">
            <a:avLst/>
          </a:prstGeom>
        </p:spPr>
      </p:pic>
      <p:sp>
        <p:nvSpPr>
          <p:cNvPr id="9" name="Rectangle 8"/>
          <p:cNvSpPr/>
          <p:nvPr/>
        </p:nvSpPr>
        <p:spPr>
          <a:xfrm>
            <a:off x="6502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nt_2_b73efd4cb7.png"/>
          <p:cNvPicPr>
            <a:picLocks noChangeAspect="1"/>
          </p:cNvPicPr>
          <p:nvPr/>
        </p:nvPicPr>
        <p:blipFill>
          <a:blip r:embed="rId5">
            <a:alphaModFix amt="18000"/>
          </a:blip>
          <a:stretch>
            <a:fillRect/>
          </a:stretch>
        </p:blipFill>
        <p:spPr>
          <a:xfrm>
            <a:off x="7105055" y="2514600"/>
            <a:ext cx="4077891" cy="2609850"/>
          </a:xfrm>
          <a:prstGeom prst="rect">
            <a:avLst/>
          </a:prstGeom>
        </p:spPr>
      </p:pic>
      <p:sp>
        <p:nvSpPr>
          <p:cNvPr id="11" name="Rectangle 10"/>
          <p:cNvSpPr/>
          <p:nvPr/>
        </p:nvSpPr>
        <p:spPr>
          <a:xfrm>
            <a:off x="12090400" y="19050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nt_3_da8b2c0805.png"/>
          <p:cNvPicPr>
            <a:picLocks noChangeAspect="1"/>
          </p:cNvPicPr>
          <p:nvPr/>
        </p:nvPicPr>
        <p:blipFill>
          <a:blip r:embed="rId6">
            <a:alphaModFix amt="18000"/>
          </a:blip>
          <a:stretch>
            <a:fillRect/>
          </a:stretch>
        </p:blipFill>
        <p:spPr>
          <a:xfrm>
            <a:off x="12661900" y="2568055"/>
            <a:ext cx="4140200" cy="2502939"/>
          </a:xfrm>
          <a:prstGeom prst="rect">
            <a:avLst/>
          </a:prstGeom>
        </p:spPr>
      </p:pic>
      <p:sp>
        <p:nvSpPr>
          <p:cNvPr id="13" name="Rectangle 12"/>
          <p:cNvSpPr/>
          <p:nvPr/>
        </p:nvSpPr>
        <p:spPr>
          <a:xfrm>
            <a:off x="914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ant_4_616fccdda7.png"/>
          <p:cNvPicPr>
            <a:picLocks noChangeAspect="1"/>
          </p:cNvPicPr>
          <p:nvPr/>
        </p:nvPicPr>
        <p:blipFill>
          <a:blip r:embed="rId7">
            <a:alphaModFix amt="18000"/>
          </a:blip>
          <a:stretch>
            <a:fillRect/>
          </a:stretch>
        </p:blipFill>
        <p:spPr>
          <a:xfrm>
            <a:off x="1485900" y="6827797"/>
            <a:ext cx="4140200" cy="1908256"/>
          </a:xfrm>
          <a:prstGeom prst="rect">
            <a:avLst/>
          </a:prstGeom>
        </p:spPr>
      </p:pic>
      <p:sp>
        <p:nvSpPr>
          <p:cNvPr id="15" name="Rectangle 14"/>
          <p:cNvSpPr/>
          <p:nvPr/>
        </p:nvSpPr>
        <p:spPr>
          <a:xfrm>
            <a:off x="6502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ant_5_9b8edb1b8b.png"/>
          <p:cNvPicPr>
            <a:picLocks noChangeAspect="1"/>
          </p:cNvPicPr>
          <p:nvPr/>
        </p:nvPicPr>
        <p:blipFill>
          <a:blip r:embed="rId8">
            <a:alphaModFix amt="18000"/>
          </a:blip>
          <a:stretch>
            <a:fillRect/>
          </a:stretch>
        </p:blipFill>
        <p:spPr>
          <a:xfrm>
            <a:off x="7073900" y="7226762"/>
            <a:ext cx="4140200" cy="1110326"/>
          </a:xfrm>
          <a:prstGeom prst="rect">
            <a:avLst/>
          </a:prstGeom>
        </p:spPr>
      </p:pic>
      <p:sp>
        <p:nvSpPr>
          <p:cNvPr id="17" name="Rectangle 16"/>
          <p:cNvSpPr/>
          <p:nvPr/>
        </p:nvSpPr>
        <p:spPr>
          <a:xfrm>
            <a:off x="12090400" y="5867400"/>
            <a:ext cx="5283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ant_6_fd457ab3d8.png"/>
          <p:cNvPicPr>
            <a:picLocks noChangeAspect="1"/>
          </p:cNvPicPr>
          <p:nvPr/>
        </p:nvPicPr>
        <p:blipFill>
          <a:blip r:embed="rId9">
            <a:alphaModFix amt="18000"/>
          </a:blip>
          <a:stretch>
            <a:fillRect/>
          </a:stretch>
        </p:blipFill>
        <p:spPr>
          <a:xfrm>
            <a:off x="12661900" y="7042335"/>
            <a:ext cx="4140200" cy="1479181"/>
          </a:xfrm>
          <a:prstGeom prst="rect">
            <a:avLst/>
          </a:prstGeom>
        </p:spPr>
      </p:pic>
      <p:sp>
        <p:nvSpPr>
          <p:cNvPr id="19" name="Rectangle 18"/>
          <p:cNvSpPr/>
          <p:nvPr/>
        </p:nvSpPr>
        <p:spPr>
          <a:xfrm>
            <a:off x="3143250" y="2209800"/>
            <a:ext cx="12001500" cy="7048500"/>
          </a:xfrm>
          <a:prstGeom prst="rect">
            <a:avLst/>
          </a:prstGeom>
          <a:solidFill>
            <a:srgbClr val="0B2242"/>
          </a:solidFill>
          <a:ln w="14287">
            <a:solidFill>
              <a:srgbClr val="2F7B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30480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3048000"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4706600" y="21145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5211425" y="21145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304800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30480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21142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470660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6286500" y="24003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086600" y="32004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nt_6_fd457ab3d8.png"/>
          <p:cNvPicPr>
            <a:picLocks noChangeAspect="1"/>
          </p:cNvPicPr>
          <p:nvPr/>
        </p:nvPicPr>
        <p:blipFill>
          <a:blip r:embed="rId9"/>
          <a:stretch>
            <a:fillRect/>
          </a:stretch>
        </p:blipFill>
        <p:spPr>
          <a:xfrm>
            <a:off x="4476750" y="3685569"/>
            <a:ext cx="9334500" cy="3334962"/>
          </a:xfrm>
          <a:prstGeom prst="rect">
            <a:avLst/>
          </a:prstGeom>
        </p:spPr>
      </p:pic>
      <p:sp>
        <p:nvSpPr>
          <p:cNvPr id="31" name="Rectangle 30"/>
          <p:cNvSpPr/>
          <p:nvPr/>
        </p:nvSpPr>
        <p:spPr>
          <a:xfrm>
            <a:off x="3409950" y="2457450"/>
            <a:ext cx="609600" cy="43891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09950" y="2457450"/>
            <a:ext cx="609600" cy="438912"/>
          </a:xfrm>
          <a:prstGeom prst="rect">
            <a:avLst/>
          </a:prstGeom>
          <a:noFill/>
        </p:spPr>
        <p:txBody>
          <a:bodyPr wrap="none" lIns="0" rIns="0" tIns="0" bIns="0" anchor="ctr">
            <a:spAutoFit/>
          </a:bodyPr>
          <a:lstStyle/>
          <a:p>
            <a:pPr algn="ctr">
              <a:lnSpc>
                <a:spcPct val="100000"/>
              </a:lnSpc>
            </a:pPr>
            <a:r>
              <a:rPr sz="1728" b="1" i="0">
                <a:solidFill>
                  <a:srgbClr val="07172D"/>
                </a:solidFill>
                <a:latin typeface="Montserrat"/>
              </a:rPr>
              <a:t>06</a:t>
            </a:r>
          </a:p>
        </p:txBody>
      </p:sp>
      <p:sp>
        <p:nvSpPr>
          <p:cNvPr id="33" name="Rectangle 32"/>
          <p:cNvSpPr/>
          <p:nvPr/>
        </p:nvSpPr>
        <p:spPr>
          <a:xfrm>
            <a:off x="3524250" y="8267700"/>
            <a:ext cx="11239500" cy="609600"/>
          </a:xfrm>
          <a:prstGeom prst="rect">
            <a:avLst/>
          </a:prstGeom>
          <a:solidFill>
            <a:srgbClr val="07172D">
              <a:alpha val="82000"/>
            </a:srgbClr>
          </a:solidFill>
          <a:ln w="9525">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524250" y="8267700"/>
            <a:ext cx="76200" cy="6096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829050" y="8267700"/>
            <a:ext cx="10782300" cy="609600"/>
          </a:xfrm>
          <a:prstGeom prst="rect">
            <a:avLst/>
          </a:prstGeom>
          <a:noFill/>
        </p:spPr>
        <p:txBody>
          <a:bodyPr wrap="square" lIns="0" rIns="0" tIns="0" bIns="0" anchor="ctr">
            <a:spAutoFit/>
          </a:bodyPr>
          <a:lstStyle/>
          <a:p>
            <a:pPr algn="l">
              <a:lnSpc>
                <a:spcPct val="100000"/>
              </a:lnSpc>
            </a:pPr>
            <a:r>
              <a:rPr sz="2250" b="1" i="0">
                <a:solidFill>
                  <a:srgbClr val="F3F7FC"/>
                </a:solidFill>
                <a:latin typeface="Montserrat"/>
              </a:rPr>
              <a:t>06 · El control de calidad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66825" y="2076450"/>
            <a:ext cx="3810000" cy="285750"/>
          </a:xfrm>
          <a:prstGeom prst="rect">
            <a:avLst/>
          </a:prstGeom>
          <a:noFill/>
        </p:spPr>
        <p:txBody>
          <a:bodyPr wrap="square" lIns="0" rIns="0" tIns="0" bIns="0" anchor="t">
            <a:spAutoFit/>
          </a:bodyPr>
          <a:lstStyle/>
          <a:p>
            <a:pPr algn="ctr">
              <a:lnSpc>
                <a:spcPct val="100000"/>
              </a:lnSpc>
            </a:pPr>
            <a:r>
              <a:rPr sz="1500" b="1" i="0" spc="150">
                <a:solidFill>
                  <a:srgbClr val="FFD21F"/>
                </a:solidFill>
                <a:latin typeface="Montserrat"/>
              </a:rPr>
              <a:t>CAUSA 01</a:t>
            </a:r>
          </a:p>
        </p:txBody>
      </p:sp>
      <p:sp>
        <p:nvSpPr>
          <p:cNvPr id="9" name="TextBox 8"/>
          <p:cNvSpPr txBox="1"/>
          <p:nvPr/>
        </p:nvSpPr>
        <p:spPr>
          <a:xfrm>
            <a:off x="4829175" y="2076450"/>
            <a:ext cx="3810000" cy="285750"/>
          </a:xfrm>
          <a:prstGeom prst="rect">
            <a:avLst/>
          </a:prstGeom>
          <a:noFill/>
        </p:spPr>
        <p:txBody>
          <a:bodyPr wrap="square" lIns="0" rIns="0" tIns="0" bIns="0" anchor="t">
            <a:spAutoFit/>
          </a:bodyPr>
          <a:lstStyle/>
          <a:p>
            <a:pPr algn="ctr">
              <a:lnSpc>
                <a:spcPct val="100000"/>
              </a:lnSpc>
            </a:pPr>
            <a:r>
              <a:rPr sz="1500" b="1" i="0" spc="150">
                <a:solidFill>
                  <a:srgbClr val="9FB4CC"/>
                </a:solidFill>
                <a:latin typeface="Montserrat"/>
              </a:rPr>
              <a:t>EFECTO 01</a:t>
            </a:r>
          </a:p>
        </p:txBody>
      </p:sp>
      <p:pic>
        <p:nvPicPr>
          <p:cNvPr id="10" name="Picture 9" descr="causa_1_8f57ba7d15.png"/>
          <p:cNvPicPr>
            <a:picLocks noChangeAspect="1"/>
          </p:cNvPicPr>
          <p:nvPr/>
        </p:nvPicPr>
        <p:blipFill>
          <a:blip r:embed="rId4"/>
          <a:stretch>
            <a:fillRect/>
          </a:stretch>
        </p:blipFill>
        <p:spPr>
          <a:xfrm>
            <a:off x="1866900" y="2491627"/>
            <a:ext cx="2609850" cy="2503396"/>
          </a:xfrm>
          <a:prstGeom prst="rect">
            <a:avLst/>
          </a:prstGeom>
        </p:spPr>
      </p:pic>
      <p:pic>
        <p:nvPicPr>
          <p:cNvPr id="11" name="Picture 10" descr="efecto_1_7512da7a7c.png"/>
          <p:cNvPicPr>
            <a:picLocks noChangeAspect="1"/>
          </p:cNvPicPr>
          <p:nvPr/>
        </p:nvPicPr>
        <p:blipFill>
          <a:blip r:embed="rId5"/>
          <a:stretch>
            <a:fillRect/>
          </a:stretch>
        </p:blipFill>
        <p:spPr>
          <a:xfrm>
            <a:off x="5429250" y="2503646"/>
            <a:ext cx="2609850" cy="2479358"/>
          </a:xfrm>
          <a:prstGeom prst="rect">
            <a:avLst/>
          </a:prstGeom>
        </p:spPr>
      </p:pic>
      <p:sp>
        <p:nvSpPr>
          <p:cNvPr id="12" name="Right Arrow 11"/>
          <p:cNvSpPr/>
          <p:nvPr/>
        </p:nvSpPr>
        <p:spPr>
          <a:xfrm>
            <a:off x="4686300" y="3600450"/>
            <a:ext cx="533400" cy="2857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296400" y="1905000"/>
            <a:ext cx="8077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48825" y="2076450"/>
            <a:ext cx="3810000" cy="285750"/>
          </a:xfrm>
          <a:prstGeom prst="rect">
            <a:avLst/>
          </a:prstGeom>
          <a:noFill/>
        </p:spPr>
        <p:txBody>
          <a:bodyPr wrap="square" lIns="0" rIns="0" tIns="0" bIns="0" anchor="t">
            <a:spAutoFit/>
          </a:bodyPr>
          <a:lstStyle/>
          <a:p>
            <a:pPr algn="ctr">
              <a:lnSpc>
                <a:spcPct val="100000"/>
              </a:lnSpc>
            </a:pPr>
            <a:r>
              <a:rPr sz="1500" b="1" i="0" spc="150">
                <a:solidFill>
                  <a:srgbClr val="FFD21F"/>
                </a:solidFill>
                <a:latin typeface="Montserrat"/>
              </a:rPr>
              <a:t>CAUSA 02</a:t>
            </a:r>
          </a:p>
        </p:txBody>
      </p:sp>
      <p:sp>
        <p:nvSpPr>
          <p:cNvPr id="15" name="TextBox 14"/>
          <p:cNvSpPr txBox="1"/>
          <p:nvPr/>
        </p:nvSpPr>
        <p:spPr>
          <a:xfrm>
            <a:off x="13211175" y="2076450"/>
            <a:ext cx="3810000" cy="285750"/>
          </a:xfrm>
          <a:prstGeom prst="rect">
            <a:avLst/>
          </a:prstGeom>
          <a:noFill/>
        </p:spPr>
        <p:txBody>
          <a:bodyPr wrap="square" lIns="0" rIns="0" tIns="0" bIns="0" anchor="t">
            <a:spAutoFit/>
          </a:bodyPr>
          <a:lstStyle/>
          <a:p>
            <a:pPr algn="ctr">
              <a:lnSpc>
                <a:spcPct val="100000"/>
              </a:lnSpc>
            </a:pPr>
            <a:r>
              <a:rPr sz="1500" b="1" i="0" spc="150">
                <a:solidFill>
                  <a:srgbClr val="9FB4CC"/>
                </a:solidFill>
                <a:latin typeface="Montserrat"/>
              </a:rPr>
              <a:t>EFECTO 02</a:t>
            </a:r>
          </a:p>
        </p:txBody>
      </p:sp>
      <p:pic>
        <p:nvPicPr>
          <p:cNvPr id="16" name="Picture 15" descr="causa_2_69ee5752f3.png"/>
          <p:cNvPicPr>
            <a:picLocks noChangeAspect="1"/>
          </p:cNvPicPr>
          <p:nvPr/>
        </p:nvPicPr>
        <p:blipFill>
          <a:blip r:embed="rId6"/>
          <a:stretch>
            <a:fillRect/>
          </a:stretch>
        </p:blipFill>
        <p:spPr>
          <a:xfrm>
            <a:off x="10248900" y="2467589"/>
            <a:ext cx="2609850" cy="2551472"/>
          </a:xfrm>
          <a:prstGeom prst="rect">
            <a:avLst/>
          </a:prstGeom>
        </p:spPr>
      </p:pic>
      <p:pic>
        <p:nvPicPr>
          <p:cNvPr id="17" name="Picture 16" descr="efecto_2_ac377673e0.png"/>
          <p:cNvPicPr>
            <a:picLocks noChangeAspect="1"/>
          </p:cNvPicPr>
          <p:nvPr/>
        </p:nvPicPr>
        <p:blipFill>
          <a:blip r:embed="rId7"/>
          <a:stretch>
            <a:fillRect/>
          </a:stretch>
        </p:blipFill>
        <p:spPr>
          <a:xfrm>
            <a:off x="13811250" y="2472740"/>
            <a:ext cx="2609850" cy="2541170"/>
          </a:xfrm>
          <a:prstGeom prst="rect">
            <a:avLst/>
          </a:prstGeom>
        </p:spPr>
      </p:pic>
      <p:sp>
        <p:nvSpPr>
          <p:cNvPr id="18" name="Right Arrow 17"/>
          <p:cNvSpPr/>
          <p:nvPr/>
        </p:nvSpPr>
        <p:spPr>
          <a:xfrm>
            <a:off x="13068300" y="3600450"/>
            <a:ext cx="533400" cy="2857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 y="5867400"/>
            <a:ext cx="8077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266825" y="6038850"/>
            <a:ext cx="3810000" cy="285750"/>
          </a:xfrm>
          <a:prstGeom prst="rect">
            <a:avLst/>
          </a:prstGeom>
          <a:noFill/>
        </p:spPr>
        <p:txBody>
          <a:bodyPr wrap="square" lIns="0" rIns="0" tIns="0" bIns="0" anchor="t">
            <a:spAutoFit/>
          </a:bodyPr>
          <a:lstStyle/>
          <a:p>
            <a:pPr algn="ctr">
              <a:lnSpc>
                <a:spcPct val="100000"/>
              </a:lnSpc>
            </a:pPr>
            <a:r>
              <a:rPr sz="1500" b="1" i="0" spc="150">
                <a:solidFill>
                  <a:srgbClr val="FFD21F"/>
                </a:solidFill>
                <a:latin typeface="Montserrat"/>
              </a:rPr>
              <a:t>CAUSA 03</a:t>
            </a:r>
          </a:p>
        </p:txBody>
      </p:sp>
      <p:sp>
        <p:nvSpPr>
          <p:cNvPr id="21" name="TextBox 20"/>
          <p:cNvSpPr txBox="1"/>
          <p:nvPr/>
        </p:nvSpPr>
        <p:spPr>
          <a:xfrm>
            <a:off x="4829175" y="6038850"/>
            <a:ext cx="3810000" cy="285750"/>
          </a:xfrm>
          <a:prstGeom prst="rect">
            <a:avLst/>
          </a:prstGeom>
          <a:noFill/>
        </p:spPr>
        <p:txBody>
          <a:bodyPr wrap="square" lIns="0" rIns="0" tIns="0" bIns="0" anchor="t">
            <a:spAutoFit/>
          </a:bodyPr>
          <a:lstStyle/>
          <a:p>
            <a:pPr algn="ctr">
              <a:lnSpc>
                <a:spcPct val="100000"/>
              </a:lnSpc>
            </a:pPr>
            <a:r>
              <a:rPr sz="1500" b="1" i="0" spc="150">
                <a:solidFill>
                  <a:srgbClr val="9FB4CC"/>
                </a:solidFill>
                <a:latin typeface="Montserrat"/>
              </a:rPr>
              <a:t>EFECTO 03</a:t>
            </a:r>
          </a:p>
        </p:txBody>
      </p:sp>
      <p:pic>
        <p:nvPicPr>
          <p:cNvPr id="22" name="Picture 21" descr="causa_3_dc9f93092c.png"/>
          <p:cNvPicPr>
            <a:picLocks noChangeAspect="1"/>
          </p:cNvPicPr>
          <p:nvPr/>
        </p:nvPicPr>
        <p:blipFill>
          <a:blip r:embed="rId8"/>
          <a:stretch>
            <a:fillRect/>
          </a:stretch>
        </p:blipFill>
        <p:spPr>
          <a:xfrm>
            <a:off x="1875485" y="6400800"/>
            <a:ext cx="2592680" cy="2609850"/>
          </a:xfrm>
          <a:prstGeom prst="rect">
            <a:avLst/>
          </a:prstGeom>
        </p:spPr>
      </p:pic>
      <p:pic>
        <p:nvPicPr>
          <p:cNvPr id="23" name="Picture 22" descr="efecto_3_5782cba8c4.png"/>
          <p:cNvPicPr>
            <a:picLocks noChangeAspect="1"/>
          </p:cNvPicPr>
          <p:nvPr/>
        </p:nvPicPr>
        <p:blipFill>
          <a:blip r:embed="rId9"/>
          <a:stretch>
            <a:fillRect/>
          </a:stretch>
        </p:blipFill>
        <p:spPr>
          <a:xfrm>
            <a:off x="5429250" y="6423121"/>
            <a:ext cx="2609850" cy="2565208"/>
          </a:xfrm>
          <a:prstGeom prst="rect">
            <a:avLst/>
          </a:prstGeom>
        </p:spPr>
      </p:pic>
      <p:sp>
        <p:nvSpPr>
          <p:cNvPr id="24" name="Right Arrow 23"/>
          <p:cNvSpPr/>
          <p:nvPr/>
        </p:nvSpPr>
        <p:spPr>
          <a:xfrm>
            <a:off x="4686300" y="7562850"/>
            <a:ext cx="533400" cy="2857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6400" y="5867400"/>
            <a:ext cx="8077200" cy="36576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48825" y="6038850"/>
            <a:ext cx="3810000" cy="285750"/>
          </a:xfrm>
          <a:prstGeom prst="rect">
            <a:avLst/>
          </a:prstGeom>
          <a:noFill/>
        </p:spPr>
        <p:txBody>
          <a:bodyPr wrap="square" lIns="0" rIns="0" tIns="0" bIns="0" anchor="t">
            <a:spAutoFit/>
          </a:bodyPr>
          <a:lstStyle/>
          <a:p>
            <a:pPr algn="ctr">
              <a:lnSpc>
                <a:spcPct val="100000"/>
              </a:lnSpc>
            </a:pPr>
            <a:r>
              <a:rPr sz="1500" b="1" i="0" spc="150">
                <a:solidFill>
                  <a:srgbClr val="FFD21F"/>
                </a:solidFill>
                <a:latin typeface="Montserrat"/>
              </a:rPr>
              <a:t>CAUSA 04</a:t>
            </a:r>
          </a:p>
        </p:txBody>
      </p:sp>
      <p:sp>
        <p:nvSpPr>
          <p:cNvPr id="27" name="TextBox 26"/>
          <p:cNvSpPr txBox="1"/>
          <p:nvPr/>
        </p:nvSpPr>
        <p:spPr>
          <a:xfrm>
            <a:off x="13211175" y="6038850"/>
            <a:ext cx="3810000" cy="285750"/>
          </a:xfrm>
          <a:prstGeom prst="rect">
            <a:avLst/>
          </a:prstGeom>
          <a:noFill/>
        </p:spPr>
        <p:txBody>
          <a:bodyPr wrap="square" lIns="0" rIns="0" tIns="0" bIns="0" anchor="t">
            <a:spAutoFit/>
          </a:bodyPr>
          <a:lstStyle/>
          <a:p>
            <a:pPr algn="ctr">
              <a:lnSpc>
                <a:spcPct val="100000"/>
              </a:lnSpc>
            </a:pPr>
            <a:r>
              <a:rPr sz="1500" b="1" i="0" spc="150">
                <a:solidFill>
                  <a:srgbClr val="9FB4CC"/>
                </a:solidFill>
                <a:latin typeface="Montserrat"/>
              </a:rPr>
              <a:t>EFECTO 04</a:t>
            </a:r>
          </a:p>
        </p:txBody>
      </p:sp>
      <p:pic>
        <p:nvPicPr>
          <p:cNvPr id="28" name="Picture 27" descr="causa_4_a33974656e.png"/>
          <p:cNvPicPr>
            <a:picLocks noChangeAspect="1"/>
          </p:cNvPicPr>
          <p:nvPr/>
        </p:nvPicPr>
        <p:blipFill>
          <a:blip r:embed="rId10"/>
          <a:stretch>
            <a:fillRect/>
          </a:stretch>
        </p:blipFill>
        <p:spPr>
          <a:xfrm>
            <a:off x="10248900" y="6440291"/>
            <a:ext cx="2609850" cy="2530868"/>
          </a:xfrm>
          <a:prstGeom prst="rect">
            <a:avLst/>
          </a:prstGeom>
        </p:spPr>
      </p:pic>
      <p:pic>
        <p:nvPicPr>
          <p:cNvPr id="29" name="Picture 28" descr="efecto_4_e0f67eb1db.png"/>
          <p:cNvPicPr>
            <a:picLocks noChangeAspect="1"/>
          </p:cNvPicPr>
          <p:nvPr/>
        </p:nvPicPr>
        <p:blipFill>
          <a:blip r:embed="rId11"/>
          <a:stretch>
            <a:fillRect/>
          </a:stretch>
        </p:blipFill>
        <p:spPr>
          <a:xfrm>
            <a:off x="13811250" y="6424838"/>
            <a:ext cx="2609850" cy="2561774"/>
          </a:xfrm>
          <a:prstGeom prst="rect">
            <a:avLst/>
          </a:prstGeom>
        </p:spPr>
      </p:pic>
      <p:sp>
        <p:nvSpPr>
          <p:cNvPr id="30" name="Right Arrow 29"/>
          <p:cNvSpPr/>
          <p:nvPr/>
        </p:nvSpPr>
        <p:spPr>
          <a:xfrm>
            <a:off x="13068300" y="7562850"/>
            <a:ext cx="533400" cy="2857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usa_1_8f57ba7d15.png"/>
          <p:cNvPicPr>
            <a:picLocks noChangeAspect="1"/>
          </p:cNvPicPr>
          <p:nvPr/>
        </p:nvPicPr>
        <p:blipFill>
          <a:blip r:embed="rId4">
            <a:alphaModFix amt="18000"/>
          </a:blip>
          <a:stretch>
            <a:fillRect/>
          </a:stretch>
        </p:blipFill>
        <p:spPr>
          <a:xfrm>
            <a:off x="1866900" y="2491627"/>
            <a:ext cx="2609850" cy="2503396"/>
          </a:xfrm>
          <a:prstGeom prst="rect">
            <a:avLst/>
          </a:prstGeom>
        </p:spPr>
      </p:pic>
      <p:pic>
        <p:nvPicPr>
          <p:cNvPr id="9" name="Picture 8" descr="efecto_1_7512da7a7c.png"/>
          <p:cNvPicPr>
            <a:picLocks noChangeAspect="1"/>
          </p:cNvPicPr>
          <p:nvPr/>
        </p:nvPicPr>
        <p:blipFill>
          <a:blip r:embed="rId5">
            <a:alphaModFix amt="18000"/>
          </a:blip>
          <a:stretch>
            <a:fillRect/>
          </a:stretch>
        </p:blipFill>
        <p:spPr>
          <a:xfrm>
            <a:off x="5429250" y="2503646"/>
            <a:ext cx="2609850" cy="2479358"/>
          </a:xfrm>
          <a:prstGeom prst="rect">
            <a:avLst/>
          </a:prstGeom>
        </p:spPr>
      </p:pic>
      <p:sp>
        <p:nvSpPr>
          <p:cNvPr id="10" name="Right Arrow 9"/>
          <p:cNvSpPr/>
          <p:nvPr/>
        </p:nvSpPr>
        <p:spPr>
          <a:xfrm>
            <a:off x="4686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96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usa_2_69ee5752f3.png"/>
          <p:cNvPicPr>
            <a:picLocks noChangeAspect="1"/>
          </p:cNvPicPr>
          <p:nvPr/>
        </p:nvPicPr>
        <p:blipFill>
          <a:blip r:embed="rId6">
            <a:alphaModFix amt="18000"/>
          </a:blip>
          <a:stretch>
            <a:fillRect/>
          </a:stretch>
        </p:blipFill>
        <p:spPr>
          <a:xfrm>
            <a:off x="10248900" y="2467589"/>
            <a:ext cx="2609850" cy="2551472"/>
          </a:xfrm>
          <a:prstGeom prst="rect">
            <a:avLst/>
          </a:prstGeom>
        </p:spPr>
      </p:pic>
      <p:pic>
        <p:nvPicPr>
          <p:cNvPr id="13" name="Picture 12" descr="efecto_2_ac377673e0.png"/>
          <p:cNvPicPr>
            <a:picLocks noChangeAspect="1"/>
          </p:cNvPicPr>
          <p:nvPr/>
        </p:nvPicPr>
        <p:blipFill>
          <a:blip r:embed="rId7">
            <a:alphaModFix amt="18000"/>
          </a:blip>
          <a:stretch>
            <a:fillRect/>
          </a:stretch>
        </p:blipFill>
        <p:spPr>
          <a:xfrm>
            <a:off x="13811250" y="2472740"/>
            <a:ext cx="2609850" cy="2541170"/>
          </a:xfrm>
          <a:prstGeom prst="rect">
            <a:avLst/>
          </a:prstGeom>
        </p:spPr>
      </p:pic>
      <p:sp>
        <p:nvSpPr>
          <p:cNvPr id="14" name="Right Arrow 13"/>
          <p:cNvSpPr/>
          <p:nvPr/>
        </p:nvSpPr>
        <p:spPr>
          <a:xfrm>
            <a:off x="13068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usa_3_dc9f93092c.png"/>
          <p:cNvPicPr>
            <a:picLocks noChangeAspect="1"/>
          </p:cNvPicPr>
          <p:nvPr/>
        </p:nvPicPr>
        <p:blipFill>
          <a:blip r:embed="rId8">
            <a:alphaModFix amt="18000"/>
          </a:blip>
          <a:stretch>
            <a:fillRect/>
          </a:stretch>
        </p:blipFill>
        <p:spPr>
          <a:xfrm>
            <a:off x="1875485" y="6400800"/>
            <a:ext cx="2592680" cy="2609850"/>
          </a:xfrm>
          <a:prstGeom prst="rect">
            <a:avLst/>
          </a:prstGeom>
        </p:spPr>
      </p:pic>
      <p:pic>
        <p:nvPicPr>
          <p:cNvPr id="17" name="Picture 16" descr="efecto_3_5782cba8c4.png"/>
          <p:cNvPicPr>
            <a:picLocks noChangeAspect="1"/>
          </p:cNvPicPr>
          <p:nvPr/>
        </p:nvPicPr>
        <p:blipFill>
          <a:blip r:embed="rId9">
            <a:alphaModFix amt="18000"/>
          </a:blip>
          <a:stretch>
            <a:fillRect/>
          </a:stretch>
        </p:blipFill>
        <p:spPr>
          <a:xfrm>
            <a:off x="5429250" y="6423121"/>
            <a:ext cx="2609850" cy="2565208"/>
          </a:xfrm>
          <a:prstGeom prst="rect">
            <a:avLst/>
          </a:prstGeom>
        </p:spPr>
      </p:pic>
      <p:sp>
        <p:nvSpPr>
          <p:cNvPr id="18" name="Right Arrow 17"/>
          <p:cNvSpPr/>
          <p:nvPr/>
        </p:nvSpPr>
        <p:spPr>
          <a:xfrm>
            <a:off x="4686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96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usa_4_a33974656e.png"/>
          <p:cNvPicPr>
            <a:picLocks noChangeAspect="1"/>
          </p:cNvPicPr>
          <p:nvPr/>
        </p:nvPicPr>
        <p:blipFill>
          <a:blip r:embed="rId10">
            <a:alphaModFix amt="18000"/>
          </a:blip>
          <a:stretch>
            <a:fillRect/>
          </a:stretch>
        </p:blipFill>
        <p:spPr>
          <a:xfrm>
            <a:off x="10248900" y="6440291"/>
            <a:ext cx="2609850" cy="2530868"/>
          </a:xfrm>
          <a:prstGeom prst="rect">
            <a:avLst/>
          </a:prstGeom>
        </p:spPr>
      </p:pic>
      <p:pic>
        <p:nvPicPr>
          <p:cNvPr id="21" name="Picture 20" descr="efecto_4_e0f67eb1db.png"/>
          <p:cNvPicPr>
            <a:picLocks noChangeAspect="1"/>
          </p:cNvPicPr>
          <p:nvPr/>
        </p:nvPicPr>
        <p:blipFill>
          <a:blip r:embed="rId11">
            <a:alphaModFix amt="18000"/>
          </a:blip>
          <a:stretch>
            <a:fillRect/>
          </a:stretch>
        </p:blipFill>
        <p:spPr>
          <a:xfrm>
            <a:off x="13811250" y="6424838"/>
            <a:ext cx="2609850" cy="2561774"/>
          </a:xfrm>
          <a:prstGeom prst="rect">
            <a:avLst/>
          </a:prstGeom>
        </p:spPr>
      </p:pic>
      <p:sp>
        <p:nvSpPr>
          <p:cNvPr id="22" name="Right Arrow 21"/>
          <p:cNvSpPr/>
          <p:nvPr/>
        </p:nvSpPr>
        <p:spPr>
          <a:xfrm>
            <a:off x="13068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squinero"/>
          <p:cNvSpPr/>
          <p:nvPr/>
        </p:nvSpPr>
        <p:spPr>
          <a:xfrm>
            <a:off x="27622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2762250"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149923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497175"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276225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quinero"/>
          <p:cNvSpPr/>
          <p:nvPr/>
        </p:nvSpPr>
        <p:spPr>
          <a:xfrm>
            <a:off x="27622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quinero"/>
          <p:cNvSpPr/>
          <p:nvPr/>
        </p:nvSpPr>
        <p:spPr>
          <a:xfrm>
            <a:off x="1549717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quinero"/>
          <p:cNvSpPr/>
          <p:nvPr/>
        </p:nvSpPr>
        <p:spPr>
          <a:xfrm>
            <a:off x="149923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857500" y="2247900"/>
            <a:ext cx="12573000" cy="70104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0957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FFD21F"/>
                </a:solidFill>
                <a:latin typeface="Montserrat"/>
              </a:rPr>
              <a:t>CAUSA 01</a:t>
            </a:r>
          </a:p>
        </p:txBody>
      </p:sp>
      <p:sp>
        <p:nvSpPr>
          <p:cNvPr id="33" name="TextBox 32"/>
          <p:cNvSpPr txBox="1"/>
          <p:nvPr/>
        </p:nvSpPr>
        <p:spPr>
          <a:xfrm>
            <a:off x="103822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9FB4CC"/>
                </a:solidFill>
                <a:latin typeface="Montserrat"/>
              </a:rPr>
              <a:t>EFECTO 01</a:t>
            </a:r>
          </a:p>
        </p:txBody>
      </p:sp>
      <p:pic>
        <p:nvPicPr>
          <p:cNvPr id="34" name="Picture 33" descr="causa_1_8f57ba7d15.png"/>
          <p:cNvPicPr>
            <a:picLocks noChangeAspect="1"/>
          </p:cNvPicPr>
          <p:nvPr/>
        </p:nvPicPr>
        <p:blipFill>
          <a:blip r:embed="rId4"/>
          <a:stretch>
            <a:fillRect/>
          </a:stretch>
        </p:blipFill>
        <p:spPr>
          <a:xfrm>
            <a:off x="3571875" y="3147073"/>
            <a:ext cx="4857750" cy="4659605"/>
          </a:xfrm>
          <a:prstGeom prst="rect">
            <a:avLst/>
          </a:prstGeom>
        </p:spPr>
      </p:pic>
      <p:pic>
        <p:nvPicPr>
          <p:cNvPr id="35" name="Picture 34" descr="efecto_1_7512da7a7c.png"/>
          <p:cNvPicPr>
            <a:picLocks noChangeAspect="1"/>
          </p:cNvPicPr>
          <p:nvPr/>
        </p:nvPicPr>
        <p:blipFill>
          <a:blip r:embed="rId5"/>
          <a:stretch>
            <a:fillRect/>
          </a:stretch>
        </p:blipFill>
        <p:spPr>
          <a:xfrm>
            <a:off x="9858375" y="3169444"/>
            <a:ext cx="4857750" cy="4614862"/>
          </a:xfrm>
          <a:prstGeom prst="rect">
            <a:avLst/>
          </a:prstGeom>
        </p:spPr>
      </p:pic>
      <p:sp>
        <p:nvSpPr>
          <p:cNvPr id="36" name="Right Arrow 35"/>
          <p:cNvSpPr/>
          <p:nvPr/>
        </p:nvSpPr>
        <p:spPr>
          <a:xfrm>
            <a:off x="8810625" y="5257800"/>
            <a:ext cx="666750" cy="4381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32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Criterio no formalizado</a:t>
            </a:r>
          </a:p>
        </p:txBody>
      </p:sp>
      <p:sp>
        <p:nvSpPr>
          <p:cNvPr id="38" name="TextBox 37"/>
          <p:cNvSpPr txBox="1"/>
          <p:nvPr/>
        </p:nvSpPr>
        <p:spPr>
          <a:xfrm>
            <a:off x="94297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Decisiones inconsistentes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usa_1_8f57ba7d15.png"/>
          <p:cNvPicPr>
            <a:picLocks noChangeAspect="1"/>
          </p:cNvPicPr>
          <p:nvPr/>
        </p:nvPicPr>
        <p:blipFill>
          <a:blip r:embed="rId4">
            <a:alphaModFix amt="18000"/>
          </a:blip>
          <a:stretch>
            <a:fillRect/>
          </a:stretch>
        </p:blipFill>
        <p:spPr>
          <a:xfrm>
            <a:off x="1866900" y="2491627"/>
            <a:ext cx="2609850" cy="2503396"/>
          </a:xfrm>
          <a:prstGeom prst="rect">
            <a:avLst/>
          </a:prstGeom>
        </p:spPr>
      </p:pic>
      <p:pic>
        <p:nvPicPr>
          <p:cNvPr id="9" name="Picture 8" descr="efecto_1_7512da7a7c.png"/>
          <p:cNvPicPr>
            <a:picLocks noChangeAspect="1"/>
          </p:cNvPicPr>
          <p:nvPr/>
        </p:nvPicPr>
        <p:blipFill>
          <a:blip r:embed="rId5">
            <a:alphaModFix amt="18000"/>
          </a:blip>
          <a:stretch>
            <a:fillRect/>
          </a:stretch>
        </p:blipFill>
        <p:spPr>
          <a:xfrm>
            <a:off x="5429250" y="2503646"/>
            <a:ext cx="2609850" cy="2479358"/>
          </a:xfrm>
          <a:prstGeom prst="rect">
            <a:avLst/>
          </a:prstGeom>
        </p:spPr>
      </p:pic>
      <p:sp>
        <p:nvSpPr>
          <p:cNvPr id="10" name="Right Arrow 9"/>
          <p:cNvSpPr/>
          <p:nvPr/>
        </p:nvSpPr>
        <p:spPr>
          <a:xfrm>
            <a:off x="4686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96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usa_2_69ee5752f3.png"/>
          <p:cNvPicPr>
            <a:picLocks noChangeAspect="1"/>
          </p:cNvPicPr>
          <p:nvPr/>
        </p:nvPicPr>
        <p:blipFill>
          <a:blip r:embed="rId6">
            <a:alphaModFix amt="18000"/>
          </a:blip>
          <a:stretch>
            <a:fillRect/>
          </a:stretch>
        </p:blipFill>
        <p:spPr>
          <a:xfrm>
            <a:off x="10248900" y="2467589"/>
            <a:ext cx="2609850" cy="2551472"/>
          </a:xfrm>
          <a:prstGeom prst="rect">
            <a:avLst/>
          </a:prstGeom>
        </p:spPr>
      </p:pic>
      <p:pic>
        <p:nvPicPr>
          <p:cNvPr id="13" name="Picture 12" descr="efecto_2_ac377673e0.png"/>
          <p:cNvPicPr>
            <a:picLocks noChangeAspect="1"/>
          </p:cNvPicPr>
          <p:nvPr/>
        </p:nvPicPr>
        <p:blipFill>
          <a:blip r:embed="rId7">
            <a:alphaModFix amt="18000"/>
          </a:blip>
          <a:stretch>
            <a:fillRect/>
          </a:stretch>
        </p:blipFill>
        <p:spPr>
          <a:xfrm>
            <a:off x="13811250" y="2472740"/>
            <a:ext cx="2609850" cy="2541170"/>
          </a:xfrm>
          <a:prstGeom prst="rect">
            <a:avLst/>
          </a:prstGeom>
        </p:spPr>
      </p:pic>
      <p:sp>
        <p:nvSpPr>
          <p:cNvPr id="14" name="Right Arrow 13"/>
          <p:cNvSpPr/>
          <p:nvPr/>
        </p:nvSpPr>
        <p:spPr>
          <a:xfrm>
            <a:off x="13068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usa_3_dc9f93092c.png"/>
          <p:cNvPicPr>
            <a:picLocks noChangeAspect="1"/>
          </p:cNvPicPr>
          <p:nvPr/>
        </p:nvPicPr>
        <p:blipFill>
          <a:blip r:embed="rId8">
            <a:alphaModFix amt="18000"/>
          </a:blip>
          <a:stretch>
            <a:fillRect/>
          </a:stretch>
        </p:blipFill>
        <p:spPr>
          <a:xfrm>
            <a:off x="1875485" y="6400800"/>
            <a:ext cx="2592680" cy="2609850"/>
          </a:xfrm>
          <a:prstGeom prst="rect">
            <a:avLst/>
          </a:prstGeom>
        </p:spPr>
      </p:pic>
      <p:pic>
        <p:nvPicPr>
          <p:cNvPr id="17" name="Picture 16" descr="efecto_3_5782cba8c4.png"/>
          <p:cNvPicPr>
            <a:picLocks noChangeAspect="1"/>
          </p:cNvPicPr>
          <p:nvPr/>
        </p:nvPicPr>
        <p:blipFill>
          <a:blip r:embed="rId9">
            <a:alphaModFix amt="18000"/>
          </a:blip>
          <a:stretch>
            <a:fillRect/>
          </a:stretch>
        </p:blipFill>
        <p:spPr>
          <a:xfrm>
            <a:off x="5429250" y="6423121"/>
            <a:ext cx="2609850" cy="2565208"/>
          </a:xfrm>
          <a:prstGeom prst="rect">
            <a:avLst/>
          </a:prstGeom>
        </p:spPr>
      </p:pic>
      <p:sp>
        <p:nvSpPr>
          <p:cNvPr id="18" name="Right Arrow 17"/>
          <p:cNvSpPr/>
          <p:nvPr/>
        </p:nvSpPr>
        <p:spPr>
          <a:xfrm>
            <a:off x="4686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96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usa_4_a33974656e.png"/>
          <p:cNvPicPr>
            <a:picLocks noChangeAspect="1"/>
          </p:cNvPicPr>
          <p:nvPr/>
        </p:nvPicPr>
        <p:blipFill>
          <a:blip r:embed="rId10">
            <a:alphaModFix amt="18000"/>
          </a:blip>
          <a:stretch>
            <a:fillRect/>
          </a:stretch>
        </p:blipFill>
        <p:spPr>
          <a:xfrm>
            <a:off x="10248900" y="6440291"/>
            <a:ext cx="2609850" cy="2530868"/>
          </a:xfrm>
          <a:prstGeom prst="rect">
            <a:avLst/>
          </a:prstGeom>
        </p:spPr>
      </p:pic>
      <p:pic>
        <p:nvPicPr>
          <p:cNvPr id="21" name="Picture 20" descr="efecto_4_e0f67eb1db.png"/>
          <p:cNvPicPr>
            <a:picLocks noChangeAspect="1"/>
          </p:cNvPicPr>
          <p:nvPr/>
        </p:nvPicPr>
        <p:blipFill>
          <a:blip r:embed="rId11">
            <a:alphaModFix amt="18000"/>
          </a:blip>
          <a:stretch>
            <a:fillRect/>
          </a:stretch>
        </p:blipFill>
        <p:spPr>
          <a:xfrm>
            <a:off x="13811250" y="6424838"/>
            <a:ext cx="2609850" cy="2561774"/>
          </a:xfrm>
          <a:prstGeom prst="rect">
            <a:avLst/>
          </a:prstGeom>
        </p:spPr>
      </p:pic>
      <p:sp>
        <p:nvSpPr>
          <p:cNvPr id="22" name="Right Arrow 21"/>
          <p:cNvSpPr/>
          <p:nvPr/>
        </p:nvSpPr>
        <p:spPr>
          <a:xfrm>
            <a:off x="13068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squinero"/>
          <p:cNvSpPr/>
          <p:nvPr/>
        </p:nvSpPr>
        <p:spPr>
          <a:xfrm>
            <a:off x="27622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2762250"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149923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497175"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276225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quinero"/>
          <p:cNvSpPr/>
          <p:nvPr/>
        </p:nvSpPr>
        <p:spPr>
          <a:xfrm>
            <a:off x="27622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quinero"/>
          <p:cNvSpPr/>
          <p:nvPr/>
        </p:nvSpPr>
        <p:spPr>
          <a:xfrm>
            <a:off x="1549717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quinero"/>
          <p:cNvSpPr/>
          <p:nvPr/>
        </p:nvSpPr>
        <p:spPr>
          <a:xfrm>
            <a:off x="149923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857500" y="2247900"/>
            <a:ext cx="12573000" cy="70104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0957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FFD21F"/>
                </a:solidFill>
                <a:latin typeface="Montserrat"/>
              </a:rPr>
              <a:t>CAUSA 02</a:t>
            </a:r>
          </a:p>
        </p:txBody>
      </p:sp>
      <p:sp>
        <p:nvSpPr>
          <p:cNvPr id="33" name="TextBox 32"/>
          <p:cNvSpPr txBox="1"/>
          <p:nvPr/>
        </p:nvSpPr>
        <p:spPr>
          <a:xfrm>
            <a:off x="103822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9FB4CC"/>
                </a:solidFill>
                <a:latin typeface="Montserrat"/>
              </a:rPr>
              <a:t>EFECTO 02</a:t>
            </a:r>
          </a:p>
        </p:txBody>
      </p:sp>
      <p:pic>
        <p:nvPicPr>
          <p:cNvPr id="34" name="Picture 33" descr="causa_2_69ee5752f3.png"/>
          <p:cNvPicPr>
            <a:picLocks noChangeAspect="1"/>
          </p:cNvPicPr>
          <p:nvPr/>
        </p:nvPicPr>
        <p:blipFill>
          <a:blip r:embed="rId6"/>
          <a:stretch>
            <a:fillRect/>
          </a:stretch>
        </p:blipFill>
        <p:spPr>
          <a:xfrm>
            <a:off x="3571875" y="3102330"/>
            <a:ext cx="4857750" cy="4749090"/>
          </a:xfrm>
          <a:prstGeom prst="rect">
            <a:avLst/>
          </a:prstGeom>
        </p:spPr>
      </p:pic>
      <p:pic>
        <p:nvPicPr>
          <p:cNvPr id="35" name="Picture 34" descr="efecto_2_ac377673e0.png"/>
          <p:cNvPicPr>
            <a:picLocks noChangeAspect="1"/>
          </p:cNvPicPr>
          <p:nvPr/>
        </p:nvPicPr>
        <p:blipFill>
          <a:blip r:embed="rId7"/>
          <a:stretch>
            <a:fillRect/>
          </a:stretch>
        </p:blipFill>
        <p:spPr>
          <a:xfrm>
            <a:off x="9858375" y="3111918"/>
            <a:ext cx="4857750" cy="4729914"/>
          </a:xfrm>
          <a:prstGeom prst="rect">
            <a:avLst/>
          </a:prstGeom>
        </p:spPr>
      </p:pic>
      <p:sp>
        <p:nvSpPr>
          <p:cNvPr id="36" name="Right Arrow 35"/>
          <p:cNvSpPr/>
          <p:nvPr/>
        </p:nvSpPr>
        <p:spPr>
          <a:xfrm>
            <a:off x="8810625" y="5257800"/>
            <a:ext cx="666750" cy="4381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32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Volumen creciente</a:t>
            </a:r>
          </a:p>
        </p:txBody>
      </p:sp>
      <p:sp>
        <p:nvSpPr>
          <p:cNvPr id="38" name="TextBox 37"/>
          <p:cNvSpPr txBox="1"/>
          <p:nvPr/>
        </p:nvSpPr>
        <p:spPr>
          <a:xfrm>
            <a:off x="94297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Mayor tiempo de respuesta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usa_1_8f57ba7d15.png"/>
          <p:cNvPicPr>
            <a:picLocks noChangeAspect="1"/>
          </p:cNvPicPr>
          <p:nvPr/>
        </p:nvPicPr>
        <p:blipFill>
          <a:blip r:embed="rId4">
            <a:alphaModFix amt="18000"/>
          </a:blip>
          <a:stretch>
            <a:fillRect/>
          </a:stretch>
        </p:blipFill>
        <p:spPr>
          <a:xfrm>
            <a:off x="1866900" y="2491627"/>
            <a:ext cx="2609850" cy="2503396"/>
          </a:xfrm>
          <a:prstGeom prst="rect">
            <a:avLst/>
          </a:prstGeom>
        </p:spPr>
      </p:pic>
      <p:pic>
        <p:nvPicPr>
          <p:cNvPr id="9" name="Picture 8" descr="efecto_1_7512da7a7c.png"/>
          <p:cNvPicPr>
            <a:picLocks noChangeAspect="1"/>
          </p:cNvPicPr>
          <p:nvPr/>
        </p:nvPicPr>
        <p:blipFill>
          <a:blip r:embed="rId5">
            <a:alphaModFix amt="18000"/>
          </a:blip>
          <a:stretch>
            <a:fillRect/>
          </a:stretch>
        </p:blipFill>
        <p:spPr>
          <a:xfrm>
            <a:off x="5429250" y="2503646"/>
            <a:ext cx="2609850" cy="2479358"/>
          </a:xfrm>
          <a:prstGeom prst="rect">
            <a:avLst/>
          </a:prstGeom>
        </p:spPr>
      </p:pic>
      <p:sp>
        <p:nvSpPr>
          <p:cNvPr id="10" name="Right Arrow 9"/>
          <p:cNvSpPr/>
          <p:nvPr/>
        </p:nvSpPr>
        <p:spPr>
          <a:xfrm>
            <a:off x="4686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96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usa_2_69ee5752f3.png"/>
          <p:cNvPicPr>
            <a:picLocks noChangeAspect="1"/>
          </p:cNvPicPr>
          <p:nvPr/>
        </p:nvPicPr>
        <p:blipFill>
          <a:blip r:embed="rId6">
            <a:alphaModFix amt="18000"/>
          </a:blip>
          <a:stretch>
            <a:fillRect/>
          </a:stretch>
        </p:blipFill>
        <p:spPr>
          <a:xfrm>
            <a:off x="10248900" y="2467589"/>
            <a:ext cx="2609850" cy="2551472"/>
          </a:xfrm>
          <a:prstGeom prst="rect">
            <a:avLst/>
          </a:prstGeom>
        </p:spPr>
      </p:pic>
      <p:pic>
        <p:nvPicPr>
          <p:cNvPr id="13" name="Picture 12" descr="efecto_2_ac377673e0.png"/>
          <p:cNvPicPr>
            <a:picLocks noChangeAspect="1"/>
          </p:cNvPicPr>
          <p:nvPr/>
        </p:nvPicPr>
        <p:blipFill>
          <a:blip r:embed="rId7">
            <a:alphaModFix amt="18000"/>
          </a:blip>
          <a:stretch>
            <a:fillRect/>
          </a:stretch>
        </p:blipFill>
        <p:spPr>
          <a:xfrm>
            <a:off x="13811250" y="2472740"/>
            <a:ext cx="2609850" cy="2541170"/>
          </a:xfrm>
          <a:prstGeom prst="rect">
            <a:avLst/>
          </a:prstGeom>
        </p:spPr>
      </p:pic>
      <p:sp>
        <p:nvSpPr>
          <p:cNvPr id="14" name="Right Arrow 13"/>
          <p:cNvSpPr/>
          <p:nvPr/>
        </p:nvSpPr>
        <p:spPr>
          <a:xfrm>
            <a:off x="13068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usa_3_dc9f93092c.png"/>
          <p:cNvPicPr>
            <a:picLocks noChangeAspect="1"/>
          </p:cNvPicPr>
          <p:nvPr/>
        </p:nvPicPr>
        <p:blipFill>
          <a:blip r:embed="rId8">
            <a:alphaModFix amt="18000"/>
          </a:blip>
          <a:stretch>
            <a:fillRect/>
          </a:stretch>
        </p:blipFill>
        <p:spPr>
          <a:xfrm>
            <a:off x="1875485" y="6400800"/>
            <a:ext cx="2592680" cy="2609850"/>
          </a:xfrm>
          <a:prstGeom prst="rect">
            <a:avLst/>
          </a:prstGeom>
        </p:spPr>
      </p:pic>
      <p:pic>
        <p:nvPicPr>
          <p:cNvPr id="17" name="Picture 16" descr="efecto_3_5782cba8c4.png"/>
          <p:cNvPicPr>
            <a:picLocks noChangeAspect="1"/>
          </p:cNvPicPr>
          <p:nvPr/>
        </p:nvPicPr>
        <p:blipFill>
          <a:blip r:embed="rId9">
            <a:alphaModFix amt="18000"/>
          </a:blip>
          <a:stretch>
            <a:fillRect/>
          </a:stretch>
        </p:blipFill>
        <p:spPr>
          <a:xfrm>
            <a:off x="5429250" y="6423121"/>
            <a:ext cx="2609850" cy="2565208"/>
          </a:xfrm>
          <a:prstGeom prst="rect">
            <a:avLst/>
          </a:prstGeom>
        </p:spPr>
      </p:pic>
      <p:sp>
        <p:nvSpPr>
          <p:cNvPr id="18" name="Right Arrow 17"/>
          <p:cNvSpPr/>
          <p:nvPr/>
        </p:nvSpPr>
        <p:spPr>
          <a:xfrm>
            <a:off x="4686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96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usa_4_a33974656e.png"/>
          <p:cNvPicPr>
            <a:picLocks noChangeAspect="1"/>
          </p:cNvPicPr>
          <p:nvPr/>
        </p:nvPicPr>
        <p:blipFill>
          <a:blip r:embed="rId10">
            <a:alphaModFix amt="18000"/>
          </a:blip>
          <a:stretch>
            <a:fillRect/>
          </a:stretch>
        </p:blipFill>
        <p:spPr>
          <a:xfrm>
            <a:off x="10248900" y="6440291"/>
            <a:ext cx="2609850" cy="2530868"/>
          </a:xfrm>
          <a:prstGeom prst="rect">
            <a:avLst/>
          </a:prstGeom>
        </p:spPr>
      </p:pic>
      <p:pic>
        <p:nvPicPr>
          <p:cNvPr id="21" name="Picture 20" descr="efecto_4_e0f67eb1db.png"/>
          <p:cNvPicPr>
            <a:picLocks noChangeAspect="1"/>
          </p:cNvPicPr>
          <p:nvPr/>
        </p:nvPicPr>
        <p:blipFill>
          <a:blip r:embed="rId11">
            <a:alphaModFix amt="18000"/>
          </a:blip>
          <a:stretch>
            <a:fillRect/>
          </a:stretch>
        </p:blipFill>
        <p:spPr>
          <a:xfrm>
            <a:off x="13811250" y="6424838"/>
            <a:ext cx="2609850" cy="2561774"/>
          </a:xfrm>
          <a:prstGeom prst="rect">
            <a:avLst/>
          </a:prstGeom>
        </p:spPr>
      </p:pic>
      <p:sp>
        <p:nvSpPr>
          <p:cNvPr id="22" name="Right Arrow 21"/>
          <p:cNvSpPr/>
          <p:nvPr/>
        </p:nvSpPr>
        <p:spPr>
          <a:xfrm>
            <a:off x="13068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squinero"/>
          <p:cNvSpPr/>
          <p:nvPr/>
        </p:nvSpPr>
        <p:spPr>
          <a:xfrm>
            <a:off x="27622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2762250"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149923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497175"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276225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quinero"/>
          <p:cNvSpPr/>
          <p:nvPr/>
        </p:nvSpPr>
        <p:spPr>
          <a:xfrm>
            <a:off x="27622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quinero"/>
          <p:cNvSpPr/>
          <p:nvPr/>
        </p:nvSpPr>
        <p:spPr>
          <a:xfrm>
            <a:off x="1549717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quinero"/>
          <p:cNvSpPr/>
          <p:nvPr/>
        </p:nvSpPr>
        <p:spPr>
          <a:xfrm>
            <a:off x="149923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857500" y="2247900"/>
            <a:ext cx="12573000" cy="70104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0957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FFD21F"/>
                </a:solidFill>
                <a:latin typeface="Montserrat"/>
              </a:rPr>
              <a:t>CAUSA 03</a:t>
            </a:r>
          </a:p>
        </p:txBody>
      </p:sp>
      <p:sp>
        <p:nvSpPr>
          <p:cNvPr id="33" name="TextBox 32"/>
          <p:cNvSpPr txBox="1"/>
          <p:nvPr/>
        </p:nvSpPr>
        <p:spPr>
          <a:xfrm>
            <a:off x="103822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9FB4CC"/>
                </a:solidFill>
                <a:latin typeface="Montserrat"/>
              </a:rPr>
              <a:t>EFECTO 03</a:t>
            </a:r>
          </a:p>
        </p:txBody>
      </p:sp>
      <p:pic>
        <p:nvPicPr>
          <p:cNvPr id="34" name="Picture 33" descr="causa_3_dc9f93092c.png"/>
          <p:cNvPicPr>
            <a:picLocks noChangeAspect="1"/>
          </p:cNvPicPr>
          <p:nvPr/>
        </p:nvPicPr>
        <p:blipFill>
          <a:blip r:embed="rId8"/>
          <a:stretch>
            <a:fillRect/>
          </a:stretch>
        </p:blipFill>
        <p:spPr>
          <a:xfrm>
            <a:off x="3587854" y="3048000"/>
            <a:ext cx="4825791" cy="4857750"/>
          </a:xfrm>
          <a:prstGeom prst="rect">
            <a:avLst/>
          </a:prstGeom>
        </p:spPr>
      </p:pic>
      <p:pic>
        <p:nvPicPr>
          <p:cNvPr id="35" name="Picture 34" descr="efecto_3_5782cba8c4.png"/>
          <p:cNvPicPr>
            <a:picLocks noChangeAspect="1"/>
          </p:cNvPicPr>
          <p:nvPr/>
        </p:nvPicPr>
        <p:blipFill>
          <a:blip r:embed="rId9"/>
          <a:stretch>
            <a:fillRect/>
          </a:stretch>
        </p:blipFill>
        <p:spPr>
          <a:xfrm>
            <a:off x="9858375" y="3089547"/>
            <a:ext cx="4857750" cy="4774657"/>
          </a:xfrm>
          <a:prstGeom prst="rect">
            <a:avLst/>
          </a:prstGeom>
        </p:spPr>
      </p:pic>
      <p:sp>
        <p:nvSpPr>
          <p:cNvPr id="36" name="Right Arrow 35"/>
          <p:cNvSpPr/>
          <p:nvPr/>
        </p:nvSpPr>
        <p:spPr>
          <a:xfrm>
            <a:off x="8810625" y="5257800"/>
            <a:ext cx="666750" cy="4381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32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Inspección visual</a:t>
            </a:r>
          </a:p>
        </p:txBody>
      </p:sp>
      <p:sp>
        <p:nvSpPr>
          <p:cNvPr id="38" name="TextBox 37"/>
          <p:cNvSpPr txBox="1"/>
          <p:nvPr/>
        </p:nvSpPr>
        <p:spPr>
          <a:xfrm>
            <a:off x="94297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Fatiga y riesgo de error humano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PLANTEAMIENTO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ausa_1_8f57ba7d15.png"/>
          <p:cNvPicPr>
            <a:picLocks noChangeAspect="1"/>
          </p:cNvPicPr>
          <p:nvPr/>
        </p:nvPicPr>
        <p:blipFill>
          <a:blip r:embed="rId4">
            <a:alphaModFix amt="18000"/>
          </a:blip>
          <a:stretch>
            <a:fillRect/>
          </a:stretch>
        </p:blipFill>
        <p:spPr>
          <a:xfrm>
            <a:off x="1866900" y="2491627"/>
            <a:ext cx="2609850" cy="2503396"/>
          </a:xfrm>
          <a:prstGeom prst="rect">
            <a:avLst/>
          </a:prstGeom>
        </p:spPr>
      </p:pic>
      <p:pic>
        <p:nvPicPr>
          <p:cNvPr id="9" name="Picture 8" descr="efecto_1_7512da7a7c.png"/>
          <p:cNvPicPr>
            <a:picLocks noChangeAspect="1"/>
          </p:cNvPicPr>
          <p:nvPr/>
        </p:nvPicPr>
        <p:blipFill>
          <a:blip r:embed="rId5">
            <a:alphaModFix amt="18000"/>
          </a:blip>
          <a:stretch>
            <a:fillRect/>
          </a:stretch>
        </p:blipFill>
        <p:spPr>
          <a:xfrm>
            <a:off x="5429250" y="2503646"/>
            <a:ext cx="2609850" cy="2479358"/>
          </a:xfrm>
          <a:prstGeom prst="rect">
            <a:avLst/>
          </a:prstGeom>
        </p:spPr>
      </p:pic>
      <p:sp>
        <p:nvSpPr>
          <p:cNvPr id="10" name="Right Arrow 9"/>
          <p:cNvSpPr/>
          <p:nvPr/>
        </p:nvSpPr>
        <p:spPr>
          <a:xfrm>
            <a:off x="4686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96400" y="19050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ausa_2_69ee5752f3.png"/>
          <p:cNvPicPr>
            <a:picLocks noChangeAspect="1"/>
          </p:cNvPicPr>
          <p:nvPr/>
        </p:nvPicPr>
        <p:blipFill>
          <a:blip r:embed="rId6">
            <a:alphaModFix amt="18000"/>
          </a:blip>
          <a:stretch>
            <a:fillRect/>
          </a:stretch>
        </p:blipFill>
        <p:spPr>
          <a:xfrm>
            <a:off x="10248900" y="2467589"/>
            <a:ext cx="2609850" cy="2551472"/>
          </a:xfrm>
          <a:prstGeom prst="rect">
            <a:avLst/>
          </a:prstGeom>
        </p:spPr>
      </p:pic>
      <p:pic>
        <p:nvPicPr>
          <p:cNvPr id="13" name="Picture 12" descr="efecto_2_ac377673e0.png"/>
          <p:cNvPicPr>
            <a:picLocks noChangeAspect="1"/>
          </p:cNvPicPr>
          <p:nvPr/>
        </p:nvPicPr>
        <p:blipFill>
          <a:blip r:embed="rId7">
            <a:alphaModFix amt="18000"/>
          </a:blip>
          <a:stretch>
            <a:fillRect/>
          </a:stretch>
        </p:blipFill>
        <p:spPr>
          <a:xfrm>
            <a:off x="13811250" y="2472740"/>
            <a:ext cx="2609850" cy="2541170"/>
          </a:xfrm>
          <a:prstGeom prst="rect">
            <a:avLst/>
          </a:prstGeom>
        </p:spPr>
      </p:pic>
      <p:sp>
        <p:nvSpPr>
          <p:cNvPr id="14" name="Right Arrow 13"/>
          <p:cNvSpPr/>
          <p:nvPr/>
        </p:nvSpPr>
        <p:spPr>
          <a:xfrm>
            <a:off x="13068300" y="36004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14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ausa_3_dc9f93092c.png"/>
          <p:cNvPicPr>
            <a:picLocks noChangeAspect="1"/>
          </p:cNvPicPr>
          <p:nvPr/>
        </p:nvPicPr>
        <p:blipFill>
          <a:blip r:embed="rId8">
            <a:alphaModFix amt="18000"/>
          </a:blip>
          <a:stretch>
            <a:fillRect/>
          </a:stretch>
        </p:blipFill>
        <p:spPr>
          <a:xfrm>
            <a:off x="1875485" y="6400800"/>
            <a:ext cx="2592680" cy="2609850"/>
          </a:xfrm>
          <a:prstGeom prst="rect">
            <a:avLst/>
          </a:prstGeom>
        </p:spPr>
      </p:pic>
      <p:pic>
        <p:nvPicPr>
          <p:cNvPr id="17" name="Picture 16" descr="efecto_3_5782cba8c4.png"/>
          <p:cNvPicPr>
            <a:picLocks noChangeAspect="1"/>
          </p:cNvPicPr>
          <p:nvPr/>
        </p:nvPicPr>
        <p:blipFill>
          <a:blip r:embed="rId9">
            <a:alphaModFix amt="18000"/>
          </a:blip>
          <a:stretch>
            <a:fillRect/>
          </a:stretch>
        </p:blipFill>
        <p:spPr>
          <a:xfrm>
            <a:off x="5429250" y="6423121"/>
            <a:ext cx="2609850" cy="2565208"/>
          </a:xfrm>
          <a:prstGeom prst="rect">
            <a:avLst/>
          </a:prstGeom>
        </p:spPr>
      </p:pic>
      <p:sp>
        <p:nvSpPr>
          <p:cNvPr id="18" name="Right Arrow 17"/>
          <p:cNvSpPr/>
          <p:nvPr/>
        </p:nvSpPr>
        <p:spPr>
          <a:xfrm>
            <a:off x="4686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96400" y="5867400"/>
            <a:ext cx="8077200" cy="3657600"/>
          </a:xfrm>
          <a:prstGeom prst="rect">
            <a:avLst/>
          </a:prstGeom>
          <a:solidFill>
            <a:srgbClr val="0A1F3D">
              <a:alpha val="60000"/>
            </a:srgbClr>
          </a:solidFill>
          <a:ln w="14287">
            <a:solidFill>
              <a:srgbClr val="2F7BFF">
                <a:alpha val="2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ausa_4_a33974656e.png"/>
          <p:cNvPicPr>
            <a:picLocks noChangeAspect="1"/>
          </p:cNvPicPr>
          <p:nvPr/>
        </p:nvPicPr>
        <p:blipFill>
          <a:blip r:embed="rId10">
            <a:alphaModFix amt="18000"/>
          </a:blip>
          <a:stretch>
            <a:fillRect/>
          </a:stretch>
        </p:blipFill>
        <p:spPr>
          <a:xfrm>
            <a:off x="10248900" y="6440291"/>
            <a:ext cx="2609850" cy="2530868"/>
          </a:xfrm>
          <a:prstGeom prst="rect">
            <a:avLst/>
          </a:prstGeom>
        </p:spPr>
      </p:pic>
      <p:pic>
        <p:nvPicPr>
          <p:cNvPr id="21" name="Picture 20" descr="efecto_4_e0f67eb1db.png"/>
          <p:cNvPicPr>
            <a:picLocks noChangeAspect="1"/>
          </p:cNvPicPr>
          <p:nvPr/>
        </p:nvPicPr>
        <p:blipFill>
          <a:blip r:embed="rId11">
            <a:alphaModFix amt="18000"/>
          </a:blip>
          <a:stretch>
            <a:fillRect/>
          </a:stretch>
        </p:blipFill>
        <p:spPr>
          <a:xfrm>
            <a:off x="13811250" y="6424838"/>
            <a:ext cx="2609850" cy="2561774"/>
          </a:xfrm>
          <a:prstGeom prst="rect">
            <a:avLst/>
          </a:prstGeom>
        </p:spPr>
      </p:pic>
      <p:sp>
        <p:nvSpPr>
          <p:cNvPr id="22" name="Right Arrow 21"/>
          <p:cNvSpPr/>
          <p:nvPr/>
        </p:nvSpPr>
        <p:spPr>
          <a:xfrm>
            <a:off x="13068300" y="7562850"/>
            <a:ext cx="533400" cy="285750"/>
          </a:xfrm>
          <a:prstGeom prst="rightArrow">
            <a:avLst/>
          </a:prstGeom>
          <a:solidFill>
            <a:srgbClr val="FFD21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squinero"/>
          <p:cNvSpPr/>
          <p:nvPr/>
        </p:nvSpPr>
        <p:spPr>
          <a:xfrm>
            <a:off x="27622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2762250"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14992350" y="21526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5497175" y="21526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2762250"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squinero"/>
          <p:cNvSpPr/>
          <p:nvPr/>
        </p:nvSpPr>
        <p:spPr>
          <a:xfrm>
            <a:off x="27622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Esquinero"/>
          <p:cNvSpPr/>
          <p:nvPr/>
        </p:nvSpPr>
        <p:spPr>
          <a:xfrm>
            <a:off x="15497175" y="88201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squinero"/>
          <p:cNvSpPr/>
          <p:nvPr/>
        </p:nvSpPr>
        <p:spPr>
          <a:xfrm>
            <a:off x="14992350" y="93249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2857500" y="2247900"/>
            <a:ext cx="12573000" cy="70104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0957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FFD21F"/>
                </a:solidFill>
                <a:latin typeface="Montserrat"/>
              </a:rPr>
              <a:t>CAUSA 04</a:t>
            </a:r>
          </a:p>
        </p:txBody>
      </p:sp>
      <p:sp>
        <p:nvSpPr>
          <p:cNvPr id="33" name="TextBox 32"/>
          <p:cNvSpPr txBox="1"/>
          <p:nvPr/>
        </p:nvSpPr>
        <p:spPr>
          <a:xfrm>
            <a:off x="10382250" y="2476500"/>
            <a:ext cx="3810000" cy="400050"/>
          </a:xfrm>
          <a:prstGeom prst="rect">
            <a:avLst/>
          </a:prstGeom>
          <a:noFill/>
        </p:spPr>
        <p:txBody>
          <a:bodyPr wrap="square" lIns="0" rIns="0" tIns="0" bIns="0" anchor="t">
            <a:spAutoFit/>
          </a:bodyPr>
          <a:lstStyle/>
          <a:p>
            <a:pPr algn="ctr">
              <a:lnSpc>
                <a:spcPct val="100000"/>
              </a:lnSpc>
            </a:pPr>
            <a:r>
              <a:rPr sz="2100" b="1" i="0" spc="150">
                <a:solidFill>
                  <a:srgbClr val="9FB4CC"/>
                </a:solidFill>
                <a:latin typeface="Montserrat"/>
              </a:rPr>
              <a:t>EFECTO 04</a:t>
            </a:r>
          </a:p>
        </p:txBody>
      </p:sp>
      <p:pic>
        <p:nvPicPr>
          <p:cNvPr id="34" name="Picture 33" descr="causa_4_a33974656e.png"/>
          <p:cNvPicPr>
            <a:picLocks noChangeAspect="1"/>
          </p:cNvPicPr>
          <p:nvPr/>
        </p:nvPicPr>
        <p:blipFill>
          <a:blip r:embed="rId10"/>
          <a:stretch>
            <a:fillRect/>
          </a:stretch>
        </p:blipFill>
        <p:spPr>
          <a:xfrm>
            <a:off x="3571875" y="3121505"/>
            <a:ext cx="4857750" cy="4710739"/>
          </a:xfrm>
          <a:prstGeom prst="rect">
            <a:avLst/>
          </a:prstGeom>
        </p:spPr>
      </p:pic>
      <p:pic>
        <p:nvPicPr>
          <p:cNvPr id="35" name="Picture 34" descr="efecto_4_e0f67eb1db.png"/>
          <p:cNvPicPr>
            <a:picLocks noChangeAspect="1"/>
          </p:cNvPicPr>
          <p:nvPr/>
        </p:nvPicPr>
        <p:blipFill>
          <a:blip r:embed="rId11"/>
          <a:stretch>
            <a:fillRect/>
          </a:stretch>
        </p:blipFill>
        <p:spPr>
          <a:xfrm>
            <a:off x="9858375" y="3092742"/>
            <a:ext cx="4857750" cy="4768265"/>
          </a:xfrm>
          <a:prstGeom prst="rect">
            <a:avLst/>
          </a:prstGeom>
        </p:spPr>
      </p:pic>
      <p:sp>
        <p:nvSpPr>
          <p:cNvPr id="36" name="Right Arrow 35"/>
          <p:cNvSpPr/>
          <p:nvPr/>
        </p:nvSpPr>
        <p:spPr>
          <a:xfrm>
            <a:off x="8810625" y="5257800"/>
            <a:ext cx="666750" cy="438150"/>
          </a:xfrm>
          <a:prstGeom prst="rightArrow">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432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Ausencia de trazabilidad</a:t>
            </a:r>
          </a:p>
        </p:txBody>
      </p:sp>
      <p:sp>
        <p:nvSpPr>
          <p:cNvPr id="38" name="TextBox 37"/>
          <p:cNvSpPr txBox="1"/>
          <p:nvPr/>
        </p:nvSpPr>
        <p:spPr>
          <a:xfrm>
            <a:off x="9429750" y="8191500"/>
            <a:ext cx="5715000" cy="476250"/>
          </a:xfrm>
          <a:prstGeom prst="rect">
            <a:avLst/>
          </a:prstGeom>
          <a:noFill/>
        </p:spPr>
        <p:txBody>
          <a:bodyPr wrap="square" lIns="0" rIns="0" tIns="0" bIns="0" anchor="t">
            <a:spAutoFit/>
          </a:bodyPr>
          <a:lstStyle/>
          <a:p>
            <a:pPr algn="ctr">
              <a:lnSpc>
                <a:spcPct val="100000"/>
              </a:lnSpc>
            </a:pPr>
            <a:r>
              <a:rPr sz="2550" b="1" i="0">
                <a:solidFill>
                  <a:srgbClr val="F3F7FC"/>
                </a:solidFill>
                <a:latin typeface="Montserrat"/>
              </a:rPr>
              <a:t>Sin registro del porqué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FORMULACIÓN DEL PROBLEMA</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1809750" y="2857500"/>
            <a:ext cx="14668500" cy="5334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1714500" y="2762250"/>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1714500" y="2762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6002000" y="2762250"/>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6544925" y="2762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1714500" y="7715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1714500" y="8258175"/>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6544925" y="7715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6002000" y="8258175"/>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809750" y="3429000"/>
            <a:ext cx="76200" cy="419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667000" y="3429000"/>
            <a:ext cx="12954000" cy="4191000"/>
          </a:xfrm>
          <a:prstGeom prst="rect">
            <a:avLst/>
          </a:prstGeom>
          <a:noFill/>
        </p:spPr>
        <p:txBody>
          <a:bodyPr wrap="square" lIns="0" rIns="0" tIns="0" bIns="0" anchor="ctr">
            <a:spAutoFit/>
          </a:bodyPr>
          <a:lstStyle/>
          <a:p>
            <a:pPr algn="l">
              <a:lnSpc>
                <a:spcPct val="125000"/>
              </a:lnSpc>
            </a:pPr>
            <a:r>
              <a:rPr sz="3150" b="0" i="0">
                <a:solidFill>
                  <a:srgbClr val="F3F7FC"/>
                </a:solidFill>
                <a:latin typeface="Barlow"/>
              </a:rPr>
              <a:t>El procedimiento manual de validación de correspondencia de productos del ecosistema Philips en el área de operaciones de la empresa Agilsoft SRL presenta variabilidad en los criterios de validación, lo que genera inconsistencias en la calidad del matching e incremento en el tiempo de validación.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OBJETIVO GENERAL</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1809750" y="2857500"/>
            <a:ext cx="14668500" cy="5334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1714500" y="2762250"/>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1714500" y="2762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16002000" y="2762250"/>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16544925" y="2762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1714500" y="7715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1714500" y="8258175"/>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16544925" y="7715250"/>
            <a:ext cx="28575" cy="5715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16002000" y="8258175"/>
            <a:ext cx="5715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809750" y="3429000"/>
            <a:ext cx="76200" cy="419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667000" y="3429000"/>
            <a:ext cx="12954000" cy="4191000"/>
          </a:xfrm>
          <a:prstGeom prst="rect">
            <a:avLst/>
          </a:prstGeom>
          <a:noFill/>
        </p:spPr>
        <p:txBody>
          <a:bodyPr wrap="square" lIns="0" rIns="0" tIns="0" bIns="0" anchor="ctr">
            <a:spAutoFit/>
          </a:bodyPr>
          <a:lstStyle/>
          <a:p>
            <a:pPr algn="l">
              <a:lnSpc>
                <a:spcPct val="125000"/>
              </a:lnSpc>
            </a:pPr>
            <a:r>
              <a:rPr sz="3150" b="0" i="0">
                <a:solidFill>
                  <a:srgbClr val="F3F7FC"/>
                </a:solidFill>
                <a:latin typeface="Barlow"/>
              </a:rPr>
              <a:t>Desarrollar un modelo de Procesamiento de Lenguaje Natural en la validación de correspondencia de productos del ecosistema Philips, orientado a mejorar la calidad del matching y reducir el tiempo de validación en el área de operaciones de la empresa Agilsoft SRL.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HIPÓTESIS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TextBox 6"/>
          <p:cNvSpPr txBox="1"/>
          <p:nvPr/>
        </p:nvSpPr>
        <p:spPr>
          <a:xfrm>
            <a:off x="914400" y="1733550"/>
            <a:ext cx="8572500" cy="323850"/>
          </a:xfrm>
          <a:prstGeom prst="rect">
            <a:avLst/>
          </a:prstGeom>
          <a:noFill/>
        </p:spPr>
        <p:txBody>
          <a:bodyPr wrap="square" lIns="0" rIns="0" tIns="0" bIns="0" anchor="t">
            <a:spAutoFit/>
          </a:bodyPr>
          <a:lstStyle/>
          <a:p>
            <a:pPr algn="l">
              <a:lnSpc>
                <a:spcPct val="100000"/>
              </a:lnSpc>
            </a:pPr>
            <a:r>
              <a:rPr sz="1650" b="1" i="0" spc="250">
                <a:solidFill>
                  <a:srgbClr val="FFD21F"/>
                </a:solidFill>
                <a:latin typeface="Montserrat"/>
              </a:rPr>
              <a:t>HIPÓTESIS DE INVESTIGACIÓN</a:t>
            </a:r>
          </a:p>
        </p:txBody>
      </p:sp>
      <p:sp>
        <p:nvSpPr>
          <p:cNvPr id="8" name="Rectangle 7"/>
          <p:cNvSpPr/>
          <p:nvPr/>
        </p:nvSpPr>
        <p:spPr>
          <a:xfrm>
            <a:off x="914400" y="2209800"/>
            <a:ext cx="76200" cy="14287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8250" y="2171700"/>
            <a:ext cx="16097250" cy="1524000"/>
          </a:xfrm>
          <a:prstGeom prst="rect">
            <a:avLst/>
          </a:prstGeom>
          <a:noFill/>
        </p:spPr>
        <p:txBody>
          <a:bodyPr wrap="square" lIns="0" rIns="0" tIns="0" bIns="0" anchor="t">
            <a:spAutoFit/>
          </a:bodyPr>
          <a:lstStyle/>
          <a:p>
            <a:pPr algn="l">
              <a:lnSpc>
                <a:spcPct val="108300"/>
              </a:lnSpc>
            </a:pPr>
            <a:r>
              <a:rPr sz="2850" b="1" i="0">
                <a:solidFill>
                  <a:srgbClr val="F3F7FC"/>
                </a:solidFill>
                <a:latin typeface="Montserrat"/>
              </a:rPr>
              <a:t>El desarrollo del modelo de Procesamiento de Lenguaje Natural aplicado al ecosistema Philips mejora la consistencia de la calidad del matching y reduce el tiempo de validación en Agilsoft SRL.</a:t>
            </a:r>
          </a:p>
        </p:txBody>
      </p:sp>
      <p:sp>
        <p:nvSpPr>
          <p:cNvPr id="10" name="Rectangle 9"/>
          <p:cNvSpPr/>
          <p:nvPr/>
        </p:nvSpPr>
        <p:spPr>
          <a:xfrm>
            <a:off x="914400" y="4191000"/>
            <a:ext cx="5334000" cy="428625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19150" y="4095750"/>
            <a:ext cx="3810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4095750"/>
            <a:ext cx="28575" cy="38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5962650" y="4095750"/>
            <a:ext cx="3810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6315075" y="4095750"/>
            <a:ext cx="28575" cy="38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819150" y="8191500"/>
            <a:ext cx="28575" cy="38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squinero"/>
          <p:cNvSpPr/>
          <p:nvPr/>
        </p:nvSpPr>
        <p:spPr>
          <a:xfrm>
            <a:off x="819150" y="8543925"/>
            <a:ext cx="3810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squinero"/>
          <p:cNvSpPr/>
          <p:nvPr/>
        </p:nvSpPr>
        <p:spPr>
          <a:xfrm>
            <a:off x="6315075" y="8191500"/>
            <a:ext cx="28575" cy="381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squinero"/>
          <p:cNvSpPr/>
          <p:nvPr/>
        </p:nvSpPr>
        <p:spPr>
          <a:xfrm>
            <a:off x="5962650" y="8543925"/>
            <a:ext cx="3810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14400" y="4762500"/>
            <a:ext cx="76200" cy="31432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90650" y="5429250"/>
            <a:ext cx="4572000" cy="323850"/>
          </a:xfrm>
          <a:prstGeom prst="rect">
            <a:avLst/>
          </a:prstGeom>
          <a:noFill/>
        </p:spPr>
        <p:txBody>
          <a:bodyPr wrap="square" lIns="0" rIns="0" tIns="0" bIns="0" anchor="t">
            <a:spAutoFit/>
          </a:bodyPr>
          <a:lstStyle/>
          <a:p>
            <a:pPr algn="l">
              <a:lnSpc>
                <a:spcPct val="100000"/>
              </a:lnSpc>
            </a:pPr>
            <a:r>
              <a:rPr sz="1650" b="1" i="0" spc="200">
                <a:solidFill>
                  <a:srgbClr val="FFD21F"/>
                </a:solidFill>
                <a:latin typeface="Montserrat"/>
              </a:rPr>
              <a:t>VARIABLE INDEPENDIENTE</a:t>
            </a:r>
          </a:p>
        </p:txBody>
      </p:sp>
      <p:sp>
        <p:nvSpPr>
          <p:cNvPr id="21" name="TextBox 20"/>
          <p:cNvSpPr txBox="1"/>
          <p:nvPr/>
        </p:nvSpPr>
        <p:spPr>
          <a:xfrm>
            <a:off x="1390650" y="5829300"/>
            <a:ext cx="4572000" cy="666750"/>
          </a:xfrm>
          <a:prstGeom prst="rect">
            <a:avLst/>
          </a:prstGeom>
          <a:noFill/>
        </p:spPr>
        <p:txBody>
          <a:bodyPr wrap="square" lIns="0" rIns="0" tIns="0" bIns="0" anchor="t">
            <a:spAutoFit/>
          </a:bodyPr>
          <a:lstStyle/>
          <a:p>
            <a:pPr algn="l">
              <a:lnSpc>
                <a:spcPct val="100000"/>
              </a:lnSpc>
            </a:pPr>
            <a:r>
              <a:rPr sz="3900" b="1" i="0">
                <a:solidFill>
                  <a:srgbClr val="F3F7FC"/>
                </a:solidFill>
                <a:latin typeface="Montserrat"/>
              </a:rPr>
              <a:t>Modelo de PLN</a:t>
            </a:r>
          </a:p>
        </p:txBody>
      </p:sp>
      <p:sp>
        <p:nvSpPr>
          <p:cNvPr id="22" name="TextBox 21"/>
          <p:cNvSpPr txBox="1"/>
          <p:nvPr/>
        </p:nvSpPr>
        <p:spPr>
          <a:xfrm>
            <a:off x="1390650" y="6686550"/>
            <a:ext cx="4476750" cy="857250"/>
          </a:xfrm>
          <a:prstGeom prst="rect">
            <a:avLst/>
          </a:prstGeom>
          <a:noFill/>
        </p:spPr>
        <p:txBody>
          <a:bodyPr wrap="square" lIns="0" rIns="0" tIns="0" bIns="0" anchor="t">
            <a:spAutoFit/>
          </a:bodyPr>
          <a:lstStyle/>
          <a:p>
            <a:pPr algn="l">
              <a:lnSpc>
                <a:spcPct val="108300"/>
              </a:lnSpc>
            </a:pPr>
            <a:r>
              <a:rPr sz="2100" b="0" i="0">
                <a:solidFill>
                  <a:srgbClr val="9FB4CC"/>
                </a:solidFill>
                <a:latin typeface="Barlow"/>
              </a:rPr>
              <a:t>Aplicado a la correspondencia de productos</a:t>
            </a:r>
          </a:p>
        </p:txBody>
      </p:sp>
      <p:cxnSp>
        <p:nvCxnSpPr>
          <p:cNvPr id="23" name="Connector 22"/>
          <p:cNvCxnSpPr/>
          <p:nvPr/>
        </p:nvCxnSpPr>
        <p:spPr>
          <a:xfrm>
            <a:off x="6362700" y="6334125"/>
            <a:ext cx="1409700" cy="0"/>
          </a:xfrm>
          <a:prstGeom prst="line">
            <a:avLst/>
          </a:prstGeom>
          <a:ln w="38100">
            <a:solidFill>
              <a:srgbClr val="FFD21F"/>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525000" y="4191000"/>
            <a:ext cx="7848600" cy="200025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525000" y="4191000"/>
            <a:ext cx="76200" cy="2000250"/>
          </a:xfrm>
          <a:prstGeom prst="rect">
            <a:avLst/>
          </a:prstGeom>
          <a:solidFill>
            <a:srgbClr val="2F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963150" y="4514850"/>
            <a:ext cx="6667500" cy="304800"/>
          </a:xfrm>
          <a:prstGeom prst="rect">
            <a:avLst/>
          </a:prstGeom>
          <a:noFill/>
        </p:spPr>
        <p:txBody>
          <a:bodyPr wrap="square" lIns="0" rIns="0" tIns="0" bIns="0" anchor="t">
            <a:spAutoFit/>
          </a:bodyPr>
          <a:lstStyle/>
          <a:p>
            <a:pPr algn="l">
              <a:lnSpc>
                <a:spcPct val="100000"/>
              </a:lnSpc>
            </a:pPr>
            <a:r>
              <a:rPr sz="1650" b="1" i="0" spc="200">
                <a:solidFill>
                  <a:srgbClr val="4F9BFF"/>
                </a:solidFill>
                <a:latin typeface="Montserrat"/>
              </a:rPr>
              <a:t>VD₁ · CALIDAD</a:t>
            </a:r>
          </a:p>
        </p:txBody>
      </p:sp>
      <p:sp>
        <p:nvSpPr>
          <p:cNvPr id="27" name="TextBox 26"/>
          <p:cNvSpPr txBox="1"/>
          <p:nvPr/>
        </p:nvSpPr>
        <p:spPr>
          <a:xfrm>
            <a:off x="9963150" y="4895850"/>
            <a:ext cx="7048500" cy="609600"/>
          </a:xfrm>
          <a:prstGeom prst="rect">
            <a:avLst/>
          </a:prstGeom>
          <a:noFill/>
        </p:spPr>
        <p:txBody>
          <a:bodyPr wrap="square" lIns="0" rIns="0" tIns="0" bIns="0" anchor="t">
            <a:spAutoFit/>
          </a:bodyPr>
          <a:lstStyle/>
          <a:p>
            <a:pPr algn="l">
              <a:lnSpc>
                <a:spcPct val="100000"/>
              </a:lnSpc>
            </a:pPr>
            <a:r>
              <a:rPr sz="3300" b="1" i="0">
                <a:solidFill>
                  <a:srgbClr val="F3F7FC"/>
                </a:solidFill>
                <a:latin typeface="Montserrat"/>
              </a:rPr>
              <a:t>Consistencia del matching</a:t>
            </a:r>
          </a:p>
        </p:txBody>
      </p:sp>
      <p:sp>
        <p:nvSpPr>
          <p:cNvPr id="28" name="TextBox 27"/>
          <p:cNvSpPr txBox="1"/>
          <p:nvPr/>
        </p:nvSpPr>
        <p:spPr>
          <a:xfrm>
            <a:off x="9963150" y="5562600"/>
            <a:ext cx="7048500" cy="381000"/>
          </a:xfrm>
          <a:prstGeom prst="rect">
            <a:avLst/>
          </a:prstGeom>
          <a:noFill/>
        </p:spPr>
        <p:txBody>
          <a:bodyPr wrap="square" lIns="0" rIns="0" tIns="0" bIns="0" anchor="t">
            <a:spAutoFit/>
          </a:bodyPr>
          <a:lstStyle/>
          <a:p>
            <a:pPr algn="l">
              <a:lnSpc>
                <a:spcPct val="100000"/>
              </a:lnSpc>
            </a:pPr>
            <a:r>
              <a:rPr sz="1950" b="0" i="0">
                <a:solidFill>
                  <a:srgbClr val="9FB4CC"/>
                </a:solidFill>
                <a:latin typeface="Barlow"/>
              </a:rPr>
              <a:t>Exactitud, precisión, recall y F1-score</a:t>
            </a:r>
          </a:p>
        </p:txBody>
      </p:sp>
      <p:cxnSp>
        <p:nvCxnSpPr>
          <p:cNvPr id="29" name="Connector 28"/>
          <p:cNvCxnSpPr/>
          <p:nvPr/>
        </p:nvCxnSpPr>
        <p:spPr>
          <a:xfrm flipV="1">
            <a:off x="7772400" y="5191125"/>
            <a:ext cx="1524000" cy="1143000"/>
          </a:xfrm>
          <a:prstGeom prst="line">
            <a:avLst/>
          </a:prstGeom>
          <a:ln w="38100">
            <a:solidFill>
              <a:srgbClr val="FFD2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0" y="4581525"/>
            <a:ext cx="2095500" cy="381000"/>
          </a:xfrm>
          <a:prstGeom prst="rect">
            <a:avLst/>
          </a:prstGeom>
          <a:noFill/>
        </p:spPr>
        <p:txBody>
          <a:bodyPr wrap="square" lIns="0" rIns="0" tIns="0" bIns="0" anchor="t">
            <a:spAutoFit/>
          </a:bodyPr>
          <a:lstStyle/>
          <a:p>
            <a:pPr algn="ctr">
              <a:lnSpc>
                <a:spcPct val="100000"/>
              </a:lnSpc>
            </a:pPr>
            <a:r>
              <a:rPr sz="1650" b="1" i="0" spc="200">
                <a:solidFill>
                  <a:srgbClr val="FFD21F"/>
                </a:solidFill>
                <a:latin typeface="Montserrat"/>
              </a:rPr>
              <a:t>MEJORA</a:t>
            </a:r>
          </a:p>
        </p:txBody>
      </p:sp>
      <p:sp>
        <p:nvSpPr>
          <p:cNvPr id="31" name="Rectangle 30"/>
          <p:cNvSpPr/>
          <p:nvPr/>
        </p:nvSpPr>
        <p:spPr>
          <a:xfrm>
            <a:off x="9525000" y="6477000"/>
            <a:ext cx="7848600" cy="200025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525000" y="6477000"/>
            <a:ext cx="76200" cy="2000250"/>
          </a:xfrm>
          <a:prstGeom prst="rect">
            <a:avLst/>
          </a:prstGeom>
          <a:solidFill>
            <a:srgbClr val="2F7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963150" y="6800850"/>
            <a:ext cx="6667500" cy="304800"/>
          </a:xfrm>
          <a:prstGeom prst="rect">
            <a:avLst/>
          </a:prstGeom>
          <a:noFill/>
        </p:spPr>
        <p:txBody>
          <a:bodyPr wrap="square" lIns="0" rIns="0" tIns="0" bIns="0" anchor="t">
            <a:spAutoFit/>
          </a:bodyPr>
          <a:lstStyle/>
          <a:p>
            <a:pPr algn="l">
              <a:lnSpc>
                <a:spcPct val="100000"/>
              </a:lnSpc>
            </a:pPr>
            <a:r>
              <a:rPr sz="1650" b="1" i="0" spc="200">
                <a:solidFill>
                  <a:srgbClr val="4F9BFF"/>
                </a:solidFill>
                <a:latin typeface="Montserrat"/>
              </a:rPr>
              <a:t>VD₂ · EFICIENCIA</a:t>
            </a:r>
          </a:p>
        </p:txBody>
      </p:sp>
      <p:sp>
        <p:nvSpPr>
          <p:cNvPr id="34" name="TextBox 33"/>
          <p:cNvSpPr txBox="1"/>
          <p:nvPr/>
        </p:nvSpPr>
        <p:spPr>
          <a:xfrm>
            <a:off x="9963150" y="7181850"/>
            <a:ext cx="7048500" cy="609600"/>
          </a:xfrm>
          <a:prstGeom prst="rect">
            <a:avLst/>
          </a:prstGeom>
          <a:noFill/>
        </p:spPr>
        <p:txBody>
          <a:bodyPr wrap="square" lIns="0" rIns="0" tIns="0" bIns="0" anchor="t">
            <a:spAutoFit/>
          </a:bodyPr>
          <a:lstStyle/>
          <a:p>
            <a:pPr algn="l">
              <a:lnSpc>
                <a:spcPct val="100000"/>
              </a:lnSpc>
            </a:pPr>
            <a:r>
              <a:rPr sz="3300" b="1" i="0">
                <a:solidFill>
                  <a:srgbClr val="F3F7FC"/>
                </a:solidFill>
                <a:latin typeface="Montserrat"/>
              </a:rPr>
              <a:t>Tiempo de validación</a:t>
            </a:r>
          </a:p>
        </p:txBody>
      </p:sp>
      <p:sp>
        <p:nvSpPr>
          <p:cNvPr id="35" name="TextBox 34"/>
          <p:cNvSpPr txBox="1"/>
          <p:nvPr/>
        </p:nvSpPr>
        <p:spPr>
          <a:xfrm>
            <a:off x="9963150" y="7848600"/>
            <a:ext cx="7048500" cy="381000"/>
          </a:xfrm>
          <a:prstGeom prst="rect">
            <a:avLst/>
          </a:prstGeom>
          <a:noFill/>
        </p:spPr>
        <p:txBody>
          <a:bodyPr wrap="square" lIns="0" rIns="0" tIns="0" bIns="0" anchor="t">
            <a:spAutoFit/>
          </a:bodyPr>
          <a:lstStyle/>
          <a:p>
            <a:pPr algn="l">
              <a:lnSpc>
                <a:spcPct val="100000"/>
              </a:lnSpc>
            </a:pPr>
            <a:r>
              <a:rPr sz="1950" b="0" i="0">
                <a:solidFill>
                  <a:srgbClr val="9FB4CC"/>
                </a:solidFill>
                <a:latin typeface="Barlow"/>
              </a:rPr>
              <a:t>Segundos por caso y reducción porcentual</a:t>
            </a:r>
          </a:p>
        </p:txBody>
      </p:sp>
      <p:cxnSp>
        <p:nvCxnSpPr>
          <p:cNvPr id="36" name="Connector 35"/>
          <p:cNvCxnSpPr/>
          <p:nvPr/>
        </p:nvCxnSpPr>
        <p:spPr>
          <a:xfrm>
            <a:off x="7772400" y="6334125"/>
            <a:ext cx="1524000" cy="1143000"/>
          </a:xfrm>
          <a:prstGeom prst="line">
            <a:avLst/>
          </a:prstGeom>
          <a:ln w="38100">
            <a:solidFill>
              <a:srgbClr val="FFD2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858000" y="7610475"/>
            <a:ext cx="2095500" cy="381000"/>
          </a:xfrm>
          <a:prstGeom prst="rect">
            <a:avLst/>
          </a:prstGeom>
          <a:noFill/>
        </p:spPr>
        <p:txBody>
          <a:bodyPr wrap="square" lIns="0" rIns="0" tIns="0" bIns="0" anchor="t">
            <a:spAutoFit/>
          </a:bodyPr>
          <a:lstStyle/>
          <a:p>
            <a:pPr algn="ctr">
              <a:lnSpc>
                <a:spcPct val="100000"/>
              </a:lnSpc>
            </a:pPr>
            <a:r>
              <a:rPr sz="1650" b="1" i="0" spc="200">
                <a:solidFill>
                  <a:srgbClr val="FFD21F"/>
                </a:solidFill>
                <a:latin typeface="Montserrat"/>
              </a:rPr>
              <a:t>REDUCE</a:t>
            </a:r>
          </a:p>
        </p:txBody>
      </p:sp>
      <p:sp>
        <p:nvSpPr>
          <p:cNvPr id="38" name="Rectangle 37"/>
          <p:cNvSpPr/>
          <p:nvPr/>
        </p:nvSpPr>
        <p:spPr>
          <a:xfrm>
            <a:off x="914400" y="8858250"/>
            <a:ext cx="16459200" cy="72390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257300" y="8858250"/>
            <a:ext cx="2095500" cy="723900"/>
          </a:xfrm>
          <a:prstGeom prst="rect">
            <a:avLst/>
          </a:prstGeom>
          <a:noFill/>
        </p:spPr>
        <p:txBody>
          <a:bodyPr wrap="square" lIns="0" rIns="0" tIns="0" bIns="0" anchor="ctr">
            <a:spAutoFit/>
          </a:bodyPr>
          <a:lstStyle/>
          <a:p>
            <a:pPr algn="l">
              <a:lnSpc>
                <a:spcPct val="100000"/>
              </a:lnSpc>
            </a:pPr>
            <a:r>
              <a:rPr sz="1650" b="1" i="0" spc="200">
                <a:solidFill>
                  <a:srgbClr val="FFD21F"/>
                </a:solidFill>
                <a:latin typeface="Montserrat"/>
              </a:rPr>
              <a:t>CONTRASTE</a:t>
            </a:r>
          </a:p>
        </p:txBody>
      </p:sp>
      <p:sp>
        <p:nvSpPr>
          <p:cNvPr id="40" name="TextBox 39"/>
          <p:cNvSpPr txBox="1"/>
          <p:nvPr/>
        </p:nvSpPr>
        <p:spPr>
          <a:xfrm>
            <a:off x="3390900" y="8858250"/>
            <a:ext cx="13716000" cy="723900"/>
          </a:xfrm>
          <a:prstGeom prst="rect">
            <a:avLst/>
          </a:prstGeom>
          <a:noFill/>
        </p:spPr>
        <p:txBody>
          <a:bodyPr wrap="square" lIns="0" rIns="0" tIns="0" bIns="0" anchor="ctr">
            <a:spAutoFit/>
          </a:bodyPr>
          <a:lstStyle/>
          <a:p>
            <a:pPr algn="l">
              <a:lnSpc>
                <a:spcPct val="100000"/>
              </a:lnSpc>
            </a:pPr>
            <a:r>
              <a:rPr sz="2100" b="0" i="0">
                <a:solidFill>
                  <a:srgbClr val="F3F7FC"/>
                </a:solidFill>
                <a:latin typeface="Barlow"/>
              </a:rPr>
              <a:t>Rendimiento predictivo, registros del uso del modelo y eficiencia temporal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1.5.2 IDENTIFICACIÓN DE LAS VARIABLES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2381250"/>
            <a:ext cx="7943850" cy="647700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2286000"/>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22860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8496300" y="2286000"/>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924925" y="22860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84963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8924925"/>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924925" y="84963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8496300" y="8924925"/>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14400" y="2952750"/>
            <a:ext cx="95250" cy="53340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485900" y="3048000"/>
            <a:ext cx="5524500" cy="552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85900" y="3048000"/>
            <a:ext cx="5524500" cy="552450"/>
          </a:xfrm>
          <a:prstGeom prst="rect">
            <a:avLst/>
          </a:prstGeom>
          <a:noFill/>
        </p:spPr>
        <p:txBody>
          <a:bodyPr wrap="square" lIns="0" rIns="0" tIns="0" bIns="0" anchor="ctr">
            <a:spAutoFit/>
          </a:bodyPr>
          <a:lstStyle/>
          <a:p>
            <a:pPr algn="ctr">
              <a:lnSpc>
                <a:spcPct val="100000"/>
              </a:lnSpc>
            </a:pPr>
            <a:r>
              <a:rPr sz="1800" b="1" i="0" spc="150">
                <a:solidFill>
                  <a:srgbClr val="07172D"/>
                </a:solidFill>
                <a:latin typeface="Montserrat"/>
              </a:rPr>
              <a:t>VARIABLE INDEPENDIENTE (VI)</a:t>
            </a:r>
          </a:p>
        </p:txBody>
      </p:sp>
      <p:sp>
        <p:nvSpPr>
          <p:cNvPr id="19" name="Rectangle 18"/>
          <p:cNvSpPr/>
          <p:nvPr/>
        </p:nvSpPr>
        <p:spPr>
          <a:xfrm>
            <a:off x="9429750" y="2381250"/>
            <a:ext cx="7943850" cy="6477000"/>
          </a:xfrm>
          <a:prstGeom prst="rect">
            <a:avLst/>
          </a:prstGeom>
          <a:solidFill>
            <a:srgbClr val="0D2748"/>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squinero"/>
          <p:cNvSpPr/>
          <p:nvPr/>
        </p:nvSpPr>
        <p:spPr>
          <a:xfrm>
            <a:off x="9334500" y="2286000"/>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squinero"/>
          <p:cNvSpPr/>
          <p:nvPr/>
        </p:nvSpPr>
        <p:spPr>
          <a:xfrm>
            <a:off x="9334500" y="22860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squinero"/>
          <p:cNvSpPr/>
          <p:nvPr/>
        </p:nvSpPr>
        <p:spPr>
          <a:xfrm>
            <a:off x="17011650" y="2286000"/>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squinero"/>
          <p:cNvSpPr/>
          <p:nvPr/>
        </p:nvSpPr>
        <p:spPr>
          <a:xfrm>
            <a:off x="17440275" y="22860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squinero"/>
          <p:cNvSpPr/>
          <p:nvPr/>
        </p:nvSpPr>
        <p:spPr>
          <a:xfrm>
            <a:off x="9334500" y="84963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Esquinero"/>
          <p:cNvSpPr/>
          <p:nvPr/>
        </p:nvSpPr>
        <p:spPr>
          <a:xfrm>
            <a:off x="9334500" y="8924925"/>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squinero"/>
          <p:cNvSpPr/>
          <p:nvPr/>
        </p:nvSpPr>
        <p:spPr>
          <a:xfrm>
            <a:off x="17440275" y="8496300"/>
            <a:ext cx="28575" cy="457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Esquinero"/>
          <p:cNvSpPr/>
          <p:nvPr/>
        </p:nvSpPr>
        <p:spPr>
          <a:xfrm>
            <a:off x="17011650" y="8924925"/>
            <a:ext cx="4572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429750" y="2952750"/>
            <a:ext cx="95250" cy="53340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0001250" y="3048000"/>
            <a:ext cx="5524500" cy="5524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01250" y="3048000"/>
            <a:ext cx="5524500" cy="552450"/>
          </a:xfrm>
          <a:prstGeom prst="rect">
            <a:avLst/>
          </a:prstGeom>
          <a:noFill/>
        </p:spPr>
        <p:txBody>
          <a:bodyPr wrap="square" lIns="0" rIns="0" tIns="0" bIns="0" anchor="ctr">
            <a:spAutoFit/>
          </a:bodyPr>
          <a:lstStyle/>
          <a:p>
            <a:pPr algn="ctr">
              <a:lnSpc>
                <a:spcPct val="100000"/>
              </a:lnSpc>
            </a:pPr>
            <a:r>
              <a:rPr sz="1800" b="1" i="0" spc="150">
                <a:solidFill>
                  <a:srgbClr val="F3F7FC"/>
                </a:solidFill>
                <a:latin typeface="Montserrat"/>
              </a:rPr>
              <a:t>VARIABLES DEPENDIENTES (VD)</a:t>
            </a:r>
          </a:p>
        </p:txBody>
      </p:sp>
      <p:sp>
        <p:nvSpPr>
          <p:cNvPr id="31" name="TextBox 30"/>
          <p:cNvSpPr txBox="1"/>
          <p:nvPr/>
        </p:nvSpPr>
        <p:spPr>
          <a:xfrm>
            <a:off x="1485900" y="4286250"/>
            <a:ext cx="6800850" cy="3619500"/>
          </a:xfrm>
          <a:prstGeom prst="rect">
            <a:avLst/>
          </a:prstGeom>
          <a:noFill/>
        </p:spPr>
        <p:txBody>
          <a:bodyPr wrap="square" lIns="0" rIns="0" tIns="0" bIns="0" anchor="t">
            <a:spAutoFit/>
          </a:bodyPr>
          <a:lstStyle/>
          <a:p>
            <a:pPr algn="l">
              <a:lnSpc>
                <a:spcPct val="108300"/>
              </a:lnSpc>
            </a:pPr>
            <a:r>
              <a:rPr sz="3150" b="1" i="0">
                <a:solidFill>
                  <a:srgbClr val="F3F7FC"/>
                </a:solidFill>
                <a:latin typeface="Montserrat"/>
              </a:rPr>
              <a:t>Modelo de Procesamiento de Lenguaje Natural aplicado a la correspondencia de productos.</a:t>
            </a:r>
          </a:p>
        </p:txBody>
      </p:sp>
      <p:sp>
        <p:nvSpPr>
          <p:cNvPr id="32" name="TextBox 31"/>
          <p:cNvSpPr txBox="1"/>
          <p:nvPr/>
        </p:nvSpPr>
        <p:spPr>
          <a:xfrm>
            <a:off x="10001250" y="4286250"/>
            <a:ext cx="1238250" cy="571500"/>
          </a:xfrm>
          <a:prstGeom prst="rect">
            <a:avLst/>
          </a:prstGeom>
          <a:noFill/>
        </p:spPr>
        <p:txBody>
          <a:bodyPr wrap="square" lIns="0" rIns="0" tIns="0" bIns="0" anchor="t">
            <a:spAutoFit/>
          </a:bodyPr>
          <a:lstStyle/>
          <a:p>
            <a:pPr algn="l">
              <a:lnSpc>
                <a:spcPct val="100000"/>
              </a:lnSpc>
            </a:pPr>
            <a:r>
              <a:rPr sz="3150" b="1" i="0">
                <a:solidFill>
                  <a:srgbClr val="FFD21F"/>
                </a:solidFill>
                <a:latin typeface="Montserrat"/>
              </a:rPr>
              <a:t>VD₁</a:t>
            </a:r>
          </a:p>
        </p:txBody>
      </p:sp>
      <p:sp>
        <p:nvSpPr>
          <p:cNvPr id="33" name="TextBox 32"/>
          <p:cNvSpPr txBox="1"/>
          <p:nvPr/>
        </p:nvSpPr>
        <p:spPr>
          <a:xfrm>
            <a:off x="11334750" y="4286250"/>
            <a:ext cx="5467350" cy="1619250"/>
          </a:xfrm>
          <a:prstGeom prst="rect">
            <a:avLst/>
          </a:prstGeom>
          <a:noFill/>
        </p:spPr>
        <p:txBody>
          <a:bodyPr wrap="square" lIns="0" rIns="0" tIns="0" bIns="0" anchor="t">
            <a:spAutoFit/>
          </a:bodyPr>
          <a:lstStyle/>
          <a:p>
            <a:pPr algn="l">
              <a:lnSpc>
                <a:spcPct val="108300"/>
              </a:lnSpc>
            </a:pPr>
            <a:r>
              <a:rPr sz="3150" b="1" i="0">
                <a:solidFill>
                  <a:srgbClr val="F3F7FC"/>
                </a:solidFill>
                <a:latin typeface="Montserrat"/>
              </a:rPr>
              <a:t>Consistencia de la calidad del matching.</a:t>
            </a:r>
          </a:p>
        </p:txBody>
      </p:sp>
      <p:sp>
        <p:nvSpPr>
          <p:cNvPr id="34" name="TextBox 33"/>
          <p:cNvSpPr txBox="1"/>
          <p:nvPr/>
        </p:nvSpPr>
        <p:spPr>
          <a:xfrm>
            <a:off x="10001250" y="6096000"/>
            <a:ext cx="1238250" cy="571500"/>
          </a:xfrm>
          <a:prstGeom prst="rect">
            <a:avLst/>
          </a:prstGeom>
          <a:noFill/>
        </p:spPr>
        <p:txBody>
          <a:bodyPr wrap="square" lIns="0" rIns="0" tIns="0" bIns="0" anchor="t">
            <a:spAutoFit/>
          </a:bodyPr>
          <a:lstStyle/>
          <a:p>
            <a:pPr algn="l">
              <a:lnSpc>
                <a:spcPct val="100000"/>
              </a:lnSpc>
            </a:pPr>
            <a:r>
              <a:rPr sz="3150" b="1" i="0">
                <a:solidFill>
                  <a:srgbClr val="FFD21F"/>
                </a:solidFill>
                <a:latin typeface="Montserrat"/>
              </a:rPr>
              <a:t>VD₂</a:t>
            </a:r>
          </a:p>
        </p:txBody>
      </p:sp>
      <p:sp>
        <p:nvSpPr>
          <p:cNvPr id="35" name="TextBox 34"/>
          <p:cNvSpPr txBox="1"/>
          <p:nvPr/>
        </p:nvSpPr>
        <p:spPr>
          <a:xfrm>
            <a:off x="11334750" y="6096000"/>
            <a:ext cx="5467350" cy="1619250"/>
          </a:xfrm>
          <a:prstGeom prst="rect">
            <a:avLst/>
          </a:prstGeom>
          <a:noFill/>
        </p:spPr>
        <p:txBody>
          <a:bodyPr wrap="square" lIns="0" rIns="0" tIns="0" bIns="0" anchor="t">
            <a:spAutoFit/>
          </a:bodyPr>
          <a:lstStyle/>
          <a:p>
            <a:pPr algn="l">
              <a:lnSpc>
                <a:spcPct val="108300"/>
              </a:lnSpc>
            </a:pPr>
            <a:r>
              <a:rPr sz="3150" b="1" i="0">
                <a:solidFill>
                  <a:srgbClr val="F3F7FC"/>
                </a:solidFill>
                <a:latin typeface="Montserrat"/>
              </a:rPr>
              <a:t>Tiempo de validación.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MATRIZ DE OPERACIONALIZACIÓN DE VARIABLES</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600200"/>
            <a:ext cx="16459200" cy="5334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23950" y="1600200"/>
            <a:ext cx="3429000" cy="533400"/>
          </a:xfrm>
          <a:prstGeom prst="rect">
            <a:avLst/>
          </a:prstGeom>
          <a:noFill/>
        </p:spPr>
        <p:txBody>
          <a:bodyPr wrap="square" lIns="0" rIns="0" tIns="0" bIns="0" anchor="ctr">
            <a:spAutoFit/>
          </a:bodyPr>
          <a:lstStyle/>
          <a:p>
            <a:pPr algn="l">
              <a:lnSpc>
                <a:spcPct val="100000"/>
              </a:lnSpc>
            </a:pPr>
            <a:r>
              <a:rPr sz="1650" b="1" i="0" spc="150">
                <a:solidFill>
                  <a:srgbClr val="F3F7FC"/>
                </a:solidFill>
                <a:latin typeface="Montserrat"/>
              </a:rPr>
              <a:t>VARIABLE</a:t>
            </a:r>
          </a:p>
        </p:txBody>
      </p:sp>
      <p:sp>
        <p:nvSpPr>
          <p:cNvPr id="9" name="TextBox 8"/>
          <p:cNvSpPr txBox="1"/>
          <p:nvPr/>
        </p:nvSpPr>
        <p:spPr>
          <a:xfrm>
            <a:off x="4838700" y="1600200"/>
            <a:ext cx="2762250" cy="533400"/>
          </a:xfrm>
          <a:prstGeom prst="rect">
            <a:avLst/>
          </a:prstGeom>
          <a:noFill/>
        </p:spPr>
        <p:txBody>
          <a:bodyPr wrap="square" lIns="0" rIns="0" tIns="0" bIns="0" anchor="ctr">
            <a:spAutoFit/>
          </a:bodyPr>
          <a:lstStyle/>
          <a:p>
            <a:pPr algn="l">
              <a:lnSpc>
                <a:spcPct val="100000"/>
              </a:lnSpc>
            </a:pPr>
            <a:r>
              <a:rPr sz="1650" b="1" i="0" spc="150">
                <a:solidFill>
                  <a:srgbClr val="F3F7FC"/>
                </a:solidFill>
                <a:latin typeface="Montserrat"/>
              </a:rPr>
              <a:t>DIMENSIÓN</a:t>
            </a:r>
          </a:p>
        </p:txBody>
      </p:sp>
      <p:sp>
        <p:nvSpPr>
          <p:cNvPr id="10" name="TextBox 9"/>
          <p:cNvSpPr txBox="1"/>
          <p:nvPr/>
        </p:nvSpPr>
        <p:spPr>
          <a:xfrm>
            <a:off x="7886700" y="1600200"/>
            <a:ext cx="4762500" cy="533400"/>
          </a:xfrm>
          <a:prstGeom prst="rect">
            <a:avLst/>
          </a:prstGeom>
          <a:noFill/>
        </p:spPr>
        <p:txBody>
          <a:bodyPr wrap="square" lIns="0" rIns="0" tIns="0" bIns="0" anchor="ctr">
            <a:spAutoFit/>
          </a:bodyPr>
          <a:lstStyle/>
          <a:p>
            <a:pPr algn="l">
              <a:lnSpc>
                <a:spcPct val="100000"/>
              </a:lnSpc>
            </a:pPr>
            <a:r>
              <a:rPr sz="1650" b="1" i="0" spc="150">
                <a:solidFill>
                  <a:srgbClr val="F3F7FC"/>
                </a:solidFill>
                <a:latin typeface="Montserrat"/>
              </a:rPr>
              <a:t>INDICADOR</a:t>
            </a:r>
          </a:p>
        </p:txBody>
      </p:sp>
      <p:sp>
        <p:nvSpPr>
          <p:cNvPr id="11" name="TextBox 10"/>
          <p:cNvSpPr txBox="1"/>
          <p:nvPr/>
        </p:nvSpPr>
        <p:spPr>
          <a:xfrm>
            <a:off x="12934950" y="1600200"/>
            <a:ext cx="4362450" cy="533400"/>
          </a:xfrm>
          <a:prstGeom prst="rect">
            <a:avLst/>
          </a:prstGeom>
          <a:noFill/>
        </p:spPr>
        <p:txBody>
          <a:bodyPr wrap="square" lIns="0" rIns="0" tIns="0" bIns="0" anchor="ctr">
            <a:spAutoFit/>
          </a:bodyPr>
          <a:lstStyle/>
          <a:p>
            <a:pPr algn="l">
              <a:lnSpc>
                <a:spcPct val="100000"/>
              </a:lnSpc>
            </a:pPr>
            <a:r>
              <a:rPr sz="1650" b="1" i="0" spc="150">
                <a:solidFill>
                  <a:srgbClr val="F3F7FC"/>
                </a:solidFill>
                <a:latin typeface="Montserrat"/>
              </a:rPr>
              <a:t>SUBINDICADOR</a:t>
            </a:r>
          </a:p>
        </p:txBody>
      </p:sp>
      <p:sp>
        <p:nvSpPr>
          <p:cNvPr id="12" name="Rectangle 11"/>
          <p:cNvSpPr/>
          <p:nvPr/>
        </p:nvSpPr>
        <p:spPr>
          <a:xfrm>
            <a:off x="914400" y="2133600"/>
            <a:ext cx="16459200" cy="400050"/>
          </a:xfrm>
          <a:prstGeom prst="rect">
            <a:avLst/>
          </a:prstGeom>
          <a:solidFill>
            <a:srgbClr val="0F2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23950" y="2133600"/>
            <a:ext cx="16078200" cy="400050"/>
          </a:xfrm>
          <a:prstGeom prst="rect">
            <a:avLst/>
          </a:prstGeom>
          <a:noFill/>
        </p:spPr>
        <p:txBody>
          <a:bodyPr wrap="square" lIns="0" rIns="0" tIns="0" bIns="0" anchor="ctr">
            <a:spAutoFit/>
          </a:bodyPr>
          <a:lstStyle/>
          <a:p>
            <a:pPr algn="l">
              <a:lnSpc>
                <a:spcPct val="100000"/>
              </a:lnSpc>
            </a:pPr>
            <a:r>
              <a:rPr sz="1500" b="1" i="0" spc="150">
                <a:solidFill>
                  <a:srgbClr val="FFD21F"/>
                </a:solidFill>
                <a:latin typeface="Montserrat"/>
              </a:rPr>
              <a:t>VARIABLE INDEPENDIENTE</a:t>
            </a:r>
          </a:p>
        </p:txBody>
      </p:sp>
      <p:sp>
        <p:nvSpPr>
          <p:cNvPr id="14" name="Rectangle 13"/>
          <p:cNvSpPr/>
          <p:nvPr/>
        </p:nvSpPr>
        <p:spPr>
          <a:xfrm>
            <a:off x="914400" y="2533650"/>
            <a:ext cx="16459200" cy="1524000"/>
          </a:xfrm>
          <a:prstGeom prst="rect">
            <a:avLst/>
          </a:prstGeom>
          <a:solidFill>
            <a:srgbClr val="0A1F3D"/>
          </a:solidFill>
          <a:ln w="9525">
            <a:solidFill>
              <a:srgbClr val="6D8FB2">
                <a:alpha val="2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04900" y="2628900"/>
            <a:ext cx="3371850" cy="1333500"/>
          </a:xfrm>
          <a:prstGeom prst="rect">
            <a:avLst/>
          </a:prstGeom>
          <a:noFill/>
        </p:spPr>
        <p:txBody>
          <a:bodyPr wrap="square" lIns="0" rIns="0" tIns="0" bIns="0" anchor="ctr">
            <a:spAutoFit/>
          </a:bodyPr>
          <a:lstStyle/>
          <a:p>
            <a:pPr algn="l">
              <a:lnSpc>
                <a:spcPct val="100000"/>
              </a:lnSpc>
            </a:pPr>
            <a:r>
              <a:rPr sz="1725" b="1" i="0">
                <a:solidFill>
                  <a:srgbClr val="F3F7FC"/>
                </a:solidFill>
                <a:latin typeface="Barlow"/>
              </a:rPr>
              <a:t>Modelo de Procesamiento de Lenguaje Natural aplicado a la correspondencia de productos</a:t>
            </a:r>
          </a:p>
        </p:txBody>
      </p:sp>
      <p:sp>
        <p:nvSpPr>
          <p:cNvPr id="16" name="TextBox 15"/>
          <p:cNvSpPr txBox="1"/>
          <p:nvPr/>
        </p:nvSpPr>
        <p:spPr>
          <a:xfrm>
            <a:off x="4819650" y="2628900"/>
            <a:ext cx="270510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Arquitectura algorítmica.</a:t>
            </a:r>
          </a:p>
        </p:txBody>
      </p:sp>
      <p:sp>
        <p:nvSpPr>
          <p:cNvPr id="17" name="TextBox 16"/>
          <p:cNvSpPr txBox="1"/>
          <p:nvPr/>
        </p:nvSpPr>
        <p:spPr>
          <a:xfrm>
            <a:off x="7867650" y="2628900"/>
            <a:ext cx="470535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Modelo de correspondencia basado en NLP.</a:t>
            </a:r>
          </a:p>
        </p:txBody>
      </p:sp>
      <p:sp>
        <p:nvSpPr>
          <p:cNvPr id="18" name="TextBox 17"/>
          <p:cNvSpPr txBox="1"/>
          <p:nvPr/>
        </p:nvSpPr>
        <p:spPr>
          <a:xfrm>
            <a:off x="12915900" y="2628900"/>
            <a:ext cx="4305300" cy="1333500"/>
          </a:xfrm>
          <a:prstGeom prst="rect">
            <a:avLst/>
          </a:prstGeom>
          <a:noFill/>
        </p:spPr>
        <p:txBody>
          <a:bodyPr wrap="square" lIns="0" rIns="0" tIns="0" bIns="0" anchor="ctr">
            <a:spAutoFit/>
          </a:bodyPr>
          <a:lstStyle/>
          <a:p>
            <a:pPr algn="l">
              <a:lnSpc>
                <a:spcPct val="100000"/>
              </a:lnSpc>
            </a:pPr>
            <a:r>
              <a:rPr sz="1575" b="1" i="0">
                <a:solidFill>
                  <a:srgbClr val="FFD21F"/>
                </a:solidFill>
                <a:latin typeface="Barlow"/>
              </a:rPr>
              <a:t>•  </a:t>
            </a:r>
            <a:r>
              <a:rPr sz="1575" b="0" i="0">
                <a:solidFill>
                  <a:srgbClr val="F3F7FC"/>
                </a:solidFill>
                <a:latin typeface="Barlow"/>
              </a:rPr>
              <a:t>Nivel de similitud calculado</a:t>
            </a:r>
          </a:p>
          <a:p>
            <a:pPr algn="l">
              <a:lnSpc>
                <a:spcPct val="100000"/>
              </a:lnSpc>
            </a:pPr>
            <a:r>
              <a:rPr sz="1575" b="1" i="0">
                <a:solidFill>
                  <a:srgbClr val="FFD21F"/>
                </a:solidFill>
                <a:latin typeface="Barlow"/>
              </a:rPr>
              <a:t>•  </a:t>
            </a:r>
            <a:r>
              <a:rPr sz="1575" b="0" i="0">
                <a:solidFill>
                  <a:srgbClr val="F3F7FC"/>
                </a:solidFill>
                <a:latin typeface="Barlow"/>
              </a:rPr>
              <a:t>Capacidad de generalización</a:t>
            </a:r>
          </a:p>
          <a:p>
            <a:pPr algn="l">
              <a:lnSpc>
                <a:spcPct val="100000"/>
              </a:lnSpc>
            </a:pPr>
            <a:r>
              <a:rPr sz="1575" b="1" i="0">
                <a:solidFill>
                  <a:srgbClr val="FFD21F"/>
                </a:solidFill>
                <a:latin typeface="Barlow"/>
              </a:rPr>
              <a:t>•  </a:t>
            </a:r>
            <a:r>
              <a:rPr sz="1575" b="0" i="0">
                <a:solidFill>
                  <a:srgbClr val="F3F7FC"/>
                </a:solidFill>
                <a:latin typeface="Barlow"/>
              </a:rPr>
              <a:t>Tolerancia y procesamiento de ruido textual.</a:t>
            </a:r>
          </a:p>
        </p:txBody>
      </p:sp>
      <p:sp>
        <p:nvSpPr>
          <p:cNvPr id="19" name="Rectangle 18"/>
          <p:cNvSpPr/>
          <p:nvPr/>
        </p:nvSpPr>
        <p:spPr>
          <a:xfrm>
            <a:off x="914400" y="4057650"/>
            <a:ext cx="16459200" cy="400050"/>
          </a:xfrm>
          <a:prstGeom prst="rect">
            <a:avLst/>
          </a:prstGeom>
          <a:solidFill>
            <a:srgbClr val="0F2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23950" y="4057650"/>
            <a:ext cx="16078200" cy="400050"/>
          </a:xfrm>
          <a:prstGeom prst="rect">
            <a:avLst/>
          </a:prstGeom>
          <a:noFill/>
        </p:spPr>
        <p:txBody>
          <a:bodyPr wrap="square" lIns="0" rIns="0" tIns="0" bIns="0" anchor="ctr">
            <a:spAutoFit/>
          </a:bodyPr>
          <a:lstStyle/>
          <a:p>
            <a:pPr algn="l">
              <a:lnSpc>
                <a:spcPct val="100000"/>
              </a:lnSpc>
            </a:pPr>
            <a:r>
              <a:rPr sz="1500" b="1" i="0" spc="150">
                <a:solidFill>
                  <a:srgbClr val="FFD21F"/>
                </a:solidFill>
                <a:latin typeface="Montserrat"/>
              </a:rPr>
              <a:t>VARIABLE DEPENDIENTE</a:t>
            </a:r>
          </a:p>
        </p:txBody>
      </p:sp>
      <p:sp>
        <p:nvSpPr>
          <p:cNvPr id="21" name="Rectangle 20"/>
          <p:cNvSpPr/>
          <p:nvPr/>
        </p:nvSpPr>
        <p:spPr>
          <a:xfrm>
            <a:off x="914400" y="4457700"/>
            <a:ext cx="16459200" cy="3048000"/>
          </a:xfrm>
          <a:prstGeom prst="rect">
            <a:avLst/>
          </a:prstGeom>
          <a:solidFill>
            <a:srgbClr val="0C2445"/>
          </a:solidFill>
          <a:ln w="9525">
            <a:solidFill>
              <a:srgbClr val="6D8FB2">
                <a:alpha val="2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629150" y="5981700"/>
            <a:ext cx="12744450" cy="9525"/>
          </a:xfrm>
          <a:prstGeom prst="rect">
            <a:avLst/>
          </a:prstGeom>
          <a:solidFill>
            <a:srgbClr val="6D8FB2">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04900" y="4552950"/>
            <a:ext cx="3371850" cy="2857500"/>
          </a:xfrm>
          <a:prstGeom prst="rect">
            <a:avLst/>
          </a:prstGeom>
          <a:noFill/>
        </p:spPr>
        <p:txBody>
          <a:bodyPr wrap="square" lIns="0" rIns="0" tIns="0" bIns="0" anchor="ctr">
            <a:spAutoFit/>
          </a:bodyPr>
          <a:lstStyle/>
          <a:p>
            <a:pPr algn="l">
              <a:lnSpc>
                <a:spcPct val="100000"/>
              </a:lnSpc>
            </a:pPr>
            <a:r>
              <a:rPr sz="1725" b="1" i="0">
                <a:solidFill>
                  <a:srgbClr val="F3F7FC"/>
                </a:solidFill>
                <a:latin typeface="Barlow"/>
              </a:rPr>
              <a:t>Consistencia de la calidad del matching.</a:t>
            </a:r>
          </a:p>
        </p:txBody>
      </p:sp>
      <p:sp>
        <p:nvSpPr>
          <p:cNvPr id="24" name="TextBox 23"/>
          <p:cNvSpPr txBox="1"/>
          <p:nvPr/>
        </p:nvSpPr>
        <p:spPr>
          <a:xfrm>
            <a:off x="4819650" y="4552950"/>
            <a:ext cx="270510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Rendimiento predictivo algorítmico.</a:t>
            </a:r>
          </a:p>
        </p:txBody>
      </p:sp>
      <p:sp>
        <p:nvSpPr>
          <p:cNvPr id="25" name="TextBox 24"/>
          <p:cNvSpPr txBox="1"/>
          <p:nvPr/>
        </p:nvSpPr>
        <p:spPr>
          <a:xfrm>
            <a:off x="7867650" y="4552950"/>
            <a:ext cx="4705350" cy="1333500"/>
          </a:xfrm>
          <a:prstGeom prst="rect">
            <a:avLst/>
          </a:prstGeom>
          <a:noFill/>
        </p:spPr>
        <p:txBody>
          <a:bodyPr wrap="square" lIns="0" rIns="0" tIns="0" bIns="0" anchor="ctr">
            <a:spAutoFit/>
          </a:bodyPr>
          <a:lstStyle/>
          <a:p>
            <a:pPr algn="l">
              <a:lnSpc>
                <a:spcPct val="100000"/>
              </a:lnSpc>
            </a:pPr>
            <a:r>
              <a:rPr sz="1575" b="0" i="0">
                <a:solidFill>
                  <a:srgbClr val="F3F7FC"/>
                </a:solidFill>
                <a:latin typeface="Barlow"/>
              </a:rPr>
              <a:t>Porcentaje de exactitud en la clasificación binaria:</a:t>
            </a:r>
          </a:p>
          <a:p>
            <a:pPr algn="l">
              <a:lnSpc>
                <a:spcPct val="100000"/>
              </a:lnSpc>
            </a:pPr>
            <a:r>
              <a:rPr sz="1725" b="1" i="0">
                <a:solidFill>
                  <a:srgbClr val="FFD21F"/>
                </a:solidFill>
                <a:latin typeface="Barlow"/>
              </a:rPr>
              <a:t>Accuracy = (TP + TN) / Total × 100</a:t>
            </a:r>
          </a:p>
        </p:txBody>
      </p:sp>
      <p:sp>
        <p:nvSpPr>
          <p:cNvPr id="26" name="TextBox 25"/>
          <p:cNvSpPr txBox="1"/>
          <p:nvPr/>
        </p:nvSpPr>
        <p:spPr>
          <a:xfrm>
            <a:off x="12915900" y="4552950"/>
            <a:ext cx="4305300" cy="1333500"/>
          </a:xfrm>
          <a:prstGeom prst="rect">
            <a:avLst/>
          </a:prstGeom>
          <a:noFill/>
        </p:spPr>
        <p:txBody>
          <a:bodyPr wrap="square" lIns="0" rIns="0" tIns="0" bIns="0" anchor="ctr">
            <a:spAutoFit/>
          </a:bodyPr>
          <a:lstStyle/>
          <a:p>
            <a:pPr algn="l">
              <a:lnSpc>
                <a:spcPct val="100000"/>
              </a:lnSpc>
            </a:pPr>
            <a:r>
              <a:rPr sz="1575" b="1" i="0">
                <a:solidFill>
                  <a:srgbClr val="FFD21F"/>
                </a:solidFill>
                <a:latin typeface="Barlow"/>
              </a:rPr>
              <a:t>•  </a:t>
            </a:r>
            <a:r>
              <a:rPr sz="1575" b="0" i="0">
                <a:solidFill>
                  <a:srgbClr val="F3F7FC"/>
                </a:solidFill>
                <a:latin typeface="Barlow"/>
              </a:rPr>
              <a:t>Precisión</a:t>
            </a:r>
          </a:p>
          <a:p>
            <a:pPr algn="l">
              <a:lnSpc>
                <a:spcPct val="100000"/>
              </a:lnSpc>
            </a:pPr>
            <a:r>
              <a:rPr sz="1575" b="1" i="0">
                <a:solidFill>
                  <a:srgbClr val="FFD21F"/>
                </a:solidFill>
                <a:latin typeface="Barlow"/>
              </a:rPr>
              <a:t>•  </a:t>
            </a:r>
            <a:r>
              <a:rPr sz="1575" b="0" i="0">
                <a:solidFill>
                  <a:srgbClr val="F3F7FC"/>
                </a:solidFill>
                <a:latin typeface="Barlow"/>
              </a:rPr>
              <a:t>Recall</a:t>
            </a:r>
          </a:p>
          <a:p>
            <a:pPr algn="l">
              <a:lnSpc>
                <a:spcPct val="100000"/>
              </a:lnSpc>
            </a:pPr>
            <a:r>
              <a:rPr sz="1575" b="1" i="0">
                <a:solidFill>
                  <a:srgbClr val="FFD21F"/>
                </a:solidFill>
                <a:latin typeface="Barlow"/>
              </a:rPr>
              <a:t>•  </a:t>
            </a:r>
            <a:r>
              <a:rPr sz="1575" b="0" i="0">
                <a:solidFill>
                  <a:srgbClr val="F3F7FC"/>
                </a:solidFill>
                <a:latin typeface="Barlow"/>
              </a:rPr>
              <a:t>F1-score</a:t>
            </a:r>
          </a:p>
        </p:txBody>
      </p:sp>
      <p:sp>
        <p:nvSpPr>
          <p:cNvPr id="27" name="TextBox 26"/>
          <p:cNvSpPr txBox="1"/>
          <p:nvPr/>
        </p:nvSpPr>
        <p:spPr>
          <a:xfrm>
            <a:off x="4819650" y="6076950"/>
            <a:ext cx="270510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Estabilidad operativa frente al factor humano.</a:t>
            </a:r>
          </a:p>
        </p:txBody>
      </p:sp>
      <p:sp>
        <p:nvSpPr>
          <p:cNvPr id="28" name="TextBox 27"/>
          <p:cNvSpPr txBox="1"/>
          <p:nvPr/>
        </p:nvSpPr>
        <p:spPr>
          <a:xfrm>
            <a:off x="7867650" y="6076950"/>
            <a:ext cx="4705350" cy="1333500"/>
          </a:xfrm>
          <a:prstGeom prst="rect">
            <a:avLst/>
          </a:prstGeom>
          <a:noFill/>
        </p:spPr>
        <p:txBody>
          <a:bodyPr wrap="square" lIns="0" rIns="0" tIns="0" bIns="0" anchor="ctr">
            <a:spAutoFit/>
          </a:bodyPr>
          <a:lstStyle/>
          <a:p>
            <a:pPr algn="l">
              <a:lnSpc>
                <a:spcPct val="100000"/>
              </a:lnSpc>
            </a:pPr>
            <a:r>
              <a:rPr sz="1575" b="0" i="0">
                <a:solidFill>
                  <a:srgbClr val="F3F7FC"/>
                </a:solidFill>
                <a:latin typeface="Barlow"/>
              </a:rPr>
              <a:t>Tasa de error de validación:</a:t>
            </a:r>
          </a:p>
          <a:p>
            <a:pPr algn="l">
              <a:lnSpc>
                <a:spcPct val="100000"/>
              </a:lnSpc>
            </a:pPr>
            <a:r>
              <a:rPr sz="1725" b="1" i="0">
                <a:solidFill>
                  <a:srgbClr val="FFD21F"/>
                </a:solidFill>
                <a:latin typeface="Barlow"/>
              </a:rPr>
              <a:t>Error = (FP + FN) / Total × 100</a:t>
            </a:r>
          </a:p>
        </p:txBody>
      </p:sp>
      <p:sp>
        <p:nvSpPr>
          <p:cNvPr id="29" name="TextBox 28"/>
          <p:cNvSpPr txBox="1"/>
          <p:nvPr/>
        </p:nvSpPr>
        <p:spPr>
          <a:xfrm>
            <a:off x="12915900" y="6076950"/>
            <a:ext cx="4305300" cy="1333500"/>
          </a:xfrm>
          <a:prstGeom prst="rect">
            <a:avLst/>
          </a:prstGeom>
          <a:noFill/>
        </p:spPr>
        <p:txBody>
          <a:bodyPr wrap="square" lIns="0" rIns="0" tIns="0" bIns="0" anchor="ctr">
            <a:spAutoFit/>
          </a:bodyPr>
          <a:lstStyle/>
          <a:p>
            <a:pPr algn="l">
              <a:lnSpc>
                <a:spcPct val="100000"/>
              </a:lnSpc>
            </a:pPr>
            <a:r>
              <a:rPr sz="1575" b="1" i="0">
                <a:solidFill>
                  <a:srgbClr val="FFD21F"/>
                </a:solidFill>
                <a:latin typeface="Barlow"/>
              </a:rPr>
              <a:t>•  </a:t>
            </a:r>
            <a:r>
              <a:rPr sz="1575" b="0" i="0">
                <a:solidFill>
                  <a:srgbClr val="F3F7FC"/>
                </a:solidFill>
                <a:latin typeface="Barlow"/>
              </a:rPr>
              <a:t>Tasa de error por ambigüedad léxica.</a:t>
            </a:r>
          </a:p>
          <a:p>
            <a:pPr algn="l">
              <a:lnSpc>
                <a:spcPct val="100000"/>
              </a:lnSpc>
            </a:pPr>
            <a:r>
              <a:rPr sz="1575" b="1" i="0">
                <a:solidFill>
                  <a:srgbClr val="FFD21F"/>
                </a:solidFill>
                <a:latin typeface="Barlow"/>
              </a:rPr>
              <a:t>•  </a:t>
            </a:r>
            <a:r>
              <a:rPr sz="1575" b="0" i="0">
                <a:solidFill>
                  <a:srgbClr val="F3F7FC"/>
                </a:solidFill>
                <a:latin typeface="Barlow"/>
              </a:rPr>
              <a:t>Nivel de error por fatiga operativa.</a:t>
            </a:r>
          </a:p>
          <a:p>
            <a:pPr algn="l">
              <a:lnSpc>
                <a:spcPct val="100000"/>
              </a:lnSpc>
            </a:pPr>
            <a:r>
              <a:rPr sz="1575" b="1" i="0">
                <a:solidFill>
                  <a:srgbClr val="FFD21F"/>
                </a:solidFill>
                <a:latin typeface="Barlow"/>
              </a:rPr>
              <a:t>•  </a:t>
            </a:r>
            <a:r>
              <a:rPr sz="1575" b="0" i="0">
                <a:solidFill>
                  <a:srgbClr val="F3F7FC"/>
                </a:solidFill>
                <a:latin typeface="Barlow"/>
              </a:rPr>
              <a:t>Concordancia inter-evaluador.</a:t>
            </a:r>
          </a:p>
        </p:txBody>
      </p:sp>
      <p:sp>
        <p:nvSpPr>
          <p:cNvPr id="30" name="Rectangle 29"/>
          <p:cNvSpPr/>
          <p:nvPr/>
        </p:nvSpPr>
        <p:spPr>
          <a:xfrm>
            <a:off x="914400" y="7505700"/>
            <a:ext cx="16459200" cy="1524000"/>
          </a:xfrm>
          <a:prstGeom prst="rect">
            <a:avLst/>
          </a:prstGeom>
          <a:solidFill>
            <a:srgbClr val="0A1F3D"/>
          </a:solidFill>
          <a:ln w="9525">
            <a:solidFill>
              <a:srgbClr val="6D8FB2">
                <a:alpha val="2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104900" y="7600950"/>
            <a:ext cx="3371850" cy="1333500"/>
          </a:xfrm>
          <a:prstGeom prst="rect">
            <a:avLst/>
          </a:prstGeom>
          <a:noFill/>
        </p:spPr>
        <p:txBody>
          <a:bodyPr wrap="square" lIns="0" rIns="0" tIns="0" bIns="0" anchor="ctr">
            <a:spAutoFit/>
          </a:bodyPr>
          <a:lstStyle/>
          <a:p>
            <a:pPr algn="l">
              <a:lnSpc>
                <a:spcPct val="100000"/>
              </a:lnSpc>
            </a:pPr>
            <a:r>
              <a:rPr sz="1725" b="1" i="0">
                <a:solidFill>
                  <a:srgbClr val="F3F7FC"/>
                </a:solidFill>
                <a:latin typeface="Barlow"/>
              </a:rPr>
              <a:t>Tiempo de validación</a:t>
            </a:r>
          </a:p>
        </p:txBody>
      </p:sp>
      <p:sp>
        <p:nvSpPr>
          <p:cNvPr id="32" name="TextBox 31"/>
          <p:cNvSpPr txBox="1"/>
          <p:nvPr/>
        </p:nvSpPr>
        <p:spPr>
          <a:xfrm>
            <a:off x="4819650" y="7600950"/>
            <a:ext cx="2705100" cy="1333500"/>
          </a:xfrm>
          <a:prstGeom prst="rect">
            <a:avLst/>
          </a:prstGeom>
          <a:noFill/>
        </p:spPr>
        <p:txBody>
          <a:bodyPr wrap="square" lIns="0" rIns="0" tIns="0" bIns="0" anchor="ctr">
            <a:spAutoFit/>
          </a:bodyPr>
          <a:lstStyle/>
          <a:p>
            <a:pPr algn="l">
              <a:lnSpc>
                <a:spcPct val="100000"/>
              </a:lnSpc>
            </a:pPr>
            <a:r>
              <a:rPr sz="1725" b="0" i="0">
                <a:solidFill>
                  <a:srgbClr val="F3F7FC"/>
                </a:solidFill>
                <a:latin typeface="Barlow"/>
              </a:rPr>
              <a:t>Eficiencia temporal</a:t>
            </a:r>
          </a:p>
        </p:txBody>
      </p:sp>
      <p:sp>
        <p:nvSpPr>
          <p:cNvPr id="33" name="TextBox 32"/>
          <p:cNvSpPr txBox="1"/>
          <p:nvPr/>
        </p:nvSpPr>
        <p:spPr>
          <a:xfrm>
            <a:off x="7867650" y="7600950"/>
            <a:ext cx="4705350" cy="1333500"/>
          </a:xfrm>
          <a:prstGeom prst="rect">
            <a:avLst/>
          </a:prstGeom>
          <a:noFill/>
        </p:spPr>
        <p:txBody>
          <a:bodyPr wrap="square" lIns="0" rIns="0" tIns="0" bIns="0" anchor="ctr">
            <a:spAutoFit/>
          </a:bodyPr>
          <a:lstStyle/>
          <a:p>
            <a:pPr algn="l">
              <a:lnSpc>
                <a:spcPct val="100000"/>
              </a:lnSpc>
            </a:pPr>
            <a:r>
              <a:rPr sz="1575" b="0" i="0">
                <a:solidFill>
                  <a:srgbClr val="F3F7FC"/>
                </a:solidFill>
                <a:latin typeface="Barlow"/>
              </a:rPr>
              <a:t>Tiempo de procesamiento operativo en segundos:</a:t>
            </a:r>
          </a:p>
          <a:p>
            <a:pPr algn="l">
              <a:lnSpc>
                <a:spcPct val="100000"/>
              </a:lnSpc>
            </a:pPr>
            <a:r>
              <a:rPr sz="1725" b="1" i="0">
                <a:solidFill>
                  <a:srgbClr val="FFD21F"/>
                </a:solidFill>
                <a:latin typeface="Barlow"/>
              </a:rPr>
              <a:t>t̄ = (Σᵢ₌₁ⁿ tᵢ) / n</a:t>
            </a:r>
          </a:p>
        </p:txBody>
      </p:sp>
      <p:sp>
        <p:nvSpPr>
          <p:cNvPr id="34" name="TextBox 33"/>
          <p:cNvSpPr txBox="1"/>
          <p:nvPr/>
        </p:nvSpPr>
        <p:spPr>
          <a:xfrm>
            <a:off x="12915900" y="7600950"/>
            <a:ext cx="4305300" cy="1333500"/>
          </a:xfrm>
          <a:prstGeom prst="rect">
            <a:avLst/>
          </a:prstGeom>
          <a:noFill/>
        </p:spPr>
        <p:txBody>
          <a:bodyPr wrap="square" lIns="0" rIns="0" tIns="0" bIns="0" anchor="ctr">
            <a:spAutoFit/>
          </a:bodyPr>
          <a:lstStyle/>
          <a:p>
            <a:pPr algn="l">
              <a:lnSpc>
                <a:spcPct val="100000"/>
              </a:lnSpc>
            </a:pPr>
            <a:r>
              <a:rPr sz="1575" b="1" i="0">
                <a:solidFill>
                  <a:srgbClr val="FFD21F"/>
                </a:solidFill>
                <a:latin typeface="Barlow"/>
              </a:rPr>
              <a:t>•  </a:t>
            </a:r>
            <a:r>
              <a:rPr sz="1575" b="0" i="0">
                <a:solidFill>
                  <a:srgbClr val="F3F7FC"/>
                </a:solidFill>
                <a:latin typeface="Barlow"/>
              </a:rPr>
              <a:t>Tiempo de latencia algorítmica del modelo.</a:t>
            </a:r>
          </a:p>
          <a:p>
            <a:pPr algn="l">
              <a:lnSpc>
                <a:spcPct val="100000"/>
              </a:lnSpc>
            </a:pPr>
            <a:r>
              <a:rPr sz="1575" b="1" i="0">
                <a:solidFill>
                  <a:srgbClr val="FFD21F"/>
                </a:solidFill>
                <a:latin typeface="Barlow"/>
              </a:rPr>
              <a:t>•  </a:t>
            </a:r>
            <a:r>
              <a:rPr sz="1575" b="0" i="0">
                <a:solidFill>
                  <a:srgbClr val="F3F7FC"/>
                </a:solidFill>
                <a:latin typeface="Barlow"/>
              </a:rPr>
              <a:t>Tiempo promedio de validación manual.</a:t>
            </a:r>
          </a:p>
          <a:p>
            <a:pPr algn="l">
              <a:lnSpc>
                <a:spcPct val="100000"/>
              </a:lnSpc>
            </a:pPr>
            <a:r>
              <a:rPr sz="1575" b="1" i="0">
                <a:solidFill>
                  <a:srgbClr val="FFD21F"/>
                </a:solidFill>
                <a:latin typeface="Barlow"/>
              </a:rPr>
              <a:t>•  </a:t>
            </a:r>
            <a:r>
              <a:rPr sz="1575" b="0" i="0">
                <a:solidFill>
                  <a:srgbClr val="F3F7FC"/>
                </a:solidFill>
                <a:latin typeface="Barlow"/>
              </a:rPr>
              <a:t>Mejora porcentual de reducción de tiempo.</a:t>
            </a:r>
          </a:p>
        </p:txBody>
      </p:sp>
      <p:sp>
        <p:nvSpPr>
          <p:cNvPr id="35" name="Rectangle 34"/>
          <p:cNvSpPr/>
          <p:nvPr/>
        </p:nvSpPr>
        <p:spPr>
          <a:xfrm>
            <a:off x="4629150" y="1600200"/>
            <a:ext cx="9525" cy="533400"/>
          </a:xfrm>
          <a:prstGeom prst="rect">
            <a:avLst/>
          </a:prstGeom>
          <a:solidFill>
            <a:srgbClr val="F3F7FC">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4629150" y="253365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629150" y="4457700"/>
            <a:ext cx="9525" cy="3048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4629150" y="750570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77150" y="1600200"/>
            <a:ext cx="9525" cy="533400"/>
          </a:xfrm>
          <a:prstGeom prst="rect">
            <a:avLst/>
          </a:prstGeom>
          <a:solidFill>
            <a:srgbClr val="F3F7FC">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77150" y="253365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677150" y="4457700"/>
            <a:ext cx="9525" cy="3048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677150" y="750570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2725400" y="1600200"/>
            <a:ext cx="9525" cy="533400"/>
          </a:xfrm>
          <a:prstGeom prst="rect">
            <a:avLst/>
          </a:prstGeom>
          <a:solidFill>
            <a:srgbClr val="F3F7FC">
              <a:alpha val="2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2725400" y="253365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2725400" y="4457700"/>
            <a:ext cx="9525" cy="3048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2725400" y="7505700"/>
            <a:ext cx="9525" cy="1524000"/>
          </a:xfrm>
          <a:prstGeom prst="rect">
            <a:avLst/>
          </a:prstGeom>
          <a:solidFill>
            <a:srgbClr val="6D8FB2">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914400" y="1600200"/>
            <a:ext cx="16459200" cy="7429500"/>
          </a:xfrm>
          <a:prstGeom prst="rect">
            <a:avLst/>
          </a:prstGeom>
          <a:noFill/>
          <a:ln w="14287">
            <a:solidFill>
              <a:srgbClr val="2F7BFF">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14400" y="9144000"/>
            <a:ext cx="9525000" cy="285750"/>
          </a:xfrm>
          <a:prstGeom prst="rect">
            <a:avLst/>
          </a:prstGeom>
          <a:noFill/>
        </p:spPr>
        <p:txBody>
          <a:bodyPr wrap="square" lIns="0" rIns="0" tIns="0" bIns="0" anchor="t">
            <a:spAutoFit/>
          </a:bodyPr>
          <a:lstStyle/>
          <a:p>
            <a:pPr algn="l">
              <a:lnSpc>
                <a:spcPct val="100000"/>
              </a:lnSpc>
            </a:pPr>
            <a:r>
              <a:rPr sz="1500" b="1" i="0">
                <a:solidFill>
                  <a:srgbClr val="FFD21F"/>
                </a:solidFill>
                <a:latin typeface="Barlow"/>
              </a:rPr>
              <a:t>Tabla 2: Matriz de operacionalización de variables</a:t>
            </a:r>
          </a:p>
        </p:txBody>
      </p:sp>
      <p:sp>
        <p:nvSpPr>
          <p:cNvPr id="49" name="TextBox 48"/>
          <p:cNvSpPr txBox="1"/>
          <p:nvPr/>
        </p:nvSpPr>
        <p:spPr>
          <a:xfrm>
            <a:off x="11658600" y="9144000"/>
            <a:ext cx="5715000" cy="285750"/>
          </a:xfrm>
          <a:prstGeom prst="rect">
            <a:avLst/>
          </a:prstGeom>
          <a:noFill/>
        </p:spPr>
        <p:txBody>
          <a:bodyPr wrap="square" lIns="0" rIns="0" tIns="0" bIns="0" anchor="t">
            <a:spAutoFit/>
          </a:bodyPr>
          <a:lstStyle/>
          <a:p>
            <a:pPr algn="r">
              <a:lnSpc>
                <a:spcPct val="100000"/>
              </a:lnSpc>
            </a:pPr>
            <a:r>
              <a:rPr sz="1500" b="0" i="1">
                <a:solidFill>
                  <a:srgbClr val="9FB4CC"/>
                </a:solidFill>
                <a:latin typeface="Barlow"/>
              </a:rPr>
              <a:t>Fuente: Elaboración propia,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1_mt_418352a3f8.png"/>
          <p:cNvPicPr>
            <a:picLocks noChangeAspect="1"/>
          </p:cNvPicPr>
          <p:nvPr/>
        </p:nvPicPr>
        <p:blipFill>
          <a:blip r:embed="rId4"/>
          <a:stretch>
            <a:fillRect/>
          </a:stretch>
        </p:blipFill>
        <p:spPr>
          <a:xfrm>
            <a:off x="1771650" y="3010903"/>
            <a:ext cx="5524500" cy="5408195"/>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01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Metodologías de desarrollo tecnológico</a:t>
            </a:r>
          </a:p>
        </p:txBody>
      </p:sp>
      <p:sp>
        <p:nvSpPr>
          <p:cNvPr id="22" name="Rectangle 21"/>
          <p:cNvSpPr/>
          <p:nvPr/>
        </p:nvSpPr>
        <p:spPr>
          <a:xfrm>
            <a:off x="895350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4"/>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5">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6">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7">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8">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2_mt_259dc2d543.png"/>
          <p:cNvPicPr>
            <a:picLocks noChangeAspect="1"/>
          </p:cNvPicPr>
          <p:nvPr/>
        </p:nvPicPr>
        <p:blipFill>
          <a:blip r:embed="rId4"/>
          <a:stretch>
            <a:fillRect/>
          </a:stretch>
        </p:blipFill>
        <p:spPr>
          <a:xfrm>
            <a:off x="1771650" y="2978192"/>
            <a:ext cx="5524500" cy="5473616"/>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02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Notación de modelado de procesos de negocio</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4"/>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6">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7">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8">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3_mt_4541bd9d7c.png"/>
          <p:cNvPicPr>
            <a:picLocks noChangeAspect="1"/>
          </p:cNvPicPr>
          <p:nvPr/>
        </p:nvPicPr>
        <p:blipFill>
          <a:blip r:embed="rId4"/>
          <a:stretch>
            <a:fillRect/>
          </a:stretch>
        </p:blipFill>
        <p:spPr>
          <a:xfrm>
            <a:off x="1771650" y="2981826"/>
            <a:ext cx="5524500" cy="5466347"/>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03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Fundamentos computacionales y entorno de ciencia de datos</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4"/>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7">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8">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4_mt_4670736799.png"/>
          <p:cNvPicPr>
            <a:picLocks noChangeAspect="1"/>
          </p:cNvPicPr>
          <p:nvPr/>
        </p:nvPicPr>
        <p:blipFill>
          <a:blip r:embed="rId4"/>
          <a:stretch>
            <a:fillRect/>
          </a:stretch>
        </p:blipFill>
        <p:spPr>
          <a:xfrm>
            <a:off x="1771650" y="2985461"/>
            <a:ext cx="5524500" cy="5459078"/>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04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Minería de texto y procesamiento de lenguaje natural</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4"/>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8">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5_mt_c33e97379f.png"/>
          <p:cNvPicPr>
            <a:picLocks noChangeAspect="1"/>
          </p:cNvPicPr>
          <p:nvPr/>
        </p:nvPicPr>
        <p:blipFill>
          <a:blip r:embed="rId4"/>
          <a:stretch>
            <a:fillRect/>
          </a:stretch>
        </p:blipFill>
        <p:spPr>
          <a:xfrm>
            <a:off x="1771650" y="2992730"/>
            <a:ext cx="5524500" cy="5444540"/>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05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Modelos de representación de texto en el NLP</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4"/>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9">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6_mt_f7c9aefdac.png"/>
          <p:cNvPicPr>
            <a:picLocks noChangeAspect="1"/>
          </p:cNvPicPr>
          <p:nvPr/>
        </p:nvPicPr>
        <p:blipFill>
          <a:blip r:embed="rId4"/>
          <a:stretch>
            <a:fillRect/>
          </a:stretch>
        </p:blipFill>
        <p:spPr>
          <a:xfrm>
            <a:off x="1782554" y="2952750"/>
            <a:ext cx="5502693" cy="5524500"/>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06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Correspondencia de entidades</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4"/>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0">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7_mt_b806a2cdfe.png"/>
          <p:cNvPicPr>
            <a:picLocks noChangeAspect="1"/>
          </p:cNvPicPr>
          <p:nvPr/>
        </p:nvPicPr>
        <p:blipFill>
          <a:blip r:embed="rId4"/>
          <a:stretch>
            <a:fillRect/>
          </a:stretch>
        </p:blipFill>
        <p:spPr>
          <a:xfrm>
            <a:off x="1771650" y="2952750"/>
            <a:ext cx="5524500" cy="5524500"/>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07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Modelos de clasificación</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4"/>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1">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8_mt_6fed41160f.png"/>
          <p:cNvPicPr>
            <a:picLocks noChangeAspect="1"/>
          </p:cNvPicPr>
          <p:nvPr/>
        </p:nvPicPr>
        <p:blipFill>
          <a:blip r:embed="rId4"/>
          <a:stretch>
            <a:fillRect/>
          </a:stretch>
        </p:blipFill>
        <p:spPr>
          <a:xfrm>
            <a:off x="1771650" y="2978192"/>
            <a:ext cx="5524500" cy="5473616"/>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08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Métricas de similitud</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4"/>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2">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09_mt_8caf1e1fd8.png"/>
          <p:cNvPicPr>
            <a:picLocks noChangeAspect="1"/>
          </p:cNvPicPr>
          <p:nvPr/>
        </p:nvPicPr>
        <p:blipFill>
          <a:blip r:embed="rId4"/>
          <a:stretch>
            <a:fillRect/>
          </a:stretch>
        </p:blipFill>
        <p:spPr>
          <a:xfrm>
            <a:off x="1771650" y="3010903"/>
            <a:ext cx="5524500" cy="5408195"/>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09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Evaluación de modelos</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2">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4"/>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3">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10_mt_260423cb6c.png"/>
          <p:cNvPicPr>
            <a:picLocks noChangeAspect="1"/>
          </p:cNvPicPr>
          <p:nvPr/>
        </p:nvPicPr>
        <p:blipFill>
          <a:blip r:embed="rId4"/>
          <a:stretch>
            <a:fillRect/>
          </a:stretch>
        </p:blipFill>
        <p:spPr>
          <a:xfrm>
            <a:off x="1771650" y="3058152"/>
            <a:ext cx="5524500" cy="5313697"/>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10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Medición de eficiencia</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2">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3">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4"/>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4">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11_mt_3f2d5a707c.png"/>
          <p:cNvPicPr>
            <a:picLocks noChangeAspect="1"/>
          </p:cNvPicPr>
          <p:nvPr/>
        </p:nvPicPr>
        <p:blipFill>
          <a:blip r:embed="rId4"/>
          <a:stretch>
            <a:fillRect/>
          </a:stretch>
        </p:blipFill>
        <p:spPr>
          <a:xfrm>
            <a:off x="1771650" y="2996364"/>
            <a:ext cx="5524500" cy="5437271"/>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11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Sistemas de apoyo a la decisión</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2">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3">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4">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4"/>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15">
            <a:alphaModFix amt="40000"/>
          </a:blip>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ESQUEMA DEL MARCO TEÓRICO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914400" y="1905000"/>
            <a:ext cx="7239000" cy="7620000"/>
          </a:xfrm>
          <a:prstGeom prst="rect">
            <a:avLst/>
          </a:prstGeom>
          <a:solidFill>
            <a:srgbClr val="0A1F3D"/>
          </a:solidFill>
          <a:ln w="14287">
            <a:solidFill>
              <a:srgbClr val="2F7BFF">
                <a:alpha val="4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squinero"/>
          <p:cNvSpPr/>
          <p:nvPr/>
        </p:nvSpPr>
        <p:spPr>
          <a:xfrm>
            <a:off x="8191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squinero"/>
          <p:cNvSpPr/>
          <p:nvPr/>
        </p:nvSpPr>
        <p:spPr>
          <a:xfrm>
            <a:off x="819150"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Esquinero"/>
          <p:cNvSpPr/>
          <p:nvPr/>
        </p:nvSpPr>
        <p:spPr>
          <a:xfrm>
            <a:off x="7715250" y="1809750"/>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squinero"/>
          <p:cNvSpPr/>
          <p:nvPr/>
        </p:nvSpPr>
        <p:spPr>
          <a:xfrm>
            <a:off x="8220075" y="18097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squinero"/>
          <p:cNvSpPr/>
          <p:nvPr/>
        </p:nvSpPr>
        <p:spPr>
          <a:xfrm>
            <a:off x="819150"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squinero"/>
          <p:cNvSpPr/>
          <p:nvPr/>
        </p:nvSpPr>
        <p:spPr>
          <a:xfrm>
            <a:off x="8191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squinero"/>
          <p:cNvSpPr/>
          <p:nvPr/>
        </p:nvSpPr>
        <p:spPr>
          <a:xfrm>
            <a:off x="8220075" y="9086850"/>
            <a:ext cx="28575" cy="5334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squinero"/>
          <p:cNvSpPr/>
          <p:nvPr/>
        </p:nvSpPr>
        <p:spPr>
          <a:xfrm>
            <a:off x="7715250" y="9591675"/>
            <a:ext cx="533400" cy="28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676400" y="2857500"/>
            <a:ext cx="5715000" cy="5715000"/>
          </a:xfrm>
          <a:prstGeom prst="ellipse">
            <a:avLst/>
          </a:prstGeom>
          <a:solidFill>
            <a:srgbClr val="12305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76500" y="3657600"/>
            <a:ext cx="4114800" cy="4114800"/>
          </a:xfrm>
          <a:prstGeom prst="ellipse">
            <a:avLst/>
          </a:prstGeom>
          <a:solidFill>
            <a:srgbClr val="1A3F78">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12_mt_b732eb2566.png"/>
          <p:cNvPicPr>
            <a:picLocks noChangeAspect="1"/>
          </p:cNvPicPr>
          <p:nvPr/>
        </p:nvPicPr>
        <p:blipFill>
          <a:blip r:embed="rId4"/>
          <a:stretch>
            <a:fillRect/>
          </a:stretch>
        </p:blipFill>
        <p:spPr>
          <a:xfrm>
            <a:off x="1771650" y="2999999"/>
            <a:ext cx="5524500" cy="5430002"/>
          </a:xfrm>
          <a:prstGeom prst="rect">
            <a:avLst/>
          </a:prstGeom>
        </p:spPr>
      </p:pic>
      <p:sp>
        <p:nvSpPr>
          <p:cNvPr id="19" name="TextBox 18"/>
          <p:cNvSpPr txBox="1"/>
          <p:nvPr/>
        </p:nvSpPr>
        <p:spPr>
          <a:xfrm>
            <a:off x="8953500" y="2247900"/>
            <a:ext cx="3810000" cy="419100"/>
          </a:xfrm>
          <a:prstGeom prst="rect">
            <a:avLst/>
          </a:prstGeom>
          <a:noFill/>
        </p:spPr>
        <p:txBody>
          <a:bodyPr wrap="square" lIns="0" rIns="0" tIns="0" bIns="0" anchor="t">
            <a:spAutoFit/>
          </a:bodyPr>
          <a:lstStyle/>
          <a:p>
            <a:pPr algn="l">
              <a:lnSpc>
                <a:spcPct val="100000"/>
              </a:lnSpc>
            </a:pPr>
            <a:r>
              <a:rPr sz="2550" b="1" i="0" spc="200">
                <a:solidFill>
                  <a:srgbClr val="FFD21F"/>
                </a:solidFill>
                <a:latin typeface="Montserrat"/>
              </a:rPr>
              <a:t>12 / 12</a:t>
            </a:r>
          </a:p>
        </p:txBody>
      </p:sp>
      <p:sp>
        <p:nvSpPr>
          <p:cNvPr id="20" name="Rectangle 19"/>
          <p:cNvSpPr/>
          <p:nvPr/>
        </p:nvSpPr>
        <p:spPr>
          <a:xfrm>
            <a:off x="8953500" y="2781300"/>
            <a:ext cx="857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53500" y="3086100"/>
            <a:ext cx="8420100" cy="2857500"/>
          </a:xfrm>
          <a:prstGeom prst="rect">
            <a:avLst/>
          </a:prstGeom>
          <a:noFill/>
        </p:spPr>
        <p:txBody>
          <a:bodyPr wrap="square" lIns="0" rIns="0" tIns="0" bIns="0" anchor="t">
            <a:spAutoFit/>
          </a:bodyPr>
          <a:lstStyle/>
          <a:p>
            <a:pPr algn="l">
              <a:lnSpc>
                <a:spcPct val="95800"/>
              </a:lnSpc>
            </a:pPr>
            <a:r>
              <a:rPr sz="4350" b="1" i="0">
                <a:solidFill>
                  <a:srgbClr val="F3F7FC"/>
                </a:solidFill>
                <a:latin typeface="Montserrat"/>
              </a:rPr>
              <a:t>Desarrollo web</a:t>
            </a:r>
          </a:p>
        </p:txBody>
      </p:sp>
      <p:sp>
        <p:nvSpPr>
          <p:cNvPr id="22" name="Rectangle 21"/>
          <p:cNvSpPr/>
          <p:nvPr/>
        </p:nvSpPr>
        <p:spPr>
          <a:xfrm>
            <a:off x="8953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01_mt_418352a3f8.png"/>
          <p:cNvPicPr>
            <a:picLocks noChangeAspect="1"/>
          </p:cNvPicPr>
          <p:nvPr/>
        </p:nvPicPr>
        <p:blipFill>
          <a:blip r:embed="rId5">
            <a:alphaModFix amt="40000"/>
          </a:blip>
          <a:stretch>
            <a:fillRect/>
          </a:stretch>
        </p:blipFill>
        <p:spPr>
          <a:xfrm>
            <a:off x="9201150" y="6751922"/>
            <a:ext cx="781050" cy="764607"/>
          </a:xfrm>
          <a:prstGeom prst="rect">
            <a:avLst/>
          </a:prstGeom>
        </p:spPr>
      </p:pic>
      <p:sp>
        <p:nvSpPr>
          <p:cNvPr id="24" name="TextBox 23"/>
          <p:cNvSpPr txBox="1"/>
          <p:nvPr/>
        </p:nvSpPr>
        <p:spPr>
          <a:xfrm>
            <a:off x="8953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01</a:t>
            </a:r>
          </a:p>
        </p:txBody>
      </p:sp>
      <p:sp>
        <p:nvSpPr>
          <p:cNvPr id="25" name="Rectangle 24"/>
          <p:cNvSpPr/>
          <p:nvPr/>
        </p:nvSpPr>
        <p:spPr>
          <a:xfrm>
            <a:off x="10382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02_mt_259dc2d543.png"/>
          <p:cNvPicPr>
            <a:picLocks noChangeAspect="1"/>
          </p:cNvPicPr>
          <p:nvPr/>
        </p:nvPicPr>
        <p:blipFill>
          <a:blip r:embed="rId6">
            <a:alphaModFix amt="40000"/>
          </a:blip>
          <a:stretch>
            <a:fillRect/>
          </a:stretch>
        </p:blipFill>
        <p:spPr>
          <a:xfrm>
            <a:off x="10629900" y="6747297"/>
            <a:ext cx="781050" cy="773856"/>
          </a:xfrm>
          <a:prstGeom prst="rect">
            <a:avLst/>
          </a:prstGeom>
        </p:spPr>
      </p:pic>
      <p:sp>
        <p:nvSpPr>
          <p:cNvPr id="27" name="TextBox 26"/>
          <p:cNvSpPr txBox="1"/>
          <p:nvPr/>
        </p:nvSpPr>
        <p:spPr>
          <a:xfrm>
            <a:off x="10382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02</a:t>
            </a:r>
          </a:p>
        </p:txBody>
      </p:sp>
      <p:sp>
        <p:nvSpPr>
          <p:cNvPr id="28" name="Rectangle 27"/>
          <p:cNvSpPr/>
          <p:nvPr/>
        </p:nvSpPr>
        <p:spPr>
          <a:xfrm>
            <a:off x="118110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03_mt_4541bd9d7c.png"/>
          <p:cNvPicPr>
            <a:picLocks noChangeAspect="1"/>
          </p:cNvPicPr>
          <p:nvPr/>
        </p:nvPicPr>
        <p:blipFill>
          <a:blip r:embed="rId7">
            <a:alphaModFix amt="40000"/>
          </a:blip>
          <a:stretch>
            <a:fillRect/>
          </a:stretch>
        </p:blipFill>
        <p:spPr>
          <a:xfrm>
            <a:off x="12058650" y="6747811"/>
            <a:ext cx="781050" cy="772828"/>
          </a:xfrm>
          <a:prstGeom prst="rect">
            <a:avLst/>
          </a:prstGeom>
        </p:spPr>
      </p:pic>
      <p:sp>
        <p:nvSpPr>
          <p:cNvPr id="30" name="TextBox 29"/>
          <p:cNvSpPr txBox="1"/>
          <p:nvPr/>
        </p:nvSpPr>
        <p:spPr>
          <a:xfrm>
            <a:off x="118110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03</a:t>
            </a:r>
          </a:p>
        </p:txBody>
      </p:sp>
      <p:sp>
        <p:nvSpPr>
          <p:cNvPr id="31" name="Rectangle 30"/>
          <p:cNvSpPr/>
          <p:nvPr/>
        </p:nvSpPr>
        <p:spPr>
          <a:xfrm>
            <a:off x="132397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04_mt_4670736799.png"/>
          <p:cNvPicPr>
            <a:picLocks noChangeAspect="1"/>
          </p:cNvPicPr>
          <p:nvPr/>
        </p:nvPicPr>
        <p:blipFill>
          <a:blip r:embed="rId8">
            <a:alphaModFix amt="40000"/>
          </a:blip>
          <a:stretch>
            <a:fillRect/>
          </a:stretch>
        </p:blipFill>
        <p:spPr>
          <a:xfrm>
            <a:off x="13487400" y="6748325"/>
            <a:ext cx="781050" cy="771801"/>
          </a:xfrm>
          <a:prstGeom prst="rect">
            <a:avLst/>
          </a:prstGeom>
        </p:spPr>
      </p:pic>
      <p:sp>
        <p:nvSpPr>
          <p:cNvPr id="33" name="TextBox 32"/>
          <p:cNvSpPr txBox="1"/>
          <p:nvPr/>
        </p:nvSpPr>
        <p:spPr>
          <a:xfrm>
            <a:off x="132397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04</a:t>
            </a:r>
          </a:p>
        </p:txBody>
      </p:sp>
      <p:sp>
        <p:nvSpPr>
          <p:cNvPr id="34" name="Rectangle 33"/>
          <p:cNvSpPr/>
          <p:nvPr/>
        </p:nvSpPr>
        <p:spPr>
          <a:xfrm>
            <a:off x="1466850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05_mt_c33e97379f.png"/>
          <p:cNvPicPr>
            <a:picLocks noChangeAspect="1"/>
          </p:cNvPicPr>
          <p:nvPr/>
        </p:nvPicPr>
        <p:blipFill>
          <a:blip r:embed="rId9">
            <a:alphaModFix amt="40000"/>
          </a:blip>
          <a:stretch>
            <a:fillRect/>
          </a:stretch>
        </p:blipFill>
        <p:spPr>
          <a:xfrm>
            <a:off x="14916150" y="6749352"/>
            <a:ext cx="781050" cy="769745"/>
          </a:xfrm>
          <a:prstGeom prst="rect">
            <a:avLst/>
          </a:prstGeom>
        </p:spPr>
      </p:pic>
      <p:sp>
        <p:nvSpPr>
          <p:cNvPr id="36" name="TextBox 35"/>
          <p:cNvSpPr txBox="1"/>
          <p:nvPr/>
        </p:nvSpPr>
        <p:spPr>
          <a:xfrm>
            <a:off x="1466850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05</a:t>
            </a:r>
          </a:p>
        </p:txBody>
      </p:sp>
      <p:sp>
        <p:nvSpPr>
          <p:cNvPr id="37" name="Rectangle 36"/>
          <p:cNvSpPr/>
          <p:nvPr/>
        </p:nvSpPr>
        <p:spPr>
          <a:xfrm>
            <a:off x="16097250" y="657225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06_mt_f7c9aefdac.png"/>
          <p:cNvPicPr>
            <a:picLocks noChangeAspect="1"/>
          </p:cNvPicPr>
          <p:nvPr/>
        </p:nvPicPr>
        <p:blipFill>
          <a:blip r:embed="rId10">
            <a:alphaModFix amt="40000"/>
          </a:blip>
          <a:stretch>
            <a:fillRect/>
          </a:stretch>
        </p:blipFill>
        <p:spPr>
          <a:xfrm>
            <a:off x="16344900" y="6742152"/>
            <a:ext cx="781050" cy="784145"/>
          </a:xfrm>
          <a:prstGeom prst="rect">
            <a:avLst/>
          </a:prstGeom>
        </p:spPr>
      </p:pic>
      <p:sp>
        <p:nvSpPr>
          <p:cNvPr id="39" name="TextBox 38"/>
          <p:cNvSpPr txBox="1"/>
          <p:nvPr/>
        </p:nvSpPr>
        <p:spPr>
          <a:xfrm>
            <a:off x="16097250" y="762000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06</a:t>
            </a:r>
          </a:p>
        </p:txBody>
      </p:sp>
      <p:sp>
        <p:nvSpPr>
          <p:cNvPr id="40" name="Rectangle 39"/>
          <p:cNvSpPr/>
          <p:nvPr/>
        </p:nvSpPr>
        <p:spPr>
          <a:xfrm>
            <a:off x="8953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07_mt_b806a2cdfe.png"/>
          <p:cNvPicPr>
            <a:picLocks noChangeAspect="1"/>
          </p:cNvPicPr>
          <p:nvPr/>
        </p:nvPicPr>
        <p:blipFill>
          <a:blip r:embed="rId11">
            <a:alphaModFix amt="40000"/>
          </a:blip>
          <a:stretch>
            <a:fillRect/>
          </a:stretch>
        </p:blipFill>
        <p:spPr>
          <a:xfrm>
            <a:off x="9201150" y="8324850"/>
            <a:ext cx="781050" cy="781050"/>
          </a:xfrm>
          <a:prstGeom prst="rect">
            <a:avLst/>
          </a:prstGeom>
        </p:spPr>
      </p:pic>
      <p:sp>
        <p:nvSpPr>
          <p:cNvPr id="42" name="TextBox 41"/>
          <p:cNvSpPr txBox="1"/>
          <p:nvPr/>
        </p:nvSpPr>
        <p:spPr>
          <a:xfrm>
            <a:off x="8953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07</a:t>
            </a:r>
          </a:p>
        </p:txBody>
      </p:sp>
      <p:sp>
        <p:nvSpPr>
          <p:cNvPr id="43" name="Rectangle 42"/>
          <p:cNvSpPr/>
          <p:nvPr/>
        </p:nvSpPr>
        <p:spPr>
          <a:xfrm>
            <a:off x="103822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08_mt_6fed41160f.png"/>
          <p:cNvPicPr>
            <a:picLocks noChangeAspect="1"/>
          </p:cNvPicPr>
          <p:nvPr/>
        </p:nvPicPr>
        <p:blipFill>
          <a:blip r:embed="rId12">
            <a:alphaModFix amt="40000"/>
          </a:blip>
          <a:stretch>
            <a:fillRect/>
          </a:stretch>
        </p:blipFill>
        <p:spPr>
          <a:xfrm>
            <a:off x="10629900" y="8328447"/>
            <a:ext cx="781050" cy="773856"/>
          </a:xfrm>
          <a:prstGeom prst="rect">
            <a:avLst/>
          </a:prstGeom>
        </p:spPr>
      </p:pic>
      <p:sp>
        <p:nvSpPr>
          <p:cNvPr id="45" name="TextBox 44"/>
          <p:cNvSpPr txBox="1"/>
          <p:nvPr/>
        </p:nvSpPr>
        <p:spPr>
          <a:xfrm>
            <a:off x="103822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08</a:t>
            </a:r>
          </a:p>
        </p:txBody>
      </p:sp>
      <p:sp>
        <p:nvSpPr>
          <p:cNvPr id="46" name="Rectangle 45"/>
          <p:cNvSpPr/>
          <p:nvPr/>
        </p:nvSpPr>
        <p:spPr>
          <a:xfrm>
            <a:off x="118110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09_mt_8caf1e1fd8.png"/>
          <p:cNvPicPr>
            <a:picLocks noChangeAspect="1"/>
          </p:cNvPicPr>
          <p:nvPr/>
        </p:nvPicPr>
        <p:blipFill>
          <a:blip r:embed="rId13">
            <a:alphaModFix amt="40000"/>
          </a:blip>
          <a:stretch>
            <a:fillRect/>
          </a:stretch>
        </p:blipFill>
        <p:spPr>
          <a:xfrm>
            <a:off x="12058650" y="8333072"/>
            <a:ext cx="781050" cy="764607"/>
          </a:xfrm>
          <a:prstGeom prst="rect">
            <a:avLst/>
          </a:prstGeom>
        </p:spPr>
      </p:pic>
      <p:sp>
        <p:nvSpPr>
          <p:cNvPr id="48" name="TextBox 47"/>
          <p:cNvSpPr txBox="1"/>
          <p:nvPr/>
        </p:nvSpPr>
        <p:spPr>
          <a:xfrm>
            <a:off x="118110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09</a:t>
            </a:r>
          </a:p>
        </p:txBody>
      </p:sp>
      <p:sp>
        <p:nvSpPr>
          <p:cNvPr id="49" name="Rectangle 48"/>
          <p:cNvSpPr/>
          <p:nvPr/>
        </p:nvSpPr>
        <p:spPr>
          <a:xfrm>
            <a:off x="1323975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0" name="Picture 49" descr="10_mt_260423cb6c.png"/>
          <p:cNvPicPr>
            <a:picLocks noChangeAspect="1"/>
          </p:cNvPicPr>
          <p:nvPr/>
        </p:nvPicPr>
        <p:blipFill>
          <a:blip r:embed="rId14">
            <a:alphaModFix amt="40000"/>
          </a:blip>
          <a:stretch>
            <a:fillRect/>
          </a:stretch>
        </p:blipFill>
        <p:spPr>
          <a:xfrm>
            <a:off x="13487400" y="8339752"/>
            <a:ext cx="781050" cy="751247"/>
          </a:xfrm>
          <a:prstGeom prst="rect">
            <a:avLst/>
          </a:prstGeom>
        </p:spPr>
      </p:pic>
      <p:sp>
        <p:nvSpPr>
          <p:cNvPr id="51" name="TextBox 50"/>
          <p:cNvSpPr txBox="1"/>
          <p:nvPr/>
        </p:nvSpPr>
        <p:spPr>
          <a:xfrm>
            <a:off x="1323975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10</a:t>
            </a:r>
          </a:p>
        </p:txBody>
      </p:sp>
      <p:sp>
        <p:nvSpPr>
          <p:cNvPr id="52" name="Rectangle 51"/>
          <p:cNvSpPr/>
          <p:nvPr/>
        </p:nvSpPr>
        <p:spPr>
          <a:xfrm>
            <a:off x="14668500" y="8153400"/>
            <a:ext cx="1276350" cy="1428750"/>
          </a:xfrm>
          <a:prstGeom prst="rect">
            <a:avLst/>
          </a:prstGeom>
          <a:solidFill>
            <a:srgbClr val="0A1F3D"/>
          </a:solidFill>
          <a:ln w="14287">
            <a:solidFill>
              <a:srgbClr val="2F7BFF">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11_mt_3f2d5a707c.png"/>
          <p:cNvPicPr>
            <a:picLocks noChangeAspect="1"/>
          </p:cNvPicPr>
          <p:nvPr/>
        </p:nvPicPr>
        <p:blipFill>
          <a:blip r:embed="rId15">
            <a:alphaModFix amt="40000"/>
          </a:blip>
          <a:stretch>
            <a:fillRect/>
          </a:stretch>
        </p:blipFill>
        <p:spPr>
          <a:xfrm>
            <a:off x="14916150" y="8331016"/>
            <a:ext cx="781050" cy="768718"/>
          </a:xfrm>
          <a:prstGeom prst="rect">
            <a:avLst/>
          </a:prstGeom>
        </p:spPr>
      </p:pic>
      <p:sp>
        <p:nvSpPr>
          <p:cNvPr id="54" name="TextBox 53"/>
          <p:cNvSpPr txBox="1"/>
          <p:nvPr/>
        </p:nvSpPr>
        <p:spPr>
          <a:xfrm>
            <a:off x="14668500" y="9201150"/>
            <a:ext cx="1276350" cy="304800"/>
          </a:xfrm>
          <a:prstGeom prst="rect">
            <a:avLst/>
          </a:prstGeom>
          <a:noFill/>
        </p:spPr>
        <p:txBody>
          <a:bodyPr wrap="square" lIns="0" rIns="0" tIns="0" bIns="0" anchor="t">
            <a:spAutoFit/>
          </a:bodyPr>
          <a:lstStyle/>
          <a:p>
            <a:pPr algn="ctr">
              <a:lnSpc>
                <a:spcPct val="100000"/>
              </a:lnSpc>
            </a:pPr>
            <a:r>
              <a:rPr sz="1500" b="1" i="0">
                <a:solidFill>
                  <a:srgbClr val="9FB4CC"/>
                </a:solidFill>
                <a:latin typeface="Montserrat"/>
              </a:rPr>
              <a:t>11</a:t>
            </a:r>
          </a:p>
        </p:txBody>
      </p:sp>
      <p:sp>
        <p:nvSpPr>
          <p:cNvPr id="55" name="Rectangle 54"/>
          <p:cNvSpPr/>
          <p:nvPr/>
        </p:nvSpPr>
        <p:spPr>
          <a:xfrm>
            <a:off x="16097250" y="8153400"/>
            <a:ext cx="1276350" cy="1428750"/>
          </a:xfrm>
          <a:prstGeom prst="rect">
            <a:avLst/>
          </a:prstGeom>
          <a:solidFill>
            <a:srgbClr val="0A1F3D"/>
          </a:solidFill>
          <a:ln w="2857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6" name="Picture 55" descr="12_mt_b732eb2566.png"/>
          <p:cNvPicPr>
            <a:picLocks noChangeAspect="1"/>
          </p:cNvPicPr>
          <p:nvPr/>
        </p:nvPicPr>
        <p:blipFill>
          <a:blip r:embed="rId4"/>
          <a:stretch>
            <a:fillRect/>
          </a:stretch>
        </p:blipFill>
        <p:spPr>
          <a:xfrm>
            <a:off x="16344900" y="8331530"/>
            <a:ext cx="781050" cy="767690"/>
          </a:xfrm>
          <a:prstGeom prst="rect">
            <a:avLst/>
          </a:prstGeom>
        </p:spPr>
      </p:pic>
      <p:sp>
        <p:nvSpPr>
          <p:cNvPr id="57" name="TextBox 56"/>
          <p:cNvSpPr txBox="1"/>
          <p:nvPr/>
        </p:nvSpPr>
        <p:spPr>
          <a:xfrm>
            <a:off x="16097250" y="9201150"/>
            <a:ext cx="1276350" cy="304800"/>
          </a:xfrm>
          <a:prstGeom prst="rect">
            <a:avLst/>
          </a:prstGeom>
          <a:noFill/>
        </p:spPr>
        <p:txBody>
          <a:bodyPr wrap="square" lIns="0" rIns="0" tIns="0" bIns="0" anchor="t">
            <a:spAutoFit/>
          </a:bodyPr>
          <a:lstStyle/>
          <a:p>
            <a:pPr algn="ctr">
              <a:lnSpc>
                <a:spcPct val="100000"/>
              </a:lnSpc>
            </a:pPr>
            <a:r>
              <a:rPr sz="1500" b="1" i="0">
                <a:solidFill>
                  <a:srgbClr val="FFD21F"/>
                </a:solidFill>
                <a:latin typeface="Montserrat"/>
              </a:rPr>
              <a:t>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65618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467570"/>
            <a:ext cx="16830675" cy="7147917"/>
          </a:xfrm>
          <a:prstGeom prst="rect">
            <a:avLst/>
          </a:prstGeom>
          <a:solidFill>
            <a:srgbClr val="0D2748">
              <a:alpha val="82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7725"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7725"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27053"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36578" y="2586633"/>
            <a:ext cx="4313932"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336578" y="3100983"/>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40985"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50510" y="2586633"/>
            <a:ext cx="9789765"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650510" y="3100983"/>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47725" y="3110508"/>
            <a:ext cx="2488853"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7725" y="4378077"/>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327053" y="3110508"/>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336578" y="3110508"/>
            <a:ext cx="4313932"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336578" y="4378077"/>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640985" y="3110508"/>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650510" y="3110508"/>
            <a:ext cx="9789765"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50510" y="4378077"/>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47725" y="4387602"/>
            <a:ext cx="2488853"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7725" y="5655171"/>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327053" y="4387602"/>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336578" y="4387602"/>
            <a:ext cx="4313932"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336578" y="5655171"/>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40985" y="4387602"/>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650510" y="4387602"/>
            <a:ext cx="9789765"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650510" y="5655171"/>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47725" y="5664696"/>
            <a:ext cx="2488853"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47725" y="6932265"/>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327053" y="5664696"/>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336578" y="5664696"/>
            <a:ext cx="4313932"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336578" y="6932265"/>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640985" y="5664696"/>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50510" y="5664696"/>
            <a:ext cx="9789765" cy="127709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50510" y="6932265"/>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47725" y="6941790"/>
            <a:ext cx="2488853"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47725" y="8209359"/>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3327053" y="6941790"/>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3336578" y="6941790"/>
            <a:ext cx="4313932"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336578" y="8209359"/>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7640985" y="6941790"/>
            <a:ext cx="9525" cy="127709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650510" y="6941790"/>
            <a:ext cx="9789765" cy="127709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7650510" y="8209359"/>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47725" y="8218884"/>
            <a:ext cx="2488853" cy="1277541"/>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847725"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3327053" y="8218884"/>
            <a:ext cx="9525" cy="1277541"/>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3336578" y="8218884"/>
            <a:ext cx="4313932" cy="1277541"/>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3336578" y="9486900"/>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7640985" y="8218884"/>
            <a:ext cx="9525" cy="1277541"/>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7650510" y="8218884"/>
            <a:ext cx="9789765" cy="1277541"/>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7650510" y="9486900"/>
            <a:ext cx="978976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3109912"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3114675" y="9944100"/>
            <a:ext cx="2594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981075" y="1663750"/>
            <a:ext cx="857736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ANÁLISIS DEL PROCESO ACTUAL DE CORRESPONDENCIA DE PRODUCTOS</a:t>
            </a:r>
          </a:p>
        </p:txBody>
      </p:sp>
      <p:sp>
        <p:nvSpPr>
          <p:cNvPr id="68" name="TextBox 67"/>
          <p:cNvSpPr txBox="1"/>
          <p:nvPr/>
        </p:nvSpPr>
        <p:spPr>
          <a:xfrm>
            <a:off x="981075" y="1895177"/>
            <a:ext cx="7521339"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Escala de valoración de los criterios</a:t>
            </a:r>
          </a:p>
        </p:txBody>
      </p:sp>
      <p:sp>
        <p:nvSpPr>
          <p:cNvPr id="69" name="TextBox 68"/>
          <p:cNvSpPr txBox="1"/>
          <p:nvPr/>
        </p:nvSpPr>
        <p:spPr>
          <a:xfrm>
            <a:off x="1076325" y="2700933"/>
            <a:ext cx="1752261" cy="304800"/>
          </a:xfrm>
          <a:prstGeom prst="rect">
            <a:avLst/>
          </a:prstGeom>
          <a:noFill/>
        </p:spPr>
        <p:txBody>
          <a:bodyPr wrap="none" lIns="0" rIns="0" tIns="0" bIns="0" anchor="t">
            <a:spAutoFit/>
          </a:bodyPr>
          <a:lstStyle/>
          <a:p>
            <a:pPr algn="l">
              <a:lnSpc>
                <a:spcPct val="100000"/>
              </a:lnSpc>
            </a:pPr>
            <a:r>
              <a:rPr sz="1875" b="1" i="0" spc="103">
                <a:solidFill>
                  <a:srgbClr val="F3F7FC"/>
                </a:solidFill>
                <a:latin typeface="Barlow"/>
              </a:rPr>
              <a:t>PUNTUACIÓN</a:t>
            </a:r>
          </a:p>
        </p:txBody>
      </p:sp>
      <p:sp>
        <p:nvSpPr>
          <p:cNvPr id="70" name="TextBox 69"/>
          <p:cNvSpPr txBox="1"/>
          <p:nvPr/>
        </p:nvSpPr>
        <p:spPr>
          <a:xfrm>
            <a:off x="3721781" y="2700933"/>
            <a:ext cx="3534001"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DESCRIPCIÓN CUALITATIVA</a:t>
            </a:r>
          </a:p>
        </p:txBody>
      </p:sp>
      <p:sp>
        <p:nvSpPr>
          <p:cNvPr id="71" name="TextBox 70"/>
          <p:cNvSpPr txBox="1"/>
          <p:nvPr/>
        </p:nvSpPr>
        <p:spPr>
          <a:xfrm>
            <a:off x="11391352" y="2700933"/>
            <a:ext cx="2308080"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INTERPRETACIÓN</a:t>
            </a:r>
          </a:p>
        </p:txBody>
      </p:sp>
      <p:sp>
        <p:nvSpPr>
          <p:cNvPr id="72" name="TextBox 71"/>
          <p:cNvSpPr txBox="1"/>
          <p:nvPr/>
        </p:nvSpPr>
        <p:spPr>
          <a:xfrm>
            <a:off x="1912388" y="3477518"/>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1</a:t>
            </a:r>
          </a:p>
        </p:txBody>
      </p:sp>
      <p:sp>
        <p:nvSpPr>
          <p:cNvPr id="73" name="TextBox 72"/>
          <p:cNvSpPr txBox="1"/>
          <p:nvPr/>
        </p:nvSpPr>
        <p:spPr>
          <a:xfrm>
            <a:off x="3565178" y="3572768"/>
            <a:ext cx="2107805"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Muy deficiente</a:t>
            </a:r>
          </a:p>
        </p:txBody>
      </p:sp>
      <p:sp>
        <p:nvSpPr>
          <p:cNvPr id="74" name="TextBox 73"/>
          <p:cNvSpPr txBox="1"/>
          <p:nvPr/>
        </p:nvSpPr>
        <p:spPr>
          <a:xfrm>
            <a:off x="7879110" y="3572768"/>
            <a:ext cx="6116038"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Carencias severas: compromete la viabilidad.</a:t>
            </a:r>
          </a:p>
        </p:txBody>
      </p:sp>
      <p:sp>
        <p:nvSpPr>
          <p:cNvPr id="75" name="TextBox 74"/>
          <p:cNvSpPr txBox="1"/>
          <p:nvPr/>
        </p:nvSpPr>
        <p:spPr>
          <a:xfrm>
            <a:off x="1912388" y="4754612"/>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76" name="TextBox 75"/>
          <p:cNvSpPr txBox="1"/>
          <p:nvPr/>
        </p:nvSpPr>
        <p:spPr>
          <a:xfrm>
            <a:off x="3565178" y="4849862"/>
            <a:ext cx="1517749"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Deficiente</a:t>
            </a:r>
          </a:p>
        </p:txBody>
      </p:sp>
      <p:sp>
        <p:nvSpPr>
          <p:cNvPr id="77" name="TextBox 76"/>
          <p:cNvSpPr txBox="1"/>
          <p:nvPr/>
        </p:nvSpPr>
        <p:spPr>
          <a:xfrm>
            <a:off x="7879110" y="4849862"/>
            <a:ext cx="6080516"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Limitaciones importantes para su aplicación.</a:t>
            </a:r>
          </a:p>
        </p:txBody>
      </p:sp>
      <p:sp>
        <p:nvSpPr>
          <p:cNvPr id="78" name="TextBox 77"/>
          <p:cNvSpPr txBox="1"/>
          <p:nvPr/>
        </p:nvSpPr>
        <p:spPr>
          <a:xfrm>
            <a:off x="1912388" y="6031706"/>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79" name="TextBox 78"/>
          <p:cNvSpPr txBox="1"/>
          <p:nvPr/>
        </p:nvSpPr>
        <p:spPr>
          <a:xfrm>
            <a:off x="3565178" y="6126956"/>
            <a:ext cx="1503444"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Aceptable</a:t>
            </a:r>
          </a:p>
        </p:txBody>
      </p:sp>
      <p:sp>
        <p:nvSpPr>
          <p:cNvPr id="80" name="TextBox 79"/>
          <p:cNvSpPr txBox="1"/>
          <p:nvPr/>
        </p:nvSpPr>
        <p:spPr>
          <a:xfrm>
            <a:off x="7879110" y="6126956"/>
            <a:ext cx="4244286"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Cumple los requisitos mínimos.</a:t>
            </a:r>
          </a:p>
        </p:txBody>
      </p:sp>
      <p:sp>
        <p:nvSpPr>
          <p:cNvPr id="81" name="TextBox 80"/>
          <p:cNvSpPr txBox="1"/>
          <p:nvPr/>
        </p:nvSpPr>
        <p:spPr>
          <a:xfrm>
            <a:off x="1912388" y="7308800"/>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82" name="TextBox 81"/>
          <p:cNvSpPr txBox="1"/>
          <p:nvPr/>
        </p:nvSpPr>
        <p:spPr>
          <a:xfrm>
            <a:off x="3565178" y="7404050"/>
            <a:ext cx="961287"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Bueno</a:t>
            </a:r>
          </a:p>
        </p:txBody>
      </p:sp>
      <p:sp>
        <p:nvSpPr>
          <p:cNvPr id="83" name="TextBox 82"/>
          <p:cNvSpPr txBox="1"/>
          <p:nvPr/>
        </p:nvSpPr>
        <p:spPr>
          <a:xfrm>
            <a:off x="7879110" y="7404050"/>
            <a:ext cx="5841986"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Supera lo esperado: aporta ventajas claras.</a:t>
            </a:r>
          </a:p>
        </p:txBody>
      </p:sp>
      <p:sp>
        <p:nvSpPr>
          <p:cNvPr id="84" name="TextBox 83"/>
          <p:cNvSpPr txBox="1"/>
          <p:nvPr/>
        </p:nvSpPr>
        <p:spPr>
          <a:xfrm>
            <a:off x="1912388" y="8586192"/>
            <a:ext cx="34985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85" name="TextBox 84"/>
          <p:cNvSpPr txBox="1"/>
          <p:nvPr/>
        </p:nvSpPr>
        <p:spPr>
          <a:xfrm>
            <a:off x="3565178" y="8681442"/>
            <a:ext cx="1458760"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Excelente</a:t>
            </a:r>
          </a:p>
        </p:txBody>
      </p:sp>
      <p:sp>
        <p:nvSpPr>
          <p:cNvPr id="86" name="TextBox 85"/>
          <p:cNvSpPr txBox="1"/>
          <p:nvPr/>
        </p:nvSpPr>
        <p:spPr>
          <a:xfrm>
            <a:off x="7879110" y="8681442"/>
            <a:ext cx="7327975"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Desempeño excepcional y alta adecuación al proyecto.</a:t>
            </a:r>
          </a:p>
        </p:txBody>
      </p:sp>
      <p:sp>
        <p:nvSpPr>
          <p:cNvPr id="87" name="TextBox 86"/>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88" name="TextBox 87"/>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01</a:t>
            </a:r>
          </a:p>
        </p:txBody>
      </p:sp>
      <p:sp>
        <p:nvSpPr>
          <p:cNvPr id="89" name="TextBox 88"/>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90" name="TextBox 89"/>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91" name="TextBox 90"/>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92" name="TextBox 91"/>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93" name="TextBox 92"/>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94" name="TextBox 93"/>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95" name="TextBox 94"/>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65618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467570"/>
            <a:ext cx="16830675" cy="7147917"/>
          </a:xfrm>
          <a:prstGeom prst="rect">
            <a:avLst/>
          </a:prstGeom>
          <a:solidFill>
            <a:srgbClr val="0D2748">
              <a:alpha val="82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7725" y="2586633"/>
            <a:ext cx="912584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7725" y="310098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964043"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973568"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973568"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2452896"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462421"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2462421"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4941748"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4951273" y="2586633"/>
            <a:ext cx="2489002"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951273" y="310098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47725" y="3110508"/>
            <a:ext cx="912584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47725" y="4155281"/>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964043" y="3110508"/>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973568" y="3110508"/>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973568" y="4155281"/>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452896" y="3110508"/>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462421" y="3110508"/>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462421" y="4155281"/>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4941748" y="3110508"/>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951273" y="3110508"/>
            <a:ext cx="2489002"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951273" y="4155281"/>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47725" y="4164806"/>
            <a:ext cx="912584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47725" y="5209580"/>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964043" y="4164806"/>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973568" y="4164806"/>
            <a:ext cx="248885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973568" y="520958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452896" y="4164806"/>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462421" y="4164806"/>
            <a:ext cx="248885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2462421" y="520958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4941748" y="4164806"/>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4951273" y="4164806"/>
            <a:ext cx="2489002"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951273" y="5209580"/>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47725" y="5219105"/>
            <a:ext cx="912584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47725" y="6263878"/>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964043" y="5219105"/>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973568" y="5219105"/>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973568" y="626387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452896" y="5219105"/>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2462421" y="5219105"/>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2462421" y="626387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4941748" y="5219105"/>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4951273" y="5219105"/>
            <a:ext cx="2489002"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951273" y="6263878"/>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847725" y="6273403"/>
            <a:ext cx="912584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847725" y="7318177"/>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9964043" y="6273403"/>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9973568" y="6273403"/>
            <a:ext cx="248885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9973568" y="7318177"/>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2452896" y="6273403"/>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2462421" y="6273403"/>
            <a:ext cx="2488853"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2462421" y="7318177"/>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941748" y="6273403"/>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14951273" y="6273403"/>
            <a:ext cx="2489002" cy="105429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4951273" y="7318177"/>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47725" y="7327702"/>
            <a:ext cx="912584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847725" y="8372475"/>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9964043" y="7327702"/>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9973568" y="7327702"/>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9973568" y="8372475"/>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12452896" y="7327702"/>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12462421" y="7327702"/>
            <a:ext cx="2488853"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12462421" y="8372475"/>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14941748" y="7327702"/>
            <a:ext cx="9525" cy="105429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14951273" y="7327702"/>
            <a:ext cx="2489002" cy="105429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14951273" y="8372475"/>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847725" y="8382000"/>
            <a:ext cx="9125843" cy="111442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847725" y="8382000"/>
            <a:ext cx="912584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847725" y="9486900"/>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9964043" y="8382000"/>
            <a:ext cx="9525" cy="11144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9973568" y="8382000"/>
            <a:ext cx="2488853" cy="111442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9973568" y="8382000"/>
            <a:ext cx="248885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9973568"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12452896" y="8382000"/>
            <a:ext cx="9525" cy="11144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12462421" y="8382000"/>
            <a:ext cx="2488853" cy="111442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12462421" y="8382000"/>
            <a:ext cx="248885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12462421"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14941748" y="8382000"/>
            <a:ext cx="9525" cy="11144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14951273" y="8382000"/>
            <a:ext cx="2489002" cy="111442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14951273" y="8382000"/>
            <a:ext cx="2489002"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14951273" y="9486900"/>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4925616"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4930378" y="9944100"/>
            <a:ext cx="23060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ectangle 94"/>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ectangle 95"/>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81075" y="1663750"/>
            <a:ext cx="440437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METODOLOGÍA DE CIENCIA DE DATOS</a:t>
            </a:r>
          </a:p>
        </p:txBody>
      </p:sp>
      <p:sp>
        <p:nvSpPr>
          <p:cNvPr id="102" name="TextBox 101"/>
          <p:cNvSpPr txBox="1"/>
          <p:nvPr/>
        </p:nvSpPr>
        <p:spPr>
          <a:xfrm>
            <a:off x="981075" y="1895177"/>
            <a:ext cx="10688128"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Comparación de metodologías de ciencia de datos</a:t>
            </a:r>
          </a:p>
        </p:txBody>
      </p:sp>
      <p:sp>
        <p:nvSpPr>
          <p:cNvPr id="103" name="TextBox 102"/>
          <p:cNvSpPr txBox="1"/>
          <p:nvPr/>
        </p:nvSpPr>
        <p:spPr>
          <a:xfrm>
            <a:off x="1076325" y="2700933"/>
            <a:ext cx="1276326" cy="304800"/>
          </a:xfrm>
          <a:prstGeom prst="rect">
            <a:avLst/>
          </a:prstGeom>
          <a:noFill/>
        </p:spPr>
        <p:txBody>
          <a:bodyPr wrap="none" lIns="0" rIns="0" tIns="0" bIns="0" anchor="t">
            <a:spAutoFit/>
          </a:bodyPr>
          <a:lstStyle/>
          <a:p>
            <a:pPr algn="l">
              <a:lnSpc>
                <a:spcPct val="100000"/>
              </a:lnSpc>
            </a:pPr>
            <a:r>
              <a:rPr sz="1875" b="1" i="0" spc="103">
                <a:solidFill>
                  <a:srgbClr val="F3F7FC"/>
                </a:solidFill>
                <a:latin typeface="Barlow"/>
              </a:rPr>
              <a:t>CRITERIO</a:t>
            </a:r>
          </a:p>
        </p:txBody>
      </p:sp>
      <p:sp>
        <p:nvSpPr>
          <p:cNvPr id="104" name="TextBox 103"/>
          <p:cNvSpPr txBox="1"/>
          <p:nvPr/>
        </p:nvSpPr>
        <p:spPr>
          <a:xfrm>
            <a:off x="10544449" y="2700933"/>
            <a:ext cx="1337566"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CRISP-DM</a:t>
            </a:r>
          </a:p>
        </p:txBody>
      </p:sp>
      <p:sp>
        <p:nvSpPr>
          <p:cNvPr id="105" name="TextBox 104"/>
          <p:cNvSpPr txBox="1"/>
          <p:nvPr/>
        </p:nvSpPr>
        <p:spPr>
          <a:xfrm>
            <a:off x="13393674" y="2700933"/>
            <a:ext cx="616672"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KDD</a:t>
            </a:r>
          </a:p>
        </p:txBody>
      </p:sp>
      <p:sp>
        <p:nvSpPr>
          <p:cNvPr id="106" name="TextBox 105"/>
          <p:cNvSpPr txBox="1"/>
          <p:nvPr/>
        </p:nvSpPr>
        <p:spPr>
          <a:xfrm>
            <a:off x="15690866" y="2700933"/>
            <a:ext cx="1009668"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SEMMA</a:t>
            </a:r>
          </a:p>
        </p:txBody>
      </p:sp>
      <p:sp>
        <p:nvSpPr>
          <p:cNvPr id="107" name="TextBox 106"/>
          <p:cNvSpPr txBox="1"/>
          <p:nvPr/>
        </p:nvSpPr>
        <p:spPr>
          <a:xfrm>
            <a:off x="1076325" y="3461445"/>
            <a:ext cx="3524036"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Comprensión del negocio</a:t>
            </a:r>
          </a:p>
        </p:txBody>
      </p:sp>
      <p:sp>
        <p:nvSpPr>
          <p:cNvPr id="108" name="TextBox 107"/>
          <p:cNvSpPr txBox="1"/>
          <p:nvPr/>
        </p:nvSpPr>
        <p:spPr>
          <a:xfrm>
            <a:off x="11036784" y="336619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09" name="TextBox 108"/>
          <p:cNvSpPr txBox="1"/>
          <p:nvPr/>
        </p:nvSpPr>
        <p:spPr>
          <a:xfrm>
            <a:off x="13525637" y="336619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110" name="TextBox 109"/>
          <p:cNvSpPr txBox="1"/>
          <p:nvPr/>
        </p:nvSpPr>
        <p:spPr>
          <a:xfrm>
            <a:off x="16019401" y="3366195"/>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111" name="TextBox 110"/>
          <p:cNvSpPr txBox="1"/>
          <p:nvPr/>
        </p:nvSpPr>
        <p:spPr>
          <a:xfrm>
            <a:off x="1076325" y="4515743"/>
            <a:ext cx="4532483"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Iteratividad del proceso analítico</a:t>
            </a:r>
          </a:p>
        </p:txBody>
      </p:sp>
      <p:sp>
        <p:nvSpPr>
          <p:cNvPr id="112" name="TextBox 111"/>
          <p:cNvSpPr txBox="1"/>
          <p:nvPr/>
        </p:nvSpPr>
        <p:spPr>
          <a:xfrm>
            <a:off x="11036784" y="442049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13" name="TextBox 112"/>
          <p:cNvSpPr txBox="1"/>
          <p:nvPr/>
        </p:nvSpPr>
        <p:spPr>
          <a:xfrm>
            <a:off x="13525637" y="442049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14" name="TextBox 113"/>
          <p:cNvSpPr txBox="1"/>
          <p:nvPr/>
        </p:nvSpPr>
        <p:spPr>
          <a:xfrm>
            <a:off x="16019401" y="442049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15" name="TextBox 114"/>
          <p:cNvSpPr txBox="1"/>
          <p:nvPr/>
        </p:nvSpPr>
        <p:spPr>
          <a:xfrm>
            <a:off x="1076325" y="5570041"/>
            <a:ext cx="4668625"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Detalle en la preparación de datos</a:t>
            </a:r>
          </a:p>
        </p:txBody>
      </p:sp>
      <p:sp>
        <p:nvSpPr>
          <p:cNvPr id="116" name="TextBox 115"/>
          <p:cNvSpPr txBox="1"/>
          <p:nvPr/>
        </p:nvSpPr>
        <p:spPr>
          <a:xfrm>
            <a:off x="11036784" y="5474791"/>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17" name="TextBox 116"/>
          <p:cNvSpPr txBox="1"/>
          <p:nvPr/>
        </p:nvSpPr>
        <p:spPr>
          <a:xfrm>
            <a:off x="13525637" y="5474791"/>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18" name="TextBox 117"/>
          <p:cNvSpPr txBox="1"/>
          <p:nvPr/>
        </p:nvSpPr>
        <p:spPr>
          <a:xfrm>
            <a:off x="16019401" y="5474791"/>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19" name="TextBox 118"/>
          <p:cNvSpPr txBox="1"/>
          <p:nvPr/>
        </p:nvSpPr>
        <p:spPr>
          <a:xfrm>
            <a:off x="1076325" y="6624340"/>
            <a:ext cx="4730347"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Madurez y adopción en la industria</a:t>
            </a:r>
          </a:p>
        </p:txBody>
      </p:sp>
      <p:sp>
        <p:nvSpPr>
          <p:cNvPr id="120" name="TextBox 119"/>
          <p:cNvSpPr txBox="1"/>
          <p:nvPr/>
        </p:nvSpPr>
        <p:spPr>
          <a:xfrm>
            <a:off x="11036784" y="652909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21" name="TextBox 120"/>
          <p:cNvSpPr txBox="1"/>
          <p:nvPr/>
        </p:nvSpPr>
        <p:spPr>
          <a:xfrm>
            <a:off x="13525637" y="652909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22" name="TextBox 121"/>
          <p:cNvSpPr txBox="1"/>
          <p:nvPr/>
        </p:nvSpPr>
        <p:spPr>
          <a:xfrm>
            <a:off x="16019401" y="6529090"/>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123" name="TextBox 122"/>
          <p:cNvSpPr txBox="1"/>
          <p:nvPr/>
        </p:nvSpPr>
        <p:spPr>
          <a:xfrm>
            <a:off x="1076325" y="7678638"/>
            <a:ext cx="4292185"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Flexibilidad para modelos de IA</a:t>
            </a:r>
          </a:p>
        </p:txBody>
      </p:sp>
      <p:sp>
        <p:nvSpPr>
          <p:cNvPr id="124" name="TextBox 123"/>
          <p:cNvSpPr txBox="1"/>
          <p:nvPr/>
        </p:nvSpPr>
        <p:spPr>
          <a:xfrm>
            <a:off x="11036784" y="758338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25" name="TextBox 124"/>
          <p:cNvSpPr txBox="1"/>
          <p:nvPr/>
        </p:nvSpPr>
        <p:spPr>
          <a:xfrm>
            <a:off x="13525637" y="758338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26" name="TextBox 125"/>
          <p:cNvSpPr txBox="1"/>
          <p:nvPr/>
        </p:nvSpPr>
        <p:spPr>
          <a:xfrm>
            <a:off x="16019401" y="758338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27" name="TextBox 126"/>
          <p:cNvSpPr txBox="1"/>
          <p:nvPr/>
        </p:nvSpPr>
        <p:spPr>
          <a:xfrm>
            <a:off x="1076325" y="8782050"/>
            <a:ext cx="768084"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Total</a:t>
            </a:r>
          </a:p>
        </p:txBody>
      </p:sp>
      <p:sp>
        <p:nvSpPr>
          <p:cNvPr id="128" name="TextBox 127"/>
          <p:cNvSpPr txBox="1"/>
          <p:nvPr/>
        </p:nvSpPr>
        <p:spPr>
          <a:xfrm>
            <a:off x="10908036" y="8686800"/>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23</a:t>
            </a:r>
          </a:p>
        </p:txBody>
      </p:sp>
      <p:sp>
        <p:nvSpPr>
          <p:cNvPr id="129" name="TextBox 128"/>
          <p:cNvSpPr txBox="1"/>
          <p:nvPr/>
        </p:nvSpPr>
        <p:spPr>
          <a:xfrm>
            <a:off x="13396889" y="8686800"/>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14</a:t>
            </a:r>
          </a:p>
        </p:txBody>
      </p:sp>
      <p:sp>
        <p:nvSpPr>
          <p:cNvPr id="130" name="TextBox 129"/>
          <p:cNvSpPr txBox="1"/>
          <p:nvPr/>
        </p:nvSpPr>
        <p:spPr>
          <a:xfrm>
            <a:off x="15890653" y="8686800"/>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14</a:t>
            </a:r>
          </a:p>
        </p:txBody>
      </p:sp>
      <p:sp>
        <p:nvSpPr>
          <p:cNvPr id="131" name="TextBox 130"/>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132" name="TextBox 131"/>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133" name="TextBox 132"/>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02</a:t>
            </a:r>
          </a:p>
        </p:txBody>
      </p:sp>
      <p:sp>
        <p:nvSpPr>
          <p:cNvPr id="134" name="TextBox 133"/>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135" name="TextBox 134"/>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136" name="TextBox 135"/>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137" name="TextBox 136"/>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138" name="TextBox 137"/>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139" name="TextBox 138"/>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65618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467570"/>
            <a:ext cx="16830675" cy="7147917"/>
          </a:xfrm>
          <a:prstGeom prst="rect">
            <a:avLst/>
          </a:prstGeom>
          <a:solidFill>
            <a:srgbClr val="0D2748">
              <a:alpha val="82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7725" y="2586633"/>
            <a:ext cx="912584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7725" y="310098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964043"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973568"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973568"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2452896"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462421" y="2586633"/>
            <a:ext cx="248885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2462421" y="31009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4941748"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4951273" y="2586633"/>
            <a:ext cx="2489002"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951273" y="310098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47725" y="3110508"/>
            <a:ext cx="912584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47725" y="4005858"/>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964043" y="31105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973568" y="311050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973568" y="400585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452896" y="31105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462421" y="311050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462421" y="400585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4941748" y="31105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951273" y="3110508"/>
            <a:ext cx="2489002"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951273" y="4005858"/>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47725" y="4015383"/>
            <a:ext cx="912584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47725" y="491073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964043" y="40153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973568" y="401538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973568" y="491073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452896" y="40153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462421" y="401538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2462421" y="491073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4941748" y="40153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4951273" y="4015383"/>
            <a:ext cx="2489002"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951273" y="491073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47725" y="4920258"/>
            <a:ext cx="912584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47725" y="5815608"/>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964043" y="492025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973568" y="492025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973568" y="581560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452896" y="492025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2462421" y="492025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2462421" y="581560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4941748" y="492025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4951273" y="4920258"/>
            <a:ext cx="2489002"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951273" y="5815608"/>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847725" y="5825133"/>
            <a:ext cx="912584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847725" y="672048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9964043" y="582513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9973568" y="582513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9973568" y="67204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2452896" y="582513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2462421" y="582513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2462421" y="672048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941748" y="582513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14951273" y="5825133"/>
            <a:ext cx="2489002"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4951273" y="672048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47725" y="6730008"/>
            <a:ext cx="912584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847725" y="7625358"/>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9964043" y="67300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9973568" y="673000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9973568" y="762535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12452896" y="67300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12462421" y="6730008"/>
            <a:ext cx="2488853"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12462421" y="7625358"/>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14941748" y="6730008"/>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14951273" y="6730008"/>
            <a:ext cx="2489002" cy="904875"/>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14951273" y="7625358"/>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847725" y="7634883"/>
            <a:ext cx="912584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847725" y="8530233"/>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9964043" y="76348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9973568" y="763488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9973568" y="853023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12452896" y="76348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12462421" y="7634883"/>
            <a:ext cx="2488853"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12462421" y="8530233"/>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14941748" y="7634883"/>
            <a:ext cx="9525" cy="904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Rectangle 83"/>
          <p:cNvSpPr/>
          <p:nvPr/>
        </p:nvSpPr>
        <p:spPr>
          <a:xfrm>
            <a:off x="14951273" y="7634883"/>
            <a:ext cx="2489002" cy="904875"/>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Rectangle 84"/>
          <p:cNvSpPr/>
          <p:nvPr/>
        </p:nvSpPr>
        <p:spPr>
          <a:xfrm>
            <a:off x="14951273" y="8530233"/>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Rectangle 85"/>
          <p:cNvSpPr/>
          <p:nvPr/>
        </p:nvSpPr>
        <p:spPr>
          <a:xfrm>
            <a:off x="847725" y="8539758"/>
            <a:ext cx="9125843" cy="956667"/>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Rectangle 86"/>
          <p:cNvSpPr/>
          <p:nvPr/>
        </p:nvSpPr>
        <p:spPr>
          <a:xfrm>
            <a:off x="847725" y="8539758"/>
            <a:ext cx="912584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ectangle 87"/>
          <p:cNvSpPr/>
          <p:nvPr/>
        </p:nvSpPr>
        <p:spPr>
          <a:xfrm>
            <a:off x="847725" y="9486900"/>
            <a:ext cx="912584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9964043" y="8539758"/>
            <a:ext cx="9525" cy="956667"/>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ectangle 89"/>
          <p:cNvSpPr/>
          <p:nvPr/>
        </p:nvSpPr>
        <p:spPr>
          <a:xfrm>
            <a:off x="9973568" y="8539758"/>
            <a:ext cx="2488853" cy="956667"/>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ectangle 90"/>
          <p:cNvSpPr/>
          <p:nvPr/>
        </p:nvSpPr>
        <p:spPr>
          <a:xfrm>
            <a:off x="9973568" y="8539758"/>
            <a:ext cx="248885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9973568"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ectangle 92"/>
          <p:cNvSpPr/>
          <p:nvPr/>
        </p:nvSpPr>
        <p:spPr>
          <a:xfrm>
            <a:off x="12452896" y="8539758"/>
            <a:ext cx="9525" cy="956667"/>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Rectangle 93"/>
          <p:cNvSpPr/>
          <p:nvPr/>
        </p:nvSpPr>
        <p:spPr>
          <a:xfrm>
            <a:off x="12462421" y="8539758"/>
            <a:ext cx="2488853" cy="956667"/>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Rectangle 94"/>
          <p:cNvSpPr/>
          <p:nvPr/>
        </p:nvSpPr>
        <p:spPr>
          <a:xfrm>
            <a:off x="12462421" y="8539758"/>
            <a:ext cx="2488853"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Rectangle 95"/>
          <p:cNvSpPr/>
          <p:nvPr/>
        </p:nvSpPr>
        <p:spPr>
          <a:xfrm>
            <a:off x="12462421" y="9486900"/>
            <a:ext cx="248885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ectangle 96"/>
          <p:cNvSpPr/>
          <p:nvPr/>
        </p:nvSpPr>
        <p:spPr>
          <a:xfrm>
            <a:off x="14941748" y="8539758"/>
            <a:ext cx="9525" cy="956667"/>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14951273" y="8539758"/>
            <a:ext cx="2489002" cy="956667"/>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ectangle 98"/>
          <p:cNvSpPr/>
          <p:nvPr/>
        </p:nvSpPr>
        <p:spPr>
          <a:xfrm>
            <a:off x="14951273" y="8539758"/>
            <a:ext cx="2489002" cy="381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ectangle 99"/>
          <p:cNvSpPr/>
          <p:nvPr/>
        </p:nvSpPr>
        <p:spPr>
          <a:xfrm>
            <a:off x="14951273" y="9486900"/>
            <a:ext cx="248900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Rectangle 10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ectangle 10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Rectangle 10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ectangle 10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ectangle 105"/>
          <p:cNvSpPr/>
          <p:nvPr/>
        </p:nvSpPr>
        <p:spPr>
          <a:xfrm>
            <a:off x="6741319"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ectangle 106"/>
          <p:cNvSpPr/>
          <p:nvPr/>
        </p:nvSpPr>
        <p:spPr>
          <a:xfrm>
            <a:off x="6746081" y="9944100"/>
            <a:ext cx="23060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ectangle 107"/>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Rectangle 108"/>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Rectangle 109"/>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Rectangle 110"/>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ectangle 111"/>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981075" y="1663750"/>
            <a:ext cx="5094571"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METODOLOGÍA DE GESTIÓN DE PROYECTOS</a:t>
            </a:r>
          </a:p>
        </p:txBody>
      </p:sp>
      <p:sp>
        <p:nvSpPr>
          <p:cNvPr id="114" name="TextBox 113"/>
          <p:cNvSpPr txBox="1"/>
          <p:nvPr/>
        </p:nvSpPr>
        <p:spPr>
          <a:xfrm>
            <a:off x="981075" y="1895177"/>
            <a:ext cx="7871901"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Comparación de metodologías ágiles</a:t>
            </a:r>
          </a:p>
        </p:txBody>
      </p:sp>
      <p:sp>
        <p:nvSpPr>
          <p:cNvPr id="115" name="TextBox 114"/>
          <p:cNvSpPr txBox="1"/>
          <p:nvPr/>
        </p:nvSpPr>
        <p:spPr>
          <a:xfrm>
            <a:off x="1076325" y="2700933"/>
            <a:ext cx="1276326" cy="304800"/>
          </a:xfrm>
          <a:prstGeom prst="rect">
            <a:avLst/>
          </a:prstGeom>
          <a:noFill/>
        </p:spPr>
        <p:txBody>
          <a:bodyPr wrap="none" lIns="0" rIns="0" tIns="0" bIns="0" anchor="t">
            <a:spAutoFit/>
          </a:bodyPr>
          <a:lstStyle/>
          <a:p>
            <a:pPr algn="l">
              <a:lnSpc>
                <a:spcPct val="100000"/>
              </a:lnSpc>
            </a:pPr>
            <a:r>
              <a:rPr sz="1875" b="1" i="0" spc="103">
                <a:solidFill>
                  <a:srgbClr val="F3F7FC"/>
                </a:solidFill>
                <a:latin typeface="Barlow"/>
              </a:rPr>
              <a:t>CRITERIO</a:t>
            </a:r>
          </a:p>
        </p:txBody>
      </p:sp>
      <p:sp>
        <p:nvSpPr>
          <p:cNvPr id="116" name="TextBox 115"/>
          <p:cNvSpPr txBox="1"/>
          <p:nvPr/>
        </p:nvSpPr>
        <p:spPr>
          <a:xfrm>
            <a:off x="10723674" y="2700933"/>
            <a:ext cx="978968"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SCRUM</a:t>
            </a:r>
          </a:p>
        </p:txBody>
      </p:sp>
      <p:sp>
        <p:nvSpPr>
          <p:cNvPr id="117" name="TextBox 116"/>
          <p:cNvSpPr txBox="1"/>
          <p:nvPr/>
        </p:nvSpPr>
        <p:spPr>
          <a:xfrm>
            <a:off x="13112383" y="2700933"/>
            <a:ext cx="1179403"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KANBAN</a:t>
            </a:r>
          </a:p>
        </p:txBody>
      </p:sp>
      <p:sp>
        <p:nvSpPr>
          <p:cNvPr id="118" name="TextBox 117"/>
          <p:cNvSpPr txBox="1"/>
          <p:nvPr/>
        </p:nvSpPr>
        <p:spPr>
          <a:xfrm>
            <a:off x="15976330" y="2700933"/>
            <a:ext cx="438739"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XP</a:t>
            </a:r>
          </a:p>
        </p:txBody>
      </p:sp>
      <p:sp>
        <p:nvSpPr>
          <p:cNvPr id="119" name="TextBox 118"/>
          <p:cNvSpPr txBox="1"/>
          <p:nvPr/>
        </p:nvSpPr>
        <p:spPr>
          <a:xfrm>
            <a:off x="1076325" y="3386733"/>
            <a:ext cx="4559647"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Gestión visual del flujo de trabajo</a:t>
            </a:r>
          </a:p>
        </p:txBody>
      </p:sp>
      <p:sp>
        <p:nvSpPr>
          <p:cNvPr id="120" name="TextBox 119"/>
          <p:cNvSpPr txBox="1"/>
          <p:nvPr/>
        </p:nvSpPr>
        <p:spPr>
          <a:xfrm>
            <a:off x="11036784" y="329148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21" name="TextBox 120"/>
          <p:cNvSpPr txBox="1"/>
          <p:nvPr/>
        </p:nvSpPr>
        <p:spPr>
          <a:xfrm>
            <a:off x="13525637" y="329148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22" name="TextBox 121"/>
          <p:cNvSpPr txBox="1"/>
          <p:nvPr/>
        </p:nvSpPr>
        <p:spPr>
          <a:xfrm>
            <a:off x="16019401" y="329148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23" name="TextBox 122"/>
          <p:cNvSpPr txBox="1"/>
          <p:nvPr/>
        </p:nvSpPr>
        <p:spPr>
          <a:xfrm>
            <a:off x="1076325" y="4291608"/>
            <a:ext cx="4775674"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Flexibilidad ante cambios técnicos</a:t>
            </a:r>
          </a:p>
        </p:txBody>
      </p:sp>
      <p:sp>
        <p:nvSpPr>
          <p:cNvPr id="124" name="TextBox 123"/>
          <p:cNvSpPr txBox="1"/>
          <p:nvPr/>
        </p:nvSpPr>
        <p:spPr>
          <a:xfrm>
            <a:off x="11036784" y="419635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25" name="TextBox 124"/>
          <p:cNvSpPr txBox="1"/>
          <p:nvPr/>
        </p:nvSpPr>
        <p:spPr>
          <a:xfrm>
            <a:off x="13525637" y="419635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26" name="TextBox 125"/>
          <p:cNvSpPr txBox="1"/>
          <p:nvPr/>
        </p:nvSpPr>
        <p:spPr>
          <a:xfrm>
            <a:off x="16019401" y="419635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27" name="TextBox 126"/>
          <p:cNvSpPr txBox="1"/>
          <p:nvPr/>
        </p:nvSpPr>
        <p:spPr>
          <a:xfrm>
            <a:off x="1076325" y="5196483"/>
            <a:ext cx="3319099"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Roles formales mínimos</a:t>
            </a:r>
          </a:p>
        </p:txBody>
      </p:sp>
      <p:sp>
        <p:nvSpPr>
          <p:cNvPr id="128" name="TextBox 127"/>
          <p:cNvSpPr txBox="1"/>
          <p:nvPr/>
        </p:nvSpPr>
        <p:spPr>
          <a:xfrm>
            <a:off x="11036784" y="510123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a:t>
            </a:r>
          </a:p>
        </p:txBody>
      </p:sp>
      <p:sp>
        <p:nvSpPr>
          <p:cNvPr id="129" name="TextBox 128"/>
          <p:cNvSpPr txBox="1"/>
          <p:nvPr/>
        </p:nvSpPr>
        <p:spPr>
          <a:xfrm>
            <a:off x="13525637" y="510123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30" name="TextBox 129"/>
          <p:cNvSpPr txBox="1"/>
          <p:nvPr/>
        </p:nvSpPr>
        <p:spPr>
          <a:xfrm>
            <a:off x="16019401" y="510123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31" name="TextBox 130"/>
          <p:cNvSpPr txBox="1"/>
          <p:nvPr/>
        </p:nvSpPr>
        <p:spPr>
          <a:xfrm>
            <a:off x="1076325" y="6101358"/>
            <a:ext cx="5082195"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Control de codificación e integración</a:t>
            </a:r>
          </a:p>
        </p:txBody>
      </p:sp>
      <p:sp>
        <p:nvSpPr>
          <p:cNvPr id="132" name="TextBox 131"/>
          <p:cNvSpPr txBox="1"/>
          <p:nvPr/>
        </p:nvSpPr>
        <p:spPr>
          <a:xfrm>
            <a:off x="11036784" y="600610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33" name="TextBox 132"/>
          <p:cNvSpPr txBox="1"/>
          <p:nvPr/>
        </p:nvSpPr>
        <p:spPr>
          <a:xfrm>
            <a:off x="13525637" y="600610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34" name="TextBox 133"/>
          <p:cNvSpPr txBox="1"/>
          <p:nvPr/>
        </p:nvSpPr>
        <p:spPr>
          <a:xfrm>
            <a:off x="16019401" y="600610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35" name="TextBox 134"/>
          <p:cNvSpPr txBox="1"/>
          <p:nvPr/>
        </p:nvSpPr>
        <p:spPr>
          <a:xfrm>
            <a:off x="1076325" y="7006233"/>
            <a:ext cx="5586740"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Desarrollo incremental de interfaz y APIs</a:t>
            </a:r>
          </a:p>
        </p:txBody>
      </p:sp>
      <p:sp>
        <p:nvSpPr>
          <p:cNvPr id="136" name="TextBox 135"/>
          <p:cNvSpPr txBox="1"/>
          <p:nvPr/>
        </p:nvSpPr>
        <p:spPr>
          <a:xfrm>
            <a:off x="11036784" y="691098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37" name="TextBox 136"/>
          <p:cNvSpPr txBox="1"/>
          <p:nvPr/>
        </p:nvSpPr>
        <p:spPr>
          <a:xfrm>
            <a:off x="13525637" y="691098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38" name="TextBox 137"/>
          <p:cNvSpPr txBox="1"/>
          <p:nvPr/>
        </p:nvSpPr>
        <p:spPr>
          <a:xfrm>
            <a:off x="16019401" y="6910983"/>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4</a:t>
            </a:r>
          </a:p>
        </p:txBody>
      </p:sp>
      <p:sp>
        <p:nvSpPr>
          <p:cNvPr id="139" name="TextBox 138"/>
          <p:cNvSpPr txBox="1"/>
          <p:nvPr/>
        </p:nvSpPr>
        <p:spPr>
          <a:xfrm>
            <a:off x="1076325" y="7911108"/>
            <a:ext cx="4555307"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Seguimiento continuo sin sprints</a:t>
            </a:r>
          </a:p>
        </p:txBody>
      </p:sp>
      <p:sp>
        <p:nvSpPr>
          <p:cNvPr id="140" name="TextBox 139"/>
          <p:cNvSpPr txBox="1"/>
          <p:nvPr/>
        </p:nvSpPr>
        <p:spPr>
          <a:xfrm>
            <a:off x="11036784" y="781585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41" name="TextBox 140"/>
          <p:cNvSpPr txBox="1"/>
          <p:nvPr/>
        </p:nvSpPr>
        <p:spPr>
          <a:xfrm>
            <a:off x="13525637" y="781585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5</a:t>
            </a:r>
          </a:p>
        </p:txBody>
      </p:sp>
      <p:sp>
        <p:nvSpPr>
          <p:cNvPr id="142" name="TextBox 141"/>
          <p:cNvSpPr txBox="1"/>
          <p:nvPr/>
        </p:nvSpPr>
        <p:spPr>
          <a:xfrm>
            <a:off x="16019401" y="7815858"/>
            <a:ext cx="352746"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a:t>
            </a:r>
          </a:p>
        </p:txBody>
      </p:sp>
      <p:sp>
        <p:nvSpPr>
          <p:cNvPr id="143" name="TextBox 142"/>
          <p:cNvSpPr txBox="1"/>
          <p:nvPr/>
        </p:nvSpPr>
        <p:spPr>
          <a:xfrm>
            <a:off x="1076325" y="8860929"/>
            <a:ext cx="768084" cy="361950"/>
          </a:xfrm>
          <a:prstGeom prst="rect">
            <a:avLst/>
          </a:prstGeom>
          <a:noFill/>
        </p:spPr>
        <p:txBody>
          <a:bodyPr wrap="none" lIns="0" rIns="0" tIns="0" bIns="0" anchor="t">
            <a:spAutoFit/>
          </a:bodyPr>
          <a:lstStyle/>
          <a:p>
            <a:pPr algn="l">
              <a:lnSpc>
                <a:spcPct val="100000"/>
              </a:lnSpc>
            </a:pPr>
            <a:r>
              <a:rPr sz="2250" b="1" i="0">
                <a:solidFill>
                  <a:srgbClr val="F3F7FC"/>
                </a:solidFill>
                <a:latin typeface="Barlow"/>
              </a:rPr>
              <a:t>Total</a:t>
            </a:r>
          </a:p>
        </p:txBody>
      </p:sp>
      <p:sp>
        <p:nvSpPr>
          <p:cNvPr id="144" name="TextBox 143"/>
          <p:cNvSpPr txBox="1"/>
          <p:nvPr/>
        </p:nvSpPr>
        <p:spPr>
          <a:xfrm>
            <a:off x="10908036" y="8765679"/>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21</a:t>
            </a:r>
          </a:p>
        </p:txBody>
      </p:sp>
      <p:sp>
        <p:nvSpPr>
          <p:cNvPr id="145" name="TextBox 144"/>
          <p:cNvSpPr txBox="1"/>
          <p:nvPr/>
        </p:nvSpPr>
        <p:spPr>
          <a:xfrm>
            <a:off x="13396889" y="8765679"/>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30</a:t>
            </a:r>
          </a:p>
        </p:txBody>
      </p:sp>
      <p:sp>
        <p:nvSpPr>
          <p:cNvPr id="146" name="TextBox 145"/>
          <p:cNvSpPr txBox="1"/>
          <p:nvPr/>
        </p:nvSpPr>
        <p:spPr>
          <a:xfrm>
            <a:off x="15890653" y="8765679"/>
            <a:ext cx="610243" cy="542925"/>
          </a:xfrm>
          <a:prstGeom prst="rect">
            <a:avLst/>
          </a:prstGeom>
          <a:noFill/>
        </p:spPr>
        <p:txBody>
          <a:bodyPr wrap="none" lIns="0" rIns="0" tIns="0" bIns="0" anchor="t">
            <a:spAutoFit/>
          </a:bodyPr>
          <a:lstStyle/>
          <a:p>
            <a:pPr algn="ctr">
              <a:lnSpc>
                <a:spcPct val="83300"/>
              </a:lnSpc>
            </a:pPr>
            <a:r>
              <a:rPr sz="3450" b="1" i="0">
                <a:solidFill>
                  <a:srgbClr val="FFD21F"/>
                </a:solidFill>
                <a:latin typeface="Barlow"/>
              </a:rPr>
              <a:t>21</a:t>
            </a:r>
          </a:p>
        </p:txBody>
      </p:sp>
      <p:sp>
        <p:nvSpPr>
          <p:cNvPr id="147" name="TextBox 146"/>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148" name="TextBox 147"/>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149" name="TextBox 148"/>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150" name="TextBox 149"/>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03</a:t>
            </a:r>
          </a:p>
        </p:txBody>
      </p:sp>
      <p:sp>
        <p:nvSpPr>
          <p:cNvPr id="151" name="TextBox 150"/>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152" name="TextBox 151"/>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153" name="TextBox 152"/>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154" name="TextBox 153"/>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155" name="TextBox 154"/>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65618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467570"/>
            <a:ext cx="16830675" cy="7147917"/>
          </a:xfrm>
          <a:prstGeom prst="rect">
            <a:avLst/>
          </a:prstGeom>
          <a:solidFill>
            <a:srgbClr val="0D2748">
              <a:alpha val="82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47725" y="2586633"/>
            <a:ext cx="4313932"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47725" y="3100983"/>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152132"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161657" y="2586633"/>
            <a:ext cx="7300615"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161657" y="3100983"/>
            <a:ext cx="730061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2452747" y="2586633"/>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2462272" y="2586633"/>
            <a:ext cx="4978003" cy="5238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2462272" y="3100983"/>
            <a:ext cx="497800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47725" y="3110508"/>
            <a:ext cx="4313932" cy="242902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47725" y="5530007"/>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2132" y="3110508"/>
            <a:ext cx="9525" cy="242902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161657" y="3110508"/>
            <a:ext cx="7300615" cy="242902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161657" y="5530007"/>
            <a:ext cx="730061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452747" y="3110508"/>
            <a:ext cx="9525" cy="242902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462272" y="3110508"/>
            <a:ext cx="4978003" cy="242902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462272" y="5530007"/>
            <a:ext cx="497800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47725" y="5539532"/>
            <a:ext cx="4313932" cy="242902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47725" y="7959030"/>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152132" y="5539532"/>
            <a:ext cx="9525" cy="242902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161657" y="5539532"/>
            <a:ext cx="7300615" cy="242902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161657" y="7959030"/>
            <a:ext cx="730061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452747" y="5539532"/>
            <a:ext cx="9525" cy="242902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462272" y="5539532"/>
            <a:ext cx="4978003" cy="242902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462272" y="7959030"/>
            <a:ext cx="497800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47725" y="7968555"/>
            <a:ext cx="4313932" cy="1527870"/>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47725" y="9486900"/>
            <a:ext cx="4313932"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152132" y="7968555"/>
            <a:ext cx="9525" cy="152787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161657" y="7968555"/>
            <a:ext cx="7300615" cy="1527870"/>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161657" y="9486900"/>
            <a:ext cx="7300615"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2452747" y="7968555"/>
            <a:ext cx="9525" cy="152787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2462272" y="7968555"/>
            <a:ext cx="4978003" cy="1527870"/>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462272" y="9486900"/>
            <a:ext cx="4978003"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557022"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561784" y="9944100"/>
            <a:ext cx="23060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981075" y="1663750"/>
            <a:ext cx="765040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IDENTIFICACIÓN DE LOS ACTORES DEL PROCESO DE VALIDACIÓN</a:t>
            </a:r>
          </a:p>
        </p:txBody>
      </p:sp>
      <p:sp>
        <p:nvSpPr>
          <p:cNvPr id="55" name="TextBox 54"/>
          <p:cNvSpPr txBox="1"/>
          <p:nvPr/>
        </p:nvSpPr>
        <p:spPr>
          <a:xfrm>
            <a:off x="981075" y="1895177"/>
            <a:ext cx="7155507"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Actores del proceso de validación</a:t>
            </a:r>
          </a:p>
        </p:txBody>
      </p:sp>
      <p:sp>
        <p:nvSpPr>
          <p:cNvPr id="56" name="TextBox 55"/>
          <p:cNvSpPr txBox="1"/>
          <p:nvPr/>
        </p:nvSpPr>
        <p:spPr>
          <a:xfrm>
            <a:off x="1076325" y="2700933"/>
            <a:ext cx="948428" cy="304800"/>
          </a:xfrm>
          <a:prstGeom prst="rect">
            <a:avLst/>
          </a:prstGeom>
          <a:noFill/>
        </p:spPr>
        <p:txBody>
          <a:bodyPr wrap="none" lIns="0" rIns="0" tIns="0" bIns="0" anchor="t">
            <a:spAutoFit/>
          </a:bodyPr>
          <a:lstStyle/>
          <a:p>
            <a:pPr algn="l">
              <a:lnSpc>
                <a:spcPct val="100000"/>
              </a:lnSpc>
            </a:pPr>
            <a:r>
              <a:rPr sz="1875" b="1" i="0" spc="103">
                <a:solidFill>
                  <a:srgbClr val="F3F7FC"/>
                </a:solidFill>
                <a:latin typeface="Barlow"/>
              </a:rPr>
              <a:t>ACTOR</a:t>
            </a:r>
          </a:p>
        </p:txBody>
      </p:sp>
      <p:sp>
        <p:nvSpPr>
          <p:cNvPr id="57" name="TextBox 56"/>
          <p:cNvSpPr txBox="1"/>
          <p:nvPr/>
        </p:nvSpPr>
        <p:spPr>
          <a:xfrm>
            <a:off x="7481262" y="2700933"/>
            <a:ext cx="2651730"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FUNCIÓN PRINCIPAL</a:t>
            </a:r>
          </a:p>
        </p:txBody>
      </p:sp>
      <p:sp>
        <p:nvSpPr>
          <p:cNvPr id="58" name="TextBox 57"/>
          <p:cNvSpPr txBox="1"/>
          <p:nvPr/>
        </p:nvSpPr>
        <p:spPr>
          <a:xfrm>
            <a:off x="13423773" y="2700933"/>
            <a:ext cx="3054852" cy="304800"/>
          </a:xfrm>
          <a:prstGeom prst="rect">
            <a:avLst/>
          </a:prstGeom>
          <a:noFill/>
        </p:spPr>
        <p:txBody>
          <a:bodyPr wrap="none" lIns="0" rIns="0" tIns="0" bIns="0" anchor="t">
            <a:spAutoFit/>
          </a:bodyPr>
          <a:lstStyle/>
          <a:p>
            <a:pPr algn="ctr">
              <a:lnSpc>
                <a:spcPct val="100000"/>
              </a:lnSpc>
            </a:pPr>
            <a:r>
              <a:rPr sz="1875" b="1" i="0" spc="103">
                <a:solidFill>
                  <a:srgbClr val="F3F7FC"/>
                </a:solidFill>
                <a:latin typeface="Barlow"/>
              </a:rPr>
              <a:t>RESULTADO GENERADO</a:t>
            </a:r>
          </a:p>
        </p:txBody>
      </p:sp>
      <p:sp>
        <p:nvSpPr>
          <p:cNvPr id="59" name="TextBox 58"/>
          <p:cNvSpPr txBox="1"/>
          <p:nvPr/>
        </p:nvSpPr>
        <p:spPr>
          <a:xfrm>
            <a:off x="1076325" y="4148733"/>
            <a:ext cx="3389983"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Equipo de Web Scraping</a:t>
            </a:r>
          </a:p>
        </p:txBody>
      </p:sp>
      <p:sp>
        <p:nvSpPr>
          <p:cNvPr id="60" name="TextBox 59"/>
          <p:cNvSpPr txBox="1"/>
          <p:nvPr/>
        </p:nvSpPr>
        <p:spPr>
          <a:xfrm>
            <a:off x="5390257" y="3977283"/>
            <a:ext cx="6852940" cy="704850"/>
          </a:xfrm>
          <a:prstGeom prst="rect">
            <a:avLst/>
          </a:prstGeom>
          <a:noFill/>
        </p:spPr>
        <p:txBody>
          <a:bodyPr wrap="square" lIns="0" rIns="0" tIns="0" bIns="0" anchor="t">
            <a:spAutoFit/>
          </a:bodyPr>
          <a:lstStyle/>
          <a:p>
            <a:pPr algn="l">
              <a:lnSpc>
                <a:spcPct val="100000"/>
              </a:lnSpc>
            </a:pPr>
            <a:r>
              <a:rPr sz="2250" b="0" i="0">
                <a:solidFill>
                  <a:srgbClr val="F3F7FC"/>
                </a:solidFill>
                <a:latin typeface="Barlow"/>
              </a:rPr>
              <a:t>Extrae datos de productos desde retailers internacionales.</a:t>
            </a:r>
          </a:p>
        </p:txBody>
      </p:sp>
      <p:sp>
        <p:nvSpPr>
          <p:cNvPr id="61" name="TextBox 60"/>
          <p:cNvSpPr txBox="1"/>
          <p:nvPr/>
        </p:nvSpPr>
        <p:spPr>
          <a:xfrm>
            <a:off x="12690872" y="4148733"/>
            <a:ext cx="3419719"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Registros estructurados.</a:t>
            </a:r>
          </a:p>
        </p:txBody>
      </p:sp>
      <p:sp>
        <p:nvSpPr>
          <p:cNvPr id="62" name="TextBox 61"/>
          <p:cNvSpPr txBox="1"/>
          <p:nvPr/>
        </p:nvSpPr>
        <p:spPr>
          <a:xfrm>
            <a:off x="1076325" y="6406307"/>
            <a:ext cx="3866257" cy="704850"/>
          </a:xfrm>
          <a:prstGeom prst="rect">
            <a:avLst/>
          </a:prstGeom>
          <a:noFill/>
        </p:spPr>
        <p:txBody>
          <a:bodyPr wrap="square" lIns="0" rIns="0" tIns="0" bIns="0" anchor="t">
            <a:spAutoFit/>
          </a:bodyPr>
          <a:lstStyle/>
          <a:p>
            <a:pPr algn="l">
              <a:lnSpc>
                <a:spcPct val="100000"/>
              </a:lnSpc>
            </a:pPr>
            <a:r>
              <a:rPr sz="2250" b="1" i="0">
                <a:solidFill>
                  <a:srgbClr val="FFD21F"/>
                </a:solidFill>
                <a:latin typeface="Barlow"/>
              </a:rPr>
              <a:t>Analistas de Product Matching</a:t>
            </a:r>
          </a:p>
        </p:txBody>
      </p:sp>
      <p:sp>
        <p:nvSpPr>
          <p:cNvPr id="63" name="TextBox 62"/>
          <p:cNvSpPr txBox="1"/>
          <p:nvPr/>
        </p:nvSpPr>
        <p:spPr>
          <a:xfrm>
            <a:off x="5390257" y="6406307"/>
            <a:ext cx="6852940" cy="704850"/>
          </a:xfrm>
          <a:prstGeom prst="rect">
            <a:avLst/>
          </a:prstGeom>
          <a:noFill/>
        </p:spPr>
        <p:txBody>
          <a:bodyPr wrap="square" lIns="0" rIns="0" tIns="0" bIns="0" anchor="t">
            <a:spAutoFit/>
          </a:bodyPr>
          <a:lstStyle/>
          <a:p>
            <a:pPr algn="l">
              <a:lnSpc>
                <a:spcPct val="100000"/>
              </a:lnSpc>
            </a:pPr>
            <a:r>
              <a:rPr sz="2250" b="0" i="0">
                <a:solidFill>
                  <a:srgbClr val="F3F7FC"/>
                </a:solidFill>
                <a:latin typeface="Barlow"/>
              </a:rPr>
              <a:t>Validan a mano la correspondencia contra el catálogo oficial.</a:t>
            </a:r>
          </a:p>
        </p:txBody>
      </p:sp>
      <p:sp>
        <p:nvSpPr>
          <p:cNvPr id="64" name="TextBox 63"/>
          <p:cNvSpPr txBox="1"/>
          <p:nvPr/>
        </p:nvSpPr>
        <p:spPr>
          <a:xfrm>
            <a:off x="12690872" y="6406307"/>
            <a:ext cx="4539853" cy="704850"/>
          </a:xfrm>
          <a:prstGeom prst="rect">
            <a:avLst/>
          </a:prstGeom>
          <a:noFill/>
        </p:spPr>
        <p:txBody>
          <a:bodyPr wrap="square" lIns="0" rIns="0" tIns="0" bIns="0" anchor="t">
            <a:spAutoFit/>
          </a:bodyPr>
          <a:lstStyle/>
          <a:p>
            <a:pPr algn="l">
              <a:lnSpc>
                <a:spcPct val="100000"/>
              </a:lnSpc>
            </a:pPr>
            <a:r>
              <a:rPr sz="2250" b="0" i="0">
                <a:solidFill>
                  <a:srgbClr val="F3F7FC"/>
                </a:solidFill>
                <a:latin typeface="Barlow"/>
              </a:rPr>
              <a:t>Clasificación operativa: Match, NIC, Hidden, Delete.</a:t>
            </a:r>
          </a:p>
        </p:txBody>
      </p:sp>
      <p:sp>
        <p:nvSpPr>
          <p:cNvPr id="65" name="TextBox 64"/>
          <p:cNvSpPr txBox="1"/>
          <p:nvPr/>
        </p:nvSpPr>
        <p:spPr>
          <a:xfrm>
            <a:off x="1076325" y="8556278"/>
            <a:ext cx="3218158"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Quality Assurance (QA)</a:t>
            </a:r>
          </a:p>
        </p:txBody>
      </p:sp>
      <p:sp>
        <p:nvSpPr>
          <p:cNvPr id="66" name="TextBox 65"/>
          <p:cNvSpPr txBox="1"/>
          <p:nvPr/>
        </p:nvSpPr>
        <p:spPr>
          <a:xfrm>
            <a:off x="5390257" y="8556278"/>
            <a:ext cx="6603546"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Supervisa la calidad de las decisiones del equipo.</a:t>
            </a:r>
          </a:p>
        </p:txBody>
      </p:sp>
      <p:sp>
        <p:nvSpPr>
          <p:cNvPr id="67" name="TextBox 66"/>
          <p:cNvSpPr txBox="1"/>
          <p:nvPr/>
        </p:nvSpPr>
        <p:spPr>
          <a:xfrm>
            <a:off x="12690872" y="8556278"/>
            <a:ext cx="3903208" cy="361950"/>
          </a:xfrm>
          <a:prstGeom prst="rect">
            <a:avLst/>
          </a:prstGeom>
          <a:noFill/>
        </p:spPr>
        <p:txBody>
          <a:bodyPr wrap="none" lIns="0" rIns="0" tIns="0" bIns="0" anchor="t">
            <a:spAutoFit/>
          </a:bodyPr>
          <a:lstStyle/>
          <a:p>
            <a:pPr algn="l">
              <a:lnSpc>
                <a:spcPct val="100000"/>
              </a:lnSpc>
            </a:pPr>
            <a:r>
              <a:rPr sz="2250" b="0" i="0">
                <a:solidFill>
                  <a:srgbClr val="F3F7FC"/>
                </a:solidFill>
                <a:latin typeface="Barlow"/>
              </a:rPr>
              <a:t>Validación final y corrección.</a:t>
            </a:r>
          </a:p>
        </p:txBody>
      </p:sp>
      <p:sp>
        <p:nvSpPr>
          <p:cNvPr id="68" name="TextBox 67"/>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69" name="TextBox 68"/>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70" name="TextBox 69"/>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71" name="TextBox 70"/>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72" name="TextBox 71"/>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04</a:t>
            </a:r>
          </a:p>
        </p:txBody>
      </p:sp>
      <p:sp>
        <p:nvSpPr>
          <p:cNvPr id="73" name="TextBox 72"/>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74" name="TextBox 73"/>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75" name="TextBox 74"/>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76" name="TextBox 75"/>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39618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207568"/>
            <a:ext cx="16830675" cy="7407920"/>
          </a:xfrm>
          <a:prstGeom prst="rect">
            <a:avLst/>
          </a:prstGeom>
          <a:solidFill>
            <a:srgbClr val="0D2748"/>
          </a:solidFill>
          <a:ln w="9525">
            <a:solidFill>
              <a:srgbClr val="6D8FB2">
                <a:alpha val="7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443412" y="2420541"/>
            <a:ext cx="9401175" cy="6981825"/>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ob_1_7de2b1a790.png"/>
          <p:cNvPicPr>
            <a:picLocks noChangeAspect="1"/>
          </p:cNvPicPr>
          <p:nvPr/>
        </p:nvPicPr>
        <p:blipFill>
          <a:blip r:embed="rId4"/>
          <a:stretch>
            <a:fillRect/>
          </a:stretch>
        </p:blipFill>
        <p:spPr>
          <a:xfrm>
            <a:off x="4633912" y="2553891"/>
            <a:ext cx="9020175" cy="6715125"/>
          </a:xfrm>
          <a:prstGeom prst="rect">
            <a:avLst/>
          </a:prstGeom>
        </p:spPr>
      </p:pic>
      <p:sp>
        <p:nvSpPr>
          <p:cNvPr id="11" name="Rectangle 1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56178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372725"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0377488" y="9944100"/>
            <a:ext cx="2594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Decoracion" descr="s39_deco_00.png"/>
          <p:cNvPicPr>
            <a:picLocks noChangeAspect="1"/>
          </p:cNvPicPr>
          <p:nvPr/>
        </p:nvPicPr>
        <p:blipFill>
          <a:blip r:embed="rId5"/>
          <a:stretch>
            <a:fillRect/>
          </a:stretch>
        </p:blipFill>
        <p:spPr>
          <a:xfrm>
            <a:off x="828675" y="2314575"/>
            <a:ext cx="704850" cy="704850"/>
          </a:xfrm>
          <a:prstGeom prst="rect">
            <a:avLst/>
          </a:prstGeom>
        </p:spPr>
      </p:pic>
      <p:pic>
        <p:nvPicPr>
          <p:cNvPr id="26" name="Decoracion" descr="s39_deco_01.png"/>
          <p:cNvPicPr>
            <a:picLocks noChangeAspect="1"/>
          </p:cNvPicPr>
          <p:nvPr/>
        </p:nvPicPr>
        <p:blipFill>
          <a:blip r:embed="rId6"/>
          <a:stretch>
            <a:fillRect/>
          </a:stretch>
        </p:blipFill>
        <p:spPr>
          <a:xfrm>
            <a:off x="16754475" y="8810625"/>
            <a:ext cx="704850" cy="704850"/>
          </a:xfrm>
          <a:prstGeom prst="rect">
            <a:avLst/>
          </a:prstGeom>
        </p:spPr>
      </p:pic>
      <p:sp>
        <p:nvSpPr>
          <p:cNvPr id="27" name="TextBox 26"/>
          <p:cNvSpPr txBox="1"/>
          <p:nvPr/>
        </p:nvSpPr>
        <p:spPr>
          <a:xfrm>
            <a:off x="981075" y="1635175"/>
            <a:ext cx="14422148"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Diagrama de flujo lógico para la clasificación operativa de productos</a:t>
            </a:r>
          </a:p>
        </p:txBody>
      </p:sp>
      <p:sp>
        <p:nvSpPr>
          <p:cNvPr id="28" name="TextBox 27"/>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29" name="TextBox 28"/>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30" name="TextBox 29"/>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31" name="TextBox 30"/>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32" name="TextBox 31"/>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33" name="TextBox 32"/>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05</a:t>
            </a:r>
          </a:p>
        </p:txBody>
      </p:sp>
      <p:sp>
        <p:nvSpPr>
          <p:cNvPr id="34" name="TextBox 33"/>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35" name="TextBox 34"/>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36" name="TextBox 35"/>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39618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207568"/>
            <a:ext cx="16830675" cy="7407920"/>
          </a:xfrm>
          <a:prstGeom prst="rect">
            <a:avLst/>
          </a:prstGeom>
          <a:solidFill>
            <a:srgbClr val="0D2748"/>
          </a:solidFill>
          <a:ln w="9525">
            <a:solidFill>
              <a:srgbClr val="6D8FB2">
                <a:alpha val="7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509070" y="2326630"/>
            <a:ext cx="11269861" cy="7169795"/>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ob_2.png"/>
          <p:cNvPicPr>
            <a:picLocks noChangeAspect="1"/>
          </p:cNvPicPr>
          <p:nvPr/>
        </p:nvPicPr>
        <p:blipFill>
          <a:blip r:embed="rId4"/>
          <a:stretch>
            <a:fillRect/>
          </a:stretch>
        </p:blipFill>
        <p:spPr>
          <a:xfrm>
            <a:off x="3699570" y="2459980"/>
            <a:ext cx="10888861" cy="6903095"/>
          </a:xfrm>
          <a:prstGeom prst="rect">
            <a:avLst/>
          </a:prstGeom>
        </p:spPr>
      </p:pic>
      <p:sp>
        <p:nvSpPr>
          <p:cNvPr id="11" name="Rectangle 1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56178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037748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188428"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193191" y="9944100"/>
            <a:ext cx="2594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Decoracion" descr="s39_deco_00.png"/>
          <p:cNvPicPr>
            <a:picLocks noChangeAspect="1"/>
          </p:cNvPicPr>
          <p:nvPr/>
        </p:nvPicPr>
        <p:blipFill>
          <a:blip r:embed="rId5"/>
          <a:stretch>
            <a:fillRect/>
          </a:stretch>
        </p:blipFill>
        <p:spPr>
          <a:xfrm>
            <a:off x="828675" y="2314575"/>
            <a:ext cx="704850" cy="704850"/>
          </a:xfrm>
          <a:prstGeom prst="rect">
            <a:avLst/>
          </a:prstGeom>
        </p:spPr>
      </p:pic>
      <p:pic>
        <p:nvPicPr>
          <p:cNvPr id="27" name="Decoracion" descr="s39_deco_01.png"/>
          <p:cNvPicPr>
            <a:picLocks noChangeAspect="1"/>
          </p:cNvPicPr>
          <p:nvPr/>
        </p:nvPicPr>
        <p:blipFill>
          <a:blip r:embed="rId6"/>
          <a:stretch>
            <a:fillRect/>
          </a:stretch>
        </p:blipFill>
        <p:spPr>
          <a:xfrm>
            <a:off x="16754475" y="8810625"/>
            <a:ext cx="704850" cy="704850"/>
          </a:xfrm>
          <a:prstGeom prst="rect">
            <a:avLst/>
          </a:prstGeom>
        </p:spPr>
      </p:pic>
      <p:sp>
        <p:nvSpPr>
          <p:cNvPr id="28" name="TextBox 27"/>
          <p:cNvSpPr txBox="1"/>
          <p:nvPr/>
        </p:nvSpPr>
        <p:spPr>
          <a:xfrm>
            <a:off x="981075" y="1635175"/>
            <a:ext cx="14222998"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Representación del proceso actual mediante diagrama BPMN AS-IS</a:t>
            </a:r>
          </a:p>
        </p:txBody>
      </p:sp>
      <p:sp>
        <p:nvSpPr>
          <p:cNvPr id="29" name="TextBox 28"/>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30" name="TextBox 29"/>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31" name="TextBox 30"/>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32" name="TextBox 31"/>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33" name="TextBox 32"/>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34" name="TextBox 33"/>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35" name="TextBox 34"/>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06</a:t>
            </a:r>
          </a:p>
        </p:txBody>
      </p:sp>
      <p:sp>
        <p:nvSpPr>
          <p:cNvPr id="36" name="TextBox 35"/>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37" name="TextBox 36"/>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39618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207568"/>
            <a:ext cx="16830675" cy="7407920"/>
          </a:xfrm>
          <a:prstGeom prst="rect">
            <a:avLst/>
          </a:prstGeom>
          <a:solidFill>
            <a:srgbClr val="0D2748"/>
          </a:solidFill>
          <a:ln w="9525">
            <a:solidFill>
              <a:srgbClr val="6D8FB2">
                <a:alpha val="7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219450" y="2449116"/>
            <a:ext cx="11849100" cy="6924675"/>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ob_3.png"/>
          <p:cNvPicPr>
            <a:picLocks noChangeAspect="1"/>
          </p:cNvPicPr>
          <p:nvPr/>
        </p:nvPicPr>
        <p:blipFill>
          <a:blip r:embed="rId4"/>
          <a:stretch>
            <a:fillRect/>
          </a:stretch>
        </p:blipFill>
        <p:spPr>
          <a:xfrm>
            <a:off x="3409950" y="2582466"/>
            <a:ext cx="11468100" cy="6657975"/>
          </a:xfrm>
          <a:prstGeom prst="rect">
            <a:avLst/>
          </a:prstGeom>
        </p:spPr>
      </p:pic>
      <p:sp>
        <p:nvSpPr>
          <p:cNvPr id="11" name="Rectangle 1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56178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037748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19319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004131"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4008894" y="9944100"/>
            <a:ext cx="2594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5819834"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Decoracion" descr="s39_deco_00.png"/>
          <p:cNvPicPr>
            <a:picLocks noChangeAspect="1"/>
          </p:cNvPicPr>
          <p:nvPr/>
        </p:nvPicPr>
        <p:blipFill>
          <a:blip r:embed="rId5"/>
          <a:stretch>
            <a:fillRect/>
          </a:stretch>
        </p:blipFill>
        <p:spPr>
          <a:xfrm>
            <a:off x="828675" y="2314575"/>
            <a:ext cx="704850" cy="704850"/>
          </a:xfrm>
          <a:prstGeom prst="rect">
            <a:avLst/>
          </a:prstGeom>
        </p:spPr>
      </p:pic>
      <p:pic>
        <p:nvPicPr>
          <p:cNvPr id="28" name="Decoracion" descr="s39_deco_01.png"/>
          <p:cNvPicPr>
            <a:picLocks noChangeAspect="1"/>
          </p:cNvPicPr>
          <p:nvPr/>
        </p:nvPicPr>
        <p:blipFill>
          <a:blip r:embed="rId6"/>
          <a:stretch>
            <a:fillRect/>
          </a:stretch>
        </p:blipFill>
        <p:spPr>
          <a:xfrm>
            <a:off x="16754475" y="8810625"/>
            <a:ext cx="704850" cy="704850"/>
          </a:xfrm>
          <a:prstGeom prst="rect">
            <a:avLst/>
          </a:prstGeom>
        </p:spPr>
      </p:pic>
      <p:sp>
        <p:nvSpPr>
          <p:cNvPr id="29" name="TextBox 28"/>
          <p:cNvSpPr txBox="1"/>
          <p:nvPr/>
        </p:nvSpPr>
        <p:spPr>
          <a:xfrm>
            <a:off x="981075" y="1635175"/>
            <a:ext cx="13856041"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Representación del proceso propuesto mediante diagrama BPMN</a:t>
            </a:r>
          </a:p>
        </p:txBody>
      </p:sp>
      <p:sp>
        <p:nvSpPr>
          <p:cNvPr id="30" name="TextBox 29"/>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31" name="TextBox 30"/>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32" name="TextBox 31"/>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33" name="TextBox 32"/>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34" name="TextBox 33"/>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35" name="TextBox 34"/>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36" name="TextBox 35"/>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37" name="TextBox 36"/>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07</a:t>
            </a:r>
          </a:p>
        </p:txBody>
      </p:sp>
      <p:sp>
        <p:nvSpPr>
          <p:cNvPr id="38" name="TextBox 37"/>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39618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207568"/>
            <a:ext cx="16830675" cy="3824585"/>
          </a:xfrm>
          <a:prstGeom prst="rect">
            <a:avLst/>
          </a:prstGeom>
          <a:solidFill>
            <a:srgbClr val="0D2748">
              <a:alpha val="76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8675" y="2644229"/>
            <a:ext cx="2494508" cy="65276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828675" y="3287464"/>
            <a:ext cx="2494508"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13658" y="2644229"/>
            <a:ext cx="9525" cy="65276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3323183" y="2644229"/>
            <a:ext cx="9978330" cy="65276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323183" y="3287464"/>
            <a:ext cx="997833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3291989" y="2644229"/>
            <a:ext cx="9525" cy="65276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3301514" y="2644229"/>
            <a:ext cx="4157811" cy="65276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3301514" y="3287464"/>
            <a:ext cx="415781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8675" y="3296989"/>
            <a:ext cx="2494508"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28675" y="4165848"/>
            <a:ext cx="2494508"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313658" y="3296989"/>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323183" y="3296989"/>
            <a:ext cx="9978330"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323183" y="4165848"/>
            <a:ext cx="997833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3291989" y="3296989"/>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3301514" y="3296989"/>
            <a:ext cx="4157811"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3301514" y="4165848"/>
            <a:ext cx="415781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8675" y="4175373"/>
            <a:ext cx="2494508" cy="87838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28675" y="5044232"/>
            <a:ext cx="2494508"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313658" y="4175373"/>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323183" y="4175373"/>
            <a:ext cx="9978330" cy="87838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323183" y="5044232"/>
            <a:ext cx="997833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3291989" y="4175373"/>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3301514" y="4175373"/>
            <a:ext cx="4157811" cy="878384"/>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3301514" y="5044232"/>
            <a:ext cx="415781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28675" y="5053757"/>
            <a:ext cx="2494508"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28675" y="5922615"/>
            <a:ext cx="2494508"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313658" y="5053757"/>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323183" y="5053757"/>
            <a:ext cx="9978330"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323183" y="5922615"/>
            <a:ext cx="997833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3291989" y="5053757"/>
            <a:ext cx="9525" cy="878384"/>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3301514" y="5053757"/>
            <a:ext cx="4157811" cy="878384"/>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3301514" y="5922615"/>
            <a:ext cx="415781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28662" y="6155978"/>
            <a:ext cx="16830675" cy="3459361"/>
          </a:xfrm>
          <a:prstGeom prst="rect">
            <a:avLst/>
          </a:prstGeom>
          <a:solidFill>
            <a:srgbClr val="0D2748">
              <a:alpha val="76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28675" y="6592639"/>
            <a:ext cx="10310961" cy="416868"/>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28675" y="6999982"/>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1130111" y="6592639"/>
            <a:ext cx="9525" cy="41686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1139636" y="6592639"/>
            <a:ext cx="6319689" cy="416868"/>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1139636" y="6999982"/>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828675" y="7009507"/>
            <a:ext cx="10310961" cy="62641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828675" y="7626400"/>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1130111" y="7009507"/>
            <a:ext cx="9525" cy="62641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1139636" y="7009507"/>
            <a:ext cx="6319689" cy="62641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139636" y="7626400"/>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828675" y="7635925"/>
            <a:ext cx="10310961" cy="62641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828675" y="8252817"/>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11130111" y="7635925"/>
            <a:ext cx="9525" cy="62641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1139636" y="7635925"/>
            <a:ext cx="6319689" cy="626418"/>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1139636" y="8252817"/>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828675" y="8262342"/>
            <a:ext cx="10310961" cy="62641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828675" y="8879235"/>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1130111" y="8262342"/>
            <a:ext cx="9525" cy="626418"/>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1139636" y="8262342"/>
            <a:ext cx="6319689" cy="626418"/>
          </a:xfrm>
          <a:prstGeom prst="rect">
            <a:avLst/>
          </a:prstGeom>
          <a:solidFill>
            <a:srgbClr val="0D2748">
              <a:alpha val="4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1139636" y="8879235"/>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828675" y="8888760"/>
            <a:ext cx="10310961" cy="626566"/>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828675" y="9505801"/>
            <a:ext cx="10310961"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11130111" y="8888760"/>
            <a:ext cx="9525" cy="626566"/>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Rectangle 64"/>
          <p:cNvSpPr/>
          <p:nvPr/>
        </p:nvSpPr>
        <p:spPr>
          <a:xfrm>
            <a:off x="11139636" y="8888760"/>
            <a:ext cx="6319689" cy="626566"/>
          </a:xfrm>
          <a:prstGeom prst="rect">
            <a:avLst/>
          </a:prstGeom>
          <a:solidFill>
            <a:srgbClr val="07172D">
              <a:alpha val="5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11139636" y="9505801"/>
            <a:ext cx="6319689"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Rectangle 6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Rectangle 67"/>
          <p:cNvSpPr/>
          <p:nvPr/>
        </p:nvSpPr>
        <p:spPr>
          <a:xfrm>
            <a:off x="310991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3114675"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Rectangle 69"/>
          <p:cNvSpPr/>
          <p:nvPr/>
        </p:nvSpPr>
        <p:spPr>
          <a:xfrm>
            <a:off x="4925616"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493037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6741319"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ectangle 72"/>
          <p:cNvSpPr/>
          <p:nvPr/>
        </p:nvSpPr>
        <p:spPr>
          <a:xfrm>
            <a:off x="674608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Rectangle 73"/>
          <p:cNvSpPr/>
          <p:nvPr/>
        </p:nvSpPr>
        <p:spPr>
          <a:xfrm>
            <a:off x="8557022"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856178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ectangle 75"/>
          <p:cNvSpPr/>
          <p:nvPr/>
        </p:nvSpPr>
        <p:spPr>
          <a:xfrm>
            <a:off x="10372725"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Rectangle 76"/>
          <p:cNvSpPr/>
          <p:nvPr/>
        </p:nvSpPr>
        <p:spPr>
          <a:xfrm>
            <a:off x="10377488"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Rectangle 77"/>
          <p:cNvSpPr/>
          <p:nvPr/>
        </p:nvSpPr>
        <p:spPr>
          <a:xfrm>
            <a:off x="12188428"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Rectangle 78"/>
          <p:cNvSpPr/>
          <p:nvPr/>
        </p:nvSpPr>
        <p:spPr>
          <a:xfrm>
            <a:off x="12193191"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14004131" y="9720262"/>
            <a:ext cx="1739503"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ectangle 80"/>
          <p:cNvSpPr/>
          <p:nvPr/>
        </p:nvSpPr>
        <p:spPr>
          <a:xfrm>
            <a:off x="14008894" y="9944100"/>
            <a:ext cx="172997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ectangle 81"/>
          <p:cNvSpPr/>
          <p:nvPr/>
        </p:nvSpPr>
        <p:spPr>
          <a:xfrm>
            <a:off x="15819834" y="9720262"/>
            <a:ext cx="1739503"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15824597" y="9944100"/>
            <a:ext cx="188741"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981075" y="1635175"/>
            <a:ext cx="12743438" cy="485775"/>
          </a:xfrm>
          <a:prstGeom prst="rect">
            <a:avLst/>
          </a:prstGeom>
          <a:noFill/>
        </p:spPr>
        <p:txBody>
          <a:bodyPr wrap="none" lIns="0" rIns="0" tIns="0" bIns="0" anchor="t">
            <a:spAutoFit/>
          </a:bodyPr>
          <a:lstStyle/>
          <a:p>
            <a:pPr algn="l">
              <a:lnSpc>
                <a:spcPct val="86700"/>
              </a:lnSpc>
            </a:pPr>
            <a:r>
              <a:rPr sz="3000" b="1" i="0" spc="-75">
                <a:solidFill>
                  <a:srgbClr val="F3F7FC"/>
                </a:solidFill>
                <a:latin typeface="Montserrat"/>
              </a:rPr>
              <a:t>Estimación de los tiempos del proceso de validación manual</a:t>
            </a:r>
          </a:p>
        </p:txBody>
      </p:sp>
      <p:sp>
        <p:nvSpPr>
          <p:cNvPr id="85" name="TextBox 84"/>
          <p:cNvSpPr txBox="1"/>
          <p:nvPr/>
        </p:nvSpPr>
        <p:spPr>
          <a:xfrm>
            <a:off x="828675" y="2279005"/>
            <a:ext cx="9123218" cy="333375"/>
          </a:xfrm>
          <a:prstGeom prst="rect">
            <a:avLst/>
          </a:prstGeom>
          <a:noFill/>
        </p:spPr>
        <p:txBody>
          <a:bodyPr wrap="none" lIns="0" rIns="0" tIns="0" bIns="0" anchor="t">
            <a:spAutoFit/>
          </a:bodyPr>
          <a:lstStyle/>
          <a:p>
            <a:pPr algn="l">
              <a:lnSpc>
                <a:spcPct val="87500"/>
              </a:lnSpc>
            </a:pPr>
            <a:r>
              <a:rPr sz="2025" b="1" i="0">
                <a:solidFill>
                  <a:srgbClr val="FFD21F"/>
                </a:solidFill>
                <a:latin typeface="Montserrat"/>
              </a:rPr>
              <a:t>Estimación de tiempos de validación por nivel de complejidad</a:t>
            </a:r>
          </a:p>
        </p:txBody>
      </p:sp>
      <p:sp>
        <p:nvSpPr>
          <p:cNvPr id="86" name="TextBox 85"/>
          <p:cNvSpPr txBox="1"/>
          <p:nvPr/>
        </p:nvSpPr>
        <p:spPr>
          <a:xfrm>
            <a:off x="981075" y="2720429"/>
            <a:ext cx="2199233" cy="493068"/>
          </a:xfrm>
          <a:prstGeom prst="rect">
            <a:avLst/>
          </a:prstGeom>
          <a:noFill/>
        </p:spPr>
        <p:txBody>
          <a:bodyPr wrap="square" lIns="0" rIns="0" tIns="0" bIns="0" anchor="t">
            <a:spAutoFit/>
          </a:bodyPr>
          <a:lstStyle/>
          <a:p>
            <a:pPr algn="l">
              <a:lnSpc>
                <a:spcPct val="98300"/>
              </a:lnSpc>
            </a:pPr>
            <a:r>
              <a:rPr sz="1575" b="1" i="0" spc="86">
                <a:solidFill>
                  <a:srgbClr val="F3F7FC"/>
                </a:solidFill>
                <a:latin typeface="Barlow"/>
              </a:rPr>
              <a:t>NIVEL DE COMPLEJIDAD</a:t>
            </a:r>
          </a:p>
        </p:txBody>
      </p:sp>
      <p:sp>
        <p:nvSpPr>
          <p:cNvPr id="87" name="TextBox 86"/>
          <p:cNvSpPr txBox="1"/>
          <p:nvPr/>
        </p:nvSpPr>
        <p:spPr>
          <a:xfrm>
            <a:off x="6306395" y="2838301"/>
            <a:ext cx="4002381" cy="257175"/>
          </a:xfrm>
          <a:prstGeom prst="rect">
            <a:avLst/>
          </a:prstGeom>
          <a:noFill/>
        </p:spPr>
        <p:txBody>
          <a:bodyPr wrap="none" lIns="0" rIns="0" tIns="0" bIns="0" anchor="t">
            <a:spAutoFit/>
          </a:bodyPr>
          <a:lstStyle/>
          <a:p>
            <a:pPr algn="ctr">
              <a:lnSpc>
                <a:spcPct val="98300"/>
              </a:lnSpc>
            </a:pPr>
            <a:r>
              <a:rPr sz="1575" b="1" i="0" spc="86">
                <a:solidFill>
                  <a:srgbClr val="F3F7FC"/>
                </a:solidFill>
                <a:latin typeface="Barlow"/>
              </a:rPr>
              <a:t>CONDICIÓN DEL REGISTRO EXTRAÍDO</a:t>
            </a:r>
          </a:p>
        </p:txBody>
      </p:sp>
      <p:sp>
        <p:nvSpPr>
          <p:cNvPr id="88" name="TextBox 87"/>
          <p:cNvSpPr txBox="1"/>
          <p:nvPr/>
        </p:nvSpPr>
        <p:spPr>
          <a:xfrm>
            <a:off x="13554831" y="2838301"/>
            <a:ext cx="3651177" cy="257175"/>
          </a:xfrm>
          <a:prstGeom prst="rect">
            <a:avLst/>
          </a:prstGeom>
          <a:noFill/>
        </p:spPr>
        <p:txBody>
          <a:bodyPr wrap="none" lIns="0" rIns="0" tIns="0" bIns="0" anchor="t">
            <a:spAutoFit/>
          </a:bodyPr>
          <a:lstStyle/>
          <a:p>
            <a:pPr algn="ctr">
              <a:lnSpc>
                <a:spcPct val="98300"/>
              </a:lnSpc>
            </a:pPr>
            <a:r>
              <a:rPr sz="1575" b="1" i="0" spc="86">
                <a:solidFill>
                  <a:srgbClr val="F3F7FC"/>
                </a:solidFill>
                <a:latin typeface="Barlow"/>
              </a:rPr>
              <a:t>TIEMPO ESTIMADO POR REGISTRO</a:t>
            </a:r>
          </a:p>
        </p:txBody>
      </p:sp>
      <p:sp>
        <p:nvSpPr>
          <p:cNvPr id="89" name="TextBox 88"/>
          <p:cNvSpPr txBox="1"/>
          <p:nvPr/>
        </p:nvSpPr>
        <p:spPr>
          <a:xfrm>
            <a:off x="981075" y="3581400"/>
            <a:ext cx="590955" cy="304800"/>
          </a:xfrm>
          <a:prstGeom prst="rect">
            <a:avLst/>
          </a:prstGeom>
          <a:noFill/>
        </p:spPr>
        <p:txBody>
          <a:bodyPr wrap="none" lIns="0" rIns="0" tIns="0" bIns="0" anchor="t">
            <a:spAutoFit/>
          </a:bodyPr>
          <a:lstStyle/>
          <a:p>
            <a:pPr algn="l">
              <a:lnSpc>
                <a:spcPct val="98300"/>
              </a:lnSpc>
            </a:pPr>
            <a:r>
              <a:rPr sz="1875" b="1" i="0">
                <a:solidFill>
                  <a:srgbClr val="FFD21F"/>
                </a:solidFill>
                <a:latin typeface="Barlow"/>
              </a:rPr>
              <a:t>Baja</a:t>
            </a:r>
          </a:p>
        </p:txBody>
      </p:sp>
      <p:sp>
        <p:nvSpPr>
          <p:cNvPr id="90" name="TextBox 89"/>
          <p:cNvSpPr txBox="1"/>
          <p:nvPr/>
        </p:nvSpPr>
        <p:spPr>
          <a:xfrm>
            <a:off x="3475583" y="3581400"/>
            <a:ext cx="6988987" cy="304800"/>
          </a:xfrm>
          <a:prstGeom prst="rect">
            <a:avLst/>
          </a:prstGeom>
          <a:noFill/>
        </p:spPr>
        <p:txBody>
          <a:bodyPr wrap="none" lIns="0" rIns="0" tIns="0" bIns="0" anchor="t">
            <a:spAutoFit/>
          </a:bodyPr>
          <a:lstStyle/>
          <a:p>
            <a:pPr algn="l">
              <a:lnSpc>
                <a:spcPct val="98300"/>
              </a:lnSpc>
            </a:pPr>
            <a:r>
              <a:rPr sz="1875" b="0" i="0">
                <a:solidFill>
                  <a:srgbClr val="F3F7FC"/>
                </a:solidFill>
                <a:latin typeface="Barlow"/>
              </a:rPr>
              <a:t>Identificador exacto (SKU, EAN o modelo). Decisión inmediata.</a:t>
            </a:r>
          </a:p>
        </p:txBody>
      </p:sp>
      <p:sp>
        <p:nvSpPr>
          <p:cNvPr id="91" name="TextBox 90"/>
          <p:cNvSpPr txBox="1"/>
          <p:nvPr/>
        </p:nvSpPr>
        <p:spPr>
          <a:xfrm>
            <a:off x="14235059" y="3564582"/>
            <a:ext cx="2290721"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15 a 30 segundos</a:t>
            </a:r>
          </a:p>
        </p:txBody>
      </p:sp>
      <p:sp>
        <p:nvSpPr>
          <p:cNvPr id="92" name="TextBox 91"/>
          <p:cNvSpPr txBox="1"/>
          <p:nvPr/>
        </p:nvSpPr>
        <p:spPr>
          <a:xfrm>
            <a:off x="981075" y="4459784"/>
            <a:ext cx="766637" cy="304800"/>
          </a:xfrm>
          <a:prstGeom prst="rect">
            <a:avLst/>
          </a:prstGeom>
          <a:noFill/>
        </p:spPr>
        <p:txBody>
          <a:bodyPr wrap="none" lIns="0" rIns="0" tIns="0" bIns="0" anchor="t">
            <a:spAutoFit/>
          </a:bodyPr>
          <a:lstStyle/>
          <a:p>
            <a:pPr algn="l">
              <a:lnSpc>
                <a:spcPct val="98300"/>
              </a:lnSpc>
            </a:pPr>
            <a:r>
              <a:rPr sz="1875" b="1" i="0">
                <a:solidFill>
                  <a:srgbClr val="FFD21F"/>
                </a:solidFill>
                <a:latin typeface="Barlow"/>
              </a:rPr>
              <a:t>Media</a:t>
            </a:r>
          </a:p>
        </p:txBody>
      </p:sp>
      <p:sp>
        <p:nvSpPr>
          <p:cNvPr id="93" name="TextBox 92"/>
          <p:cNvSpPr txBox="1"/>
          <p:nvPr/>
        </p:nvSpPr>
        <p:spPr>
          <a:xfrm>
            <a:off x="3475583" y="4459784"/>
            <a:ext cx="7976539" cy="304800"/>
          </a:xfrm>
          <a:prstGeom prst="rect">
            <a:avLst/>
          </a:prstGeom>
          <a:noFill/>
        </p:spPr>
        <p:txBody>
          <a:bodyPr wrap="none" lIns="0" rIns="0" tIns="0" bIns="0" anchor="t">
            <a:spAutoFit/>
          </a:bodyPr>
          <a:lstStyle/>
          <a:p>
            <a:pPr algn="l">
              <a:lnSpc>
                <a:spcPct val="98300"/>
              </a:lnSpc>
            </a:pPr>
            <a:r>
              <a:rPr sz="1875" b="0" i="0">
                <a:solidFill>
                  <a:srgbClr val="F3F7FC"/>
                </a:solidFill>
                <a:latin typeface="Barlow"/>
              </a:rPr>
              <a:t>Sin SKU exacto. Exige revisar características técnicas y marcas mixtas.</a:t>
            </a:r>
          </a:p>
        </p:txBody>
      </p:sp>
      <p:sp>
        <p:nvSpPr>
          <p:cNvPr id="94" name="TextBox 93"/>
          <p:cNvSpPr txBox="1"/>
          <p:nvPr/>
        </p:nvSpPr>
        <p:spPr>
          <a:xfrm>
            <a:off x="14235059" y="4442966"/>
            <a:ext cx="2290721"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30 a 60 segundos</a:t>
            </a:r>
          </a:p>
        </p:txBody>
      </p:sp>
      <p:sp>
        <p:nvSpPr>
          <p:cNvPr id="95" name="TextBox 94"/>
          <p:cNvSpPr txBox="1"/>
          <p:nvPr/>
        </p:nvSpPr>
        <p:spPr>
          <a:xfrm>
            <a:off x="981075" y="5338167"/>
            <a:ext cx="564112" cy="304800"/>
          </a:xfrm>
          <a:prstGeom prst="rect">
            <a:avLst/>
          </a:prstGeom>
          <a:noFill/>
        </p:spPr>
        <p:txBody>
          <a:bodyPr wrap="none" lIns="0" rIns="0" tIns="0" bIns="0" anchor="t">
            <a:spAutoFit/>
          </a:bodyPr>
          <a:lstStyle/>
          <a:p>
            <a:pPr algn="l">
              <a:lnSpc>
                <a:spcPct val="98300"/>
              </a:lnSpc>
            </a:pPr>
            <a:r>
              <a:rPr sz="1875" b="1" i="0">
                <a:solidFill>
                  <a:srgbClr val="FFD21F"/>
                </a:solidFill>
                <a:latin typeface="Barlow"/>
              </a:rPr>
              <a:t>Alta</a:t>
            </a:r>
          </a:p>
        </p:txBody>
      </p:sp>
      <p:sp>
        <p:nvSpPr>
          <p:cNvPr id="96" name="TextBox 95"/>
          <p:cNvSpPr txBox="1"/>
          <p:nvPr/>
        </p:nvSpPr>
        <p:spPr>
          <a:xfrm>
            <a:off x="3475583" y="5338167"/>
            <a:ext cx="10088910" cy="304800"/>
          </a:xfrm>
          <a:prstGeom prst="rect">
            <a:avLst/>
          </a:prstGeom>
          <a:noFill/>
        </p:spPr>
        <p:txBody>
          <a:bodyPr wrap="none" lIns="0" rIns="0" tIns="0" bIns="0" anchor="t">
            <a:spAutoFit/>
          </a:bodyPr>
          <a:lstStyle/>
          <a:p>
            <a:pPr algn="l">
              <a:lnSpc>
                <a:spcPct val="98300"/>
              </a:lnSpc>
            </a:pPr>
            <a:r>
              <a:rPr sz="1875" b="0" i="0">
                <a:solidFill>
                  <a:srgbClr val="F3F7FC"/>
                </a:solidFill>
                <a:latin typeface="Barlow"/>
              </a:rPr>
              <a:t>Ambigüedad semántica, descripción incompleta o idioma local. Exige comparar imágenes.</a:t>
            </a:r>
          </a:p>
        </p:txBody>
      </p:sp>
      <p:sp>
        <p:nvSpPr>
          <p:cNvPr id="97" name="TextBox 96"/>
          <p:cNvSpPr txBox="1"/>
          <p:nvPr/>
        </p:nvSpPr>
        <p:spPr>
          <a:xfrm>
            <a:off x="14156626" y="5321350"/>
            <a:ext cx="2447437"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60 a 120 segundos</a:t>
            </a:r>
          </a:p>
        </p:txBody>
      </p:sp>
      <p:sp>
        <p:nvSpPr>
          <p:cNvPr id="98" name="TextBox 97"/>
          <p:cNvSpPr txBox="1"/>
          <p:nvPr/>
        </p:nvSpPr>
        <p:spPr>
          <a:xfrm>
            <a:off x="828675" y="6227415"/>
            <a:ext cx="9029349" cy="333375"/>
          </a:xfrm>
          <a:prstGeom prst="rect">
            <a:avLst/>
          </a:prstGeom>
          <a:noFill/>
        </p:spPr>
        <p:txBody>
          <a:bodyPr wrap="none" lIns="0" rIns="0" tIns="0" bIns="0" anchor="t">
            <a:spAutoFit/>
          </a:bodyPr>
          <a:lstStyle/>
          <a:p>
            <a:pPr algn="l">
              <a:lnSpc>
                <a:spcPct val="87500"/>
              </a:lnSpc>
            </a:pPr>
            <a:r>
              <a:rPr sz="2025" b="1" i="0">
                <a:solidFill>
                  <a:srgbClr val="FFD21F"/>
                </a:solidFill>
                <a:latin typeface="Montserrat"/>
              </a:rPr>
              <a:t>Capacidad operativa manual del equipo de Product Matching</a:t>
            </a:r>
          </a:p>
        </p:txBody>
      </p:sp>
      <p:sp>
        <p:nvSpPr>
          <p:cNvPr id="99" name="TextBox 98"/>
          <p:cNvSpPr txBox="1"/>
          <p:nvPr/>
        </p:nvSpPr>
        <p:spPr>
          <a:xfrm>
            <a:off x="981075" y="6668839"/>
            <a:ext cx="2301972" cy="257175"/>
          </a:xfrm>
          <a:prstGeom prst="rect">
            <a:avLst/>
          </a:prstGeom>
          <a:noFill/>
        </p:spPr>
        <p:txBody>
          <a:bodyPr wrap="none" lIns="0" rIns="0" tIns="0" bIns="0" anchor="t">
            <a:spAutoFit/>
          </a:bodyPr>
          <a:lstStyle/>
          <a:p>
            <a:pPr algn="l">
              <a:lnSpc>
                <a:spcPct val="98300"/>
              </a:lnSpc>
            </a:pPr>
            <a:r>
              <a:rPr sz="1575" b="1" i="0" spc="86">
                <a:solidFill>
                  <a:srgbClr val="F3F7FC"/>
                </a:solidFill>
                <a:latin typeface="Barlow"/>
              </a:rPr>
              <a:t>MÉTRICA OPERATIVA</a:t>
            </a:r>
          </a:p>
        </p:txBody>
      </p:sp>
      <p:sp>
        <p:nvSpPr>
          <p:cNvPr id="100" name="TextBox 99"/>
          <p:cNvSpPr txBox="1"/>
          <p:nvPr/>
        </p:nvSpPr>
        <p:spPr>
          <a:xfrm>
            <a:off x="13024568" y="6668839"/>
            <a:ext cx="2549825" cy="257175"/>
          </a:xfrm>
          <a:prstGeom prst="rect">
            <a:avLst/>
          </a:prstGeom>
          <a:noFill/>
        </p:spPr>
        <p:txBody>
          <a:bodyPr wrap="none" lIns="0" rIns="0" tIns="0" bIns="0" anchor="t">
            <a:spAutoFit/>
          </a:bodyPr>
          <a:lstStyle/>
          <a:p>
            <a:pPr algn="ctr">
              <a:lnSpc>
                <a:spcPct val="98300"/>
              </a:lnSpc>
            </a:pPr>
            <a:r>
              <a:rPr sz="1575" b="1" i="0" spc="86">
                <a:solidFill>
                  <a:srgbClr val="F3F7FC"/>
                </a:solidFill>
                <a:latin typeface="Barlow"/>
              </a:rPr>
              <a:t>VALOR ACTUAL (AS-IS)</a:t>
            </a:r>
          </a:p>
        </p:txBody>
      </p:sp>
      <p:sp>
        <p:nvSpPr>
          <p:cNvPr id="101" name="TextBox 100"/>
          <p:cNvSpPr txBox="1"/>
          <p:nvPr/>
        </p:nvSpPr>
        <p:spPr>
          <a:xfrm>
            <a:off x="981075" y="7167860"/>
            <a:ext cx="4362908" cy="304800"/>
          </a:xfrm>
          <a:prstGeom prst="rect">
            <a:avLst/>
          </a:prstGeom>
          <a:noFill/>
        </p:spPr>
        <p:txBody>
          <a:bodyPr wrap="none" lIns="0" rIns="0" tIns="0" bIns="0" anchor="t">
            <a:spAutoFit/>
          </a:bodyPr>
          <a:lstStyle/>
          <a:p>
            <a:pPr algn="l">
              <a:lnSpc>
                <a:spcPct val="98300"/>
              </a:lnSpc>
            </a:pPr>
            <a:r>
              <a:rPr sz="1875" b="1" i="0">
                <a:solidFill>
                  <a:srgbClr val="F3F7FC"/>
                </a:solidFill>
                <a:latin typeface="Barlow"/>
              </a:rPr>
              <a:t>Cuota de validación diaria por analista</a:t>
            </a:r>
          </a:p>
        </p:txBody>
      </p:sp>
      <p:sp>
        <p:nvSpPr>
          <p:cNvPr id="102" name="TextBox 101"/>
          <p:cNvSpPr txBox="1"/>
          <p:nvPr/>
        </p:nvSpPr>
        <p:spPr>
          <a:xfrm>
            <a:off x="13329005" y="7151043"/>
            <a:ext cx="1940802"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440 productos</a:t>
            </a:r>
          </a:p>
        </p:txBody>
      </p:sp>
      <p:sp>
        <p:nvSpPr>
          <p:cNvPr id="103" name="TextBox 102"/>
          <p:cNvSpPr txBox="1"/>
          <p:nvPr/>
        </p:nvSpPr>
        <p:spPr>
          <a:xfrm>
            <a:off x="981075" y="7794278"/>
            <a:ext cx="3607778" cy="304800"/>
          </a:xfrm>
          <a:prstGeom prst="rect">
            <a:avLst/>
          </a:prstGeom>
          <a:noFill/>
        </p:spPr>
        <p:txBody>
          <a:bodyPr wrap="none" lIns="0" rIns="0" tIns="0" bIns="0" anchor="t">
            <a:spAutoFit/>
          </a:bodyPr>
          <a:lstStyle/>
          <a:p>
            <a:pPr algn="l">
              <a:lnSpc>
                <a:spcPct val="98300"/>
              </a:lnSpc>
            </a:pPr>
            <a:r>
              <a:rPr sz="1875" b="1" i="0">
                <a:solidFill>
                  <a:srgbClr val="F3F7FC"/>
                </a:solidFill>
                <a:latin typeface="Barlow"/>
              </a:rPr>
              <a:t>Tiempo promedio por producto</a:t>
            </a:r>
          </a:p>
        </p:txBody>
      </p:sp>
      <p:sp>
        <p:nvSpPr>
          <p:cNvPr id="104" name="TextBox 103"/>
          <p:cNvSpPr txBox="1"/>
          <p:nvPr/>
        </p:nvSpPr>
        <p:spPr>
          <a:xfrm>
            <a:off x="13338649" y="7777460"/>
            <a:ext cx="1921514"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 65 segundos</a:t>
            </a:r>
          </a:p>
        </p:txBody>
      </p:sp>
      <p:sp>
        <p:nvSpPr>
          <p:cNvPr id="105" name="TextBox 104"/>
          <p:cNvSpPr txBox="1"/>
          <p:nvPr/>
        </p:nvSpPr>
        <p:spPr>
          <a:xfrm>
            <a:off x="981075" y="8420695"/>
            <a:ext cx="2247162" cy="304800"/>
          </a:xfrm>
          <a:prstGeom prst="rect">
            <a:avLst/>
          </a:prstGeom>
          <a:noFill/>
        </p:spPr>
        <p:txBody>
          <a:bodyPr wrap="none" lIns="0" rIns="0" tIns="0" bIns="0" anchor="t">
            <a:spAutoFit/>
          </a:bodyPr>
          <a:lstStyle/>
          <a:p>
            <a:pPr algn="l">
              <a:lnSpc>
                <a:spcPct val="98300"/>
              </a:lnSpc>
            </a:pPr>
            <a:r>
              <a:rPr sz="1875" b="1" i="0">
                <a:solidFill>
                  <a:srgbClr val="F3F7FC"/>
                </a:solidFill>
                <a:latin typeface="Barlow"/>
              </a:rPr>
              <a:t>Analistas por turno</a:t>
            </a:r>
          </a:p>
        </p:txBody>
      </p:sp>
      <p:sp>
        <p:nvSpPr>
          <p:cNvPr id="106" name="TextBox 105"/>
          <p:cNvSpPr txBox="1"/>
          <p:nvPr/>
        </p:nvSpPr>
        <p:spPr>
          <a:xfrm>
            <a:off x="13330773" y="8403878"/>
            <a:ext cx="1937266"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10 operadores</a:t>
            </a:r>
          </a:p>
        </p:txBody>
      </p:sp>
      <p:sp>
        <p:nvSpPr>
          <p:cNvPr id="107" name="TextBox 106"/>
          <p:cNvSpPr txBox="1"/>
          <p:nvPr/>
        </p:nvSpPr>
        <p:spPr>
          <a:xfrm>
            <a:off x="981075" y="9047262"/>
            <a:ext cx="3087642" cy="304800"/>
          </a:xfrm>
          <a:prstGeom prst="rect">
            <a:avLst/>
          </a:prstGeom>
          <a:noFill/>
        </p:spPr>
        <p:txBody>
          <a:bodyPr wrap="none" lIns="0" rIns="0" tIns="0" bIns="0" anchor="t">
            <a:spAutoFit/>
          </a:bodyPr>
          <a:lstStyle/>
          <a:p>
            <a:pPr algn="l">
              <a:lnSpc>
                <a:spcPct val="98300"/>
              </a:lnSpc>
            </a:pPr>
            <a:r>
              <a:rPr sz="1875" b="1" i="0">
                <a:solidFill>
                  <a:srgbClr val="F3F7FC"/>
                </a:solidFill>
                <a:latin typeface="Barlow"/>
              </a:rPr>
              <a:t>Capacidad total del equipo</a:t>
            </a:r>
          </a:p>
        </p:txBody>
      </p:sp>
      <p:sp>
        <p:nvSpPr>
          <p:cNvPr id="108" name="TextBox 107"/>
          <p:cNvSpPr txBox="1"/>
          <p:nvPr/>
        </p:nvSpPr>
        <p:spPr>
          <a:xfrm>
            <a:off x="12894379" y="9030444"/>
            <a:ext cx="2810054" cy="342900"/>
          </a:xfrm>
          <a:prstGeom prst="rect">
            <a:avLst/>
          </a:prstGeom>
          <a:noFill/>
        </p:spPr>
        <p:txBody>
          <a:bodyPr wrap="none" lIns="0" rIns="0" tIns="0" bIns="0" anchor="t">
            <a:spAutoFit/>
          </a:bodyPr>
          <a:lstStyle/>
          <a:p>
            <a:pPr algn="ctr">
              <a:lnSpc>
                <a:spcPct val="98300"/>
              </a:lnSpc>
            </a:pPr>
            <a:r>
              <a:rPr sz="2100" b="1" i="0">
                <a:solidFill>
                  <a:srgbClr val="FFD21F"/>
                </a:solidFill>
                <a:latin typeface="Barlow"/>
              </a:rPr>
              <a:t>4.400 productos / día</a:t>
            </a:r>
          </a:p>
        </p:txBody>
      </p:sp>
      <p:sp>
        <p:nvSpPr>
          <p:cNvPr id="109" name="TextBox 108"/>
          <p:cNvSpPr txBox="1"/>
          <p:nvPr/>
        </p:nvSpPr>
        <p:spPr>
          <a:xfrm>
            <a:off x="1151781" y="9766935"/>
            <a:ext cx="1639747"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ACTUAL</a:t>
            </a:r>
          </a:p>
        </p:txBody>
      </p:sp>
      <p:sp>
        <p:nvSpPr>
          <p:cNvPr id="110" name="TextBox 109"/>
          <p:cNvSpPr txBox="1"/>
          <p:nvPr/>
        </p:nvSpPr>
        <p:spPr>
          <a:xfrm>
            <a:off x="390182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01</a:t>
            </a:r>
          </a:p>
        </p:txBody>
      </p:sp>
      <p:sp>
        <p:nvSpPr>
          <p:cNvPr id="111" name="TextBox 110"/>
          <p:cNvSpPr txBox="1"/>
          <p:nvPr/>
        </p:nvSpPr>
        <p:spPr>
          <a:xfrm>
            <a:off x="571753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02</a:t>
            </a:r>
          </a:p>
        </p:txBody>
      </p:sp>
      <p:sp>
        <p:nvSpPr>
          <p:cNvPr id="112" name="TextBox 111"/>
          <p:cNvSpPr txBox="1"/>
          <p:nvPr/>
        </p:nvSpPr>
        <p:spPr>
          <a:xfrm>
            <a:off x="753323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03</a:t>
            </a:r>
          </a:p>
        </p:txBody>
      </p:sp>
      <p:sp>
        <p:nvSpPr>
          <p:cNvPr id="113" name="TextBox 112"/>
          <p:cNvSpPr txBox="1"/>
          <p:nvPr/>
        </p:nvSpPr>
        <p:spPr>
          <a:xfrm>
            <a:off x="934893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04</a:t>
            </a:r>
          </a:p>
        </p:txBody>
      </p:sp>
      <p:sp>
        <p:nvSpPr>
          <p:cNvPr id="114" name="TextBox 113"/>
          <p:cNvSpPr txBox="1"/>
          <p:nvPr/>
        </p:nvSpPr>
        <p:spPr>
          <a:xfrm>
            <a:off x="1116463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05</a:t>
            </a:r>
          </a:p>
        </p:txBody>
      </p:sp>
      <p:sp>
        <p:nvSpPr>
          <p:cNvPr id="115" name="TextBox 114"/>
          <p:cNvSpPr txBox="1"/>
          <p:nvPr/>
        </p:nvSpPr>
        <p:spPr>
          <a:xfrm>
            <a:off x="1298034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06</a:t>
            </a:r>
          </a:p>
        </p:txBody>
      </p:sp>
      <p:sp>
        <p:nvSpPr>
          <p:cNvPr id="116" name="TextBox 115"/>
          <p:cNvSpPr txBox="1"/>
          <p:nvPr/>
        </p:nvSpPr>
        <p:spPr>
          <a:xfrm>
            <a:off x="1479604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07</a:t>
            </a:r>
          </a:p>
        </p:txBody>
      </p:sp>
      <p:sp>
        <p:nvSpPr>
          <p:cNvPr id="117" name="TextBox 116"/>
          <p:cNvSpPr txBox="1"/>
          <p:nvPr/>
        </p:nvSpPr>
        <p:spPr>
          <a:xfrm>
            <a:off x="1661174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524500" cy="2270671"/>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802386"/>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2270671"/>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8875" y="2541240"/>
            <a:ext cx="9525" cy="2270671"/>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81750" y="2541240"/>
            <a:ext cx="11182350" cy="2270671"/>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81750" y="2541240"/>
            <a:ext cx="1118235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81750" y="4802386"/>
            <a:ext cx="111823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81750" y="2541240"/>
            <a:ext cx="9525" cy="2270671"/>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7554575" y="2541240"/>
            <a:ext cx="9525" cy="2270671"/>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3900" y="4945261"/>
            <a:ext cx="11182350" cy="227082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4945261"/>
            <a:ext cx="1118235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7206555"/>
            <a:ext cx="111823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4945261"/>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896725" y="4945261"/>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39600" y="4945261"/>
            <a:ext cx="5524500" cy="227082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39600" y="4945261"/>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39600" y="7206555"/>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39600" y="4945261"/>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7554575" y="4945261"/>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23900" y="7349430"/>
            <a:ext cx="16840200" cy="227082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23900" y="7349430"/>
            <a:ext cx="168402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23900" y="9610725"/>
            <a:ext cx="168402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23900" y="7349430"/>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7554575" y="7349430"/>
            <a:ext cx="9525" cy="2270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09912"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114675" y="9944100"/>
            <a:ext cx="63398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81075" y="1663750"/>
            <a:ext cx="400334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IDENTIFICAR ATRIBUTOS · 01 / 03</a:t>
            </a:r>
          </a:p>
        </p:txBody>
      </p:sp>
      <p:sp>
        <p:nvSpPr>
          <p:cNvPr id="39" name="TextBox 38"/>
          <p:cNvSpPr txBox="1"/>
          <p:nvPr/>
        </p:nvSpPr>
        <p:spPr>
          <a:xfrm>
            <a:off x="981075" y="1885652"/>
            <a:ext cx="8613368"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Las 36 columnas, agrupadas por rol</a:t>
            </a:r>
          </a:p>
        </p:txBody>
      </p:sp>
      <p:sp>
        <p:nvSpPr>
          <p:cNvPr id="40" name="TextBox 39"/>
          <p:cNvSpPr txBox="1"/>
          <p:nvPr/>
        </p:nvSpPr>
        <p:spPr>
          <a:xfrm>
            <a:off x="923925" y="3212753"/>
            <a:ext cx="393294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Trazabilidad / snapshot</a:t>
            </a:r>
          </a:p>
        </p:txBody>
      </p:sp>
      <p:sp>
        <p:nvSpPr>
          <p:cNvPr id="41" name="TextBox 40"/>
          <p:cNvSpPr txBox="1"/>
          <p:nvPr/>
        </p:nvSpPr>
        <p:spPr>
          <a:xfrm>
            <a:off x="1076325" y="3627983"/>
            <a:ext cx="131763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source_year</a:t>
            </a:r>
          </a:p>
        </p:txBody>
      </p:sp>
      <p:sp>
        <p:nvSpPr>
          <p:cNvPr id="42" name="Marcador"/>
          <p:cNvSpPr/>
          <p:nvPr/>
        </p:nvSpPr>
        <p:spPr>
          <a:xfrm>
            <a:off x="944499"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503438" y="3627983"/>
            <a:ext cx="1428702"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source_month</a:t>
            </a:r>
          </a:p>
        </p:txBody>
      </p:sp>
      <p:sp>
        <p:nvSpPr>
          <p:cNvPr id="44" name="Marcador"/>
          <p:cNvSpPr/>
          <p:nvPr/>
        </p:nvSpPr>
        <p:spPr>
          <a:xfrm>
            <a:off x="2371612"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033391" y="3627983"/>
            <a:ext cx="131763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source_file</a:t>
            </a:r>
          </a:p>
        </p:txBody>
      </p:sp>
      <p:sp>
        <p:nvSpPr>
          <p:cNvPr id="46" name="Marcador"/>
          <p:cNvSpPr/>
          <p:nvPr/>
        </p:nvSpPr>
        <p:spPr>
          <a:xfrm>
            <a:off x="3901565"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76325" y="3922216"/>
            <a:ext cx="109533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MappingId</a:t>
            </a:r>
          </a:p>
        </p:txBody>
      </p:sp>
      <p:sp>
        <p:nvSpPr>
          <p:cNvPr id="48" name="Marcador"/>
          <p:cNvSpPr/>
          <p:nvPr/>
        </p:nvSpPr>
        <p:spPr>
          <a:xfrm>
            <a:off x="944499"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2297609" y="3922216"/>
            <a:ext cx="131763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CreatedDate</a:t>
            </a:r>
          </a:p>
        </p:txBody>
      </p:sp>
      <p:sp>
        <p:nvSpPr>
          <p:cNvPr id="50" name="Marcador"/>
          <p:cNvSpPr/>
          <p:nvPr/>
        </p:nvSpPr>
        <p:spPr>
          <a:xfrm>
            <a:off x="2165783"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581775" y="3212753"/>
            <a:ext cx="556359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Lado fabricante · producto oficial</a:t>
            </a:r>
          </a:p>
        </p:txBody>
      </p:sp>
      <p:sp>
        <p:nvSpPr>
          <p:cNvPr id="52" name="TextBox 51"/>
          <p:cNvSpPr txBox="1"/>
          <p:nvPr/>
        </p:nvSpPr>
        <p:spPr>
          <a:xfrm>
            <a:off x="6734175" y="3627983"/>
            <a:ext cx="1428702"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a:t>
            </a:r>
          </a:p>
        </p:txBody>
      </p:sp>
      <p:sp>
        <p:nvSpPr>
          <p:cNvPr id="53" name="Marcador"/>
          <p:cNvSpPr/>
          <p:nvPr/>
        </p:nvSpPr>
        <p:spPr>
          <a:xfrm>
            <a:off x="6602349"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264128" y="3627983"/>
            <a:ext cx="65090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Brand</a:t>
            </a:r>
          </a:p>
        </p:txBody>
      </p:sp>
      <p:sp>
        <p:nvSpPr>
          <p:cNvPr id="55" name="Marcador"/>
          <p:cNvSpPr/>
          <p:nvPr/>
        </p:nvSpPr>
        <p:spPr>
          <a:xfrm>
            <a:off x="8132302"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073902" y="3627983"/>
            <a:ext cx="2428792"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ManufacturerProductId</a:t>
            </a:r>
          </a:p>
        </p:txBody>
      </p:sp>
      <p:sp>
        <p:nvSpPr>
          <p:cNvPr id="57" name="Marcador"/>
          <p:cNvSpPr/>
          <p:nvPr/>
        </p:nvSpPr>
        <p:spPr>
          <a:xfrm>
            <a:off x="8942076"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11529864" y="3627983"/>
            <a:ext cx="2651087"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ManufacturerProductName</a:t>
            </a:r>
          </a:p>
        </p:txBody>
      </p:sp>
      <p:sp>
        <p:nvSpPr>
          <p:cNvPr id="59" name="Marcador"/>
          <p:cNvSpPr/>
          <p:nvPr/>
        </p:nvSpPr>
        <p:spPr>
          <a:xfrm>
            <a:off x="11398038"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14191655" y="3627983"/>
            <a:ext cx="3428881"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ManufacturerProductDescription</a:t>
            </a:r>
          </a:p>
        </p:txBody>
      </p:sp>
      <p:sp>
        <p:nvSpPr>
          <p:cNvPr id="61" name="Marcador"/>
          <p:cNvSpPr/>
          <p:nvPr/>
        </p:nvSpPr>
        <p:spPr>
          <a:xfrm>
            <a:off x="14059829" y="371570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734175" y="3922216"/>
            <a:ext cx="253985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ManufacturerProductUrl</a:t>
            </a:r>
          </a:p>
        </p:txBody>
      </p:sp>
      <p:sp>
        <p:nvSpPr>
          <p:cNvPr id="63" name="Marcador"/>
          <p:cNvSpPr/>
          <p:nvPr/>
        </p:nvSpPr>
        <p:spPr>
          <a:xfrm>
            <a:off x="6602349"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9292977" y="3922216"/>
            <a:ext cx="3095518"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ManufacturerProductImageUrl</a:t>
            </a:r>
          </a:p>
        </p:txBody>
      </p:sp>
      <p:sp>
        <p:nvSpPr>
          <p:cNvPr id="65" name="Marcador"/>
          <p:cNvSpPr/>
          <p:nvPr/>
        </p:nvSpPr>
        <p:spPr>
          <a:xfrm>
            <a:off x="9161151"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2366278" y="3922216"/>
            <a:ext cx="109533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ExtraInfo</a:t>
            </a:r>
          </a:p>
        </p:txBody>
      </p:sp>
      <p:sp>
        <p:nvSpPr>
          <p:cNvPr id="67" name="Marcador"/>
          <p:cNvSpPr/>
          <p:nvPr/>
        </p:nvSpPr>
        <p:spPr>
          <a:xfrm>
            <a:off x="12234452" y="4009942"/>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23925" y="5616922"/>
            <a:ext cx="4379143"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Lado retailer · publicación</a:t>
            </a:r>
          </a:p>
        </p:txBody>
      </p:sp>
      <p:sp>
        <p:nvSpPr>
          <p:cNvPr id="69" name="TextBox 68"/>
          <p:cNvSpPr txBox="1"/>
          <p:nvPr/>
        </p:nvSpPr>
        <p:spPr>
          <a:xfrm>
            <a:off x="1076325" y="6032153"/>
            <a:ext cx="984272"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a:t>
            </a:r>
          </a:p>
        </p:txBody>
      </p:sp>
      <p:sp>
        <p:nvSpPr>
          <p:cNvPr id="70" name="Marcador"/>
          <p:cNvSpPr/>
          <p:nvPr/>
        </p:nvSpPr>
        <p:spPr>
          <a:xfrm>
            <a:off x="944499"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194768" y="6032153"/>
            <a:ext cx="2206496"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RetailerProductName</a:t>
            </a:r>
          </a:p>
        </p:txBody>
      </p:sp>
      <p:sp>
        <p:nvSpPr>
          <p:cNvPr id="72" name="Marcador"/>
          <p:cNvSpPr/>
          <p:nvPr/>
        </p:nvSpPr>
        <p:spPr>
          <a:xfrm>
            <a:off x="2062942"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444901" y="6032153"/>
            <a:ext cx="1984361"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RetailerProductId</a:t>
            </a:r>
          </a:p>
        </p:txBody>
      </p:sp>
      <p:sp>
        <p:nvSpPr>
          <p:cNvPr id="74" name="Marcador"/>
          <p:cNvSpPr/>
          <p:nvPr/>
        </p:nvSpPr>
        <p:spPr>
          <a:xfrm>
            <a:off x="4313075"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6489353" y="6032153"/>
            <a:ext cx="209542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RetailerProductUrl</a:t>
            </a:r>
          </a:p>
        </p:txBody>
      </p:sp>
      <p:sp>
        <p:nvSpPr>
          <p:cNvPr id="76" name="Marcador"/>
          <p:cNvSpPr/>
          <p:nvPr/>
        </p:nvSpPr>
        <p:spPr>
          <a:xfrm>
            <a:off x="6357527"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8636645" y="6032153"/>
            <a:ext cx="2651087"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RetailerProductImageUrl</a:t>
            </a:r>
          </a:p>
        </p:txBody>
      </p:sp>
      <p:sp>
        <p:nvSpPr>
          <p:cNvPr id="78" name="Marcador"/>
          <p:cNvSpPr/>
          <p:nvPr/>
        </p:nvSpPr>
        <p:spPr>
          <a:xfrm>
            <a:off x="8504819" y="6119878"/>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1076325" y="6326386"/>
            <a:ext cx="65090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Stock</a:t>
            </a:r>
          </a:p>
        </p:txBody>
      </p:sp>
      <p:sp>
        <p:nvSpPr>
          <p:cNvPr id="80" name="Marcador"/>
          <p:cNvSpPr/>
          <p:nvPr/>
        </p:nvSpPr>
        <p:spPr>
          <a:xfrm>
            <a:off x="944499" y="6414111"/>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1886099" y="6326386"/>
            <a:ext cx="65090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Price</a:t>
            </a:r>
          </a:p>
        </p:txBody>
      </p:sp>
      <p:sp>
        <p:nvSpPr>
          <p:cNvPr id="82" name="Marcador"/>
          <p:cNvSpPr/>
          <p:nvPr/>
        </p:nvSpPr>
        <p:spPr>
          <a:xfrm>
            <a:off x="1754273" y="6414111"/>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2239625" y="5763964"/>
            <a:ext cx="168957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Geografía</a:t>
            </a:r>
          </a:p>
        </p:txBody>
      </p:sp>
      <p:sp>
        <p:nvSpPr>
          <p:cNvPr id="84" name="TextBox 83"/>
          <p:cNvSpPr txBox="1"/>
          <p:nvPr/>
        </p:nvSpPr>
        <p:spPr>
          <a:xfrm>
            <a:off x="12392025" y="6179195"/>
            <a:ext cx="3762244"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ManufacturerProductMappingCountry</a:t>
            </a:r>
          </a:p>
        </p:txBody>
      </p:sp>
      <p:sp>
        <p:nvSpPr>
          <p:cNvPr id="85" name="Marcador"/>
          <p:cNvSpPr/>
          <p:nvPr/>
        </p:nvSpPr>
        <p:spPr>
          <a:xfrm>
            <a:off x="12260199" y="626692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923925" y="8168134"/>
            <a:ext cx="3073176"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Calidad del match</a:t>
            </a:r>
          </a:p>
        </p:txBody>
      </p:sp>
      <p:sp>
        <p:nvSpPr>
          <p:cNvPr id="87" name="TextBox 86"/>
          <p:cNvSpPr txBox="1"/>
          <p:nvPr/>
        </p:nvSpPr>
        <p:spPr>
          <a:xfrm>
            <a:off x="1076325" y="8583364"/>
            <a:ext cx="873204"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Invalid</a:t>
            </a:r>
          </a:p>
        </p:txBody>
      </p:sp>
      <p:sp>
        <p:nvSpPr>
          <p:cNvPr id="88" name="Marcador"/>
          <p:cNvSpPr/>
          <p:nvPr/>
        </p:nvSpPr>
        <p:spPr>
          <a:xfrm>
            <a:off x="944499" y="867109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2091928" y="8583364"/>
            <a:ext cx="1095339"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IsDeleted</a:t>
            </a:r>
          </a:p>
        </p:txBody>
      </p:sp>
      <p:sp>
        <p:nvSpPr>
          <p:cNvPr id="90" name="Marcador"/>
          <p:cNvSpPr/>
          <p:nvPr/>
        </p:nvSpPr>
        <p:spPr>
          <a:xfrm>
            <a:off x="1960102" y="867109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13212" y="8583364"/>
            <a:ext cx="176206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MatchConfidence</a:t>
            </a:r>
          </a:p>
        </p:txBody>
      </p:sp>
      <p:sp>
        <p:nvSpPr>
          <p:cNvPr id="92" name="Marcador"/>
          <p:cNvSpPr/>
          <p:nvPr/>
        </p:nvSpPr>
        <p:spPr>
          <a:xfrm>
            <a:off x="3181386" y="867109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5151834" y="8583364"/>
            <a:ext cx="1317635" cy="247650"/>
          </a:xfrm>
          <a:prstGeom prst="rect">
            <a:avLst/>
          </a:prstGeom>
          <a:noFill/>
        </p:spPr>
        <p:txBody>
          <a:bodyPr wrap="none" lIns="0" rIns="0" tIns="0" bIns="0" anchor="t">
            <a:spAutoFit/>
          </a:bodyPr>
          <a:lstStyle/>
          <a:p>
            <a:pPr algn="l">
              <a:lnSpc>
                <a:spcPct val="87500"/>
              </a:lnSpc>
            </a:pPr>
            <a:r>
              <a:rPr sz="1350" b="1" i="0">
                <a:solidFill>
                  <a:srgbClr val="DCE8F4"/>
                </a:solidFill>
                <a:latin typeface="Roboto Mono"/>
              </a:rPr>
              <a:t>LinkIsValid</a:t>
            </a:r>
          </a:p>
        </p:txBody>
      </p:sp>
      <p:sp>
        <p:nvSpPr>
          <p:cNvPr id="94" name="Marcador"/>
          <p:cNvSpPr/>
          <p:nvPr/>
        </p:nvSpPr>
        <p:spPr>
          <a:xfrm>
            <a:off x="5020008" y="8671090"/>
            <a:ext cx="61722" cy="61722"/>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904577" y="9766935"/>
            <a:ext cx="217370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IDENTIFICAR ATRIBUTOS</a:t>
            </a:r>
          </a:p>
        </p:txBody>
      </p:sp>
      <p:sp>
        <p:nvSpPr>
          <p:cNvPr id="96" name="TextBox 95"/>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09</a:t>
            </a:r>
          </a:p>
        </p:txBody>
      </p:sp>
      <p:sp>
        <p:nvSpPr>
          <p:cNvPr id="97" name="TextBox 96"/>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10</a:t>
            </a:r>
          </a:p>
        </p:txBody>
      </p:sp>
      <p:sp>
        <p:nvSpPr>
          <p:cNvPr id="98" name="TextBox 97"/>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8343900" cy="34632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83439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5994946"/>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34632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58275" y="2541240"/>
            <a:ext cx="9525" cy="34632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200525" y="4287143"/>
            <a:ext cx="4629150" cy="9525"/>
          </a:xfrm>
          <a:prstGeom prst="rect">
            <a:avLst/>
          </a:prstGeom>
          <a:solidFill>
            <a:srgbClr val="6D8FB2">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20200" y="2541240"/>
            <a:ext cx="8343900" cy="34632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20200" y="2541240"/>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20200" y="5994946"/>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20200" y="2541240"/>
            <a:ext cx="9525" cy="34632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2541240"/>
            <a:ext cx="9525" cy="34632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696825" y="4287143"/>
            <a:ext cx="4629150" cy="9525"/>
          </a:xfrm>
          <a:prstGeom prst="rect">
            <a:avLst/>
          </a:prstGeom>
          <a:solidFill>
            <a:srgbClr val="6D8FB2">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6156871"/>
            <a:ext cx="8343900" cy="3463379"/>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6156871"/>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9610725"/>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6156871"/>
            <a:ext cx="9525" cy="34633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58275" y="6156871"/>
            <a:ext cx="9525" cy="34633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200525" y="7902773"/>
            <a:ext cx="4629150" cy="9525"/>
          </a:xfrm>
          <a:prstGeom prst="rect">
            <a:avLst/>
          </a:prstGeom>
          <a:solidFill>
            <a:srgbClr val="6D8FB2">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20200" y="6156871"/>
            <a:ext cx="8343900" cy="3463379"/>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20200" y="6156871"/>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220200" y="9610725"/>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20200" y="6156871"/>
            <a:ext cx="9525" cy="34633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6156871"/>
            <a:ext cx="9525" cy="34633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696825" y="7902773"/>
            <a:ext cx="4629150" cy="9525"/>
          </a:xfrm>
          <a:prstGeom prst="rect">
            <a:avLst/>
          </a:prstGeom>
          <a:solidFill>
            <a:srgbClr val="6D8FB2">
              <a:alpha val="3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951738"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6500"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81075" y="1663750"/>
            <a:ext cx="405237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IDENTIFICAR ATRIBUTOS · 02 / 03</a:t>
            </a:r>
          </a:p>
        </p:txBody>
      </p:sp>
      <p:sp>
        <p:nvSpPr>
          <p:cNvPr id="39" name="TextBox 38"/>
          <p:cNvSpPr txBox="1"/>
          <p:nvPr/>
        </p:nvSpPr>
        <p:spPr>
          <a:xfrm>
            <a:off x="981075" y="1885652"/>
            <a:ext cx="1071866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Las señales que deciden la correspondencia</a:t>
            </a:r>
          </a:p>
        </p:txBody>
      </p:sp>
      <p:sp>
        <p:nvSpPr>
          <p:cNvPr id="40" name="TextBox 39"/>
          <p:cNvSpPr txBox="1"/>
          <p:nvPr/>
        </p:nvSpPr>
        <p:spPr>
          <a:xfrm>
            <a:off x="962025" y="4112865"/>
            <a:ext cx="259129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Identificadores</a:t>
            </a:r>
          </a:p>
        </p:txBody>
      </p:sp>
      <p:sp>
        <p:nvSpPr>
          <p:cNvPr id="41" name="TextBox 40"/>
          <p:cNvSpPr txBox="1"/>
          <p:nvPr/>
        </p:nvSpPr>
        <p:spPr>
          <a:xfrm>
            <a:off x="4200525" y="3937575"/>
            <a:ext cx="2546288"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ManufacturerProductId</a:t>
            </a:r>
          </a:p>
        </p:txBody>
      </p:sp>
      <p:sp>
        <p:nvSpPr>
          <p:cNvPr id="42" name="TextBox 41"/>
          <p:cNvSpPr txBox="1"/>
          <p:nvPr/>
        </p:nvSpPr>
        <p:spPr>
          <a:xfrm>
            <a:off x="7140261" y="3915668"/>
            <a:ext cx="1689414"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17.416 oficiales</a:t>
            </a:r>
          </a:p>
        </p:txBody>
      </p:sp>
      <p:sp>
        <p:nvSpPr>
          <p:cNvPr id="43" name="TextBox 42"/>
          <p:cNvSpPr txBox="1"/>
          <p:nvPr/>
        </p:nvSpPr>
        <p:spPr>
          <a:xfrm>
            <a:off x="4200525" y="4423350"/>
            <a:ext cx="2079516"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RetailerProductId</a:t>
            </a:r>
          </a:p>
        </p:txBody>
      </p:sp>
      <p:sp>
        <p:nvSpPr>
          <p:cNvPr id="44" name="TextBox 43"/>
          <p:cNvSpPr txBox="1"/>
          <p:nvPr/>
        </p:nvSpPr>
        <p:spPr>
          <a:xfrm>
            <a:off x="6794040" y="4401443"/>
            <a:ext cx="2035635"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8.528 reutilizados</a:t>
            </a:r>
          </a:p>
        </p:txBody>
      </p:sp>
      <p:sp>
        <p:nvSpPr>
          <p:cNvPr id="45" name="TextBox 44"/>
          <p:cNvSpPr txBox="1"/>
          <p:nvPr/>
        </p:nvSpPr>
        <p:spPr>
          <a:xfrm>
            <a:off x="9458325" y="4112865"/>
            <a:ext cx="1588151"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Nombres</a:t>
            </a:r>
          </a:p>
        </p:txBody>
      </p:sp>
      <p:sp>
        <p:nvSpPr>
          <p:cNvPr id="46" name="TextBox 45"/>
          <p:cNvSpPr txBox="1"/>
          <p:nvPr/>
        </p:nvSpPr>
        <p:spPr>
          <a:xfrm>
            <a:off x="12696825" y="3937575"/>
            <a:ext cx="2779675"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ManufacturerProductName</a:t>
            </a:r>
          </a:p>
        </p:txBody>
      </p:sp>
      <p:sp>
        <p:nvSpPr>
          <p:cNvPr id="47" name="TextBox 46"/>
          <p:cNvSpPr txBox="1"/>
          <p:nvPr/>
        </p:nvSpPr>
        <p:spPr>
          <a:xfrm>
            <a:off x="15699409" y="3915668"/>
            <a:ext cx="1626566"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42 caracteres</a:t>
            </a:r>
          </a:p>
        </p:txBody>
      </p:sp>
      <p:sp>
        <p:nvSpPr>
          <p:cNvPr id="48" name="TextBox 47"/>
          <p:cNvSpPr txBox="1"/>
          <p:nvPr/>
        </p:nvSpPr>
        <p:spPr>
          <a:xfrm>
            <a:off x="12696825" y="4423350"/>
            <a:ext cx="2312902"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RetailerProductName</a:t>
            </a:r>
          </a:p>
        </p:txBody>
      </p:sp>
      <p:sp>
        <p:nvSpPr>
          <p:cNvPr id="49" name="TextBox 48"/>
          <p:cNvSpPr txBox="1"/>
          <p:nvPr/>
        </p:nvSpPr>
        <p:spPr>
          <a:xfrm>
            <a:off x="15302716" y="4401443"/>
            <a:ext cx="2023259"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61 · 90,19% código</a:t>
            </a:r>
          </a:p>
        </p:txBody>
      </p:sp>
      <p:sp>
        <p:nvSpPr>
          <p:cNvPr id="50" name="TextBox 49"/>
          <p:cNvSpPr txBox="1"/>
          <p:nvPr/>
        </p:nvSpPr>
        <p:spPr>
          <a:xfrm>
            <a:off x="962025" y="7582793"/>
            <a:ext cx="3105150" cy="662880"/>
          </a:xfrm>
          <a:prstGeom prst="rect">
            <a:avLst/>
          </a:prstGeom>
          <a:noFill/>
        </p:spPr>
        <p:txBody>
          <a:bodyPr wrap="square" lIns="0" rIns="0" tIns="0" bIns="0" anchor="t">
            <a:spAutoFit/>
          </a:bodyPr>
          <a:lstStyle/>
          <a:p>
            <a:pPr algn="l">
              <a:lnSpc>
                <a:spcPct val="85000"/>
              </a:lnSpc>
            </a:pPr>
            <a:r>
              <a:rPr sz="2250" b="1" i="0">
                <a:solidFill>
                  <a:srgbClr val="F3F7FC"/>
                </a:solidFill>
                <a:latin typeface="Montserrat"/>
              </a:rPr>
              <a:t>Descripción y códigos</a:t>
            </a:r>
          </a:p>
        </p:txBody>
      </p:sp>
      <p:sp>
        <p:nvSpPr>
          <p:cNvPr id="51" name="TextBox 50"/>
          <p:cNvSpPr txBox="1"/>
          <p:nvPr/>
        </p:nvSpPr>
        <p:spPr>
          <a:xfrm>
            <a:off x="4200525" y="7553206"/>
            <a:ext cx="3596688"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ManufacturerProductDescription</a:t>
            </a:r>
          </a:p>
        </p:txBody>
      </p:sp>
      <p:sp>
        <p:nvSpPr>
          <p:cNvPr id="52" name="TextBox 51"/>
          <p:cNvSpPr txBox="1"/>
          <p:nvPr/>
        </p:nvSpPr>
        <p:spPr>
          <a:xfrm>
            <a:off x="7425083" y="7531298"/>
            <a:ext cx="1404592"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5,35% nulos</a:t>
            </a:r>
          </a:p>
        </p:txBody>
      </p:sp>
      <p:sp>
        <p:nvSpPr>
          <p:cNvPr id="53" name="TextBox 52"/>
          <p:cNvSpPr txBox="1"/>
          <p:nvPr/>
        </p:nvSpPr>
        <p:spPr>
          <a:xfrm>
            <a:off x="4200525" y="8038981"/>
            <a:ext cx="1145810"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ExtraInfo</a:t>
            </a:r>
          </a:p>
        </p:txBody>
      </p:sp>
      <p:sp>
        <p:nvSpPr>
          <p:cNvPr id="54" name="TextBox 53"/>
          <p:cNvSpPr txBox="1"/>
          <p:nvPr/>
        </p:nvSpPr>
        <p:spPr>
          <a:xfrm>
            <a:off x="7424118" y="8017073"/>
            <a:ext cx="1405557"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67,20% EAN</a:t>
            </a:r>
          </a:p>
        </p:txBody>
      </p:sp>
      <p:sp>
        <p:nvSpPr>
          <p:cNvPr id="55" name="TextBox 54"/>
          <p:cNvSpPr txBox="1"/>
          <p:nvPr/>
        </p:nvSpPr>
        <p:spPr>
          <a:xfrm>
            <a:off x="9458325" y="7728496"/>
            <a:ext cx="1591848"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Contexto</a:t>
            </a:r>
          </a:p>
        </p:txBody>
      </p:sp>
      <p:sp>
        <p:nvSpPr>
          <p:cNvPr id="56" name="TextBox 55"/>
          <p:cNvSpPr txBox="1"/>
          <p:nvPr/>
        </p:nvSpPr>
        <p:spPr>
          <a:xfrm>
            <a:off x="12696825" y="7553206"/>
            <a:ext cx="678877"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Brand</a:t>
            </a:r>
          </a:p>
        </p:txBody>
      </p:sp>
      <p:sp>
        <p:nvSpPr>
          <p:cNvPr id="57" name="TextBox 56"/>
          <p:cNvSpPr txBox="1"/>
          <p:nvPr/>
        </p:nvSpPr>
        <p:spPr>
          <a:xfrm>
            <a:off x="15380672" y="7531298"/>
            <a:ext cx="1945303"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82,80% presente</a:t>
            </a:r>
          </a:p>
        </p:txBody>
      </p:sp>
      <p:sp>
        <p:nvSpPr>
          <p:cNvPr id="58" name="TextBox 57"/>
          <p:cNvSpPr txBox="1"/>
          <p:nvPr/>
        </p:nvSpPr>
        <p:spPr>
          <a:xfrm>
            <a:off x="12696825" y="8038981"/>
            <a:ext cx="3946767" cy="270510"/>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ManufacturerProductMappingCountry</a:t>
            </a:r>
          </a:p>
        </p:txBody>
      </p:sp>
      <p:sp>
        <p:nvSpPr>
          <p:cNvPr id="59" name="TextBox 58"/>
          <p:cNvSpPr txBox="1"/>
          <p:nvPr/>
        </p:nvSpPr>
        <p:spPr>
          <a:xfrm>
            <a:off x="16205561" y="8017073"/>
            <a:ext cx="1120414" cy="295275"/>
          </a:xfrm>
          <a:prstGeom prst="rect">
            <a:avLst/>
          </a:prstGeom>
          <a:noFill/>
        </p:spPr>
        <p:txBody>
          <a:bodyPr wrap="none" lIns="0" rIns="0" tIns="0" bIns="0" anchor="t">
            <a:spAutoFit/>
          </a:bodyPr>
          <a:lstStyle/>
          <a:p>
            <a:pPr algn="r">
              <a:lnSpc>
                <a:spcPct val="100000"/>
              </a:lnSpc>
            </a:pPr>
            <a:r>
              <a:rPr sz="1800" b="1" i="0">
                <a:solidFill>
                  <a:srgbClr val="FFD21F"/>
                </a:solidFill>
                <a:latin typeface="Barlow"/>
              </a:rPr>
              <a:t>65 países</a:t>
            </a:r>
          </a:p>
        </p:txBody>
      </p:sp>
      <p:sp>
        <p:nvSpPr>
          <p:cNvPr id="60" name="TextBox 59"/>
          <p:cNvSpPr txBox="1"/>
          <p:nvPr/>
        </p:nvSpPr>
        <p:spPr>
          <a:xfrm>
            <a:off x="904577" y="9766935"/>
            <a:ext cx="217370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IDENTIFICAR ATRIBUTOS</a:t>
            </a:r>
          </a:p>
        </p:txBody>
      </p:sp>
      <p:sp>
        <p:nvSpPr>
          <p:cNvPr id="61" name="TextBox 60"/>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09</a:t>
            </a:r>
          </a:p>
        </p:txBody>
      </p:sp>
      <p:sp>
        <p:nvSpPr>
          <p:cNvPr id="62" name="TextBox 61"/>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10</a:t>
            </a:r>
          </a:p>
        </p:txBody>
      </p:sp>
      <p:sp>
        <p:nvSpPr>
          <p:cNvPr id="63" name="TextBox 62"/>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4978301" cy="52883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4978301"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7820025"/>
            <a:ext cx="4978301"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692676"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816501" y="5171033"/>
            <a:ext cx="72390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654701" y="2541240"/>
            <a:ext cx="4978450" cy="52883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654701" y="2541240"/>
            <a:ext cx="49784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654701" y="7820025"/>
            <a:ext cx="49784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654701"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623625"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747450" y="5171033"/>
            <a:ext cx="72390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585650" y="2541240"/>
            <a:ext cx="4978450" cy="52883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585650" y="2541240"/>
            <a:ext cx="49784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585650" y="7820025"/>
            <a:ext cx="49784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585650"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7554575" y="2541240"/>
            <a:ext cx="9525" cy="52883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28662" y="8005762"/>
            <a:ext cx="16830675" cy="1609725"/>
          </a:xfrm>
          <a:prstGeom prst="rect">
            <a:avLst/>
          </a:prstGeom>
          <a:solidFill>
            <a:srgbClr val="07172D">
              <a:alpha val="86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5480209" y="8572500"/>
            <a:ext cx="1788616" cy="4762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956500"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793563" y="9720262"/>
            <a:ext cx="4765774"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2798326" y="9944100"/>
            <a:ext cx="71343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Decoracion" descr="s45_deco_00.png"/>
          <p:cNvPicPr>
            <a:picLocks noChangeAspect="1"/>
          </p:cNvPicPr>
          <p:nvPr/>
        </p:nvPicPr>
        <p:blipFill>
          <a:blip r:embed="rId4"/>
          <a:stretch>
            <a:fillRect/>
          </a:stretch>
        </p:blipFill>
        <p:spPr>
          <a:xfrm>
            <a:off x="6391275" y="5010150"/>
            <a:ext cx="285750" cy="361950"/>
          </a:xfrm>
          <a:prstGeom prst="rect">
            <a:avLst/>
          </a:prstGeom>
        </p:spPr>
      </p:pic>
      <p:pic>
        <p:nvPicPr>
          <p:cNvPr id="35" name="Decoracion" descr="s45_deco_00.png"/>
          <p:cNvPicPr>
            <a:picLocks noChangeAspect="1"/>
          </p:cNvPicPr>
          <p:nvPr/>
        </p:nvPicPr>
        <p:blipFill>
          <a:blip r:embed="rId4"/>
          <a:stretch>
            <a:fillRect/>
          </a:stretch>
        </p:blipFill>
        <p:spPr>
          <a:xfrm>
            <a:off x="12315825" y="5010150"/>
            <a:ext cx="285750" cy="361950"/>
          </a:xfrm>
          <a:prstGeom prst="rect">
            <a:avLst/>
          </a:prstGeom>
        </p:spPr>
      </p:pic>
      <p:sp>
        <p:nvSpPr>
          <p:cNvPr id="36" name="TextBox 35"/>
          <p:cNvSpPr txBox="1"/>
          <p:nvPr/>
        </p:nvSpPr>
        <p:spPr>
          <a:xfrm>
            <a:off x="981075" y="1663750"/>
            <a:ext cx="404786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IDENTIFICAR ATRIBUTOS · 03 / 03</a:t>
            </a:r>
          </a:p>
        </p:txBody>
      </p:sp>
      <p:sp>
        <p:nvSpPr>
          <p:cNvPr id="37" name="TextBox 36"/>
          <p:cNvSpPr txBox="1"/>
          <p:nvPr/>
        </p:nvSpPr>
        <p:spPr>
          <a:xfrm>
            <a:off x="981075" y="1885652"/>
            <a:ext cx="1144084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Los atributos de calidad y una trampa concreta</a:t>
            </a:r>
          </a:p>
        </p:txBody>
      </p:sp>
      <p:sp>
        <p:nvSpPr>
          <p:cNvPr id="38" name="TextBox 37"/>
          <p:cNvSpPr txBox="1"/>
          <p:nvPr/>
        </p:nvSpPr>
        <p:spPr>
          <a:xfrm>
            <a:off x="1019175" y="4529435"/>
            <a:ext cx="1391733" cy="390525"/>
          </a:xfrm>
          <a:prstGeom prst="rect">
            <a:avLst/>
          </a:prstGeom>
          <a:noFill/>
        </p:spPr>
        <p:txBody>
          <a:bodyPr wrap="none" lIns="0" rIns="0" tIns="0" bIns="0" anchor="t">
            <a:spAutoFit/>
          </a:bodyPr>
          <a:lstStyle/>
          <a:p>
            <a:pPr algn="l">
              <a:lnSpc>
                <a:spcPct val="83300"/>
              </a:lnSpc>
            </a:pPr>
            <a:r>
              <a:rPr sz="2250" b="1" i="0">
                <a:solidFill>
                  <a:srgbClr val="FFD21F"/>
                </a:solidFill>
                <a:latin typeface="Roboto Mono"/>
              </a:rPr>
              <a:t>Invalid</a:t>
            </a:r>
          </a:p>
        </p:txBody>
      </p:sp>
      <p:sp>
        <p:nvSpPr>
          <p:cNvPr id="39" name="TextBox 38"/>
          <p:cNvSpPr txBox="1"/>
          <p:nvPr/>
        </p:nvSpPr>
        <p:spPr>
          <a:xfrm>
            <a:off x="1019175" y="5062835"/>
            <a:ext cx="1135844" cy="323850"/>
          </a:xfrm>
          <a:prstGeom prst="rect">
            <a:avLst/>
          </a:prstGeom>
          <a:noFill/>
        </p:spPr>
        <p:txBody>
          <a:bodyPr wrap="none" lIns="0" rIns="0" tIns="0" bIns="0" anchor="t">
            <a:spAutoFit/>
          </a:bodyPr>
          <a:lstStyle/>
          <a:p>
            <a:pPr algn="l">
              <a:lnSpc>
                <a:spcPct val="93300"/>
              </a:lnSpc>
            </a:pPr>
            <a:r>
              <a:rPr sz="1805" b="1" i="0">
                <a:solidFill>
                  <a:srgbClr val="FFD21F"/>
                </a:solidFill>
                <a:latin typeface="Roboto Mono"/>
              </a:rPr>
              <a:t>"false"</a:t>
            </a:r>
          </a:p>
        </p:txBody>
      </p:sp>
      <p:sp>
        <p:nvSpPr>
          <p:cNvPr id="40" name="TextBox 39"/>
          <p:cNvSpPr txBox="1"/>
          <p:nvPr/>
        </p:nvSpPr>
        <p:spPr>
          <a:xfrm>
            <a:off x="1019175" y="5523458"/>
            <a:ext cx="3155150" cy="342900"/>
          </a:xfrm>
          <a:prstGeom prst="rect">
            <a:avLst/>
          </a:prstGeom>
          <a:noFill/>
        </p:spPr>
        <p:txBody>
          <a:bodyPr wrap="none" lIns="0" rIns="0" tIns="0" bIns="0" anchor="t">
            <a:spAutoFit/>
          </a:bodyPr>
          <a:lstStyle/>
          <a:p>
            <a:pPr algn="l">
              <a:lnSpc>
                <a:spcPct val="93300"/>
              </a:lnSpc>
            </a:pPr>
            <a:r>
              <a:rPr sz="2100" b="1" i="0">
                <a:solidFill>
                  <a:srgbClr val="F3F7FC"/>
                </a:solidFill>
                <a:latin typeface="Barlow"/>
              </a:rPr>
              <a:t>2.136 registros inválidos</a:t>
            </a:r>
          </a:p>
        </p:txBody>
      </p:sp>
      <p:sp>
        <p:nvSpPr>
          <p:cNvPr id="41" name="TextBox 40"/>
          <p:cNvSpPr txBox="1"/>
          <p:nvPr/>
        </p:nvSpPr>
        <p:spPr>
          <a:xfrm>
            <a:off x="6949976" y="4529435"/>
            <a:ext cx="1762065" cy="390525"/>
          </a:xfrm>
          <a:prstGeom prst="rect">
            <a:avLst/>
          </a:prstGeom>
          <a:noFill/>
        </p:spPr>
        <p:txBody>
          <a:bodyPr wrap="none" lIns="0" rIns="0" tIns="0" bIns="0" anchor="t">
            <a:spAutoFit/>
          </a:bodyPr>
          <a:lstStyle/>
          <a:p>
            <a:pPr algn="l">
              <a:lnSpc>
                <a:spcPct val="83300"/>
              </a:lnSpc>
            </a:pPr>
            <a:r>
              <a:rPr sz="2250" b="1" i="0">
                <a:solidFill>
                  <a:srgbClr val="FFD21F"/>
                </a:solidFill>
                <a:latin typeface="Roboto Mono"/>
              </a:rPr>
              <a:t>IsDeleted</a:t>
            </a:r>
          </a:p>
        </p:txBody>
      </p:sp>
      <p:sp>
        <p:nvSpPr>
          <p:cNvPr id="42" name="TextBox 41"/>
          <p:cNvSpPr txBox="1"/>
          <p:nvPr/>
        </p:nvSpPr>
        <p:spPr>
          <a:xfrm>
            <a:off x="6949976" y="5062835"/>
            <a:ext cx="1135844" cy="323850"/>
          </a:xfrm>
          <a:prstGeom prst="rect">
            <a:avLst/>
          </a:prstGeom>
          <a:noFill/>
        </p:spPr>
        <p:txBody>
          <a:bodyPr wrap="none" lIns="0" rIns="0" tIns="0" bIns="0" anchor="t">
            <a:spAutoFit/>
          </a:bodyPr>
          <a:lstStyle/>
          <a:p>
            <a:pPr algn="l">
              <a:lnSpc>
                <a:spcPct val="93300"/>
              </a:lnSpc>
            </a:pPr>
            <a:r>
              <a:rPr sz="1805" b="1" i="0">
                <a:solidFill>
                  <a:srgbClr val="FFD21F"/>
                </a:solidFill>
                <a:latin typeface="Roboto Mono"/>
              </a:rPr>
              <a:t>"false"</a:t>
            </a:r>
          </a:p>
        </p:txBody>
      </p:sp>
      <p:sp>
        <p:nvSpPr>
          <p:cNvPr id="43" name="TextBox 42"/>
          <p:cNvSpPr txBox="1"/>
          <p:nvPr/>
        </p:nvSpPr>
        <p:spPr>
          <a:xfrm>
            <a:off x="6949976" y="5523458"/>
            <a:ext cx="3471154" cy="342900"/>
          </a:xfrm>
          <a:prstGeom prst="rect">
            <a:avLst/>
          </a:prstGeom>
          <a:noFill/>
        </p:spPr>
        <p:txBody>
          <a:bodyPr wrap="none" lIns="0" rIns="0" tIns="0" bIns="0" anchor="t">
            <a:spAutoFit/>
          </a:bodyPr>
          <a:lstStyle/>
          <a:p>
            <a:pPr algn="l">
              <a:lnSpc>
                <a:spcPct val="93300"/>
              </a:lnSpc>
            </a:pPr>
            <a:r>
              <a:rPr sz="2100" b="1" i="0">
                <a:solidFill>
                  <a:srgbClr val="F3F7FC"/>
                </a:solidFill>
                <a:latin typeface="Barlow"/>
              </a:rPr>
              <a:t>2.355 registros eliminados</a:t>
            </a:r>
          </a:p>
        </p:txBody>
      </p:sp>
      <p:sp>
        <p:nvSpPr>
          <p:cNvPr id="44" name="TextBox 43"/>
          <p:cNvSpPr txBox="1"/>
          <p:nvPr/>
        </p:nvSpPr>
        <p:spPr>
          <a:xfrm>
            <a:off x="12880925" y="4529435"/>
            <a:ext cx="2873222" cy="390525"/>
          </a:xfrm>
          <a:prstGeom prst="rect">
            <a:avLst/>
          </a:prstGeom>
          <a:noFill/>
        </p:spPr>
        <p:txBody>
          <a:bodyPr wrap="none" lIns="0" rIns="0" tIns="0" bIns="0" anchor="t">
            <a:spAutoFit/>
          </a:bodyPr>
          <a:lstStyle/>
          <a:p>
            <a:pPr algn="l">
              <a:lnSpc>
                <a:spcPct val="83300"/>
              </a:lnSpc>
            </a:pPr>
            <a:r>
              <a:rPr sz="2250" b="1" i="0">
                <a:solidFill>
                  <a:srgbClr val="FFD21F"/>
                </a:solidFill>
                <a:latin typeface="Roboto Mono"/>
              </a:rPr>
              <a:t>MatchConfidence</a:t>
            </a:r>
          </a:p>
        </p:txBody>
      </p:sp>
      <p:sp>
        <p:nvSpPr>
          <p:cNvPr id="45" name="TextBox 44"/>
          <p:cNvSpPr txBox="1"/>
          <p:nvPr/>
        </p:nvSpPr>
        <p:spPr>
          <a:xfrm>
            <a:off x="12880925" y="5062835"/>
            <a:ext cx="541288" cy="323850"/>
          </a:xfrm>
          <a:prstGeom prst="rect">
            <a:avLst/>
          </a:prstGeom>
          <a:noFill/>
        </p:spPr>
        <p:txBody>
          <a:bodyPr wrap="none" lIns="0" rIns="0" tIns="0" bIns="0" anchor="t">
            <a:spAutoFit/>
          </a:bodyPr>
          <a:lstStyle/>
          <a:p>
            <a:pPr algn="l">
              <a:lnSpc>
                <a:spcPct val="93300"/>
              </a:lnSpc>
            </a:pPr>
            <a:r>
              <a:rPr sz="1805" b="1" i="0">
                <a:solidFill>
                  <a:srgbClr val="FFD21F"/>
                </a:solidFill>
                <a:latin typeface="Roboto Mono"/>
              </a:rPr>
              <a:t>100</a:t>
            </a:r>
          </a:p>
        </p:txBody>
      </p:sp>
      <p:sp>
        <p:nvSpPr>
          <p:cNvPr id="46" name="TextBox 45"/>
          <p:cNvSpPr txBox="1"/>
          <p:nvPr/>
        </p:nvSpPr>
        <p:spPr>
          <a:xfrm>
            <a:off x="12880925" y="5523458"/>
            <a:ext cx="3726882" cy="342900"/>
          </a:xfrm>
          <a:prstGeom prst="rect">
            <a:avLst/>
          </a:prstGeom>
          <a:noFill/>
        </p:spPr>
        <p:txBody>
          <a:bodyPr wrap="none" lIns="0" rIns="0" tIns="0" bIns="0" anchor="t">
            <a:spAutoFit/>
          </a:bodyPr>
          <a:lstStyle/>
          <a:p>
            <a:pPr algn="l">
              <a:lnSpc>
                <a:spcPct val="93300"/>
              </a:lnSpc>
            </a:pPr>
            <a:r>
              <a:rPr sz="2100" b="1" i="0">
                <a:solidFill>
                  <a:srgbClr val="F3F7FC"/>
                </a:solidFill>
                <a:latin typeface="Barlow"/>
              </a:rPr>
              <a:t>129.473 con 100 · 34 con −100</a:t>
            </a:r>
          </a:p>
        </p:txBody>
      </p:sp>
      <p:sp>
        <p:nvSpPr>
          <p:cNvPr id="47" name="TextBox 46"/>
          <p:cNvSpPr txBox="1"/>
          <p:nvPr/>
        </p:nvSpPr>
        <p:spPr>
          <a:xfrm>
            <a:off x="1019175" y="8629650"/>
            <a:ext cx="2064568" cy="381000"/>
          </a:xfrm>
          <a:prstGeom prst="rect">
            <a:avLst/>
          </a:prstGeom>
          <a:noFill/>
        </p:spPr>
        <p:txBody>
          <a:bodyPr wrap="none" lIns="0" rIns="0" tIns="0" bIns="0" anchor="t">
            <a:spAutoFit/>
          </a:bodyPr>
          <a:lstStyle/>
          <a:p>
            <a:pPr algn="l">
              <a:lnSpc>
                <a:spcPct val="100000"/>
              </a:lnSpc>
            </a:pPr>
            <a:r>
              <a:rPr sz="2175" b="1" i="0">
                <a:solidFill>
                  <a:srgbClr val="FFD21F"/>
                </a:solidFill>
                <a:latin typeface="Roboto Mono"/>
              </a:rPr>
              <a:t>LinkIsValid</a:t>
            </a:r>
          </a:p>
        </p:txBody>
      </p:sp>
      <p:sp>
        <p:nvSpPr>
          <p:cNvPr id="48" name="TextBox 47"/>
          <p:cNvSpPr txBox="1"/>
          <p:nvPr/>
        </p:nvSpPr>
        <p:spPr>
          <a:xfrm>
            <a:off x="3933825" y="8629650"/>
            <a:ext cx="1130495" cy="381000"/>
          </a:xfrm>
          <a:prstGeom prst="rect">
            <a:avLst/>
          </a:prstGeom>
          <a:noFill/>
        </p:spPr>
        <p:txBody>
          <a:bodyPr wrap="none" lIns="0" rIns="0" tIns="0" bIns="0" anchor="t">
            <a:spAutoFit/>
          </a:bodyPr>
          <a:lstStyle/>
          <a:p>
            <a:pPr algn="l">
              <a:lnSpc>
                <a:spcPct val="109200"/>
              </a:lnSpc>
            </a:pPr>
            <a:r>
              <a:rPr sz="2175" b="1" i="0">
                <a:solidFill>
                  <a:srgbClr val="FFD21F"/>
                </a:solidFill>
                <a:latin typeface="Roboto Mono"/>
              </a:rPr>
              <a:t>"true"</a:t>
            </a:r>
          </a:p>
        </p:txBody>
      </p:sp>
      <p:sp>
        <p:nvSpPr>
          <p:cNvPr id="49" name="TextBox 48"/>
          <p:cNvSpPr txBox="1"/>
          <p:nvPr/>
        </p:nvSpPr>
        <p:spPr>
          <a:xfrm>
            <a:off x="4976068" y="8677275"/>
            <a:ext cx="223230" cy="304800"/>
          </a:xfrm>
          <a:prstGeom prst="rect">
            <a:avLst/>
          </a:prstGeom>
          <a:noFill/>
        </p:spPr>
        <p:txBody>
          <a:bodyPr wrap="none" lIns="0" rIns="0" tIns="0" bIns="0" anchor="t">
            <a:spAutoFit/>
          </a:bodyPr>
          <a:lstStyle/>
          <a:p>
            <a:pPr algn="l">
              <a:lnSpc>
                <a:spcPct val="100000"/>
              </a:lnSpc>
            </a:pPr>
            <a:r>
              <a:rPr sz="1875" b="0" i="0">
                <a:solidFill>
                  <a:srgbClr val="F3F7FC"/>
                </a:solidFill>
                <a:latin typeface="Barlow"/>
              </a:rPr>
              <a:t>/</a:t>
            </a:r>
          </a:p>
        </p:txBody>
      </p:sp>
      <p:sp>
        <p:nvSpPr>
          <p:cNvPr id="50" name="TextBox 49"/>
          <p:cNvSpPr txBox="1"/>
          <p:nvPr/>
        </p:nvSpPr>
        <p:spPr>
          <a:xfrm>
            <a:off x="5114776" y="8629650"/>
            <a:ext cx="1306238" cy="381000"/>
          </a:xfrm>
          <a:prstGeom prst="rect">
            <a:avLst/>
          </a:prstGeom>
          <a:noFill/>
        </p:spPr>
        <p:txBody>
          <a:bodyPr wrap="none" lIns="0" rIns="0" tIns="0" bIns="0" anchor="t">
            <a:spAutoFit/>
          </a:bodyPr>
          <a:lstStyle/>
          <a:p>
            <a:pPr algn="l">
              <a:lnSpc>
                <a:spcPct val="109200"/>
              </a:lnSpc>
            </a:pPr>
            <a:r>
              <a:rPr sz="2175" b="1" i="0">
                <a:solidFill>
                  <a:srgbClr val="FFD21F"/>
                </a:solidFill>
                <a:latin typeface="Roboto Mono"/>
              </a:rPr>
              <a:t>"false"</a:t>
            </a:r>
          </a:p>
        </p:txBody>
      </p:sp>
      <p:sp>
        <p:nvSpPr>
          <p:cNvPr id="51" name="TextBox 50"/>
          <p:cNvSpPr txBox="1"/>
          <p:nvPr/>
        </p:nvSpPr>
        <p:spPr>
          <a:xfrm>
            <a:off x="6322814" y="8677275"/>
            <a:ext cx="4041916" cy="304800"/>
          </a:xfrm>
          <a:prstGeom prst="rect">
            <a:avLst/>
          </a:prstGeom>
          <a:noFill/>
        </p:spPr>
        <p:txBody>
          <a:bodyPr wrap="none" lIns="0" rIns="0" tIns="0" bIns="0" anchor="t">
            <a:spAutoFit/>
          </a:bodyPr>
          <a:lstStyle/>
          <a:p>
            <a:pPr algn="l">
              <a:lnSpc>
                <a:spcPct val="100000"/>
              </a:lnSpc>
            </a:pPr>
            <a:r>
              <a:rPr sz="1875" b="0" i="0">
                <a:solidFill>
                  <a:srgbClr val="F3F7FC"/>
                </a:solidFill>
                <a:latin typeface="Barlow"/>
              </a:rPr>
              <a:t>· Solo indicador del estado del enlace</a:t>
            </a:r>
          </a:p>
        </p:txBody>
      </p:sp>
      <p:sp>
        <p:nvSpPr>
          <p:cNvPr id="52" name="TextBox 51"/>
          <p:cNvSpPr txBox="1"/>
          <p:nvPr/>
        </p:nvSpPr>
        <p:spPr>
          <a:xfrm>
            <a:off x="15670709" y="8684895"/>
            <a:ext cx="1615476" cy="270510"/>
          </a:xfrm>
          <a:prstGeom prst="rect">
            <a:avLst/>
          </a:prstGeom>
          <a:noFill/>
        </p:spPr>
        <p:txBody>
          <a:bodyPr wrap="none" lIns="0" rIns="0" tIns="0" bIns="0" anchor="t">
            <a:spAutoFit/>
          </a:bodyPr>
          <a:lstStyle/>
          <a:p>
            <a:pPr algn="l">
              <a:lnSpc>
                <a:spcPct val="100000"/>
              </a:lnSpc>
            </a:pPr>
            <a:r>
              <a:rPr sz="1650" b="1" i="0" spc="99">
                <a:solidFill>
                  <a:srgbClr val="07172D"/>
                </a:solidFill>
                <a:latin typeface="Barlow"/>
              </a:rPr>
              <a:t>NO ES FILTRO</a:t>
            </a:r>
          </a:p>
        </p:txBody>
      </p:sp>
      <p:sp>
        <p:nvSpPr>
          <p:cNvPr id="53" name="TextBox 52"/>
          <p:cNvSpPr txBox="1"/>
          <p:nvPr/>
        </p:nvSpPr>
        <p:spPr>
          <a:xfrm>
            <a:off x="904577" y="9766935"/>
            <a:ext cx="217370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IDENTIFICAR ATRIBUTOS</a:t>
            </a:r>
          </a:p>
        </p:txBody>
      </p:sp>
      <p:sp>
        <p:nvSpPr>
          <p:cNvPr id="54" name="TextBox 53"/>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09</a:t>
            </a:r>
          </a:p>
        </p:txBody>
      </p:sp>
      <p:sp>
        <p:nvSpPr>
          <p:cNvPr id="55" name="TextBox 54"/>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10</a:t>
            </a:r>
          </a:p>
        </p:txBody>
      </p:sp>
      <p:sp>
        <p:nvSpPr>
          <p:cNvPr id="56" name="TextBox 55"/>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533400"/>
          </a:xfrm>
          <a:prstGeom prst="rect">
            <a:avLst/>
          </a:prstGeom>
          <a:solidFill>
            <a:srgbClr val="0D2748">
              <a:alpha val="74000"/>
            </a:srgbClr>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236565"/>
            <a:ext cx="8343900" cy="3115568"/>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236565"/>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6342608"/>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236565"/>
            <a:ext cx="9525" cy="3115568"/>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58275" y="3236565"/>
            <a:ext cx="9525" cy="3115568"/>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20200" y="3236565"/>
            <a:ext cx="8343900" cy="3115568"/>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20200" y="3236565"/>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20200" y="6342608"/>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20200" y="3236565"/>
            <a:ext cx="9525" cy="3115568"/>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3236565"/>
            <a:ext cx="9525" cy="3115568"/>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6504533"/>
            <a:ext cx="8343900" cy="3115717"/>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6504533"/>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9610725"/>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6504533"/>
            <a:ext cx="9525" cy="3115717"/>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058275" y="6504533"/>
            <a:ext cx="9525" cy="3115717"/>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20200" y="6504533"/>
            <a:ext cx="8343900" cy="3115717"/>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220200" y="6504533"/>
            <a:ext cx="83439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20200" y="9610725"/>
            <a:ext cx="83439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20200" y="6504533"/>
            <a:ext cx="9525" cy="3115717"/>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575" y="6504533"/>
            <a:ext cx="9525" cy="3115717"/>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0991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3114675" y="9944100"/>
            <a:ext cx="37582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1075" y="1663750"/>
            <a:ext cx="3694575"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01 / 05</a:t>
            </a:r>
          </a:p>
        </p:txBody>
      </p:sp>
      <p:sp>
        <p:nvSpPr>
          <p:cNvPr id="37" name="TextBox 36"/>
          <p:cNvSpPr txBox="1"/>
          <p:nvPr/>
        </p:nvSpPr>
        <p:spPr>
          <a:xfrm>
            <a:off x="981075" y="1923752"/>
            <a:ext cx="3724192" cy="514350"/>
          </a:xfrm>
          <a:prstGeom prst="rect">
            <a:avLst/>
          </a:prstGeom>
          <a:noFill/>
        </p:spPr>
        <p:txBody>
          <a:bodyPr wrap="none" lIns="0" rIns="0" tIns="0" bIns="0" anchor="t">
            <a:spAutoFit/>
          </a:bodyPr>
          <a:lstStyle/>
          <a:p>
            <a:pPr algn="l">
              <a:lnSpc>
                <a:spcPct val="109500"/>
              </a:lnSpc>
            </a:pPr>
            <a:r>
              <a:rPr sz="2967" b="1" i="0" spc="-86">
                <a:solidFill>
                  <a:srgbClr val="FFD21F"/>
                </a:solidFill>
                <a:latin typeface="Roboto Mono"/>
              </a:rPr>
              <a:t>data/raw/hidden/</a:t>
            </a:r>
          </a:p>
        </p:txBody>
      </p:sp>
      <p:sp>
        <p:nvSpPr>
          <p:cNvPr id="38" name="TextBox 37"/>
          <p:cNvSpPr txBox="1"/>
          <p:nvPr/>
        </p:nvSpPr>
        <p:spPr>
          <a:xfrm>
            <a:off x="4539109" y="1885652"/>
            <a:ext cx="4358378" cy="561975"/>
          </a:xfrm>
          <a:prstGeom prst="rect">
            <a:avLst/>
          </a:prstGeom>
          <a:noFill/>
        </p:spPr>
        <p:txBody>
          <a:bodyPr wrap="none" lIns="0" rIns="0" tIns="0" bIns="0" anchor="t">
            <a:spAutoFit/>
          </a:bodyPr>
          <a:lstStyle/>
          <a:p>
            <a:pPr algn="l">
              <a:lnSpc>
                <a:spcPct val="103300"/>
              </a:lnSpc>
            </a:pPr>
            <a:r>
              <a:rPr sz="3450" b="1" i="0" spc="-86">
                <a:solidFill>
                  <a:srgbClr val="F3F7FC"/>
                </a:solidFill>
                <a:latin typeface="Montserrat"/>
              </a:rPr>
              <a:t>· Contrato mínimo</a:t>
            </a:r>
          </a:p>
        </p:txBody>
      </p:sp>
      <p:sp>
        <p:nvSpPr>
          <p:cNvPr id="39" name="TextBox 38"/>
          <p:cNvSpPr txBox="1"/>
          <p:nvPr/>
        </p:nvSpPr>
        <p:spPr>
          <a:xfrm>
            <a:off x="904875" y="2707928"/>
            <a:ext cx="3278434" cy="247650"/>
          </a:xfrm>
          <a:prstGeom prst="rect">
            <a:avLst/>
          </a:prstGeom>
          <a:noFill/>
        </p:spPr>
        <p:txBody>
          <a:bodyPr wrap="none" lIns="0" rIns="0" tIns="0" bIns="0" anchor="t">
            <a:spAutoFit/>
          </a:bodyPr>
          <a:lstStyle/>
          <a:p>
            <a:pPr algn="l">
              <a:lnSpc>
                <a:spcPct val="100000"/>
              </a:lnSpc>
            </a:pPr>
            <a:r>
              <a:rPr sz="1289" b="1" i="0">
                <a:solidFill>
                  <a:srgbClr val="FFD21F"/>
                </a:solidFill>
                <a:latin typeface="Roboto Mono"/>
              </a:rPr>
              <a:t>final_combined_data_hidden.csv</a:t>
            </a:r>
          </a:p>
        </p:txBody>
      </p:sp>
      <p:sp>
        <p:nvSpPr>
          <p:cNvPr id="40" name="TextBox 39"/>
          <p:cNvSpPr txBox="1"/>
          <p:nvPr/>
        </p:nvSpPr>
        <p:spPr>
          <a:xfrm>
            <a:off x="14751695" y="2664113"/>
            <a:ext cx="2937194"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15.355 filas · 4 columnas</a:t>
            </a:r>
          </a:p>
        </p:txBody>
      </p:sp>
      <p:sp>
        <p:nvSpPr>
          <p:cNvPr id="41" name="TextBox 40"/>
          <p:cNvSpPr txBox="1"/>
          <p:nvPr/>
        </p:nvSpPr>
        <p:spPr>
          <a:xfrm>
            <a:off x="1000125" y="4300686"/>
            <a:ext cx="1947231" cy="333375"/>
          </a:xfrm>
          <a:prstGeom prst="rect">
            <a:avLst/>
          </a:prstGeom>
          <a:noFill/>
        </p:spPr>
        <p:txBody>
          <a:bodyPr wrap="none" lIns="0" rIns="0" tIns="0" bIns="0" anchor="t">
            <a:spAutoFit/>
          </a:bodyPr>
          <a:lstStyle/>
          <a:p>
            <a:pPr algn="l">
              <a:lnSpc>
                <a:spcPct val="100000"/>
              </a:lnSpc>
            </a:pPr>
            <a:r>
              <a:rPr sz="1875" b="1" i="0">
                <a:solidFill>
                  <a:srgbClr val="FFD21F"/>
                </a:solidFill>
                <a:latin typeface="Roboto Mono"/>
              </a:rPr>
              <a:t>product_name</a:t>
            </a:r>
          </a:p>
        </p:txBody>
      </p:sp>
      <p:sp>
        <p:nvSpPr>
          <p:cNvPr id="42" name="TextBox 41"/>
          <p:cNvSpPr txBox="1"/>
          <p:nvPr/>
        </p:nvSpPr>
        <p:spPr>
          <a:xfrm>
            <a:off x="1000125" y="4710261"/>
            <a:ext cx="2690789" cy="295275"/>
          </a:xfrm>
          <a:prstGeom prst="rect">
            <a:avLst/>
          </a:prstGeom>
          <a:noFill/>
        </p:spPr>
        <p:txBody>
          <a:bodyPr wrap="none" lIns="0" rIns="0" tIns="0" bIns="0" anchor="t">
            <a:spAutoFit/>
          </a:bodyPr>
          <a:lstStyle/>
          <a:p>
            <a:pPr algn="l">
              <a:lnSpc>
                <a:spcPct val="93300"/>
              </a:lnSpc>
            </a:pPr>
            <a:r>
              <a:rPr sz="1800" b="1" i="0">
                <a:solidFill>
                  <a:srgbClr val="FFD21F"/>
                </a:solidFill>
                <a:latin typeface="Barlow"/>
              </a:rPr>
              <a:t>Pila Bvp007 20W 4000K</a:t>
            </a:r>
          </a:p>
        </p:txBody>
      </p:sp>
      <p:sp>
        <p:nvSpPr>
          <p:cNvPr id="43" name="TextBox 42"/>
          <p:cNvSpPr txBox="1"/>
          <p:nvPr/>
        </p:nvSpPr>
        <p:spPr>
          <a:xfrm>
            <a:off x="1000125" y="5090071"/>
            <a:ext cx="3541234" cy="257175"/>
          </a:xfrm>
          <a:prstGeom prst="rect">
            <a:avLst/>
          </a:prstGeom>
          <a:noFill/>
        </p:spPr>
        <p:txBody>
          <a:bodyPr wrap="none" lIns="0" rIns="0" tIns="0" bIns="0" anchor="t">
            <a:spAutoFit/>
          </a:bodyPr>
          <a:lstStyle/>
          <a:p>
            <a:pPr algn="l">
              <a:lnSpc>
                <a:spcPct val="98300"/>
              </a:lnSpc>
            </a:pPr>
            <a:r>
              <a:rPr sz="1575" b="0" i="0">
                <a:solidFill>
                  <a:srgbClr val="F3F7FC"/>
                </a:solidFill>
                <a:latin typeface="Barlow"/>
              </a:rPr>
              <a:t>El único texto: título de la publicación</a:t>
            </a:r>
          </a:p>
        </p:txBody>
      </p:sp>
      <p:sp>
        <p:nvSpPr>
          <p:cNvPr id="44" name="TextBox 43"/>
          <p:cNvSpPr txBox="1"/>
          <p:nvPr/>
        </p:nvSpPr>
        <p:spPr>
          <a:xfrm>
            <a:off x="9496425" y="4300686"/>
            <a:ext cx="1175706" cy="333375"/>
          </a:xfrm>
          <a:prstGeom prst="rect">
            <a:avLst/>
          </a:prstGeom>
          <a:noFill/>
        </p:spPr>
        <p:txBody>
          <a:bodyPr wrap="none" lIns="0" rIns="0" tIns="0" bIns="0" anchor="t">
            <a:spAutoFit/>
          </a:bodyPr>
          <a:lstStyle/>
          <a:p>
            <a:pPr algn="l">
              <a:lnSpc>
                <a:spcPct val="100000"/>
              </a:lnSpc>
            </a:pPr>
            <a:r>
              <a:rPr sz="1875" b="1" i="0">
                <a:solidFill>
                  <a:srgbClr val="FFD21F"/>
                </a:solidFill>
                <a:latin typeface="Roboto Mono"/>
              </a:rPr>
              <a:t>comment</a:t>
            </a:r>
          </a:p>
        </p:txBody>
      </p:sp>
      <p:sp>
        <p:nvSpPr>
          <p:cNvPr id="45" name="TextBox 44"/>
          <p:cNvSpPr txBox="1"/>
          <p:nvPr/>
        </p:nvSpPr>
        <p:spPr>
          <a:xfrm>
            <a:off x="9496425" y="4710261"/>
            <a:ext cx="2405164" cy="295275"/>
          </a:xfrm>
          <a:prstGeom prst="rect">
            <a:avLst/>
          </a:prstGeom>
          <a:noFill/>
        </p:spPr>
        <p:txBody>
          <a:bodyPr wrap="none" lIns="0" rIns="0" tIns="0" bIns="0" anchor="t">
            <a:spAutoFit/>
          </a:bodyPr>
          <a:lstStyle/>
          <a:p>
            <a:pPr algn="l">
              <a:lnSpc>
                <a:spcPct val="93300"/>
              </a:lnSpc>
            </a:pPr>
            <a:r>
              <a:rPr sz="1800" b="1" i="0">
                <a:solidFill>
                  <a:srgbClr val="FFD21F"/>
                </a:solidFill>
                <a:latin typeface="Barlow"/>
              </a:rPr>
              <a:t>Marked RPI as hidden</a:t>
            </a:r>
          </a:p>
        </p:txBody>
      </p:sp>
      <p:sp>
        <p:nvSpPr>
          <p:cNvPr id="46" name="TextBox 45"/>
          <p:cNvSpPr txBox="1"/>
          <p:nvPr/>
        </p:nvSpPr>
        <p:spPr>
          <a:xfrm>
            <a:off x="9496425" y="5090071"/>
            <a:ext cx="3926515" cy="257175"/>
          </a:xfrm>
          <a:prstGeom prst="rect">
            <a:avLst/>
          </a:prstGeom>
          <a:noFill/>
        </p:spPr>
        <p:txBody>
          <a:bodyPr wrap="none" lIns="0" rIns="0" tIns="0" bIns="0" anchor="t">
            <a:spAutoFit/>
          </a:bodyPr>
          <a:lstStyle/>
          <a:p>
            <a:pPr algn="l">
              <a:lnSpc>
                <a:spcPct val="98300"/>
              </a:lnSpc>
            </a:pPr>
            <a:r>
              <a:rPr sz="1575" b="0" i="0">
                <a:solidFill>
                  <a:srgbClr val="F3F7FC"/>
                </a:solidFill>
                <a:latin typeface="Barlow"/>
              </a:rPr>
              <a:t>Motivo de negocio · solo 2 frases distintas</a:t>
            </a:r>
          </a:p>
        </p:txBody>
      </p:sp>
      <p:sp>
        <p:nvSpPr>
          <p:cNvPr id="47" name="TextBox 46"/>
          <p:cNvSpPr txBox="1"/>
          <p:nvPr/>
        </p:nvSpPr>
        <p:spPr>
          <a:xfrm>
            <a:off x="1000125" y="7568803"/>
            <a:ext cx="1947231" cy="333375"/>
          </a:xfrm>
          <a:prstGeom prst="rect">
            <a:avLst/>
          </a:prstGeom>
          <a:noFill/>
        </p:spPr>
        <p:txBody>
          <a:bodyPr wrap="none" lIns="0" rIns="0" tIns="0" bIns="0" anchor="t">
            <a:spAutoFit/>
          </a:bodyPr>
          <a:lstStyle/>
          <a:p>
            <a:pPr algn="l">
              <a:lnSpc>
                <a:spcPct val="100000"/>
              </a:lnSpc>
            </a:pPr>
            <a:r>
              <a:rPr sz="1875" b="1" i="0">
                <a:solidFill>
                  <a:srgbClr val="FFD21F"/>
                </a:solidFill>
                <a:latin typeface="Roboto Mono"/>
              </a:rPr>
              <a:t>final_status</a:t>
            </a:r>
          </a:p>
        </p:txBody>
      </p:sp>
      <p:sp>
        <p:nvSpPr>
          <p:cNvPr id="48" name="TextBox 47"/>
          <p:cNvSpPr txBox="1"/>
          <p:nvPr/>
        </p:nvSpPr>
        <p:spPr>
          <a:xfrm>
            <a:off x="1000125" y="7978378"/>
            <a:ext cx="862596" cy="295275"/>
          </a:xfrm>
          <a:prstGeom prst="rect">
            <a:avLst/>
          </a:prstGeom>
          <a:noFill/>
        </p:spPr>
        <p:txBody>
          <a:bodyPr wrap="none" lIns="0" rIns="0" tIns="0" bIns="0" anchor="t">
            <a:spAutoFit/>
          </a:bodyPr>
          <a:lstStyle/>
          <a:p>
            <a:pPr algn="l">
              <a:lnSpc>
                <a:spcPct val="93300"/>
              </a:lnSpc>
            </a:pPr>
            <a:r>
              <a:rPr sz="1800" b="1" i="0">
                <a:solidFill>
                  <a:srgbClr val="FFD21F"/>
                </a:solidFill>
                <a:latin typeface="Barlow"/>
              </a:rPr>
              <a:t>Hidden</a:t>
            </a:r>
          </a:p>
        </p:txBody>
      </p:sp>
      <p:sp>
        <p:nvSpPr>
          <p:cNvPr id="49" name="TextBox 48"/>
          <p:cNvSpPr txBox="1"/>
          <p:nvPr/>
        </p:nvSpPr>
        <p:spPr>
          <a:xfrm>
            <a:off x="1000125" y="8358188"/>
            <a:ext cx="4535698" cy="257175"/>
          </a:xfrm>
          <a:prstGeom prst="rect">
            <a:avLst/>
          </a:prstGeom>
          <a:noFill/>
        </p:spPr>
        <p:txBody>
          <a:bodyPr wrap="none" lIns="0" rIns="0" tIns="0" bIns="0" anchor="t">
            <a:spAutoFit/>
          </a:bodyPr>
          <a:lstStyle/>
          <a:p>
            <a:pPr algn="l">
              <a:lnSpc>
                <a:spcPct val="98300"/>
              </a:lnSpc>
            </a:pPr>
            <a:r>
              <a:rPr sz="1575" b="0" i="0">
                <a:solidFill>
                  <a:srgbClr val="F3F7FC"/>
                </a:solidFill>
                <a:latin typeface="Barlow"/>
              </a:rPr>
              <a:t>Estado constante por contrato de una sola clase</a:t>
            </a:r>
          </a:p>
        </p:txBody>
      </p:sp>
      <p:sp>
        <p:nvSpPr>
          <p:cNvPr id="50" name="TextBox 49"/>
          <p:cNvSpPr txBox="1"/>
          <p:nvPr/>
        </p:nvSpPr>
        <p:spPr>
          <a:xfrm>
            <a:off x="9496425" y="7568803"/>
            <a:ext cx="2256002" cy="333375"/>
          </a:xfrm>
          <a:prstGeom prst="rect">
            <a:avLst/>
          </a:prstGeom>
          <a:noFill/>
        </p:spPr>
        <p:txBody>
          <a:bodyPr wrap="none" lIns="0" rIns="0" tIns="0" bIns="0" anchor="t">
            <a:spAutoFit/>
          </a:bodyPr>
          <a:lstStyle/>
          <a:p>
            <a:pPr algn="l">
              <a:lnSpc>
                <a:spcPct val="100000"/>
              </a:lnSpc>
            </a:pPr>
            <a:r>
              <a:rPr sz="1875" b="1" i="0">
                <a:solidFill>
                  <a:srgbClr val="FFD21F"/>
                </a:solidFill>
                <a:latin typeface="Roboto Mono"/>
              </a:rPr>
              <a:t>source_dataset</a:t>
            </a:r>
          </a:p>
        </p:txBody>
      </p:sp>
      <p:sp>
        <p:nvSpPr>
          <p:cNvPr id="51" name="TextBox 50"/>
          <p:cNvSpPr txBox="1"/>
          <p:nvPr/>
        </p:nvSpPr>
        <p:spPr>
          <a:xfrm>
            <a:off x="9496425" y="7978378"/>
            <a:ext cx="1153043" cy="295275"/>
          </a:xfrm>
          <a:prstGeom prst="rect">
            <a:avLst/>
          </a:prstGeom>
          <a:noFill/>
        </p:spPr>
        <p:txBody>
          <a:bodyPr wrap="none" lIns="0" rIns="0" tIns="0" bIns="0" anchor="t">
            <a:spAutoFit/>
          </a:bodyPr>
          <a:lstStyle/>
          <a:p>
            <a:pPr algn="l">
              <a:lnSpc>
                <a:spcPct val="93300"/>
              </a:lnSpc>
            </a:pPr>
            <a:r>
              <a:rPr sz="1800" b="1" i="0">
                <a:solidFill>
                  <a:srgbClr val="FFD21F"/>
                </a:solidFill>
                <a:latin typeface="Barlow"/>
              </a:rPr>
              <a:t>dataset_1</a:t>
            </a:r>
          </a:p>
        </p:txBody>
      </p:sp>
      <p:sp>
        <p:nvSpPr>
          <p:cNvPr id="52" name="TextBox 51"/>
          <p:cNvSpPr txBox="1"/>
          <p:nvPr/>
        </p:nvSpPr>
        <p:spPr>
          <a:xfrm>
            <a:off x="9496425" y="8358188"/>
            <a:ext cx="2681305" cy="257175"/>
          </a:xfrm>
          <a:prstGeom prst="rect">
            <a:avLst/>
          </a:prstGeom>
          <a:noFill/>
        </p:spPr>
        <p:txBody>
          <a:bodyPr wrap="none" lIns="0" rIns="0" tIns="0" bIns="0" anchor="t">
            <a:spAutoFit/>
          </a:bodyPr>
          <a:lstStyle/>
          <a:p>
            <a:pPr algn="l">
              <a:lnSpc>
                <a:spcPct val="98300"/>
              </a:lnSpc>
            </a:pPr>
            <a:r>
              <a:rPr sz="1575" b="0" i="0">
                <a:solidFill>
                  <a:srgbClr val="F3F7FC"/>
                </a:solidFill>
                <a:latin typeface="Barlow"/>
              </a:rPr>
              <a:t>Trazabilidad de la subfuente</a:t>
            </a:r>
          </a:p>
        </p:txBody>
      </p:sp>
      <p:sp>
        <p:nvSpPr>
          <p:cNvPr id="53" name="TextBox 52"/>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54" name="TextBox 53"/>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12</a:t>
            </a:r>
          </a:p>
        </p:txBody>
      </p:sp>
      <p:sp>
        <p:nvSpPr>
          <p:cNvPr id="55" name="TextBox 54"/>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13</a:t>
            </a:r>
          </a:p>
        </p:txBody>
      </p:sp>
      <p:sp>
        <p:nvSpPr>
          <p:cNvPr id="56" name="TextBox 55"/>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14</a:t>
            </a:r>
          </a:p>
        </p:txBody>
      </p:sp>
      <p:sp>
        <p:nvSpPr>
          <p:cNvPr id="57" name="TextBox 56"/>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15</a:t>
            </a:r>
          </a:p>
        </p:txBody>
      </p:sp>
      <p:sp>
        <p:nvSpPr>
          <p:cNvPr id="58" name="TextBox 57"/>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533400"/>
          </a:xfrm>
          <a:prstGeom prst="rect">
            <a:avLst/>
          </a:prstGeom>
          <a:solidFill>
            <a:srgbClr val="0D2748">
              <a:alpha val="74000"/>
            </a:srgbClr>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236565"/>
            <a:ext cx="7175748" cy="638368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236565"/>
            <a:ext cx="717574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9610725"/>
            <a:ext cx="717574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236565"/>
            <a:ext cx="9525" cy="638368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890123" y="3236565"/>
            <a:ext cx="9525" cy="638368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85825" y="3865215"/>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885825" y="3865215"/>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85825" y="5002857"/>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85825" y="5002857"/>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85825" y="6140500"/>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5825" y="6140500"/>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885825" y="7278142"/>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85825" y="7278142"/>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85825" y="8415784"/>
            <a:ext cx="6851898" cy="1042392"/>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85825" y="8415784"/>
            <a:ext cx="47625" cy="1042392"/>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52048" y="3236565"/>
            <a:ext cx="9512052" cy="638368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052048" y="3236565"/>
            <a:ext cx="9512052"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52048" y="9610725"/>
            <a:ext cx="9512052"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052048" y="3236565"/>
            <a:ext cx="9525" cy="638368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575" y="3236565"/>
            <a:ext cx="9525" cy="638368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13973" y="3865215"/>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213973" y="3865215"/>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213973" y="4576316"/>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213973" y="4576316"/>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213973" y="5287417"/>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213973" y="5287417"/>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8213973" y="5998518"/>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213973" y="5998518"/>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213973" y="6709618"/>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8213973" y="6709618"/>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213973" y="7420719"/>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213973" y="7420719"/>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213973" y="8131820"/>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8213973" y="8131820"/>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8213973" y="8842921"/>
            <a:ext cx="9188202" cy="615851"/>
          </a:xfrm>
          <a:prstGeom prst="rect">
            <a:avLst/>
          </a:prstGeom>
          <a:solidFill>
            <a:srgbClr val="071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213973" y="8842921"/>
            <a:ext cx="47625" cy="61585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6015038"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019800" y="9944100"/>
            <a:ext cx="28194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1075" y="1663750"/>
            <a:ext cx="374376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02 / 05</a:t>
            </a:r>
          </a:p>
        </p:txBody>
      </p:sp>
      <p:sp>
        <p:nvSpPr>
          <p:cNvPr id="54" name="TextBox 53"/>
          <p:cNvSpPr txBox="1"/>
          <p:nvPr/>
        </p:nvSpPr>
        <p:spPr>
          <a:xfrm>
            <a:off x="981075" y="1923752"/>
            <a:ext cx="3040312" cy="514350"/>
          </a:xfrm>
          <a:prstGeom prst="rect">
            <a:avLst/>
          </a:prstGeom>
          <a:noFill/>
        </p:spPr>
        <p:txBody>
          <a:bodyPr wrap="none" lIns="0" rIns="0" tIns="0" bIns="0" anchor="t">
            <a:spAutoFit/>
          </a:bodyPr>
          <a:lstStyle/>
          <a:p>
            <a:pPr algn="l">
              <a:lnSpc>
                <a:spcPct val="109500"/>
              </a:lnSpc>
            </a:pPr>
            <a:r>
              <a:rPr sz="2967" b="1" i="0" spc="-86">
                <a:solidFill>
                  <a:srgbClr val="FFD21F"/>
                </a:solidFill>
                <a:latin typeface="Roboto Mono"/>
              </a:rPr>
              <a:t>data/raw/nic/</a:t>
            </a:r>
          </a:p>
        </p:txBody>
      </p:sp>
      <p:sp>
        <p:nvSpPr>
          <p:cNvPr id="55" name="TextBox 54"/>
          <p:cNvSpPr txBox="1"/>
          <p:nvPr/>
        </p:nvSpPr>
        <p:spPr>
          <a:xfrm>
            <a:off x="3893939" y="1885652"/>
            <a:ext cx="5136282" cy="561975"/>
          </a:xfrm>
          <a:prstGeom prst="rect">
            <a:avLst/>
          </a:prstGeom>
          <a:noFill/>
        </p:spPr>
        <p:txBody>
          <a:bodyPr wrap="none" lIns="0" rIns="0" tIns="0" bIns="0" anchor="t">
            <a:spAutoFit/>
          </a:bodyPr>
          <a:lstStyle/>
          <a:p>
            <a:pPr algn="l">
              <a:lnSpc>
                <a:spcPct val="103300"/>
              </a:lnSpc>
            </a:pPr>
            <a:r>
              <a:rPr sz="3450" b="1" i="0" spc="-86">
                <a:solidFill>
                  <a:srgbClr val="F3F7FC"/>
                </a:solidFill>
                <a:latin typeface="Montserrat"/>
              </a:rPr>
              <a:t>· Contrato etiquetado</a:t>
            </a:r>
          </a:p>
        </p:txBody>
      </p:sp>
      <p:sp>
        <p:nvSpPr>
          <p:cNvPr id="56" name="TextBox 55"/>
          <p:cNvSpPr txBox="1"/>
          <p:nvPr/>
        </p:nvSpPr>
        <p:spPr>
          <a:xfrm>
            <a:off x="904875" y="2712690"/>
            <a:ext cx="2887917" cy="238125"/>
          </a:xfrm>
          <a:prstGeom prst="rect">
            <a:avLst/>
          </a:prstGeom>
          <a:noFill/>
        </p:spPr>
        <p:txBody>
          <a:bodyPr wrap="none" lIns="0" rIns="0" tIns="0" bIns="0" anchor="t">
            <a:spAutoFit/>
          </a:bodyPr>
          <a:lstStyle/>
          <a:p>
            <a:pPr algn="l">
              <a:lnSpc>
                <a:spcPct val="111400"/>
              </a:lnSpc>
            </a:pPr>
            <a:r>
              <a:rPr sz="1289" b="1" i="0">
                <a:solidFill>
                  <a:srgbClr val="FFD21F"/>
                </a:solidFill>
                <a:latin typeface="Roboto Mono"/>
              </a:rPr>
              <a:t>final_combined_data_nic.csv</a:t>
            </a:r>
          </a:p>
        </p:txBody>
      </p:sp>
      <p:sp>
        <p:nvSpPr>
          <p:cNvPr id="57" name="TextBox 56"/>
          <p:cNvSpPr txBox="1"/>
          <p:nvPr/>
        </p:nvSpPr>
        <p:spPr>
          <a:xfrm>
            <a:off x="3595539" y="2693640"/>
            <a:ext cx="214869"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a:t>
            </a:r>
          </a:p>
        </p:txBody>
      </p:sp>
      <p:sp>
        <p:nvSpPr>
          <p:cNvPr id="58" name="TextBox 57"/>
          <p:cNvSpPr txBox="1"/>
          <p:nvPr/>
        </p:nvSpPr>
        <p:spPr>
          <a:xfrm>
            <a:off x="3726359" y="2712690"/>
            <a:ext cx="2783797" cy="238125"/>
          </a:xfrm>
          <a:prstGeom prst="rect">
            <a:avLst/>
          </a:prstGeom>
          <a:noFill/>
        </p:spPr>
        <p:txBody>
          <a:bodyPr wrap="none" lIns="0" rIns="0" tIns="0" bIns="0" anchor="t">
            <a:spAutoFit/>
          </a:bodyPr>
          <a:lstStyle/>
          <a:p>
            <a:pPr algn="l">
              <a:lnSpc>
                <a:spcPct val="111400"/>
              </a:lnSpc>
            </a:pPr>
            <a:r>
              <a:rPr sz="1289" b="1" i="0">
                <a:solidFill>
                  <a:srgbClr val="FFD21F"/>
                </a:solidFill>
                <a:latin typeface="Roboto Mono"/>
              </a:rPr>
              <a:t>dataset_nic_etiquetado.csv</a:t>
            </a:r>
          </a:p>
        </p:txBody>
      </p:sp>
      <p:sp>
        <p:nvSpPr>
          <p:cNvPr id="59" name="TextBox 58"/>
          <p:cNvSpPr txBox="1"/>
          <p:nvPr/>
        </p:nvSpPr>
        <p:spPr>
          <a:xfrm>
            <a:off x="14396889" y="2664113"/>
            <a:ext cx="3320385"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47.333 filas · 5 + 8 columnas</a:t>
            </a:r>
          </a:p>
        </p:txBody>
      </p:sp>
      <p:sp>
        <p:nvSpPr>
          <p:cNvPr id="60" name="TextBox 59"/>
          <p:cNvSpPr txBox="1"/>
          <p:nvPr/>
        </p:nvSpPr>
        <p:spPr>
          <a:xfrm>
            <a:off x="885825" y="3446115"/>
            <a:ext cx="2086910" cy="323850"/>
          </a:xfrm>
          <a:prstGeom prst="rect">
            <a:avLst/>
          </a:prstGeom>
          <a:noFill/>
        </p:spPr>
        <p:txBody>
          <a:bodyPr wrap="none" lIns="0" rIns="0" tIns="0" bIns="0" anchor="t">
            <a:spAutoFit/>
          </a:bodyPr>
          <a:lstStyle/>
          <a:p>
            <a:pPr algn="l">
              <a:lnSpc>
                <a:spcPct val="100000"/>
              </a:lnSpc>
            </a:pPr>
            <a:r>
              <a:rPr sz="1950" b="1" i="0">
                <a:solidFill>
                  <a:srgbClr val="FFD21F"/>
                </a:solidFill>
                <a:latin typeface="Montserrat"/>
              </a:rPr>
              <a:t>Contrato base</a:t>
            </a:r>
          </a:p>
        </p:txBody>
      </p:sp>
      <p:sp>
        <p:nvSpPr>
          <p:cNvPr id="61" name="TextBox 60"/>
          <p:cNvSpPr txBox="1"/>
          <p:nvPr/>
        </p:nvSpPr>
        <p:spPr>
          <a:xfrm>
            <a:off x="1047750" y="4276874"/>
            <a:ext cx="1354604"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product_name</a:t>
            </a:r>
          </a:p>
        </p:txBody>
      </p:sp>
      <p:sp>
        <p:nvSpPr>
          <p:cNvPr id="62" name="TextBox 61"/>
          <p:cNvSpPr txBox="1"/>
          <p:nvPr/>
        </p:nvSpPr>
        <p:spPr>
          <a:xfrm>
            <a:off x="4069556" y="4289375"/>
            <a:ext cx="1809482"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Título de la publicación</a:t>
            </a:r>
          </a:p>
        </p:txBody>
      </p:sp>
      <p:sp>
        <p:nvSpPr>
          <p:cNvPr id="63" name="TextBox 62"/>
          <p:cNvSpPr txBox="1"/>
          <p:nvPr/>
        </p:nvSpPr>
        <p:spPr>
          <a:xfrm>
            <a:off x="1047750" y="5414516"/>
            <a:ext cx="1144845"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extra_info</a:t>
            </a:r>
          </a:p>
        </p:txBody>
      </p:sp>
      <p:sp>
        <p:nvSpPr>
          <p:cNvPr id="64" name="TextBox 63"/>
          <p:cNvSpPr txBox="1"/>
          <p:nvPr/>
        </p:nvSpPr>
        <p:spPr>
          <a:xfrm>
            <a:off x="4069556" y="5422255"/>
            <a:ext cx="1170093" cy="209550"/>
          </a:xfrm>
          <a:prstGeom prst="rect">
            <a:avLst/>
          </a:prstGeom>
          <a:noFill/>
        </p:spPr>
        <p:txBody>
          <a:bodyPr wrap="none" lIns="0" rIns="0" tIns="0" bIns="0" anchor="t">
            <a:spAutoFit/>
          </a:bodyPr>
          <a:lstStyle/>
          <a:p>
            <a:pPr algn="l">
              <a:lnSpc>
                <a:spcPct val="98000"/>
              </a:lnSpc>
            </a:pPr>
            <a:r>
              <a:rPr sz="1275" b="0" i="0">
                <a:solidFill>
                  <a:srgbClr val="F3F7FC"/>
                </a:solidFill>
                <a:latin typeface="Barlow"/>
              </a:rPr>
              <a:t>EAN desnudo ·</a:t>
            </a:r>
          </a:p>
        </p:txBody>
      </p:sp>
      <p:sp>
        <p:nvSpPr>
          <p:cNvPr id="65" name="TextBox 64"/>
          <p:cNvSpPr txBox="1"/>
          <p:nvPr/>
        </p:nvSpPr>
        <p:spPr>
          <a:xfrm>
            <a:off x="5101530" y="5412730"/>
            <a:ext cx="1415248" cy="238125"/>
          </a:xfrm>
          <a:prstGeom prst="rect">
            <a:avLst/>
          </a:prstGeom>
          <a:noFill/>
        </p:spPr>
        <p:txBody>
          <a:bodyPr wrap="none" lIns="0" rIns="0" tIns="0" bIns="0" anchor="t">
            <a:spAutoFit/>
          </a:bodyPr>
          <a:lstStyle/>
          <a:p>
            <a:pPr algn="l">
              <a:lnSpc>
                <a:spcPct val="112700"/>
              </a:lnSpc>
            </a:pPr>
            <a:r>
              <a:rPr sz="1275" b="1" i="0">
                <a:solidFill>
                  <a:srgbClr val="FFD21F"/>
                </a:solidFill>
                <a:latin typeface="Roboto Mono"/>
              </a:rPr>
              <a:t>8720169365247</a:t>
            </a:r>
          </a:p>
        </p:txBody>
      </p:sp>
      <p:sp>
        <p:nvSpPr>
          <p:cNvPr id="66" name="TextBox 65"/>
          <p:cNvSpPr txBox="1"/>
          <p:nvPr/>
        </p:nvSpPr>
        <p:spPr>
          <a:xfrm>
            <a:off x="1047750" y="6552158"/>
            <a:ext cx="829967"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comment</a:t>
            </a:r>
          </a:p>
        </p:txBody>
      </p:sp>
      <p:sp>
        <p:nvSpPr>
          <p:cNvPr id="67" name="TextBox 66"/>
          <p:cNvSpPr txBox="1"/>
          <p:nvPr/>
        </p:nvSpPr>
        <p:spPr>
          <a:xfrm>
            <a:off x="4069556" y="6564660"/>
            <a:ext cx="1453455"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Motivo de negocio</a:t>
            </a:r>
          </a:p>
        </p:txBody>
      </p:sp>
      <p:sp>
        <p:nvSpPr>
          <p:cNvPr id="68" name="TextBox 67"/>
          <p:cNvSpPr txBox="1"/>
          <p:nvPr/>
        </p:nvSpPr>
        <p:spPr>
          <a:xfrm>
            <a:off x="1047750" y="7689800"/>
            <a:ext cx="1564523"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source_dataset</a:t>
            </a:r>
          </a:p>
        </p:txBody>
      </p:sp>
      <p:sp>
        <p:nvSpPr>
          <p:cNvPr id="69" name="TextBox 68"/>
          <p:cNvSpPr txBox="1"/>
          <p:nvPr/>
        </p:nvSpPr>
        <p:spPr>
          <a:xfrm>
            <a:off x="4069556" y="7702302"/>
            <a:ext cx="1402020"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Subfuente 1, 2 o 3</a:t>
            </a:r>
          </a:p>
        </p:txBody>
      </p:sp>
      <p:sp>
        <p:nvSpPr>
          <p:cNvPr id="70" name="TextBox 69"/>
          <p:cNvSpPr txBox="1"/>
          <p:nvPr/>
        </p:nvSpPr>
        <p:spPr>
          <a:xfrm>
            <a:off x="1047750" y="8827443"/>
            <a:ext cx="1354604"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final_status</a:t>
            </a:r>
          </a:p>
        </p:txBody>
      </p:sp>
      <p:sp>
        <p:nvSpPr>
          <p:cNvPr id="71" name="TextBox 70"/>
          <p:cNvSpPr txBox="1"/>
          <p:nvPr/>
        </p:nvSpPr>
        <p:spPr>
          <a:xfrm>
            <a:off x="4069556" y="8835182"/>
            <a:ext cx="631192" cy="209550"/>
          </a:xfrm>
          <a:prstGeom prst="rect">
            <a:avLst/>
          </a:prstGeom>
          <a:noFill/>
        </p:spPr>
        <p:txBody>
          <a:bodyPr wrap="none" lIns="0" rIns="0" tIns="0" bIns="0" anchor="t">
            <a:spAutoFit/>
          </a:bodyPr>
          <a:lstStyle/>
          <a:p>
            <a:pPr algn="l">
              <a:lnSpc>
                <a:spcPct val="98000"/>
              </a:lnSpc>
            </a:pPr>
            <a:r>
              <a:rPr sz="1275" b="0" i="0">
                <a:solidFill>
                  <a:srgbClr val="F3F7FC"/>
                </a:solidFill>
                <a:latin typeface="Barlow"/>
              </a:rPr>
              <a:t>Estado</a:t>
            </a:r>
          </a:p>
        </p:txBody>
      </p:sp>
      <p:sp>
        <p:nvSpPr>
          <p:cNvPr id="72" name="TextBox 71"/>
          <p:cNvSpPr txBox="1"/>
          <p:nvPr/>
        </p:nvSpPr>
        <p:spPr>
          <a:xfrm>
            <a:off x="4593134" y="8825657"/>
            <a:ext cx="385248" cy="238125"/>
          </a:xfrm>
          <a:prstGeom prst="rect">
            <a:avLst/>
          </a:prstGeom>
          <a:noFill/>
        </p:spPr>
        <p:txBody>
          <a:bodyPr wrap="none" lIns="0" rIns="0" tIns="0" bIns="0" anchor="t">
            <a:spAutoFit/>
          </a:bodyPr>
          <a:lstStyle/>
          <a:p>
            <a:pPr algn="l">
              <a:lnSpc>
                <a:spcPct val="112700"/>
              </a:lnSpc>
            </a:pPr>
            <a:r>
              <a:rPr sz="1275" b="1" i="0">
                <a:solidFill>
                  <a:srgbClr val="FFD21F"/>
                </a:solidFill>
                <a:latin typeface="Roboto Mono"/>
              </a:rPr>
              <a:t>NIC</a:t>
            </a:r>
          </a:p>
        </p:txBody>
      </p:sp>
      <p:sp>
        <p:nvSpPr>
          <p:cNvPr id="73" name="TextBox 72"/>
          <p:cNvSpPr txBox="1"/>
          <p:nvPr/>
        </p:nvSpPr>
        <p:spPr>
          <a:xfrm>
            <a:off x="8213973" y="3446115"/>
            <a:ext cx="3181511" cy="323850"/>
          </a:xfrm>
          <a:prstGeom prst="rect">
            <a:avLst/>
          </a:prstGeom>
          <a:noFill/>
        </p:spPr>
        <p:txBody>
          <a:bodyPr wrap="none" lIns="0" rIns="0" tIns="0" bIns="0" anchor="t">
            <a:spAutoFit/>
          </a:bodyPr>
          <a:lstStyle/>
          <a:p>
            <a:pPr algn="l">
              <a:lnSpc>
                <a:spcPct val="100000"/>
              </a:lnSpc>
            </a:pPr>
            <a:r>
              <a:rPr sz="1950" b="1" i="0">
                <a:solidFill>
                  <a:srgbClr val="FFD21F"/>
                </a:solidFill>
                <a:latin typeface="Montserrat"/>
              </a:rPr>
              <a:t>Etiquetado heurístico</a:t>
            </a:r>
          </a:p>
        </p:txBody>
      </p:sp>
      <p:sp>
        <p:nvSpPr>
          <p:cNvPr id="74" name="TextBox 73"/>
          <p:cNvSpPr txBox="1"/>
          <p:nvPr/>
        </p:nvSpPr>
        <p:spPr>
          <a:xfrm>
            <a:off x="8375898" y="4063603"/>
            <a:ext cx="2299240"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nic_source_row_number</a:t>
            </a:r>
          </a:p>
        </p:txBody>
      </p:sp>
      <p:sp>
        <p:nvSpPr>
          <p:cNvPr id="75" name="TextBox 74"/>
          <p:cNvSpPr txBox="1"/>
          <p:nvPr/>
        </p:nvSpPr>
        <p:spPr>
          <a:xfrm>
            <a:off x="12449026" y="4076105"/>
            <a:ext cx="1106108"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Fila de origen</a:t>
            </a:r>
          </a:p>
        </p:txBody>
      </p:sp>
      <p:sp>
        <p:nvSpPr>
          <p:cNvPr id="76" name="TextBox 75"/>
          <p:cNvSpPr txBox="1"/>
          <p:nvPr/>
        </p:nvSpPr>
        <p:spPr>
          <a:xfrm>
            <a:off x="8375898" y="4774704"/>
            <a:ext cx="1039886"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nic_label</a:t>
            </a:r>
          </a:p>
        </p:txBody>
      </p:sp>
      <p:sp>
        <p:nvSpPr>
          <p:cNvPr id="77" name="TextBox 76"/>
          <p:cNvSpPr txBox="1"/>
          <p:nvPr/>
        </p:nvSpPr>
        <p:spPr>
          <a:xfrm>
            <a:off x="12449026" y="4782443"/>
            <a:ext cx="433364" cy="209550"/>
          </a:xfrm>
          <a:prstGeom prst="rect">
            <a:avLst/>
          </a:prstGeom>
          <a:noFill/>
        </p:spPr>
        <p:txBody>
          <a:bodyPr wrap="none" lIns="0" rIns="0" tIns="0" bIns="0" anchor="t">
            <a:spAutoFit/>
          </a:bodyPr>
          <a:lstStyle/>
          <a:p>
            <a:pPr algn="l">
              <a:lnSpc>
                <a:spcPct val="98000"/>
              </a:lnSpc>
            </a:pPr>
            <a:r>
              <a:rPr sz="1275" b="0" i="0">
                <a:solidFill>
                  <a:srgbClr val="F3F7FC"/>
                </a:solidFill>
                <a:latin typeface="Barlow"/>
              </a:rPr>
              <a:t>83%</a:t>
            </a:r>
          </a:p>
        </p:txBody>
      </p:sp>
      <p:sp>
        <p:nvSpPr>
          <p:cNvPr id="78" name="TextBox 77"/>
          <p:cNvSpPr txBox="1"/>
          <p:nvPr/>
        </p:nvSpPr>
        <p:spPr>
          <a:xfrm>
            <a:off x="12785973" y="4772918"/>
            <a:ext cx="1518264" cy="238125"/>
          </a:xfrm>
          <a:prstGeom prst="rect">
            <a:avLst/>
          </a:prstGeom>
          <a:noFill/>
        </p:spPr>
        <p:txBody>
          <a:bodyPr wrap="none" lIns="0" rIns="0" tIns="0" bIns="0" anchor="t">
            <a:spAutoFit/>
          </a:bodyPr>
          <a:lstStyle/>
          <a:p>
            <a:pPr algn="l">
              <a:lnSpc>
                <a:spcPct val="112700"/>
              </a:lnSpc>
            </a:pPr>
            <a:r>
              <a:rPr sz="1275" b="1" i="0">
                <a:solidFill>
                  <a:srgbClr val="FFD21F"/>
                </a:solidFill>
                <a:latin typeface="Roboto Mono"/>
              </a:rPr>
              <a:t>unknown_review</a:t>
            </a:r>
          </a:p>
        </p:txBody>
      </p:sp>
      <p:sp>
        <p:nvSpPr>
          <p:cNvPr id="79" name="TextBox 78"/>
          <p:cNvSpPr txBox="1"/>
          <p:nvPr/>
        </p:nvSpPr>
        <p:spPr>
          <a:xfrm>
            <a:off x="8375898" y="5485805"/>
            <a:ext cx="2089321"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nic_review_required</a:t>
            </a:r>
          </a:p>
        </p:txBody>
      </p:sp>
      <p:sp>
        <p:nvSpPr>
          <p:cNvPr id="80" name="TextBox 79"/>
          <p:cNvSpPr txBox="1"/>
          <p:nvPr/>
        </p:nvSpPr>
        <p:spPr>
          <a:xfrm>
            <a:off x="12449026" y="5484019"/>
            <a:ext cx="725007"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yes/no</a:t>
            </a:r>
          </a:p>
        </p:txBody>
      </p:sp>
      <p:sp>
        <p:nvSpPr>
          <p:cNvPr id="81" name="TextBox 80"/>
          <p:cNvSpPr txBox="1"/>
          <p:nvPr/>
        </p:nvSpPr>
        <p:spPr>
          <a:xfrm>
            <a:off x="8375898" y="6196905"/>
            <a:ext cx="1774442"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nic_label_source</a:t>
            </a:r>
          </a:p>
        </p:txBody>
      </p:sp>
      <p:sp>
        <p:nvSpPr>
          <p:cNvPr id="82" name="TextBox 81"/>
          <p:cNvSpPr txBox="1"/>
          <p:nvPr/>
        </p:nvSpPr>
        <p:spPr>
          <a:xfrm>
            <a:off x="12449026" y="6209407"/>
            <a:ext cx="2274487"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Regla que produjo la etiqueta</a:t>
            </a:r>
          </a:p>
        </p:txBody>
      </p:sp>
      <p:sp>
        <p:nvSpPr>
          <p:cNvPr id="83" name="TextBox 82"/>
          <p:cNvSpPr txBox="1"/>
          <p:nvPr/>
        </p:nvSpPr>
        <p:spPr>
          <a:xfrm>
            <a:off x="8375898" y="6908006"/>
            <a:ext cx="1564523"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nic_confidence</a:t>
            </a:r>
          </a:p>
        </p:txBody>
      </p:sp>
      <p:sp>
        <p:nvSpPr>
          <p:cNvPr id="84" name="TextBox 83"/>
          <p:cNvSpPr txBox="1"/>
          <p:nvPr/>
        </p:nvSpPr>
        <p:spPr>
          <a:xfrm>
            <a:off x="12449026" y="6906220"/>
            <a:ext cx="934926"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high/low</a:t>
            </a:r>
          </a:p>
        </p:txBody>
      </p:sp>
      <p:sp>
        <p:nvSpPr>
          <p:cNvPr id="85" name="TextBox 84"/>
          <p:cNvSpPr txBox="1"/>
          <p:nvPr/>
        </p:nvSpPr>
        <p:spPr>
          <a:xfrm>
            <a:off x="8375898" y="7619107"/>
            <a:ext cx="2194280"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nic_candidate_labels</a:t>
            </a:r>
          </a:p>
        </p:txBody>
      </p:sp>
      <p:sp>
        <p:nvSpPr>
          <p:cNvPr id="86" name="TextBox 85"/>
          <p:cNvSpPr txBox="1"/>
          <p:nvPr/>
        </p:nvSpPr>
        <p:spPr>
          <a:xfrm>
            <a:off x="12449026" y="7631609"/>
            <a:ext cx="1745188"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Etiquetas alternativas</a:t>
            </a:r>
          </a:p>
        </p:txBody>
      </p:sp>
      <p:sp>
        <p:nvSpPr>
          <p:cNvPr id="87" name="TextBox 86"/>
          <p:cNvSpPr txBox="1"/>
          <p:nvPr/>
        </p:nvSpPr>
        <p:spPr>
          <a:xfrm>
            <a:off x="8375898" y="8330208"/>
            <a:ext cx="1669482"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nic_match_rules</a:t>
            </a:r>
          </a:p>
        </p:txBody>
      </p:sp>
      <p:sp>
        <p:nvSpPr>
          <p:cNvPr id="88" name="TextBox 87"/>
          <p:cNvSpPr txBox="1"/>
          <p:nvPr/>
        </p:nvSpPr>
        <p:spPr>
          <a:xfrm>
            <a:off x="12449026" y="8342709"/>
            <a:ext cx="1605510"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Reglas coincidentes</a:t>
            </a:r>
          </a:p>
        </p:txBody>
      </p:sp>
      <p:sp>
        <p:nvSpPr>
          <p:cNvPr id="89" name="TextBox 88"/>
          <p:cNvSpPr txBox="1"/>
          <p:nvPr/>
        </p:nvSpPr>
        <p:spPr>
          <a:xfrm>
            <a:off x="8375898" y="9041309"/>
            <a:ext cx="1774442" cy="238125"/>
          </a:xfrm>
          <a:prstGeom prst="rect">
            <a:avLst/>
          </a:prstGeom>
          <a:noFill/>
        </p:spPr>
        <p:txBody>
          <a:bodyPr wrap="none" lIns="0" rIns="0" tIns="0" bIns="0" anchor="t">
            <a:spAutoFit/>
          </a:bodyPr>
          <a:lstStyle/>
          <a:p>
            <a:pPr algn="l">
              <a:lnSpc>
                <a:spcPct val="100000"/>
              </a:lnSpc>
            </a:pPr>
            <a:r>
              <a:rPr sz="1275" b="1" i="0">
                <a:solidFill>
                  <a:srgbClr val="FFD21F"/>
                </a:solidFill>
                <a:latin typeface="Roboto Mono"/>
              </a:rPr>
              <a:t>nic_label_reason</a:t>
            </a:r>
          </a:p>
        </p:txBody>
      </p:sp>
      <p:sp>
        <p:nvSpPr>
          <p:cNvPr id="90" name="TextBox 89"/>
          <p:cNvSpPr txBox="1"/>
          <p:nvPr/>
        </p:nvSpPr>
        <p:spPr>
          <a:xfrm>
            <a:off x="12449026" y="9053810"/>
            <a:ext cx="1637657" cy="209550"/>
          </a:xfrm>
          <a:prstGeom prst="rect">
            <a:avLst/>
          </a:prstGeom>
          <a:noFill/>
        </p:spPr>
        <p:txBody>
          <a:bodyPr wrap="none" lIns="0" rIns="0" tIns="0" bIns="0" anchor="t">
            <a:spAutoFit/>
          </a:bodyPr>
          <a:lstStyle/>
          <a:p>
            <a:pPr algn="l">
              <a:lnSpc>
                <a:spcPct val="90000"/>
              </a:lnSpc>
            </a:pPr>
            <a:r>
              <a:rPr sz="1275" b="0" i="0">
                <a:solidFill>
                  <a:srgbClr val="F3F7FC"/>
                </a:solidFill>
                <a:latin typeface="Barlow"/>
              </a:rPr>
              <a:t>Justificación textual</a:t>
            </a:r>
          </a:p>
        </p:txBody>
      </p:sp>
      <p:sp>
        <p:nvSpPr>
          <p:cNvPr id="91" name="TextBox 90"/>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92" name="TextBox 91"/>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12</a:t>
            </a:r>
          </a:p>
        </p:txBody>
      </p:sp>
      <p:sp>
        <p:nvSpPr>
          <p:cNvPr id="93" name="TextBox 92"/>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13</a:t>
            </a:r>
          </a:p>
        </p:txBody>
      </p:sp>
      <p:sp>
        <p:nvSpPr>
          <p:cNvPr id="94" name="TextBox 9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14</a:t>
            </a:r>
          </a:p>
        </p:txBody>
      </p:sp>
      <p:sp>
        <p:nvSpPr>
          <p:cNvPr id="95" name="TextBox 94"/>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15</a:t>
            </a:r>
          </a:p>
        </p:txBody>
      </p:sp>
      <p:sp>
        <p:nvSpPr>
          <p:cNvPr id="96" name="TextBox 95"/>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533400"/>
          </a:xfrm>
          <a:prstGeom prst="rect">
            <a:avLst/>
          </a:prstGeom>
          <a:solidFill>
            <a:srgbClr val="0D2748">
              <a:alpha val="74000"/>
            </a:srgbClr>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236565"/>
            <a:ext cx="5518100" cy="31203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236565"/>
            <a:ext cx="55181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6347371"/>
            <a:ext cx="551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232475"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84875" y="3236565"/>
            <a:ext cx="5518100" cy="31203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84875" y="3236565"/>
            <a:ext cx="55181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84875" y="6347371"/>
            <a:ext cx="551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84875"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893451"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045851" y="3236565"/>
            <a:ext cx="5518100" cy="312033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45851" y="3236565"/>
            <a:ext cx="55181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45851" y="6347371"/>
            <a:ext cx="551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45851"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7554426" y="3236565"/>
            <a:ext cx="9525" cy="312033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23900" y="6499771"/>
            <a:ext cx="8348514" cy="3120479"/>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23900" y="6499771"/>
            <a:ext cx="8348514"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3900" y="9610725"/>
            <a:ext cx="8348514"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3900" y="6499771"/>
            <a:ext cx="9525" cy="31204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062889" y="6499771"/>
            <a:ext cx="9525" cy="31204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15289" y="6499771"/>
            <a:ext cx="8348662" cy="3120479"/>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215289" y="6499771"/>
            <a:ext cx="8348662"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215289" y="9610725"/>
            <a:ext cx="8348662"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215289" y="6499771"/>
            <a:ext cx="9525" cy="31204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7554426" y="6499771"/>
            <a:ext cx="9525" cy="3120479"/>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892016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924925" y="9944100"/>
            <a:ext cx="30759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3750"/>
            <a:ext cx="373925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03 / 05</a:t>
            </a:r>
          </a:p>
        </p:txBody>
      </p:sp>
      <p:sp>
        <p:nvSpPr>
          <p:cNvPr id="44" name="TextBox 43"/>
          <p:cNvSpPr txBox="1"/>
          <p:nvPr/>
        </p:nvSpPr>
        <p:spPr>
          <a:xfrm>
            <a:off x="981075" y="1923752"/>
            <a:ext cx="6232225" cy="514350"/>
          </a:xfrm>
          <a:prstGeom prst="rect">
            <a:avLst/>
          </a:prstGeom>
          <a:noFill/>
        </p:spPr>
        <p:txBody>
          <a:bodyPr wrap="none" lIns="0" rIns="0" tIns="0" bIns="0" anchor="t">
            <a:spAutoFit/>
          </a:bodyPr>
          <a:lstStyle/>
          <a:p>
            <a:pPr algn="l">
              <a:lnSpc>
                <a:spcPct val="109500"/>
              </a:lnSpc>
            </a:pPr>
            <a:r>
              <a:rPr sz="2967" b="1" i="0" spc="-86">
                <a:solidFill>
                  <a:srgbClr val="FFD21F"/>
                </a:solidFill>
                <a:latin typeface="Roboto Mono"/>
              </a:rPr>
              <a:t>data/raw/official_catalogs/</a:t>
            </a:r>
          </a:p>
        </p:txBody>
      </p:sp>
      <p:sp>
        <p:nvSpPr>
          <p:cNvPr id="45" name="TextBox 44"/>
          <p:cNvSpPr txBox="1"/>
          <p:nvPr/>
        </p:nvSpPr>
        <p:spPr>
          <a:xfrm>
            <a:off x="6905179" y="1885652"/>
            <a:ext cx="4086719" cy="561975"/>
          </a:xfrm>
          <a:prstGeom prst="rect">
            <a:avLst/>
          </a:prstGeom>
          <a:noFill/>
        </p:spPr>
        <p:txBody>
          <a:bodyPr wrap="none" lIns="0" rIns="0" tIns="0" bIns="0" anchor="t">
            <a:spAutoFit/>
          </a:bodyPr>
          <a:lstStyle/>
          <a:p>
            <a:pPr algn="l">
              <a:lnSpc>
                <a:spcPct val="103300"/>
              </a:lnSpc>
            </a:pPr>
            <a:r>
              <a:rPr sz="3450" b="1" i="0" spc="-86">
                <a:solidFill>
                  <a:srgbClr val="F3F7FC"/>
                </a:solidFill>
                <a:latin typeface="Montserrat"/>
              </a:rPr>
              <a:t>· Producto oficial</a:t>
            </a:r>
          </a:p>
        </p:txBody>
      </p:sp>
      <p:sp>
        <p:nvSpPr>
          <p:cNvPr id="46" name="TextBox 45"/>
          <p:cNvSpPr txBox="1"/>
          <p:nvPr/>
        </p:nvSpPr>
        <p:spPr>
          <a:xfrm>
            <a:off x="904875" y="2698403"/>
            <a:ext cx="4457420"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Catálogos de Ucrania y Bélgica · mismo contrato</a:t>
            </a:r>
          </a:p>
        </p:txBody>
      </p:sp>
      <p:sp>
        <p:nvSpPr>
          <p:cNvPr id="47" name="TextBox 46"/>
          <p:cNvSpPr txBox="1"/>
          <p:nvPr/>
        </p:nvSpPr>
        <p:spPr>
          <a:xfrm>
            <a:off x="16094273" y="2664113"/>
            <a:ext cx="1487210"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11 columnas</a:t>
            </a:r>
          </a:p>
        </p:txBody>
      </p:sp>
      <p:sp>
        <p:nvSpPr>
          <p:cNvPr id="48" name="TextBox 47"/>
          <p:cNvSpPr txBox="1"/>
          <p:nvPr/>
        </p:nvSpPr>
        <p:spPr>
          <a:xfrm>
            <a:off x="962025" y="4056757"/>
            <a:ext cx="168957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Identidad</a:t>
            </a:r>
          </a:p>
        </p:txBody>
      </p:sp>
      <p:sp>
        <p:nvSpPr>
          <p:cNvPr id="49" name="TextBox 48"/>
          <p:cNvSpPr txBox="1"/>
          <p:nvPr/>
        </p:nvSpPr>
        <p:spPr>
          <a:xfrm>
            <a:off x="962025" y="4519612"/>
            <a:ext cx="1154159"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BrandName</a:t>
            </a:r>
          </a:p>
        </p:txBody>
      </p:sp>
      <p:sp>
        <p:nvSpPr>
          <p:cNvPr id="50" name="TextBox 49"/>
          <p:cNvSpPr txBox="1"/>
          <p:nvPr/>
        </p:nvSpPr>
        <p:spPr>
          <a:xfrm>
            <a:off x="2022723" y="4500562"/>
            <a:ext cx="841010"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 Philips</a:t>
            </a:r>
          </a:p>
        </p:txBody>
      </p:sp>
      <p:sp>
        <p:nvSpPr>
          <p:cNvPr id="51" name="TextBox 50"/>
          <p:cNvSpPr txBox="1"/>
          <p:nvPr/>
        </p:nvSpPr>
        <p:spPr>
          <a:xfrm>
            <a:off x="962025" y="4906268"/>
            <a:ext cx="1154159"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OwnerName</a:t>
            </a:r>
          </a:p>
        </p:txBody>
      </p:sp>
      <p:sp>
        <p:nvSpPr>
          <p:cNvPr id="52" name="TextBox 51"/>
          <p:cNvSpPr txBox="1"/>
          <p:nvPr/>
        </p:nvSpPr>
        <p:spPr>
          <a:xfrm>
            <a:off x="2022723" y="4887218"/>
            <a:ext cx="841010"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 Philips</a:t>
            </a:r>
          </a:p>
        </p:txBody>
      </p:sp>
      <p:sp>
        <p:nvSpPr>
          <p:cNvPr id="53" name="TextBox 52"/>
          <p:cNvSpPr txBox="1"/>
          <p:nvPr/>
        </p:nvSpPr>
        <p:spPr>
          <a:xfrm>
            <a:off x="962025" y="5292923"/>
            <a:ext cx="315834"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Id</a:t>
            </a:r>
          </a:p>
        </p:txBody>
      </p:sp>
      <p:sp>
        <p:nvSpPr>
          <p:cNvPr id="54" name="TextBox 53"/>
          <p:cNvSpPr txBox="1"/>
          <p:nvPr/>
        </p:nvSpPr>
        <p:spPr>
          <a:xfrm>
            <a:off x="1231850" y="5273873"/>
            <a:ext cx="1431971"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 GUID interno</a:t>
            </a:r>
          </a:p>
        </p:txBody>
      </p:sp>
      <p:sp>
        <p:nvSpPr>
          <p:cNvPr id="55" name="TextBox 54"/>
          <p:cNvSpPr txBox="1"/>
          <p:nvPr/>
        </p:nvSpPr>
        <p:spPr>
          <a:xfrm>
            <a:off x="6623000" y="4056757"/>
            <a:ext cx="4488442"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Llaves de correspondencia</a:t>
            </a:r>
          </a:p>
        </p:txBody>
      </p:sp>
      <p:sp>
        <p:nvSpPr>
          <p:cNvPr id="56" name="TextBox 55"/>
          <p:cNvSpPr txBox="1"/>
          <p:nvPr/>
        </p:nvSpPr>
        <p:spPr>
          <a:xfrm>
            <a:off x="6623000" y="4519612"/>
            <a:ext cx="1154159"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ProductId</a:t>
            </a:r>
          </a:p>
        </p:txBody>
      </p:sp>
      <p:sp>
        <p:nvSpPr>
          <p:cNvPr id="57" name="TextBox 56"/>
          <p:cNvSpPr txBox="1"/>
          <p:nvPr/>
        </p:nvSpPr>
        <p:spPr>
          <a:xfrm>
            <a:off x="7683698" y="4500562"/>
            <a:ext cx="169908"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a:t>
            </a:r>
          </a:p>
        </p:txBody>
      </p:sp>
      <p:sp>
        <p:nvSpPr>
          <p:cNvPr id="58" name="TextBox 57"/>
          <p:cNvSpPr txBox="1"/>
          <p:nvPr/>
        </p:nvSpPr>
        <p:spPr>
          <a:xfrm>
            <a:off x="7772102" y="4519612"/>
            <a:ext cx="1154159"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BAR700/00</a:t>
            </a:r>
          </a:p>
        </p:txBody>
      </p:sp>
      <p:sp>
        <p:nvSpPr>
          <p:cNvPr id="59" name="TextBox 58"/>
          <p:cNvSpPr txBox="1"/>
          <p:nvPr/>
        </p:nvSpPr>
        <p:spPr>
          <a:xfrm>
            <a:off x="6623000" y="4906268"/>
            <a:ext cx="1154159"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ExtraInfo</a:t>
            </a:r>
          </a:p>
        </p:txBody>
      </p:sp>
      <p:sp>
        <p:nvSpPr>
          <p:cNvPr id="60" name="TextBox 59"/>
          <p:cNvSpPr txBox="1"/>
          <p:nvPr/>
        </p:nvSpPr>
        <p:spPr>
          <a:xfrm>
            <a:off x="7683698" y="4887218"/>
            <a:ext cx="606424"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 EAN</a:t>
            </a:r>
          </a:p>
        </p:txBody>
      </p:sp>
      <p:sp>
        <p:nvSpPr>
          <p:cNvPr id="61" name="TextBox 60"/>
          <p:cNvSpPr txBox="1"/>
          <p:nvPr/>
        </p:nvSpPr>
        <p:spPr>
          <a:xfrm>
            <a:off x="6623000" y="5273873"/>
            <a:ext cx="3475815"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El código con barra es la llave real</a:t>
            </a:r>
          </a:p>
        </p:txBody>
      </p:sp>
      <p:sp>
        <p:nvSpPr>
          <p:cNvPr id="62" name="TextBox 61"/>
          <p:cNvSpPr txBox="1"/>
          <p:nvPr/>
        </p:nvSpPr>
        <p:spPr>
          <a:xfrm>
            <a:off x="12283976" y="4056757"/>
            <a:ext cx="289106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Contenido oficial</a:t>
            </a:r>
          </a:p>
        </p:txBody>
      </p:sp>
      <p:sp>
        <p:nvSpPr>
          <p:cNvPr id="63" name="TextBox 62"/>
          <p:cNvSpPr txBox="1"/>
          <p:nvPr/>
        </p:nvSpPr>
        <p:spPr>
          <a:xfrm>
            <a:off x="12283976" y="4511992"/>
            <a:ext cx="1437543"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ProductName</a:t>
            </a:r>
          </a:p>
        </p:txBody>
      </p:sp>
      <p:sp>
        <p:nvSpPr>
          <p:cNvPr id="64" name="TextBox 63"/>
          <p:cNvSpPr txBox="1"/>
          <p:nvPr/>
        </p:nvSpPr>
        <p:spPr>
          <a:xfrm>
            <a:off x="12283976" y="4898648"/>
            <a:ext cx="2901672"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ProductImageDescription</a:t>
            </a:r>
          </a:p>
        </p:txBody>
      </p:sp>
      <p:sp>
        <p:nvSpPr>
          <p:cNvPr id="65" name="TextBox 64"/>
          <p:cNvSpPr txBox="1"/>
          <p:nvPr/>
        </p:nvSpPr>
        <p:spPr>
          <a:xfrm>
            <a:off x="12283976" y="5273873"/>
            <a:ext cx="3534966"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El código viene dentro del nombre</a:t>
            </a:r>
          </a:p>
        </p:txBody>
      </p:sp>
      <p:sp>
        <p:nvSpPr>
          <p:cNvPr id="66" name="TextBox 65"/>
          <p:cNvSpPr txBox="1"/>
          <p:nvPr/>
        </p:nvSpPr>
        <p:spPr>
          <a:xfrm>
            <a:off x="962025" y="7513290"/>
            <a:ext cx="237896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Imagen y URL</a:t>
            </a:r>
          </a:p>
        </p:txBody>
      </p:sp>
      <p:sp>
        <p:nvSpPr>
          <p:cNvPr id="67" name="TextBox 66"/>
          <p:cNvSpPr txBox="1"/>
          <p:nvPr/>
        </p:nvSpPr>
        <p:spPr>
          <a:xfrm>
            <a:off x="962025" y="7976146"/>
            <a:ext cx="1872588"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ProductImageUrl</a:t>
            </a:r>
          </a:p>
        </p:txBody>
      </p:sp>
      <p:sp>
        <p:nvSpPr>
          <p:cNvPr id="68" name="TextBox 67"/>
          <p:cNvSpPr txBox="1"/>
          <p:nvPr/>
        </p:nvSpPr>
        <p:spPr>
          <a:xfrm>
            <a:off x="2700486" y="7957096"/>
            <a:ext cx="1627748"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 Imagen Philips</a:t>
            </a:r>
          </a:p>
        </p:txBody>
      </p:sp>
      <p:sp>
        <p:nvSpPr>
          <p:cNvPr id="69" name="TextBox 68"/>
          <p:cNvSpPr txBox="1"/>
          <p:nvPr/>
        </p:nvSpPr>
        <p:spPr>
          <a:xfrm>
            <a:off x="962025" y="8362801"/>
            <a:ext cx="1273897"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ProductUrl</a:t>
            </a:r>
          </a:p>
        </p:txBody>
      </p:sp>
      <p:sp>
        <p:nvSpPr>
          <p:cNvPr id="70" name="TextBox 69"/>
          <p:cNvSpPr txBox="1"/>
          <p:nvPr/>
        </p:nvSpPr>
        <p:spPr>
          <a:xfrm>
            <a:off x="2135684" y="8343751"/>
            <a:ext cx="2176745"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 El dominio se audita</a:t>
            </a:r>
          </a:p>
        </p:txBody>
      </p:sp>
      <p:sp>
        <p:nvSpPr>
          <p:cNvPr id="71" name="TextBox 70"/>
          <p:cNvSpPr txBox="1"/>
          <p:nvPr/>
        </p:nvSpPr>
        <p:spPr>
          <a:xfrm>
            <a:off x="9453414" y="7319962"/>
            <a:ext cx="3173474"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Precio no utilizado</a:t>
            </a:r>
          </a:p>
        </p:txBody>
      </p:sp>
      <p:sp>
        <p:nvSpPr>
          <p:cNvPr id="72" name="TextBox 71"/>
          <p:cNvSpPr txBox="1"/>
          <p:nvPr/>
        </p:nvSpPr>
        <p:spPr>
          <a:xfrm>
            <a:off x="9453414" y="7775198"/>
            <a:ext cx="4243965"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ManufacturerSuggestedRetailerPrice</a:t>
            </a:r>
          </a:p>
        </p:txBody>
      </p:sp>
      <p:sp>
        <p:nvSpPr>
          <p:cNvPr id="73" name="TextBox 72"/>
          <p:cNvSpPr txBox="1"/>
          <p:nvPr/>
        </p:nvSpPr>
        <p:spPr>
          <a:xfrm>
            <a:off x="9453414" y="8161853"/>
            <a:ext cx="2779675"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MinimumAdvertisedPrice</a:t>
            </a:r>
          </a:p>
        </p:txBody>
      </p:sp>
      <p:sp>
        <p:nvSpPr>
          <p:cNvPr id="74" name="TextBox 73"/>
          <p:cNvSpPr txBox="1"/>
          <p:nvPr/>
        </p:nvSpPr>
        <p:spPr>
          <a:xfrm>
            <a:off x="9453414" y="8537079"/>
            <a:ext cx="2406125"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Ambos permanecen en</a:t>
            </a:r>
          </a:p>
        </p:txBody>
      </p:sp>
      <p:sp>
        <p:nvSpPr>
          <p:cNvPr id="75" name="TextBox 74"/>
          <p:cNvSpPr txBox="1"/>
          <p:nvPr/>
        </p:nvSpPr>
        <p:spPr>
          <a:xfrm>
            <a:off x="11651456" y="8556129"/>
            <a:ext cx="435572"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0.0</a:t>
            </a:r>
          </a:p>
        </p:txBody>
      </p:sp>
      <p:sp>
        <p:nvSpPr>
          <p:cNvPr id="76" name="TextBox 75"/>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77" name="TextBox 76"/>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12</a:t>
            </a:r>
          </a:p>
        </p:txBody>
      </p:sp>
      <p:sp>
        <p:nvSpPr>
          <p:cNvPr id="78" name="TextBox 77"/>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13</a:t>
            </a:r>
          </a:p>
        </p:txBody>
      </p:sp>
      <p:sp>
        <p:nvSpPr>
          <p:cNvPr id="79" name="TextBox 78"/>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14</a:t>
            </a:r>
          </a:p>
        </p:txBody>
      </p:sp>
      <p:sp>
        <p:nvSpPr>
          <p:cNvPr id="80" name="TextBox 79"/>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15</a:t>
            </a:r>
          </a:p>
        </p:txBody>
      </p:sp>
      <p:sp>
        <p:nvSpPr>
          <p:cNvPr id="81" name="TextBox 80"/>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533400"/>
          </a:xfrm>
          <a:prstGeom prst="rect">
            <a:avLst/>
          </a:prstGeom>
          <a:solidFill>
            <a:srgbClr val="0D2748">
              <a:alpha val="74000"/>
            </a:srgbClr>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236565"/>
            <a:ext cx="7658100" cy="454536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236565"/>
            <a:ext cx="76581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7772400"/>
            <a:ext cx="765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236565"/>
            <a:ext cx="9525" cy="454536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372475" y="3236565"/>
            <a:ext cx="9525" cy="454536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572500" y="5494883"/>
            <a:ext cx="114300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906000" y="3236565"/>
            <a:ext cx="7658100" cy="454536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906000" y="3236565"/>
            <a:ext cx="76581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906000" y="7772400"/>
            <a:ext cx="76581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906000" y="3236565"/>
            <a:ext cx="9525" cy="454536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7554575" y="3236565"/>
            <a:ext cx="9525" cy="454536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7953375"/>
            <a:ext cx="5524500" cy="166687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7953375"/>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9610725"/>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8875"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381750" y="7953375"/>
            <a:ext cx="5524500" cy="166687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381750" y="7953375"/>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381750" y="9610725"/>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381750"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1896725"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039600" y="7953375"/>
            <a:ext cx="5524500" cy="1666875"/>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039600" y="7953375"/>
            <a:ext cx="552450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039600" y="9610725"/>
            <a:ext cx="55245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2039600"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7554575" y="7953375"/>
            <a:ext cx="9525" cy="166687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92492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1825288"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830050" y="9944100"/>
            <a:ext cx="37582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Decoracion" descr="s45_deco_00.png"/>
          <p:cNvPicPr>
            <a:picLocks noChangeAspect="1"/>
          </p:cNvPicPr>
          <p:nvPr/>
        </p:nvPicPr>
        <p:blipFill>
          <a:blip r:embed="rId4"/>
          <a:stretch>
            <a:fillRect/>
          </a:stretch>
        </p:blipFill>
        <p:spPr>
          <a:xfrm>
            <a:off x="9563100" y="5334000"/>
            <a:ext cx="285750" cy="361950"/>
          </a:xfrm>
          <a:prstGeom prst="rect">
            <a:avLst/>
          </a:prstGeom>
        </p:spPr>
      </p:pic>
      <p:sp>
        <p:nvSpPr>
          <p:cNvPr id="46" name="TextBox 45"/>
          <p:cNvSpPr txBox="1"/>
          <p:nvPr/>
        </p:nvSpPr>
        <p:spPr>
          <a:xfrm>
            <a:off x="981075" y="1663750"/>
            <a:ext cx="375388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04 / 05</a:t>
            </a:r>
          </a:p>
        </p:txBody>
      </p:sp>
      <p:sp>
        <p:nvSpPr>
          <p:cNvPr id="47" name="TextBox 46"/>
          <p:cNvSpPr txBox="1"/>
          <p:nvPr/>
        </p:nvSpPr>
        <p:spPr>
          <a:xfrm>
            <a:off x="981075" y="1923752"/>
            <a:ext cx="5548187" cy="514350"/>
          </a:xfrm>
          <a:prstGeom prst="rect">
            <a:avLst/>
          </a:prstGeom>
          <a:noFill/>
        </p:spPr>
        <p:txBody>
          <a:bodyPr wrap="none" lIns="0" rIns="0" tIns="0" bIns="0" anchor="t">
            <a:spAutoFit/>
          </a:bodyPr>
          <a:lstStyle/>
          <a:p>
            <a:pPr algn="l">
              <a:lnSpc>
                <a:spcPct val="109500"/>
              </a:lnSpc>
            </a:pPr>
            <a:r>
              <a:rPr sz="2967" b="1" i="0" spc="-86">
                <a:solidFill>
                  <a:srgbClr val="FFD21F"/>
                </a:solidFill>
                <a:latin typeface="Roboto Mono"/>
              </a:rPr>
              <a:t>data/raw/negative_match/</a:t>
            </a:r>
          </a:p>
        </p:txBody>
      </p:sp>
      <p:sp>
        <p:nvSpPr>
          <p:cNvPr id="48" name="TextBox 47"/>
          <p:cNvSpPr txBox="1"/>
          <p:nvPr/>
        </p:nvSpPr>
        <p:spPr>
          <a:xfrm>
            <a:off x="6259860" y="1885652"/>
            <a:ext cx="4730371" cy="561975"/>
          </a:xfrm>
          <a:prstGeom prst="rect">
            <a:avLst/>
          </a:prstGeom>
          <a:noFill/>
        </p:spPr>
        <p:txBody>
          <a:bodyPr wrap="none" lIns="0" rIns="0" tIns="0" bIns="0" anchor="t">
            <a:spAutoFit/>
          </a:bodyPr>
          <a:lstStyle/>
          <a:p>
            <a:pPr algn="l">
              <a:lnSpc>
                <a:spcPct val="103300"/>
              </a:lnSpc>
            </a:pPr>
            <a:r>
              <a:rPr sz="3450" b="1" i="0" spc="-86">
                <a:solidFill>
                  <a:srgbClr val="F3F7FC"/>
                </a:solidFill>
                <a:latin typeface="Montserrat"/>
              </a:rPr>
              <a:t>· Pares ya formados</a:t>
            </a:r>
          </a:p>
        </p:txBody>
      </p:sp>
      <p:sp>
        <p:nvSpPr>
          <p:cNvPr id="49" name="TextBox 48"/>
          <p:cNvSpPr txBox="1"/>
          <p:nvPr/>
        </p:nvSpPr>
        <p:spPr>
          <a:xfrm>
            <a:off x="904875" y="2707928"/>
            <a:ext cx="3596688" cy="247650"/>
          </a:xfrm>
          <a:prstGeom prst="rect">
            <a:avLst/>
          </a:prstGeom>
          <a:noFill/>
        </p:spPr>
        <p:txBody>
          <a:bodyPr wrap="none" lIns="0" rIns="0" tIns="0" bIns="0" anchor="t">
            <a:spAutoFit/>
          </a:bodyPr>
          <a:lstStyle/>
          <a:p>
            <a:pPr algn="l">
              <a:lnSpc>
                <a:spcPct val="100000"/>
              </a:lnSpc>
            </a:pPr>
            <a:r>
              <a:rPr sz="1289" b="1" i="0">
                <a:solidFill>
                  <a:srgbClr val="FFD21F"/>
                </a:solidFill>
                <a:latin typeface="Roboto Mono"/>
              </a:rPr>
              <a:t>training_pairs_from_code_logs.csv</a:t>
            </a:r>
          </a:p>
        </p:txBody>
      </p:sp>
      <p:sp>
        <p:nvSpPr>
          <p:cNvPr id="50" name="TextBox 49"/>
          <p:cNvSpPr txBox="1"/>
          <p:nvPr/>
        </p:nvSpPr>
        <p:spPr>
          <a:xfrm>
            <a:off x="15068996" y="2664113"/>
            <a:ext cx="2594509"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896 filas · 7 columnas</a:t>
            </a:r>
          </a:p>
        </p:txBody>
      </p:sp>
      <p:sp>
        <p:nvSpPr>
          <p:cNvPr id="51" name="TextBox 50"/>
          <p:cNvSpPr txBox="1"/>
          <p:nvPr/>
        </p:nvSpPr>
        <p:spPr>
          <a:xfrm>
            <a:off x="1057275" y="4669185"/>
            <a:ext cx="2179653"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Lado retailer</a:t>
            </a:r>
          </a:p>
        </p:txBody>
      </p:sp>
      <p:sp>
        <p:nvSpPr>
          <p:cNvPr id="52" name="TextBox 51"/>
          <p:cNvSpPr txBox="1"/>
          <p:nvPr/>
        </p:nvSpPr>
        <p:spPr>
          <a:xfrm>
            <a:off x="1057275" y="5191095"/>
            <a:ext cx="1681538"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retailer_text</a:t>
            </a:r>
          </a:p>
        </p:txBody>
      </p:sp>
      <p:sp>
        <p:nvSpPr>
          <p:cNvPr id="53" name="TextBox 52"/>
          <p:cNvSpPr txBox="1"/>
          <p:nvPr/>
        </p:nvSpPr>
        <p:spPr>
          <a:xfrm>
            <a:off x="1057275" y="5632996"/>
            <a:ext cx="4708327"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Multiprocesadora Philips HR7304/90 1000W…</a:t>
            </a:r>
          </a:p>
        </p:txBody>
      </p:sp>
      <p:sp>
        <p:nvSpPr>
          <p:cNvPr id="54" name="TextBox 53"/>
          <p:cNvSpPr txBox="1"/>
          <p:nvPr/>
        </p:nvSpPr>
        <p:spPr>
          <a:xfrm>
            <a:off x="1057275" y="6105376"/>
            <a:ext cx="1633112"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retailer_code</a:t>
            </a:r>
          </a:p>
        </p:txBody>
      </p:sp>
      <p:sp>
        <p:nvSpPr>
          <p:cNvPr id="55" name="TextBox 54"/>
          <p:cNvSpPr txBox="1"/>
          <p:nvPr/>
        </p:nvSpPr>
        <p:spPr>
          <a:xfrm>
            <a:off x="2569815" y="6086326"/>
            <a:ext cx="1287622"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 HR7304/90</a:t>
            </a:r>
          </a:p>
        </p:txBody>
      </p:sp>
      <p:sp>
        <p:nvSpPr>
          <p:cNvPr id="56" name="TextBox 55"/>
          <p:cNvSpPr txBox="1"/>
          <p:nvPr/>
        </p:nvSpPr>
        <p:spPr>
          <a:xfrm>
            <a:off x="10239375" y="4669185"/>
            <a:ext cx="2681466"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Lado fabricante</a:t>
            </a:r>
          </a:p>
        </p:txBody>
      </p:sp>
      <p:sp>
        <p:nvSpPr>
          <p:cNvPr id="57" name="TextBox 56"/>
          <p:cNvSpPr txBox="1"/>
          <p:nvPr/>
        </p:nvSpPr>
        <p:spPr>
          <a:xfrm>
            <a:off x="10239375" y="5191095"/>
            <a:ext cx="2169688"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manufacturer_text</a:t>
            </a:r>
          </a:p>
        </p:txBody>
      </p:sp>
      <p:sp>
        <p:nvSpPr>
          <p:cNvPr id="58" name="TextBox 57"/>
          <p:cNvSpPr txBox="1"/>
          <p:nvPr/>
        </p:nvSpPr>
        <p:spPr>
          <a:xfrm>
            <a:off x="10239375" y="5632996"/>
            <a:ext cx="4409039"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PowerChop 5000 HR7304/90 Procesador…</a:t>
            </a:r>
          </a:p>
        </p:txBody>
      </p:sp>
      <p:sp>
        <p:nvSpPr>
          <p:cNvPr id="59" name="TextBox 58"/>
          <p:cNvSpPr txBox="1"/>
          <p:nvPr/>
        </p:nvSpPr>
        <p:spPr>
          <a:xfrm>
            <a:off x="10239375" y="6105376"/>
            <a:ext cx="2112222"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manufacturer_code</a:t>
            </a:r>
          </a:p>
        </p:txBody>
      </p:sp>
      <p:sp>
        <p:nvSpPr>
          <p:cNvPr id="60" name="TextBox 59"/>
          <p:cNvSpPr txBox="1"/>
          <p:nvPr/>
        </p:nvSpPr>
        <p:spPr>
          <a:xfrm>
            <a:off x="12203906" y="6086326"/>
            <a:ext cx="1287622"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 HR7304/90</a:t>
            </a:r>
          </a:p>
        </p:txBody>
      </p:sp>
      <p:sp>
        <p:nvSpPr>
          <p:cNvPr id="61" name="TextBox 60"/>
          <p:cNvSpPr txBox="1"/>
          <p:nvPr/>
        </p:nvSpPr>
        <p:spPr>
          <a:xfrm>
            <a:off x="962025" y="8507760"/>
            <a:ext cx="743492" cy="285750"/>
          </a:xfrm>
          <a:prstGeom prst="rect">
            <a:avLst/>
          </a:prstGeom>
          <a:noFill/>
        </p:spPr>
        <p:txBody>
          <a:bodyPr wrap="none" lIns="0" rIns="0" tIns="0" bIns="0" anchor="t">
            <a:spAutoFit/>
          </a:bodyPr>
          <a:lstStyle/>
          <a:p>
            <a:pPr algn="l">
              <a:lnSpc>
                <a:spcPct val="100000"/>
              </a:lnSpc>
            </a:pPr>
            <a:r>
              <a:rPr sz="1575" b="1" i="0">
                <a:solidFill>
                  <a:srgbClr val="FFD21F"/>
                </a:solidFill>
                <a:latin typeface="Roboto Mono"/>
              </a:rPr>
              <a:t>label</a:t>
            </a:r>
          </a:p>
        </p:txBody>
      </p:sp>
      <p:sp>
        <p:nvSpPr>
          <p:cNvPr id="62" name="TextBox 61"/>
          <p:cNvSpPr txBox="1"/>
          <p:nvPr/>
        </p:nvSpPr>
        <p:spPr>
          <a:xfrm>
            <a:off x="962025" y="8841135"/>
            <a:ext cx="1944981"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Etiqueta binaria · </a:t>
            </a:r>
            <a:r>
              <a:rPr sz="1725" b="1" i="0">
                <a:solidFill>
                  <a:srgbClr val="F3F7FC"/>
                </a:solidFill>
                <a:latin typeface="Barlow"/>
              </a:rPr>
              <a:t>1</a:t>
            </a:r>
          </a:p>
        </p:txBody>
      </p:sp>
      <p:sp>
        <p:nvSpPr>
          <p:cNvPr id="63" name="TextBox 62"/>
          <p:cNvSpPr txBox="1"/>
          <p:nvPr/>
        </p:nvSpPr>
        <p:spPr>
          <a:xfrm>
            <a:off x="6619875" y="8376345"/>
            <a:ext cx="1780550" cy="285750"/>
          </a:xfrm>
          <a:prstGeom prst="rect">
            <a:avLst/>
          </a:prstGeom>
          <a:noFill/>
        </p:spPr>
        <p:txBody>
          <a:bodyPr wrap="none" lIns="0" rIns="0" tIns="0" bIns="0" anchor="t">
            <a:spAutoFit/>
          </a:bodyPr>
          <a:lstStyle/>
          <a:p>
            <a:pPr algn="l">
              <a:lnSpc>
                <a:spcPct val="100000"/>
              </a:lnSpc>
            </a:pPr>
            <a:r>
              <a:rPr sz="1575" b="1" i="0">
                <a:solidFill>
                  <a:srgbClr val="FFD21F"/>
                </a:solidFill>
                <a:latin typeface="Roboto Mono"/>
              </a:rPr>
              <a:t>negative_type</a:t>
            </a:r>
          </a:p>
        </p:txBody>
      </p:sp>
      <p:sp>
        <p:nvSpPr>
          <p:cNvPr id="64" name="TextBox 63"/>
          <p:cNvSpPr txBox="1"/>
          <p:nvPr/>
        </p:nvSpPr>
        <p:spPr>
          <a:xfrm>
            <a:off x="6619875" y="8719245"/>
            <a:ext cx="1475827" cy="285750"/>
          </a:xfrm>
          <a:prstGeom prst="rect">
            <a:avLst/>
          </a:prstGeom>
          <a:noFill/>
        </p:spPr>
        <p:txBody>
          <a:bodyPr wrap="none" lIns="0" rIns="0" tIns="0" bIns="0" anchor="t">
            <a:spAutoFit/>
          </a:bodyPr>
          <a:lstStyle/>
          <a:p>
            <a:pPr algn="l">
              <a:lnSpc>
                <a:spcPct val="111100"/>
              </a:lnSpc>
            </a:pPr>
            <a:r>
              <a:rPr sz="1575" b="1" i="0">
                <a:solidFill>
                  <a:srgbClr val="FFD21F"/>
                </a:solidFill>
                <a:latin typeface="Roboto Mono"/>
              </a:rPr>
              <a:t>exact_match</a:t>
            </a:r>
          </a:p>
        </p:txBody>
      </p:sp>
      <p:sp>
        <p:nvSpPr>
          <p:cNvPr id="65" name="TextBox 64"/>
          <p:cNvSpPr txBox="1"/>
          <p:nvPr/>
        </p:nvSpPr>
        <p:spPr>
          <a:xfrm>
            <a:off x="7984034" y="8709720"/>
            <a:ext cx="169908"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a:t>
            </a:r>
          </a:p>
        </p:txBody>
      </p:sp>
      <p:sp>
        <p:nvSpPr>
          <p:cNvPr id="66" name="TextBox 65"/>
          <p:cNvSpPr txBox="1"/>
          <p:nvPr/>
        </p:nvSpPr>
        <p:spPr>
          <a:xfrm>
            <a:off x="8072438" y="8719245"/>
            <a:ext cx="1984754" cy="285750"/>
          </a:xfrm>
          <a:prstGeom prst="rect">
            <a:avLst/>
          </a:prstGeom>
          <a:noFill/>
        </p:spPr>
        <p:txBody>
          <a:bodyPr wrap="none" lIns="0" rIns="0" tIns="0" bIns="0" anchor="t">
            <a:spAutoFit/>
          </a:bodyPr>
          <a:lstStyle/>
          <a:p>
            <a:pPr algn="l">
              <a:lnSpc>
                <a:spcPct val="111100"/>
              </a:lnSpc>
            </a:pPr>
            <a:r>
              <a:rPr sz="1575" b="1" i="0">
                <a:solidFill>
                  <a:srgbClr val="FFD21F"/>
                </a:solidFill>
                <a:latin typeface="Roboto Mono"/>
              </a:rPr>
              <a:t>sufijo_distinto</a:t>
            </a:r>
          </a:p>
        </p:txBody>
      </p:sp>
      <p:sp>
        <p:nvSpPr>
          <p:cNvPr id="67" name="TextBox 66"/>
          <p:cNvSpPr txBox="1"/>
          <p:nvPr/>
        </p:nvSpPr>
        <p:spPr>
          <a:xfrm>
            <a:off x="9916716" y="8709720"/>
            <a:ext cx="123527" cy="285750"/>
          </a:xfrm>
          <a:prstGeom prst="rect">
            <a:avLst/>
          </a:prstGeom>
          <a:noFill/>
        </p:spPr>
        <p:txBody>
          <a:bodyPr wrap="none" lIns="0" rIns="0" tIns="0" bIns="0" anchor="t">
            <a:spAutoFit/>
          </a:bodyPr>
          <a:lstStyle/>
          <a:p>
            <a:pPr algn="l">
              <a:lnSpc>
                <a:spcPct val="101400"/>
              </a:lnSpc>
            </a:pPr>
            <a:r>
              <a:rPr sz="1725" b="0" i="0">
                <a:solidFill>
                  <a:srgbClr val="F3F7FC"/>
                </a:solidFill>
                <a:latin typeface="Barlow"/>
              </a:rPr>
              <a:t>·</a:t>
            </a:r>
          </a:p>
        </p:txBody>
      </p:sp>
      <p:sp>
        <p:nvSpPr>
          <p:cNvPr id="68" name="TextBox 67"/>
          <p:cNvSpPr txBox="1"/>
          <p:nvPr/>
        </p:nvSpPr>
        <p:spPr>
          <a:xfrm>
            <a:off x="6619875" y="8982075"/>
            <a:ext cx="2366528" cy="285750"/>
          </a:xfrm>
          <a:prstGeom prst="rect">
            <a:avLst/>
          </a:prstGeom>
          <a:noFill/>
        </p:spPr>
        <p:txBody>
          <a:bodyPr wrap="none" lIns="0" rIns="0" tIns="0" bIns="0" anchor="t">
            <a:spAutoFit/>
          </a:bodyPr>
          <a:lstStyle/>
          <a:p>
            <a:pPr algn="l">
              <a:lnSpc>
                <a:spcPct val="111100"/>
              </a:lnSpc>
            </a:pPr>
            <a:r>
              <a:rPr sz="1575" b="1" i="0">
                <a:solidFill>
                  <a:srgbClr val="FFD21F"/>
                </a:solidFill>
                <a:latin typeface="Roboto Mono"/>
              </a:rPr>
              <a:t>reacondicionado_r1</a:t>
            </a:r>
          </a:p>
        </p:txBody>
      </p:sp>
      <p:sp>
        <p:nvSpPr>
          <p:cNvPr id="69" name="TextBox 68"/>
          <p:cNvSpPr txBox="1"/>
          <p:nvPr/>
        </p:nvSpPr>
        <p:spPr>
          <a:xfrm>
            <a:off x="12277725" y="8507760"/>
            <a:ext cx="1521285" cy="285750"/>
          </a:xfrm>
          <a:prstGeom prst="rect">
            <a:avLst/>
          </a:prstGeom>
          <a:noFill/>
        </p:spPr>
        <p:txBody>
          <a:bodyPr wrap="none" lIns="0" rIns="0" tIns="0" bIns="0" anchor="t">
            <a:spAutoFit/>
          </a:bodyPr>
          <a:lstStyle/>
          <a:p>
            <a:pPr algn="l">
              <a:lnSpc>
                <a:spcPct val="100000"/>
              </a:lnSpc>
            </a:pPr>
            <a:r>
              <a:rPr sz="1575" b="1" i="0">
                <a:solidFill>
                  <a:srgbClr val="FFD21F"/>
                </a:solidFill>
                <a:latin typeface="Roboto Mono"/>
              </a:rPr>
              <a:t>source_file</a:t>
            </a:r>
          </a:p>
        </p:txBody>
      </p:sp>
      <p:sp>
        <p:nvSpPr>
          <p:cNvPr id="70" name="TextBox 69"/>
          <p:cNvSpPr txBox="1"/>
          <p:nvPr/>
        </p:nvSpPr>
        <p:spPr>
          <a:xfrm>
            <a:off x="12277725" y="8841135"/>
            <a:ext cx="2663142"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60 archivos · ~49 retailers</a:t>
            </a:r>
          </a:p>
        </p:txBody>
      </p:sp>
      <p:sp>
        <p:nvSpPr>
          <p:cNvPr id="71" name="TextBox 70"/>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72" name="TextBox 71"/>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12</a:t>
            </a:r>
          </a:p>
        </p:txBody>
      </p:sp>
      <p:sp>
        <p:nvSpPr>
          <p:cNvPr id="73" name="TextBox 72"/>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13</a:t>
            </a:r>
          </a:p>
        </p:txBody>
      </p:sp>
      <p:sp>
        <p:nvSpPr>
          <p:cNvPr id="74" name="TextBox 7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14</a:t>
            </a:r>
          </a:p>
        </p:txBody>
      </p:sp>
      <p:sp>
        <p:nvSpPr>
          <p:cNvPr id="75" name="TextBox 74"/>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15</a:t>
            </a:r>
          </a:p>
        </p:txBody>
      </p:sp>
      <p:sp>
        <p:nvSpPr>
          <p:cNvPr id="76" name="TextBox 75"/>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3652838" cy="55931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365283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8124825"/>
            <a:ext cx="365283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67212"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71988" y="5323433"/>
            <a:ext cx="55245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119688" y="2541240"/>
            <a:ext cx="3652838" cy="55931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19688" y="2541240"/>
            <a:ext cx="365283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119688" y="8124825"/>
            <a:ext cx="365283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119688"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763000"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67775" y="5323433"/>
            <a:ext cx="55245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515475" y="2541240"/>
            <a:ext cx="3652838" cy="55931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515475" y="2541240"/>
            <a:ext cx="365283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5475" y="8124825"/>
            <a:ext cx="365283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515475"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3158788"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3263562" y="5323433"/>
            <a:ext cx="552450" cy="28575"/>
          </a:xfrm>
          <a:prstGeom prst="rect">
            <a:avLst/>
          </a:prstGeom>
          <a:solidFill>
            <a:srgbClr val="FFD21F">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3911262" y="2541240"/>
            <a:ext cx="3652838" cy="55931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3911262" y="2541240"/>
            <a:ext cx="3652838"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3911262" y="8124825"/>
            <a:ext cx="3652838"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3911262"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2541240"/>
            <a:ext cx="9525" cy="55931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28662" y="8291512"/>
            <a:ext cx="16830675" cy="1323975"/>
          </a:xfrm>
          <a:prstGeom prst="rect">
            <a:avLst/>
          </a:prstGeom>
          <a:solidFill>
            <a:srgbClr val="07172D">
              <a:alpha val="88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892492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183005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73041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4735175" y="9944100"/>
            <a:ext cx="33832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Decoracion" descr="s45_deco_00.png"/>
          <p:cNvPicPr>
            <a:picLocks noChangeAspect="1"/>
          </p:cNvPicPr>
          <p:nvPr/>
        </p:nvPicPr>
        <p:blipFill>
          <a:blip r:embed="rId4"/>
          <a:stretch>
            <a:fillRect/>
          </a:stretch>
        </p:blipFill>
        <p:spPr>
          <a:xfrm>
            <a:off x="4876800" y="5162550"/>
            <a:ext cx="285750" cy="361950"/>
          </a:xfrm>
          <a:prstGeom prst="rect">
            <a:avLst/>
          </a:prstGeom>
        </p:spPr>
      </p:pic>
      <p:pic>
        <p:nvPicPr>
          <p:cNvPr id="44" name="Decoracion" descr="s45_deco_00.png"/>
          <p:cNvPicPr>
            <a:picLocks noChangeAspect="1"/>
          </p:cNvPicPr>
          <p:nvPr/>
        </p:nvPicPr>
        <p:blipFill>
          <a:blip r:embed="rId4"/>
          <a:stretch>
            <a:fillRect/>
          </a:stretch>
        </p:blipFill>
        <p:spPr>
          <a:xfrm>
            <a:off x="9267825" y="5162550"/>
            <a:ext cx="285750" cy="361950"/>
          </a:xfrm>
          <a:prstGeom prst="rect">
            <a:avLst/>
          </a:prstGeom>
        </p:spPr>
      </p:pic>
      <p:pic>
        <p:nvPicPr>
          <p:cNvPr id="45" name="Decoracion" descr="s45_deco_00.png"/>
          <p:cNvPicPr>
            <a:picLocks noChangeAspect="1"/>
          </p:cNvPicPr>
          <p:nvPr/>
        </p:nvPicPr>
        <p:blipFill>
          <a:blip r:embed="rId4"/>
          <a:stretch>
            <a:fillRect/>
          </a:stretch>
        </p:blipFill>
        <p:spPr>
          <a:xfrm>
            <a:off x="13668375" y="5162550"/>
            <a:ext cx="285750" cy="361950"/>
          </a:xfrm>
          <a:prstGeom prst="rect">
            <a:avLst/>
          </a:prstGeom>
        </p:spPr>
      </p:pic>
      <p:sp>
        <p:nvSpPr>
          <p:cNvPr id="46" name="TextBox 45"/>
          <p:cNvSpPr txBox="1"/>
          <p:nvPr/>
        </p:nvSpPr>
        <p:spPr>
          <a:xfrm>
            <a:off x="981075" y="1663750"/>
            <a:ext cx="373893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EXTRAER PRODUCTOS · 05 / 05</a:t>
            </a:r>
          </a:p>
        </p:txBody>
      </p:sp>
      <p:sp>
        <p:nvSpPr>
          <p:cNvPr id="47" name="TextBox 46"/>
          <p:cNvSpPr txBox="1"/>
          <p:nvPr/>
        </p:nvSpPr>
        <p:spPr>
          <a:xfrm>
            <a:off x="981075" y="1923752"/>
            <a:ext cx="5320227" cy="514350"/>
          </a:xfrm>
          <a:prstGeom prst="rect">
            <a:avLst/>
          </a:prstGeom>
          <a:noFill/>
        </p:spPr>
        <p:txBody>
          <a:bodyPr wrap="none" lIns="0" rIns="0" tIns="0" bIns="0" anchor="t">
            <a:spAutoFit/>
          </a:bodyPr>
          <a:lstStyle/>
          <a:p>
            <a:pPr algn="l">
              <a:lnSpc>
                <a:spcPct val="109500"/>
              </a:lnSpc>
            </a:pPr>
            <a:r>
              <a:rPr sz="2967" b="1" i="0" spc="-86">
                <a:solidFill>
                  <a:srgbClr val="FFD21F"/>
                </a:solidFill>
                <a:latin typeface="Roboto Mono"/>
              </a:rPr>
              <a:t>data/raw/retailer_test/</a:t>
            </a:r>
          </a:p>
        </p:txBody>
      </p:sp>
      <p:sp>
        <p:nvSpPr>
          <p:cNvPr id="48" name="TextBox 47"/>
          <p:cNvSpPr txBox="1"/>
          <p:nvPr/>
        </p:nvSpPr>
        <p:spPr>
          <a:xfrm>
            <a:off x="6044803" y="1885652"/>
            <a:ext cx="4781011" cy="561975"/>
          </a:xfrm>
          <a:prstGeom prst="rect">
            <a:avLst/>
          </a:prstGeom>
          <a:noFill/>
        </p:spPr>
        <p:txBody>
          <a:bodyPr wrap="none" lIns="0" rIns="0" tIns="0" bIns="0" anchor="t">
            <a:spAutoFit/>
          </a:bodyPr>
          <a:lstStyle/>
          <a:p>
            <a:pPr algn="l">
              <a:lnSpc>
                <a:spcPct val="103300"/>
              </a:lnSpc>
            </a:pPr>
            <a:r>
              <a:rPr sz="3450" b="1" i="0" spc="-86">
                <a:solidFill>
                  <a:srgbClr val="F3F7FC"/>
                </a:solidFill>
                <a:latin typeface="Montserrat"/>
              </a:rPr>
              <a:t>· Contrato operativo</a:t>
            </a:r>
          </a:p>
        </p:txBody>
      </p:sp>
      <p:sp>
        <p:nvSpPr>
          <p:cNvPr id="49" name="TextBox 48"/>
          <p:cNvSpPr txBox="1"/>
          <p:nvPr/>
        </p:nvSpPr>
        <p:spPr>
          <a:xfrm>
            <a:off x="962025" y="4540597"/>
            <a:ext cx="1482870"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Registro</a:t>
            </a:r>
          </a:p>
        </p:txBody>
      </p:sp>
      <p:sp>
        <p:nvSpPr>
          <p:cNvPr id="50" name="TextBox 49"/>
          <p:cNvSpPr txBox="1"/>
          <p:nvPr/>
        </p:nvSpPr>
        <p:spPr>
          <a:xfrm>
            <a:off x="962025" y="5033933"/>
            <a:ext cx="339406"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Id</a:t>
            </a:r>
          </a:p>
        </p:txBody>
      </p:sp>
      <p:sp>
        <p:nvSpPr>
          <p:cNvPr id="51" name="TextBox 50"/>
          <p:cNvSpPr txBox="1"/>
          <p:nvPr/>
        </p:nvSpPr>
        <p:spPr>
          <a:xfrm>
            <a:off x="962025" y="5458688"/>
            <a:ext cx="1559540"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RetailerName</a:t>
            </a:r>
          </a:p>
        </p:txBody>
      </p:sp>
      <p:sp>
        <p:nvSpPr>
          <p:cNvPr id="52" name="TextBox 51"/>
          <p:cNvSpPr txBox="1"/>
          <p:nvPr/>
        </p:nvSpPr>
        <p:spPr>
          <a:xfrm>
            <a:off x="962025" y="5872014"/>
            <a:ext cx="2463028"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Obligatorios y no vacíos</a:t>
            </a:r>
          </a:p>
        </p:txBody>
      </p:sp>
      <p:sp>
        <p:nvSpPr>
          <p:cNvPr id="53" name="TextBox 52"/>
          <p:cNvSpPr txBox="1"/>
          <p:nvPr/>
        </p:nvSpPr>
        <p:spPr>
          <a:xfrm>
            <a:off x="5357812" y="4540597"/>
            <a:ext cx="1591848"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Contexto</a:t>
            </a:r>
          </a:p>
        </p:txBody>
      </p:sp>
      <p:sp>
        <p:nvSpPr>
          <p:cNvPr id="54" name="TextBox 53"/>
          <p:cNvSpPr txBox="1"/>
          <p:nvPr/>
        </p:nvSpPr>
        <p:spPr>
          <a:xfrm>
            <a:off x="5357812" y="5033933"/>
            <a:ext cx="2047530"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ManufacturerName</a:t>
            </a:r>
          </a:p>
        </p:txBody>
      </p:sp>
      <p:sp>
        <p:nvSpPr>
          <p:cNvPr id="55" name="TextBox 54"/>
          <p:cNvSpPr txBox="1"/>
          <p:nvPr/>
        </p:nvSpPr>
        <p:spPr>
          <a:xfrm>
            <a:off x="5357812" y="5458688"/>
            <a:ext cx="1803535"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CompetitorName</a:t>
            </a:r>
          </a:p>
        </p:txBody>
      </p:sp>
      <p:sp>
        <p:nvSpPr>
          <p:cNvPr id="56" name="TextBox 55"/>
          <p:cNvSpPr txBox="1"/>
          <p:nvPr/>
        </p:nvSpPr>
        <p:spPr>
          <a:xfrm>
            <a:off x="5357812" y="5872014"/>
            <a:ext cx="2575864"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Fabricante y competidor</a:t>
            </a:r>
          </a:p>
        </p:txBody>
      </p:sp>
      <p:sp>
        <p:nvSpPr>
          <p:cNvPr id="57" name="TextBox 56"/>
          <p:cNvSpPr txBox="1"/>
          <p:nvPr/>
        </p:nvSpPr>
        <p:spPr>
          <a:xfrm>
            <a:off x="9753600" y="4540597"/>
            <a:ext cx="1617726"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Producto</a:t>
            </a:r>
          </a:p>
        </p:txBody>
      </p:sp>
      <p:sp>
        <p:nvSpPr>
          <p:cNvPr id="58" name="TextBox 57"/>
          <p:cNvSpPr txBox="1"/>
          <p:nvPr/>
        </p:nvSpPr>
        <p:spPr>
          <a:xfrm>
            <a:off x="9753600" y="5033933"/>
            <a:ext cx="1193548"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ProductId</a:t>
            </a:r>
          </a:p>
        </p:txBody>
      </p:sp>
      <p:sp>
        <p:nvSpPr>
          <p:cNvPr id="59" name="TextBox 58"/>
          <p:cNvSpPr txBox="1"/>
          <p:nvPr/>
        </p:nvSpPr>
        <p:spPr>
          <a:xfrm>
            <a:off x="9753600" y="5458688"/>
            <a:ext cx="1437543"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ProductName</a:t>
            </a:r>
          </a:p>
        </p:txBody>
      </p:sp>
      <p:sp>
        <p:nvSpPr>
          <p:cNvPr id="60" name="TextBox 59"/>
          <p:cNvSpPr txBox="1"/>
          <p:nvPr/>
        </p:nvSpPr>
        <p:spPr>
          <a:xfrm>
            <a:off x="9753600" y="5883444"/>
            <a:ext cx="1193548"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ExtraInfo</a:t>
            </a:r>
          </a:p>
        </p:txBody>
      </p:sp>
      <p:sp>
        <p:nvSpPr>
          <p:cNvPr id="61" name="TextBox 60"/>
          <p:cNvSpPr txBox="1"/>
          <p:nvPr/>
        </p:nvSpPr>
        <p:spPr>
          <a:xfrm>
            <a:off x="14149388" y="4540597"/>
            <a:ext cx="1274237" cy="371475"/>
          </a:xfrm>
          <a:prstGeom prst="rect">
            <a:avLst/>
          </a:prstGeom>
          <a:noFill/>
        </p:spPr>
        <p:txBody>
          <a:bodyPr wrap="none" lIns="0" rIns="0" tIns="0" bIns="0" anchor="t">
            <a:spAutoFit/>
          </a:bodyPr>
          <a:lstStyle/>
          <a:p>
            <a:pPr algn="l">
              <a:lnSpc>
                <a:spcPct val="85000"/>
              </a:lnSpc>
            </a:pPr>
            <a:r>
              <a:rPr sz="2250" b="1" i="0">
                <a:solidFill>
                  <a:srgbClr val="F3F7FC"/>
                </a:solidFill>
                <a:latin typeface="Montserrat"/>
              </a:rPr>
              <a:t>Medios</a:t>
            </a:r>
          </a:p>
        </p:txBody>
      </p:sp>
      <p:sp>
        <p:nvSpPr>
          <p:cNvPr id="62" name="TextBox 61"/>
          <p:cNvSpPr txBox="1"/>
          <p:nvPr/>
        </p:nvSpPr>
        <p:spPr>
          <a:xfrm>
            <a:off x="14149388" y="5033933"/>
            <a:ext cx="1925532"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ProductImageUrl</a:t>
            </a:r>
          </a:p>
        </p:txBody>
      </p:sp>
      <p:sp>
        <p:nvSpPr>
          <p:cNvPr id="63" name="TextBox 62"/>
          <p:cNvSpPr txBox="1"/>
          <p:nvPr/>
        </p:nvSpPr>
        <p:spPr>
          <a:xfrm>
            <a:off x="14149388" y="5458688"/>
            <a:ext cx="1315545" cy="281940"/>
          </a:xfrm>
          <a:prstGeom prst="rect">
            <a:avLst/>
          </a:prstGeom>
          <a:noFill/>
        </p:spPr>
        <p:txBody>
          <a:bodyPr wrap="none" lIns="0" rIns="0" tIns="0" bIns="0" anchor="t">
            <a:spAutoFit/>
          </a:bodyPr>
          <a:lstStyle/>
          <a:p>
            <a:pPr algn="l">
              <a:lnSpc>
                <a:spcPct val="100000"/>
              </a:lnSpc>
            </a:pPr>
            <a:r>
              <a:rPr sz="1483" b="1" i="0">
                <a:solidFill>
                  <a:srgbClr val="FFD21F"/>
                </a:solidFill>
                <a:latin typeface="Roboto Mono"/>
              </a:rPr>
              <a:t>ProductUrl</a:t>
            </a:r>
          </a:p>
        </p:txBody>
      </p:sp>
      <p:sp>
        <p:nvSpPr>
          <p:cNvPr id="64" name="TextBox 63"/>
          <p:cNvSpPr txBox="1"/>
          <p:nvPr/>
        </p:nvSpPr>
        <p:spPr>
          <a:xfrm>
            <a:off x="14149388" y="5872014"/>
            <a:ext cx="2665553" cy="285750"/>
          </a:xfrm>
          <a:prstGeom prst="rect">
            <a:avLst/>
          </a:prstGeom>
          <a:noFill/>
        </p:spPr>
        <p:txBody>
          <a:bodyPr wrap="none" lIns="0" rIns="0" tIns="0" bIns="0" anchor="t">
            <a:spAutoFit/>
          </a:bodyPr>
          <a:lstStyle/>
          <a:p>
            <a:pPr algn="l">
              <a:lnSpc>
                <a:spcPct val="100000"/>
              </a:lnSpc>
            </a:pPr>
            <a:r>
              <a:rPr sz="1725" b="0" i="0">
                <a:solidFill>
                  <a:srgbClr val="F3F7FC"/>
                </a:solidFill>
                <a:latin typeface="Barlow"/>
              </a:rPr>
              <a:t>Imagen y enlace auditado</a:t>
            </a:r>
          </a:p>
        </p:txBody>
      </p:sp>
      <p:sp>
        <p:nvSpPr>
          <p:cNvPr id="65" name="TextBox 64"/>
          <p:cNvSpPr txBox="1"/>
          <p:nvPr/>
        </p:nvSpPr>
        <p:spPr>
          <a:xfrm>
            <a:off x="1000125" y="8825835"/>
            <a:ext cx="4162473" cy="270510"/>
          </a:xfrm>
          <a:prstGeom prst="rect">
            <a:avLst/>
          </a:prstGeom>
          <a:noFill/>
        </p:spPr>
        <p:txBody>
          <a:bodyPr wrap="none" lIns="0" rIns="0" tIns="0" bIns="0" anchor="t">
            <a:spAutoFit/>
          </a:bodyPr>
          <a:lstStyle/>
          <a:p>
            <a:pPr algn="l">
              <a:lnSpc>
                <a:spcPct val="100000"/>
              </a:lnSpc>
            </a:pPr>
            <a:r>
              <a:rPr sz="1650" b="0" i="0">
                <a:solidFill>
                  <a:srgbClr val="F3F7FC"/>
                </a:solidFill>
                <a:latin typeface="Barlow"/>
              </a:rPr>
              <a:t>Actualmente no existe un archivo físico en</a:t>
            </a:r>
          </a:p>
        </p:txBody>
      </p:sp>
      <p:sp>
        <p:nvSpPr>
          <p:cNvPr id="66" name="TextBox 65"/>
          <p:cNvSpPr txBox="1"/>
          <p:nvPr/>
        </p:nvSpPr>
        <p:spPr>
          <a:xfrm>
            <a:off x="7251650" y="8825835"/>
            <a:ext cx="158740" cy="270510"/>
          </a:xfrm>
          <a:prstGeom prst="rect">
            <a:avLst/>
          </a:prstGeom>
          <a:noFill/>
        </p:spPr>
        <p:txBody>
          <a:bodyPr wrap="none" lIns="0" rIns="0" tIns="0" bIns="0" anchor="t">
            <a:spAutoFit/>
          </a:bodyPr>
          <a:lstStyle/>
          <a:p>
            <a:pPr algn="l">
              <a:lnSpc>
                <a:spcPct val="100000"/>
              </a:lnSpc>
            </a:pPr>
            <a:r>
              <a:rPr sz="1650" b="0" i="0">
                <a:solidFill>
                  <a:srgbClr val="F3F7FC"/>
                </a:solidFill>
                <a:latin typeface="Barlow"/>
              </a:rPr>
              <a:t>.</a:t>
            </a:r>
          </a:p>
        </p:txBody>
      </p:sp>
      <p:sp>
        <p:nvSpPr>
          <p:cNvPr id="67" name="TextBox 66"/>
          <p:cNvSpPr txBox="1"/>
          <p:nvPr/>
        </p:nvSpPr>
        <p:spPr>
          <a:xfrm>
            <a:off x="10012114" y="8825835"/>
            <a:ext cx="2059585" cy="270510"/>
          </a:xfrm>
          <a:prstGeom prst="rect">
            <a:avLst/>
          </a:prstGeom>
          <a:noFill/>
        </p:spPr>
        <p:txBody>
          <a:bodyPr wrap="none" lIns="0" rIns="0" tIns="0" bIns="0" anchor="t">
            <a:spAutoFit/>
          </a:bodyPr>
          <a:lstStyle/>
          <a:p>
            <a:pPr algn="l">
              <a:lnSpc>
                <a:spcPct val="100000"/>
              </a:lnSpc>
            </a:pPr>
            <a:r>
              <a:rPr sz="1650" b="0" i="0">
                <a:solidFill>
                  <a:srgbClr val="F3F7FC"/>
                </a:solidFill>
                <a:latin typeface="Barlow"/>
              </a:rPr>
              <a:t>declara el contrato y</a:t>
            </a:r>
          </a:p>
        </p:txBody>
      </p:sp>
      <p:sp>
        <p:nvSpPr>
          <p:cNvPr id="68" name="TextBox 67"/>
          <p:cNvSpPr txBox="1"/>
          <p:nvPr/>
        </p:nvSpPr>
        <p:spPr>
          <a:xfrm>
            <a:off x="13776275" y="8825835"/>
            <a:ext cx="2754922" cy="270510"/>
          </a:xfrm>
          <a:prstGeom prst="rect">
            <a:avLst/>
          </a:prstGeom>
          <a:noFill/>
        </p:spPr>
        <p:txBody>
          <a:bodyPr wrap="none" lIns="0" rIns="0" tIns="0" bIns="0" anchor="t">
            <a:spAutoFit/>
          </a:bodyPr>
          <a:lstStyle/>
          <a:p>
            <a:pPr algn="l">
              <a:lnSpc>
                <a:spcPct val="100000"/>
              </a:lnSpc>
            </a:pPr>
            <a:r>
              <a:rPr sz="1650" b="0" i="0">
                <a:solidFill>
                  <a:srgbClr val="F3F7FC"/>
                </a:solidFill>
                <a:latin typeface="Barlow"/>
              </a:rPr>
              <a:t>lo valida antes de la lectura.</a:t>
            </a:r>
          </a:p>
        </p:txBody>
      </p:sp>
      <p:sp>
        <p:nvSpPr>
          <p:cNvPr id="69" name="TextBox 68"/>
          <p:cNvSpPr txBox="1"/>
          <p:nvPr/>
        </p:nvSpPr>
        <p:spPr>
          <a:xfrm>
            <a:off x="4766072" y="8826252"/>
            <a:ext cx="2779675"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data/raw/retailer_test/</a:t>
            </a:r>
          </a:p>
        </p:txBody>
      </p:sp>
      <p:sp>
        <p:nvSpPr>
          <p:cNvPr id="70" name="TextBox 69"/>
          <p:cNvSpPr txBox="1"/>
          <p:nvPr/>
        </p:nvSpPr>
        <p:spPr>
          <a:xfrm>
            <a:off x="7310438" y="8826252"/>
            <a:ext cx="3013061"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prepare_retailer_input.py</a:t>
            </a:r>
          </a:p>
        </p:txBody>
      </p:sp>
      <p:sp>
        <p:nvSpPr>
          <p:cNvPr id="71" name="TextBox 70"/>
          <p:cNvSpPr txBox="1"/>
          <p:nvPr/>
        </p:nvSpPr>
        <p:spPr>
          <a:xfrm>
            <a:off x="11830943" y="8826252"/>
            <a:ext cx="2196209"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validate_columns()</a:t>
            </a:r>
          </a:p>
        </p:txBody>
      </p:sp>
      <p:sp>
        <p:nvSpPr>
          <p:cNvPr id="72" name="TextBox 71"/>
          <p:cNvSpPr txBox="1"/>
          <p:nvPr/>
        </p:nvSpPr>
        <p:spPr>
          <a:xfrm>
            <a:off x="1005483" y="9766935"/>
            <a:ext cx="195591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EXTRAER PRODUCTOS</a:t>
            </a:r>
          </a:p>
        </p:txBody>
      </p:sp>
      <p:sp>
        <p:nvSpPr>
          <p:cNvPr id="73" name="TextBox 72"/>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12</a:t>
            </a:r>
          </a:p>
        </p:txBody>
      </p:sp>
      <p:sp>
        <p:nvSpPr>
          <p:cNvPr id="74" name="TextBox 73"/>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13</a:t>
            </a:r>
          </a:p>
        </p:txBody>
      </p:sp>
      <p:sp>
        <p:nvSpPr>
          <p:cNvPr id="75" name="TextBox 74"/>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14</a:t>
            </a:r>
          </a:p>
        </p:txBody>
      </p:sp>
      <p:sp>
        <p:nvSpPr>
          <p:cNvPr id="76" name="TextBox 75"/>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15</a:t>
            </a:r>
          </a:p>
        </p:txBody>
      </p:sp>
      <p:sp>
        <p:nvSpPr>
          <p:cNvPr id="77" name="TextBox 76"/>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6307485"/>
          </a:xfrm>
          <a:prstGeom prst="rect">
            <a:avLst/>
          </a:prstGeom>
          <a:solidFill>
            <a:srgbClr val="0D2748">
              <a:alpha val="84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42950" y="2560290"/>
            <a:ext cx="3016448"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768923" y="2560290"/>
            <a:ext cx="10413653"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4192101" y="2560290"/>
            <a:ext cx="3352949"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42950" y="3084165"/>
            <a:ext cx="3016448" cy="2872680"/>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768923" y="3084165"/>
            <a:ext cx="10413653" cy="2872680"/>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4192101" y="3084165"/>
            <a:ext cx="3352949" cy="2872680"/>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4802445" y="4296668"/>
            <a:ext cx="2132112" cy="4476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38188" y="5961608"/>
            <a:ext cx="16811625" cy="2882354"/>
          </a:xfrm>
          <a:prstGeom prst="rect">
            <a:avLst/>
          </a:prstGeom>
          <a:solidFill>
            <a:srgbClr val="0B5EA8">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42950" y="5966371"/>
            <a:ext cx="3016448" cy="2872829"/>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768923" y="5966371"/>
            <a:ext cx="10413653" cy="2872829"/>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192101" y="5966371"/>
            <a:ext cx="3352949" cy="2872829"/>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5019734" y="7178873"/>
            <a:ext cx="1697682" cy="4476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8977312"/>
            <a:ext cx="16830675" cy="638175"/>
          </a:xfrm>
          <a:prstGeom prst="rect">
            <a:avLst/>
          </a:prstGeom>
          <a:solidFill>
            <a:srgbClr val="07172D">
              <a:alpha val="74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330851" y="8982075"/>
            <a:ext cx="9525" cy="62865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937950" y="8982075"/>
            <a:ext cx="9525" cy="628650"/>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09912"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114675"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81075" y="1663750"/>
            <a:ext cx="381303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SELECCIONAR CAMPOS · 01 / 03</a:t>
            </a:r>
          </a:p>
        </p:txBody>
      </p:sp>
      <p:sp>
        <p:nvSpPr>
          <p:cNvPr id="30" name="TextBox 29"/>
          <p:cNvSpPr txBox="1"/>
          <p:nvPr/>
        </p:nvSpPr>
        <p:spPr>
          <a:xfrm>
            <a:off x="981075" y="1885652"/>
            <a:ext cx="7541109"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Selección de campos textuales</a:t>
            </a:r>
          </a:p>
        </p:txBody>
      </p:sp>
      <p:sp>
        <p:nvSpPr>
          <p:cNvPr id="31" name="TextBox 30"/>
          <p:cNvSpPr txBox="1"/>
          <p:nvPr/>
        </p:nvSpPr>
        <p:spPr>
          <a:xfrm>
            <a:off x="914400" y="2703165"/>
            <a:ext cx="854238" cy="247650"/>
          </a:xfrm>
          <a:prstGeom prst="rect">
            <a:avLst/>
          </a:prstGeom>
          <a:noFill/>
        </p:spPr>
        <p:txBody>
          <a:bodyPr wrap="none" lIns="0" rIns="0" tIns="0" bIns="0" anchor="t">
            <a:spAutoFit/>
          </a:bodyPr>
          <a:lstStyle/>
          <a:p>
            <a:pPr algn="l">
              <a:lnSpc>
                <a:spcPct val="100000"/>
              </a:lnSpc>
            </a:pPr>
            <a:r>
              <a:rPr sz="1500" b="1" i="0" spc="82">
                <a:solidFill>
                  <a:srgbClr val="9AB3CD"/>
                </a:solidFill>
                <a:latin typeface="Barlow"/>
              </a:rPr>
              <a:t>ORIGEN</a:t>
            </a:r>
          </a:p>
        </p:txBody>
      </p:sp>
      <p:sp>
        <p:nvSpPr>
          <p:cNvPr id="32" name="TextBox 31"/>
          <p:cNvSpPr txBox="1"/>
          <p:nvPr/>
        </p:nvSpPr>
        <p:spPr>
          <a:xfrm>
            <a:off x="11303943" y="2703165"/>
            <a:ext cx="2707184"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CAMPOS SELECCIONADOS</a:t>
            </a:r>
          </a:p>
        </p:txBody>
      </p:sp>
      <p:sp>
        <p:nvSpPr>
          <p:cNvPr id="33" name="TextBox 32"/>
          <p:cNvSpPr txBox="1"/>
          <p:nvPr/>
        </p:nvSpPr>
        <p:spPr>
          <a:xfrm>
            <a:off x="16520809" y="2703165"/>
            <a:ext cx="852791"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SALIDA</a:t>
            </a:r>
          </a:p>
        </p:txBody>
      </p:sp>
      <p:sp>
        <p:nvSpPr>
          <p:cNvPr id="34" name="TextBox 33"/>
          <p:cNvSpPr txBox="1"/>
          <p:nvPr/>
        </p:nvSpPr>
        <p:spPr>
          <a:xfrm>
            <a:off x="914400" y="4358580"/>
            <a:ext cx="1739080"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Fabricante</a:t>
            </a:r>
          </a:p>
        </p:txBody>
      </p:sp>
      <p:sp>
        <p:nvSpPr>
          <p:cNvPr id="35" name="TextBox 34"/>
          <p:cNvSpPr txBox="1"/>
          <p:nvPr/>
        </p:nvSpPr>
        <p:spPr>
          <a:xfrm>
            <a:off x="3940373" y="4413647"/>
            <a:ext cx="622989" cy="247650"/>
          </a:xfrm>
          <a:prstGeom prst="rect">
            <a:avLst/>
          </a:prstGeom>
          <a:noFill/>
        </p:spPr>
        <p:txBody>
          <a:bodyPr wrap="none" lIns="0" rIns="0" tIns="0" bIns="0" anchor="t">
            <a:spAutoFit/>
          </a:bodyPr>
          <a:lstStyle/>
          <a:p>
            <a:pPr algn="l">
              <a:lnSpc>
                <a:spcPct val="110700"/>
              </a:lnSpc>
            </a:pPr>
            <a:r>
              <a:rPr sz="1354" b="1" i="0">
                <a:solidFill>
                  <a:srgbClr val="FFD21F"/>
                </a:solidFill>
                <a:latin typeface="Roboto Mono"/>
              </a:rPr>
              <a:t>Brand</a:t>
            </a:r>
          </a:p>
        </p:txBody>
      </p:sp>
      <p:sp>
        <p:nvSpPr>
          <p:cNvPr id="36" name="TextBox 35"/>
          <p:cNvSpPr txBox="1"/>
          <p:nvPr/>
        </p:nvSpPr>
        <p:spPr>
          <a:xfrm>
            <a:off x="4496098" y="4394597"/>
            <a:ext cx="168646" cy="257175"/>
          </a:xfrm>
          <a:prstGeom prst="rect">
            <a:avLst/>
          </a:prstGeom>
          <a:noFill/>
        </p:spPr>
        <p:txBody>
          <a:bodyPr wrap="none" lIns="0" rIns="0" tIns="0" bIns="0" anchor="t">
            <a:spAutoFit/>
          </a:bodyPr>
          <a:lstStyle/>
          <a:p>
            <a:pPr algn="l">
              <a:lnSpc>
                <a:spcPct val="99200"/>
              </a:lnSpc>
            </a:pPr>
            <a:r>
              <a:rPr sz="1575" b="1" i="0">
                <a:solidFill>
                  <a:srgbClr val="DCE8F4"/>
                </a:solidFill>
                <a:latin typeface="Barlow"/>
              </a:rPr>
              <a:t>·</a:t>
            </a:r>
          </a:p>
        </p:txBody>
      </p:sp>
      <p:sp>
        <p:nvSpPr>
          <p:cNvPr id="37" name="TextBox 36"/>
          <p:cNvSpPr txBox="1"/>
          <p:nvPr/>
        </p:nvSpPr>
        <p:spPr>
          <a:xfrm>
            <a:off x="4583311" y="4413647"/>
            <a:ext cx="2591175" cy="247650"/>
          </a:xfrm>
          <a:prstGeom prst="rect">
            <a:avLst/>
          </a:prstGeom>
          <a:noFill/>
        </p:spPr>
        <p:txBody>
          <a:bodyPr wrap="none" lIns="0" rIns="0" tIns="0" bIns="0" anchor="t">
            <a:spAutoFit/>
          </a:bodyPr>
          <a:lstStyle/>
          <a:p>
            <a:pPr algn="l">
              <a:lnSpc>
                <a:spcPct val="110700"/>
              </a:lnSpc>
            </a:pPr>
            <a:r>
              <a:rPr sz="1354" b="1" i="0">
                <a:solidFill>
                  <a:srgbClr val="FFD21F"/>
                </a:solidFill>
                <a:latin typeface="Roboto Mono"/>
              </a:rPr>
              <a:t>ManufacturerProductName</a:t>
            </a:r>
          </a:p>
        </p:txBody>
      </p:sp>
      <p:sp>
        <p:nvSpPr>
          <p:cNvPr id="38" name="TextBox 37"/>
          <p:cNvSpPr txBox="1"/>
          <p:nvPr/>
        </p:nvSpPr>
        <p:spPr>
          <a:xfrm>
            <a:off x="6995815" y="4394597"/>
            <a:ext cx="168646" cy="257175"/>
          </a:xfrm>
          <a:prstGeom prst="rect">
            <a:avLst/>
          </a:prstGeom>
          <a:noFill/>
        </p:spPr>
        <p:txBody>
          <a:bodyPr wrap="none" lIns="0" rIns="0" tIns="0" bIns="0" anchor="t">
            <a:spAutoFit/>
          </a:bodyPr>
          <a:lstStyle/>
          <a:p>
            <a:pPr algn="l">
              <a:lnSpc>
                <a:spcPct val="99200"/>
              </a:lnSpc>
            </a:pPr>
            <a:r>
              <a:rPr sz="1575" b="1" i="0">
                <a:solidFill>
                  <a:srgbClr val="DCE8F4"/>
                </a:solidFill>
                <a:latin typeface="Barlow"/>
              </a:rPr>
              <a:t>·</a:t>
            </a:r>
          </a:p>
        </p:txBody>
      </p:sp>
      <p:sp>
        <p:nvSpPr>
          <p:cNvPr id="39" name="TextBox 38"/>
          <p:cNvSpPr txBox="1"/>
          <p:nvPr/>
        </p:nvSpPr>
        <p:spPr>
          <a:xfrm>
            <a:off x="7083028" y="4413647"/>
            <a:ext cx="3356616" cy="247650"/>
          </a:xfrm>
          <a:prstGeom prst="rect">
            <a:avLst/>
          </a:prstGeom>
          <a:noFill/>
        </p:spPr>
        <p:txBody>
          <a:bodyPr wrap="none" lIns="0" rIns="0" tIns="0" bIns="0" anchor="t">
            <a:spAutoFit/>
          </a:bodyPr>
          <a:lstStyle/>
          <a:p>
            <a:pPr algn="l">
              <a:lnSpc>
                <a:spcPct val="110700"/>
              </a:lnSpc>
            </a:pPr>
            <a:r>
              <a:rPr sz="1354" b="1" i="0">
                <a:solidFill>
                  <a:srgbClr val="FFD21F"/>
                </a:solidFill>
                <a:latin typeface="Roboto Mono"/>
              </a:rPr>
              <a:t>ManufacturerProductDescription</a:t>
            </a:r>
          </a:p>
        </p:txBody>
      </p:sp>
      <p:sp>
        <p:nvSpPr>
          <p:cNvPr id="40" name="TextBox 39"/>
          <p:cNvSpPr txBox="1"/>
          <p:nvPr/>
        </p:nvSpPr>
        <p:spPr>
          <a:xfrm>
            <a:off x="10217646" y="4394597"/>
            <a:ext cx="168646" cy="257175"/>
          </a:xfrm>
          <a:prstGeom prst="rect">
            <a:avLst/>
          </a:prstGeom>
          <a:noFill/>
        </p:spPr>
        <p:txBody>
          <a:bodyPr wrap="none" lIns="0" rIns="0" tIns="0" bIns="0" anchor="t">
            <a:spAutoFit/>
          </a:bodyPr>
          <a:lstStyle/>
          <a:p>
            <a:pPr algn="l">
              <a:lnSpc>
                <a:spcPct val="99200"/>
              </a:lnSpc>
            </a:pPr>
            <a:r>
              <a:rPr sz="1575" b="1" i="0">
                <a:solidFill>
                  <a:srgbClr val="DCE8F4"/>
                </a:solidFill>
                <a:latin typeface="Barlow"/>
              </a:rPr>
              <a:t>·</a:t>
            </a:r>
          </a:p>
        </p:txBody>
      </p:sp>
      <p:sp>
        <p:nvSpPr>
          <p:cNvPr id="41" name="TextBox 40"/>
          <p:cNvSpPr txBox="1"/>
          <p:nvPr/>
        </p:nvSpPr>
        <p:spPr>
          <a:xfrm>
            <a:off x="10304859" y="4413647"/>
            <a:ext cx="2372523" cy="247650"/>
          </a:xfrm>
          <a:prstGeom prst="rect">
            <a:avLst/>
          </a:prstGeom>
          <a:noFill/>
        </p:spPr>
        <p:txBody>
          <a:bodyPr wrap="none" lIns="0" rIns="0" tIns="0" bIns="0" anchor="t">
            <a:spAutoFit/>
          </a:bodyPr>
          <a:lstStyle/>
          <a:p>
            <a:pPr algn="l">
              <a:lnSpc>
                <a:spcPct val="110700"/>
              </a:lnSpc>
            </a:pPr>
            <a:r>
              <a:rPr sz="1354" b="1" i="0">
                <a:solidFill>
                  <a:srgbClr val="FFD21F"/>
                </a:solidFill>
                <a:latin typeface="Roboto Mono"/>
              </a:rPr>
              <a:t>ManufacturerProductId</a:t>
            </a:r>
          </a:p>
        </p:txBody>
      </p:sp>
      <p:sp>
        <p:nvSpPr>
          <p:cNvPr id="42" name="TextBox 41"/>
          <p:cNvSpPr txBox="1"/>
          <p:nvPr/>
        </p:nvSpPr>
        <p:spPr>
          <a:xfrm>
            <a:off x="12511088" y="4394597"/>
            <a:ext cx="168646" cy="257175"/>
          </a:xfrm>
          <a:prstGeom prst="rect">
            <a:avLst/>
          </a:prstGeom>
          <a:noFill/>
        </p:spPr>
        <p:txBody>
          <a:bodyPr wrap="none" lIns="0" rIns="0" tIns="0" bIns="0" anchor="t">
            <a:spAutoFit/>
          </a:bodyPr>
          <a:lstStyle/>
          <a:p>
            <a:pPr algn="l">
              <a:lnSpc>
                <a:spcPct val="99200"/>
              </a:lnSpc>
            </a:pPr>
            <a:r>
              <a:rPr sz="1575" b="1" i="0">
                <a:solidFill>
                  <a:srgbClr val="DCE8F4"/>
                </a:solidFill>
                <a:latin typeface="Barlow"/>
              </a:rPr>
              <a:t>·</a:t>
            </a:r>
          </a:p>
        </p:txBody>
      </p:sp>
      <p:sp>
        <p:nvSpPr>
          <p:cNvPr id="43" name="TextBox 42"/>
          <p:cNvSpPr txBox="1"/>
          <p:nvPr/>
        </p:nvSpPr>
        <p:spPr>
          <a:xfrm>
            <a:off x="12598301" y="4413647"/>
            <a:ext cx="1060451" cy="247650"/>
          </a:xfrm>
          <a:prstGeom prst="rect">
            <a:avLst/>
          </a:prstGeom>
          <a:noFill/>
        </p:spPr>
        <p:txBody>
          <a:bodyPr wrap="none" lIns="0" rIns="0" tIns="0" bIns="0" anchor="t">
            <a:spAutoFit/>
          </a:bodyPr>
          <a:lstStyle/>
          <a:p>
            <a:pPr algn="l">
              <a:lnSpc>
                <a:spcPct val="110700"/>
              </a:lnSpc>
            </a:pPr>
            <a:r>
              <a:rPr sz="1354" b="1" i="0">
                <a:solidFill>
                  <a:srgbClr val="FFD21F"/>
                </a:solidFill>
                <a:latin typeface="Roboto Mono"/>
              </a:rPr>
              <a:t>ExtraInfo</a:t>
            </a:r>
          </a:p>
        </p:txBody>
      </p:sp>
      <p:sp>
        <p:nvSpPr>
          <p:cNvPr id="44" name="TextBox 43"/>
          <p:cNvSpPr txBox="1"/>
          <p:nvPr/>
        </p:nvSpPr>
        <p:spPr>
          <a:xfrm>
            <a:off x="14823841" y="4401443"/>
            <a:ext cx="2089321" cy="257175"/>
          </a:xfrm>
          <a:prstGeom prst="rect">
            <a:avLst/>
          </a:prstGeom>
          <a:noFill/>
        </p:spPr>
        <p:txBody>
          <a:bodyPr wrap="none" lIns="0" rIns="0" tIns="0" bIns="0" anchor="t">
            <a:spAutoFit/>
          </a:bodyPr>
          <a:lstStyle/>
          <a:p>
            <a:pPr algn="ctr">
              <a:lnSpc>
                <a:spcPct val="100000"/>
              </a:lnSpc>
            </a:pPr>
            <a:r>
              <a:rPr sz="1425" b="1" i="0">
                <a:solidFill>
                  <a:srgbClr val="FFD21F"/>
                </a:solidFill>
                <a:latin typeface="Roboto Mono"/>
              </a:rPr>
              <a:t>manufacturer_text</a:t>
            </a:r>
          </a:p>
        </p:txBody>
      </p:sp>
      <p:sp>
        <p:nvSpPr>
          <p:cNvPr id="45" name="TextBox 44"/>
          <p:cNvSpPr txBox="1"/>
          <p:nvPr/>
        </p:nvSpPr>
        <p:spPr>
          <a:xfrm>
            <a:off x="914400" y="7240786"/>
            <a:ext cx="1290953"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Retailer</a:t>
            </a:r>
          </a:p>
        </p:txBody>
      </p:sp>
      <p:sp>
        <p:nvSpPr>
          <p:cNvPr id="46" name="TextBox 45"/>
          <p:cNvSpPr txBox="1"/>
          <p:nvPr/>
        </p:nvSpPr>
        <p:spPr>
          <a:xfrm>
            <a:off x="3940373" y="7295852"/>
            <a:ext cx="2153870" cy="247650"/>
          </a:xfrm>
          <a:prstGeom prst="rect">
            <a:avLst/>
          </a:prstGeom>
          <a:noFill/>
        </p:spPr>
        <p:txBody>
          <a:bodyPr wrap="none" lIns="0" rIns="0" tIns="0" bIns="0" anchor="t">
            <a:spAutoFit/>
          </a:bodyPr>
          <a:lstStyle/>
          <a:p>
            <a:pPr algn="l">
              <a:lnSpc>
                <a:spcPct val="110700"/>
              </a:lnSpc>
            </a:pPr>
            <a:r>
              <a:rPr sz="1354" b="1" i="0">
                <a:solidFill>
                  <a:srgbClr val="FFD21F"/>
                </a:solidFill>
                <a:latin typeface="Roboto Mono"/>
              </a:rPr>
              <a:t>RetailerProductName</a:t>
            </a:r>
          </a:p>
        </p:txBody>
      </p:sp>
      <p:sp>
        <p:nvSpPr>
          <p:cNvPr id="47" name="TextBox 46"/>
          <p:cNvSpPr txBox="1"/>
          <p:nvPr/>
        </p:nvSpPr>
        <p:spPr>
          <a:xfrm>
            <a:off x="5940326" y="7276802"/>
            <a:ext cx="168646" cy="257175"/>
          </a:xfrm>
          <a:prstGeom prst="rect">
            <a:avLst/>
          </a:prstGeom>
          <a:noFill/>
        </p:spPr>
        <p:txBody>
          <a:bodyPr wrap="none" lIns="0" rIns="0" tIns="0" bIns="0" anchor="t">
            <a:spAutoFit/>
          </a:bodyPr>
          <a:lstStyle/>
          <a:p>
            <a:pPr algn="l">
              <a:lnSpc>
                <a:spcPct val="99200"/>
              </a:lnSpc>
            </a:pPr>
            <a:r>
              <a:rPr sz="1575" b="1" i="0">
                <a:solidFill>
                  <a:srgbClr val="DCE8F4"/>
                </a:solidFill>
                <a:latin typeface="Barlow"/>
              </a:rPr>
              <a:t>·</a:t>
            </a:r>
          </a:p>
        </p:txBody>
      </p:sp>
      <p:sp>
        <p:nvSpPr>
          <p:cNvPr id="48" name="TextBox 47"/>
          <p:cNvSpPr txBox="1"/>
          <p:nvPr/>
        </p:nvSpPr>
        <p:spPr>
          <a:xfrm>
            <a:off x="6027539" y="7295852"/>
            <a:ext cx="1935060" cy="247650"/>
          </a:xfrm>
          <a:prstGeom prst="rect">
            <a:avLst/>
          </a:prstGeom>
          <a:noFill/>
        </p:spPr>
        <p:txBody>
          <a:bodyPr wrap="none" lIns="0" rIns="0" tIns="0" bIns="0" anchor="t">
            <a:spAutoFit/>
          </a:bodyPr>
          <a:lstStyle/>
          <a:p>
            <a:pPr algn="l">
              <a:lnSpc>
                <a:spcPct val="110700"/>
              </a:lnSpc>
            </a:pPr>
            <a:r>
              <a:rPr sz="1354" b="1" i="0">
                <a:solidFill>
                  <a:srgbClr val="FFD21F"/>
                </a:solidFill>
                <a:latin typeface="Roboto Mono"/>
              </a:rPr>
              <a:t>RetailerProductId</a:t>
            </a:r>
          </a:p>
        </p:txBody>
      </p:sp>
      <p:sp>
        <p:nvSpPr>
          <p:cNvPr id="49" name="TextBox 48"/>
          <p:cNvSpPr txBox="1"/>
          <p:nvPr/>
        </p:nvSpPr>
        <p:spPr>
          <a:xfrm>
            <a:off x="15058507" y="7283648"/>
            <a:ext cx="1620137" cy="257175"/>
          </a:xfrm>
          <a:prstGeom prst="rect">
            <a:avLst/>
          </a:prstGeom>
          <a:noFill/>
        </p:spPr>
        <p:txBody>
          <a:bodyPr wrap="none" lIns="0" rIns="0" tIns="0" bIns="0" anchor="t">
            <a:spAutoFit/>
          </a:bodyPr>
          <a:lstStyle/>
          <a:p>
            <a:pPr algn="ctr">
              <a:lnSpc>
                <a:spcPct val="100000"/>
              </a:lnSpc>
            </a:pPr>
            <a:r>
              <a:rPr sz="1425" b="1" i="0">
                <a:solidFill>
                  <a:srgbClr val="FFD21F"/>
                </a:solidFill>
                <a:latin typeface="Roboto Mono"/>
              </a:rPr>
              <a:t>retailer_text</a:t>
            </a:r>
          </a:p>
        </p:txBody>
      </p:sp>
      <p:sp>
        <p:nvSpPr>
          <p:cNvPr id="50" name="TextBox 49"/>
          <p:cNvSpPr txBox="1"/>
          <p:nvPr/>
        </p:nvSpPr>
        <p:spPr>
          <a:xfrm>
            <a:off x="2312491" y="9077325"/>
            <a:ext cx="516374" cy="457200"/>
          </a:xfrm>
          <a:prstGeom prst="rect">
            <a:avLst/>
          </a:prstGeom>
          <a:noFill/>
        </p:spPr>
        <p:txBody>
          <a:bodyPr wrap="none" lIns="0" rIns="0" tIns="0" bIns="0" anchor="t">
            <a:spAutoFit/>
          </a:bodyPr>
          <a:lstStyle/>
          <a:p>
            <a:pPr algn="l">
              <a:lnSpc>
                <a:spcPct val="83300"/>
              </a:lnSpc>
            </a:pPr>
            <a:r>
              <a:rPr sz="2850" b="1" i="0">
                <a:solidFill>
                  <a:srgbClr val="FFD21F"/>
                </a:solidFill>
                <a:latin typeface="Barlow"/>
              </a:rPr>
              <a:t>36</a:t>
            </a:r>
          </a:p>
        </p:txBody>
      </p:sp>
      <p:sp>
        <p:nvSpPr>
          <p:cNvPr id="51" name="TextBox 50"/>
          <p:cNvSpPr txBox="1"/>
          <p:nvPr/>
        </p:nvSpPr>
        <p:spPr>
          <a:xfrm>
            <a:off x="2816721" y="9258300"/>
            <a:ext cx="2185118" cy="238125"/>
          </a:xfrm>
          <a:prstGeom prst="rect">
            <a:avLst/>
          </a:prstGeom>
          <a:noFill/>
        </p:spPr>
        <p:txBody>
          <a:bodyPr wrap="none" lIns="0" rIns="0" tIns="0" bIns="0" anchor="t">
            <a:spAutoFit/>
          </a:bodyPr>
          <a:lstStyle/>
          <a:p>
            <a:pPr algn="l">
              <a:lnSpc>
                <a:spcPct val="100000"/>
              </a:lnSpc>
            </a:pPr>
            <a:r>
              <a:rPr sz="1425" b="1" i="0">
                <a:solidFill>
                  <a:srgbClr val="F3F7FC"/>
                </a:solidFill>
                <a:latin typeface="Barlow"/>
              </a:rPr>
              <a:t>COLUMNAS ORIGINALES</a:t>
            </a:r>
          </a:p>
        </p:txBody>
      </p:sp>
      <p:sp>
        <p:nvSpPr>
          <p:cNvPr id="52" name="TextBox 51"/>
          <p:cNvSpPr txBox="1"/>
          <p:nvPr/>
        </p:nvSpPr>
        <p:spPr>
          <a:xfrm>
            <a:off x="8140750" y="9077325"/>
            <a:ext cx="289256" cy="457200"/>
          </a:xfrm>
          <a:prstGeom prst="rect">
            <a:avLst/>
          </a:prstGeom>
          <a:noFill/>
        </p:spPr>
        <p:txBody>
          <a:bodyPr wrap="none" lIns="0" rIns="0" tIns="0" bIns="0" anchor="t">
            <a:spAutoFit/>
          </a:bodyPr>
          <a:lstStyle/>
          <a:p>
            <a:pPr algn="l">
              <a:lnSpc>
                <a:spcPct val="83300"/>
              </a:lnSpc>
            </a:pPr>
            <a:r>
              <a:rPr sz="2850" b="1" i="0">
                <a:solidFill>
                  <a:srgbClr val="FFD21F"/>
                </a:solidFill>
                <a:latin typeface="Barlow"/>
              </a:rPr>
              <a:t>7</a:t>
            </a:r>
          </a:p>
        </p:txBody>
      </p:sp>
      <p:sp>
        <p:nvSpPr>
          <p:cNvPr id="53" name="TextBox 52"/>
          <p:cNvSpPr txBox="1"/>
          <p:nvPr/>
        </p:nvSpPr>
        <p:spPr>
          <a:xfrm>
            <a:off x="8434685" y="9258300"/>
            <a:ext cx="1934212" cy="238125"/>
          </a:xfrm>
          <a:prstGeom prst="rect">
            <a:avLst/>
          </a:prstGeom>
          <a:noFill/>
        </p:spPr>
        <p:txBody>
          <a:bodyPr wrap="none" lIns="0" rIns="0" tIns="0" bIns="0" anchor="t">
            <a:spAutoFit/>
          </a:bodyPr>
          <a:lstStyle/>
          <a:p>
            <a:pPr algn="l">
              <a:lnSpc>
                <a:spcPct val="100000"/>
              </a:lnSpc>
            </a:pPr>
            <a:r>
              <a:rPr sz="1425" b="1" i="0">
                <a:solidFill>
                  <a:srgbClr val="F3F7FC"/>
                </a:solidFill>
                <a:latin typeface="Barlow"/>
              </a:rPr>
              <a:t>CAMPOS TEXTUALES</a:t>
            </a:r>
          </a:p>
        </p:txBody>
      </p:sp>
      <p:sp>
        <p:nvSpPr>
          <p:cNvPr id="54" name="TextBox 53"/>
          <p:cNvSpPr txBox="1"/>
          <p:nvPr/>
        </p:nvSpPr>
        <p:spPr>
          <a:xfrm>
            <a:off x="13665696" y="9077325"/>
            <a:ext cx="314170" cy="457200"/>
          </a:xfrm>
          <a:prstGeom prst="rect">
            <a:avLst/>
          </a:prstGeom>
          <a:noFill/>
        </p:spPr>
        <p:txBody>
          <a:bodyPr wrap="none" lIns="0" rIns="0" tIns="0" bIns="0" anchor="t">
            <a:spAutoFit/>
          </a:bodyPr>
          <a:lstStyle/>
          <a:p>
            <a:pPr algn="l">
              <a:lnSpc>
                <a:spcPct val="83300"/>
              </a:lnSpc>
            </a:pPr>
            <a:r>
              <a:rPr sz="2850" b="1" i="0">
                <a:solidFill>
                  <a:srgbClr val="FFD21F"/>
                </a:solidFill>
                <a:latin typeface="Barlow"/>
              </a:rPr>
              <a:t>2</a:t>
            </a:r>
          </a:p>
        </p:txBody>
      </p:sp>
      <p:sp>
        <p:nvSpPr>
          <p:cNvPr id="55" name="TextBox 54"/>
          <p:cNvSpPr txBox="1"/>
          <p:nvPr/>
        </p:nvSpPr>
        <p:spPr>
          <a:xfrm>
            <a:off x="13982700" y="9258300"/>
            <a:ext cx="2097197" cy="238125"/>
          </a:xfrm>
          <a:prstGeom prst="rect">
            <a:avLst/>
          </a:prstGeom>
          <a:noFill/>
        </p:spPr>
        <p:txBody>
          <a:bodyPr wrap="none" lIns="0" rIns="0" tIns="0" bIns="0" anchor="t">
            <a:spAutoFit/>
          </a:bodyPr>
          <a:lstStyle/>
          <a:p>
            <a:pPr algn="l">
              <a:lnSpc>
                <a:spcPct val="100000"/>
              </a:lnSpc>
            </a:pPr>
            <a:r>
              <a:rPr sz="1425" b="1" i="0">
                <a:solidFill>
                  <a:srgbClr val="F3F7FC"/>
                </a:solidFill>
                <a:latin typeface="Barlow"/>
              </a:rPr>
              <a:t>VISTAS COMPARABLES</a:t>
            </a:r>
          </a:p>
        </p:txBody>
      </p:sp>
      <p:sp>
        <p:nvSpPr>
          <p:cNvPr id="56" name="TextBox 55"/>
          <p:cNvSpPr txBox="1"/>
          <p:nvPr/>
        </p:nvSpPr>
        <p:spPr>
          <a:xfrm>
            <a:off x="966490" y="9766935"/>
            <a:ext cx="204013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SELECCIONAR CAMPOS</a:t>
            </a:r>
          </a:p>
        </p:txBody>
      </p:sp>
      <p:sp>
        <p:nvSpPr>
          <p:cNvPr id="57" name="TextBox 56"/>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17</a:t>
            </a:r>
          </a:p>
        </p:txBody>
      </p:sp>
      <p:sp>
        <p:nvSpPr>
          <p:cNvPr id="58" name="TextBox 57"/>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18</a:t>
            </a:r>
          </a:p>
        </p:txBody>
      </p:sp>
      <p:sp>
        <p:nvSpPr>
          <p:cNvPr id="59" name="TextBox 58"/>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4990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13425"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66788" y="3262908"/>
            <a:ext cx="2143571"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62025"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62025"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62025"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94400"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94400" y="2541240"/>
            <a:ext cx="549905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94400"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94400"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883926"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637288" y="3262908"/>
            <a:ext cx="2143571"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632525"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632525"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632525"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64901"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64901" y="2541240"/>
            <a:ext cx="54990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64901"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064901"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426"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307788" y="3262908"/>
            <a:ext cx="1074688"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3468201" y="3262908"/>
            <a:ext cx="1268909"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4822835" y="3262908"/>
            <a:ext cx="2434977"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2303026" y="3718768"/>
            <a:ext cx="5022800" cy="116398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2303026" y="3718768"/>
            <a:ext cx="47625" cy="116398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303026"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951738"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956500"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3750"/>
            <a:ext cx="386206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SELECCIONAR CAMPOS · 02 / 03</a:t>
            </a:r>
          </a:p>
        </p:txBody>
      </p:sp>
      <p:sp>
        <p:nvSpPr>
          <p:cNvPr id="44" name="TextBox 43"/>
          <p:cNvSpPr txBox="1"/>
          <p:nvPr/>
        </p:nvSpPr>
        <p:spPr>
          <a:xfrm>
            <a:off x="981075" y="1885652"/>
            <a:ext cx="10655338"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Selección textual en las otras seis fuentes · I</a:t>
            </a:r>
          </a:p>
        </p:txBody>
      </p:sp>
      <p:sp>
        <p:nvSpPr>
          <p:cNvPr id="45" name="TextBox 44"/>
          <p:cNvSpPr txBox="1"/>
          <p:nvPr/>
        </p:nvSpPr>
        <p:spPr>
          <a:xfrm>
            <a:off x="962025" y="2779365"/>
            <a:ext cx="1363605"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Hidden</a:t>
            </a:r>
          </a:p>
        </p:txBody>
      </p:sp>
      <p:sp>
        <p:nvSpPr>
          <p:cNvPr id="46" name="TextBox 45"/>
          <p:cNvSpPr txBox="1"/>
          <p:nvPr/>
        </p:nvSpPr>
        <p:spPr>
          <a:xfrm>
            <a:off x="1066800" y="3305770"/>
            <a:ext cx="2194280"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product_name · único</a:t>
            </a:r>
          </a:p>
        </p:txBody>
      </p:sp>
      <p:sp>
        <p:nvSpPr>
          <p:cNvPr id="47" name="TextBox 46"/>
          <p:cNvSpPr txBox="1"/>
          <p:nvPr/>
        </p:nvSpPr>
        <p:spPr>
          <a:xfrm>
            <a:off x="1200150" y="3909268"/>
            <a:ext cx="1387325" cy="247650"/>
          </a:xfrm>
          <a:prstGeom prst="rect">
            <a:avLst/>
          </a:prstGeom>
          <a:noFill/>
        </p:spPr>
        <p:txBody>
          <a:bodyPr wrap="none" lIns="0" rIns="0" tIns="0" bIns="0" anchor="t">
            <a:spAutoFit/>
          </a:bodyPr>
          <a:lstStyle/>
          <a:p>
            <a:pPr algn="l">
              <a:lnSpc>
                <a:spcPct val="110900"/>
              </a:lnSpc>
            </a:pPr>
            <a:r>
              <a:rPr sz="1353" b="1" i="0">
                <a:solidFill>
                  <a:srgbClr val="FFD21F"/>
                </a:solidFill>
                <a:latin typeface="Roboto Mono"/>
              </a:rPr>
              <a:t>product_name</a:t>
            </a:r>
          </a:p>
        </p:txBody>
      </p:sp>
      <p:sp>
        <p:nvSpPr>
          <p:cNvPr id="48" name="TextBox 47"/>
          <p:cNvSpPr txBox="1"/>
          <p:nvPr/>
        </p:nvSpPr>
        <p:spPr>
          <a:xfrm>
            <a:off x="2478881" y="3880693"/>
            <a:ext cx="342968" cy="266700"/>
          </a:xfrm>
          <a:prstGeom prst="rect">
            <a:avLst/>
          </a:prstGeom>
          <a:noFill/>
        </p:spPr>
        <p:txBody>
          <a:bodyPr wrap="none" lIns="0" rIns="0" tIns="0" bIns="0" anchor="t">
            <a:spAutoFit/>
          </a:bodyPr>
          <a:lstStyle/>
          <a:p>
            <a:pPr algn="l">
              <a:lnSpc>
                <a:spcPct val="98500"/>
              </a:lnSpc>
            </a:pPr>
            <a:r>
              <a:rPr sz="1650" b="1" i="0">
                <a:solidFill>
                  <a:srgbClr val="F3F7FC"/>
                </a:solidFill>
                <a:latin typeface="Barlow"/>
              </a:rPr>
              <a:t>→</a:t>
            </a:r>
          </a:p>
        </p:txBody>
      </p:sp>
      <p:sp>
        <p:nvSpPr>
          <p:cNvPr id="49" name="TextBox 48"/>
          <p:cNvSpPr txBox="1"/>
          <p:nvPr/>
        </p:nvSpPr>
        <p:spPr>
          <a:xfrm>
            <a:off x="2730550" y="3909268"/>
            <a:ext cx="1933483" cy="247650"/>
          </a:xfrm>
          <a:prstGeom prst="rect">
            <a:avLst/>
          </a:prstGeom>
          <a:noFill/>
        </p:spPr>
        <p:txBody>
          <a:bodyPr wrap="none" lIns="0" rIns="0" tIns="0" bIns="0" anchor="t">
            <a:spAutoFit/>
          </a:bodyPr>
          <a:lstStyle/>
          <a:p>
            <a:pPr algn="l">
              <a:lnSpc>
                <a:spcPct val="110900"/>
              </a:lnSpc>
            </a:pPr>
            <a:r>
              <a:rPr sz="1353" b="1" i="0">
                <a:solidFill>
                  <a:srgbClr val="FFD21F"/>
                </a:solidFill>
                <a:latin typeface="Roboto Mono"/>
              </a:rPr>
              <a:t>retailer_text_raw</a:t>
            </a:r>
          </a:p>
        </p:txBody>
      </p:sp>
      <p:sp>
        <p:nvSpPr>
          <p:cNvPr id="50" name="TextBox 49"/>
          <p:cNvSpPr txBox="1"/>
          <p:nvPr/>
        </p:nvSpPr>
        <p:spPr>
          <a:xfrm>
            <a:off x="1200150" y="4211538"/>
            <a:ext cx="2079837"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Sin mezclar campos</a:t>
            </a:r>
          </a:p>
        </p:txBody>
      </p:sp>
      <p:sp>
        <p:nvSpPr>
          <p:cNvPr id="51" name="TextBox 50"/>
          <p:cNvSpPr txBox="1"/>
          <p:nvPr/>
        </p:nvSpPr>
        <p:spPr>
          <a:xfrm>
            <a:off x="1095375"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52" name="TextBox 51"/>
          <p:cNvSpPr txBox="1"/>
          <p:nvPr/>
        </p:nvSpPr>
        <p:spPr>
          <a:xfrm>
            <a:off x="1095375" y="9190137"/>
            <a:ext cx="1984361"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prepare_hidden.py</a:t>
            </a:r>
          </a:p>
        </p:txBody>
      </p:sp>
      <p:sp>
        <p:nvSpPr>
          <p:cNvPr id="53" name="TextBox 52"/>
          <p:cNvSpPr txBox="1"/>
          <p:nvPr/>
        </p:nvSpPr>
        <p:spPr>
          <a:xfrm>
            <a:off x="6632525" y="2779365"/>
            <a:ext cx="712631"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NIC</a:t>
            </a:r>
          </a:p>
        </p:txBody>
      </p:sp>
      <p:sp>
        <p:nvSpPr>
          <p:cNvPr id="54" name="TextBox 53"/>
          <p:cNvSpPr txBox="1"/>
          <p:nvPr/>
        </p:nvSpPr>
        <p:spPr>
          <a:xfrm>
            <a:off x="6737300" y="3305770"/>
            <a:ext cx="2194280"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product_name · único</a:t>
            </a:r>
          </a:p>
        </p:txBody>
      </p:sp>
      <p:sp>
        <p:nvSpPr>
          <p:cNvPr id="55" name="TextBox 54"/>
          <p:cNvSpPr txBox="1"/>
          <p:nvPr/>
        </p:nvSpPr>
        <p:spPr>
          <a:xfrm>
            <a:off x="6870650" y="3909268"/>
            <a:ext cx="1387325" cy="247650"/>
          </a:xfrm>
          <a:prstGeom prst="rect">
            <a:avLst/>
          </a:prstGeom>
          <a:noFill/>
        </p:spPr>
        <p:txBody>
          <a:bodyPr wrap="none" lIns="0" rIns="0" tIns="0" bIns="0" anchor="t">
            <a:spAutoFit/>
          </a:bodyPr>
          <a:lstStyle/>
          <a:p>
            <a:pPr algn="l">
              <a:lnSpc>
                <a:spcPct val="110900"/>
              </a:lnSpc>
            </a:pPr>
            <a:r>
              <a:rPr sz="1353" b="1" i="0">
                <a:solidFill>
                  <a:srgbClr val="FFD21F"/>
                </a:solidFill>
                <a:latin typeface="Roboto Mono"/>
              </a:rPr>
              <a:t>product_name</a:t>
            </a:r>
          </a:p>
        </p:txBody>
      </p:sp>
      <p:sp>
        <p:nvSpPr>
          <p:cNvPr id="56" name="TextBox 55"/>
          <p:cNvSpPr txBox="1"/>
          <p:nvPr/>
        </p:nvSpPr>
        <p:spPr>
          <a:xfrm>
            <a:off x="8149382" y="3880693"/>
            <a:ext cx="342968" cy="266700"/>
          </a:xfrm>
          <a:prstGeom prst="rect">
            <a:avLst/>
          </a:prstGeom>
          <a:noFill/>
        </p:spPr>
        <p:txBody>
          <a:bodyPr wrap="none" lIns="0" rIns="0" tIns="0" bIns="0" anchor="t">
            <a:spAutoFit/>
          </a:bodyPr>
          <a:lstStyle/>
          <a:p>
            <a:pPr algn="l">
              <a:lnSpc>
                <a:spcPct val="98500"/>
              </a:lnSpc>
            </a:pPr>
            <a:r>
              <a:rPr sz="1650" b="1" i="0">
                <a:solidFill>
                  <a:srgbClr val="F3F7FC"/>
                </a:solidFill>
                <a:latin typeface="Barlow"/>
              </a:rPr>
              <a:t>→</a:t>
            </a:r>
          </a:p>
        </p:txBody>
      </p:sp>
      <p:sp>
        <p:nvSpPr>
          <p:cNvPr id="57" name="TextBox 56"/>
          <p:cNvSpPr txBox="1"/>
          <p:nvPr/>
        </p:nvSpPr>
        <p:spPr>
          <a:xfrm>
            <a:off x="8401050" y="3909268"/>
            <a:ext cx="1933483" cy="247650"/>
          </a:xfrm>
          <a:prstGeom prst="rect">
            <a:avLst/>
          </a:prstGeom>
          <a:noFill/>
        </p:spPr>
        <p:txBody>
          <a:bodyPr wrap="none" lIns="0" rIns="0" tIns="0" bIns="0" anchor="t">
            <a:spAutoFit/>
          </a:bodyPr>
          <a:lstStyle/>
          <a:p>
            <a:pPr algn="l">
              <a:lnSpc>
                <a:spcPct val="110900"/>
              </a:lnSpc>
            </a:pPr>
            <a:r>
              <a:rPr sz="1353" b="1" i="0">
                <a:solidFill>
                  <a:srgbClr val="FFD21F"/>
                </a:solidFill>
                <a:latin typeface="Roboto Mono"/>
              </a:rPr>
              <a:t>retailer_text_raw</a:t>
            </a:r>
          </a:p>
        </p:txBody>
      </p:sp>
      <p:sp>
        <p:nvSpPr>
          <p:cNvPr id="58" name="TextBox 57"/>
          <p:cNvSpPr txBox="1"/>
          <p:nvPr/>
        </p:nvSpPr>
        <p:spPr>
          <a:xfrm>
            <a:off x="6870650" y="4211538"/>
            <a:ext cx="2480227"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8 etiquetas → metadata</a:t>
            </a:r>
          </a:p>
        </p:txBody>
      </p:sp>
      <p:sp>
        <p:nvSpPr>
          <p:cNvPr id="59" name="TextBox 58"/>
          <p:cNvSpPr txBox="1"/>
          <p:nvPr/>
        </p:nvSpPr>
        <p:spPr>
          <a:xfrm>
            <a:off x="6765875"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60" name="TextBox 59"/>
          <p:cNvSpPr txBox="1"/>
          <p:nvPr/>
        </p:nvSpPr>
        <p:spPr>
          <a:xfrm>
            <a:off x="6765875" y="9190137"/>
            <a:ext cx="1650998"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prepare_nic.py</a:t>
            </a:r>
          </a:p>
        </p:txBody>
      </p:sp>
      <p:sp>
        <p:nvSpPr>
          <p:cNvPr id="61" name="TextBox 60"/>
          <p:cNvSpPr txBox="1"/>
          <p:nvPr/>
        </p:nvSpPr>
        <p:spPr>
          <a:xfrm>
            <a:off x="12303026" y="2779365"/>
            <a:ext cx="2828217"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Catálogo oficial</a:t>
            </a:r>
          </a:p>
        </p:txBody>
      </p:sp>
      <p:sp>
        <p:nvSpPr>
          <p:cNvPr id="62" name="TextBox 61"/>
          <p:cNvSpPr txBox="1"/>
          <p:nvPr/>
        </p:nvSpPr>
        <p:spPr>
          <a:xfrm>
            <a:off x="12407801" y="3305770"/>
            <a:ext cx="1039886"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BrandName</a:t>
            </a:r>
          </a:p>
        </p:txBody>
      </p:sp>
      <p:sp>
        <p:nvSpPr>
          <p:cNvPr id="63" name="TextBox 62"/>
          <p:cNvSpPr txBox="1"/>
          <p:nvPr/>
        </p:nvSpPr>
        <p:spPr>
          <a:xfrm>
            <a:off x="13568214" y="3305770"/>
            <a:ext cx="1249644"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ProductName</a:t>
            </a:r>
          </a:p>
        </p:txBody>
      </p:sp>
      <p:sp>
        <p:nvSpPr>
          <p:cNvPr id="64" name="TextBox 63"/>
          <p:cNvSpPr txBox="1"/>
          <p:nvPr/>
        </p:nvSpPr>
        <p:spPr>
          <a:xfrm>
            <a:off x="14922847" y="3305770"/>
            <a:ext cx="2508998"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ProductImageDescription</a:t>
            </a:r>
          </a:p>
        </p:txBody>
      </p:sp>
      <p:sp>
        <p:nvSpPr>
          <p:cNvPr id="65" name="TextBox 64"/>
          <p:cNvSpPr txBox="1"/>
          <p:nvPr/>
        </p:nvSpPr>
        <p:spPr>
          <a:xfrm>
            <a:off x="12541151" y="3880693"/>
            <a:ext cx="3340209" cy="266700"/>
          </a:xfrm>
          <a:prstGeom prst="rect">
            <a:avLst/>
          </a:prstGeom>
          <a:noFill/>
        </p:spPr>
        <p:txBody>
          <a:bodyPr wrap="none" lIns="0" rIns="0" tIns="0" bIns="0" anchor="t">
            <a:spAutoFit/>
          </a:bodyPr>
          <a:lstStyle/>
          <a:p>
            <a:pPr algn="l">
              <a:lnSpc>
                <a:spcPct val="98500"/>
              </a:lnSpc>
            </a:pPr>
            <a:r>
              <a:rPr sz="1650" b="1" i="0">
                <a:solidFill>
                  <a:srgbClr val="F3F7FC"/>
                </a:solidFill>
                <a:latin typeface="Barlow"/>
              </a:rPr>
              <a:t>Marca + nombres + descripción →</a:t>
            </a:r>
          </a:p>
        </p:txBody>
      </p:sp>
      <p:sp>
        <p:nvSpPr>
          <p:cNvPr id="66" name="TextBox 65"/>
          <p:cNvSpPr txBox="1"/>
          <p:nvPr/>
        </p:nvSpPr>
        <p:spPr>
          <a:xfrm>
            <a:off x="12541151" y="4154388"/>
            <a:ext cx="1824314" cy="247650"/>
          </a:xfrm>
          <a:prstGeom prst="rect">
            <a:avLst/>
          </a:prstGeom>
          <a:noFill/>
        </p:spPr>
        <p:txBody>
          <a:bodyPr wrap="none" lIns="0" rIns="0" tIns="0" bIns="0" anchor="t">
            <a:spAutoFit/>
          </a:bodyPr>
          <a:lstStyle/>
          <a:p>
            <a:pPr algn="l">
              <a:lnSpc>
                <a:spcPct val="110900"/>
              </a:lnSpc>
            </a:pPr>
            <a:r>
              <a:rPr sz="1353" b="1" i="0">
                <a:solidFill>
                  <a:srgbClr val="FFD21F"/>
                </a:solidFill>
                <a:latin typeface="Roboto Mono"/>
              </a:rPr>
              <a:t>catalog_text_raw</a:t>
            </a:r>
          </a:p>
        </p:txBody>
      </p:sp>
      <p:sp>
        <p:nvSpPr>
          <p:cNvPr id="67" name="TextBox 66"/>
          <p:cNvSpPr txBox="1"/>
          <p:nvPr/>
        </p:nvSpPr>
        <p:spPr>
          <a:xfrm>
            <a:off x="12541151" y="4485233"/>
            <a:ext cx="1059504" cy="247650"/>
          </a:xfrm>
          <a:prstGeom prst="rect">
            <a:avLst/>
          </a:prstGeom>
          <a:noFill/>
        </p:spPr>
        <p:txBody>
          <a:bodyPr wrap="none" lIns="0" rIns="0" tIns="0" bIns="0" anchor="t">
            <a:spAutoFit/>
          </a:bodyPr>
          <a:lstStyle/>
          <a:p>
            <a:pPr algn="l">
              <a:lnSpc>
                <a:spcPct val="110900"/>
              </a:lnSpc>
            </a:pPr>
            <a:r>
              <a:rPr sz="1353" b="1" i="0">
                <a:solidFill>
                  <a:srgbClr val="FFD21F"/>
                </a:solidFill>
                <a:latin typeface="Roboto Mono"/>
              </a:rPr>
              <a:t>ExtraInfo</a:t>
            </a:r>
          </a:p>
        </p:txBody>
      </p:sp>
      <p:sp>
        <p:nvSpPr>
          <p:cNvPr id="68" name="TextBox 67"/>
          <p:cNvSpPr txBox="1"/>
          <p:nvPr/>
        </p:nvSpPr>
        <p:spPr>
          <a:xfrm>
            <a:off x="13510617" y="4456658"/>
            <a:ext cx="1116613" cy="266700"/>
          </a:xfrm>
          <a:prstGeom prst="rect">
            <a:avLst/>
          </a:prstGeom>
          <a:noFill/>
        </p:spPr>
        <p:txBody>
          <a:bodyPr wrap="none" lIns="0" rIns="0" tIns="0" bIns="0" anchor="t">
            <a:spAutoFit/>
          </a:bodyPr>
          <a:lstStyle/>
          <a:p>
            <a:pPr algn="l">
              <a:lnSpc>
                <a:spcPct val="98500"/>
              </a:lnSpc>
            </a:pPr>
            <a:r>
              <a:rPr sz="1650" b="1" i="0">
                <a:solidFill>
                  <a:srgbClr val="F3F7FC"/>
                </a:solidFill>
                <a:latin typeface="Barlow"/>
              </a:rPr>
              <a:t>→ códigos</a:t>
            </a:r>
          </a:p>
        </p:txBody>
      </p:sp>
      <p:sp>
        <p:nvSpPr>
          <p:cNvPr id="69" name="TextBox 68"/>
          <p:cNvSpPr txBox="1"/>
          <p:nvPr/>
        </p:nvSpPr>
        <p:spPr>
          <a:xfrm>
            <a:off x="12436376"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70" name="TextBox 69"/>
          <p:cNvSpPr txBox="1"/>
          <p:nvPr/>
        </p:nvSpPr>
        <p:spPr>
          <a:xfrm>
            <a:off x="12436376" y="9190137"/>
            <a:ext cx="2095429"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prepare_catalog.py</a:t>
            </a:r>
          </a:p>
        </p:txBody>
      </p:sp>
      <p:sp>
        <p:nvSpPr>
          <p:cNvPr id="71" name="TextBox 70"/>
          <p:cNvSpPr txBox="1"/>
          <p:nvPr/>
        </p:nvSpPr>
        <p:spPr>
          <a:xfrm>
            <a:off x="966490" y="9766935"/>
            <a:ext cx="204013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SELECCIONAR CAMPOS</a:t>
            </a:r>
          </a:p>
        </p:txBody>
      </p:sp>
      <p:sp>
        <p:nvSpPr>
          <p:cNvPr id="72" name="TextBox 71"/>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17</a:t>
            </a:r>
          </a:p>
        </p:txBody>
      </p:sp>
      <p:sp>
        <p:nvSpPr>
          <p:cNvPr id="73" name="TextBox 72"/>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18</a:t>
            </a:r>
          </a:p>
        </p:txBody>
      </p:sp>
      <p:sp>
        <p:nvSpPr>
          <p:cNvPr id="74" name="TextBox 73"/>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4990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13425"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66788" y="3262908"/>
            <a:ext cx="2046387"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62025"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62025"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62025"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94400"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94400" y="2541240"/>
            <a:ext cx="549905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94400"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94400"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883926"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637288" y="3262908"/>
            <a:ext cx="1463278"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186291" y="3262908"/>
            <a:ext cx="1852017"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632525"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632525"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632525"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64901" y="2541240"/>
            <a:ext cx="5499050" cy="7079010"/>
          </a:xfrm>
          <a:prstGeom prst="rect">
            <a:avLst/>
          </a:prstGeom>
          <a:solidFill>
            <a:srgbClr val="0D2748">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64901" y="2541240"/>
            <a:ext cx="5499050" cy="571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064901" y="9610725"/>
            <a:ext cx="54990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064901"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7554426" y="2541240"/>
            <a:ext cx="9525" cy="707901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307788" y="3262908"/>
            <a:ext cx="2046387" cy="317748"/>
          </a:xfrm>
          <a:prstGeom prst="rect">
            <a:avLst/>
          </a:prstGeom>
          <a:solidFill>
            <a:srgbClr val="07172D"/>
          </a:solidFill>
          <a:ln w="9525">
            <a:solidFill>
              <a:srgbClr val="6D8FB2">
                <a:alpha val="5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2303026" y="3718768"/>
            <a:ext cx="5022800" cy="918865"/>
          </a:xfrm>
          <a:prstGeom prst="rect">
            <a:avLst/>
          </a:prstGeom>
          <a:solidFill>
            <a:srgbClr val="07172D">
              <a:alpha val="7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2303026" y="3718768"/>
            <a:ext cx="47625" cy="91886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2303026" y="8875812"/>
            <a:ext cx="50228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956500"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2793563" y="9720262"/>
            <a:ext cx="4765774"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2798326" y="9944100"/>
            <a:ext cx="5707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3750"/>
            <a:ext cx="385756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SELECCIONAR CAMPOS · 03 / 03</a:t>
            </a:r>
          </a:p>
        </p:txBody>
      </p:sp>
      <p:sp>
        <p:nvSpPr>
          <p:cNvPr id="44" name="TextBox 43"/>
          <p:cNvSpPr txBox="1"/>
          <p:nvPr/>
        </p:nvSpPr>
        <p:spPr>
          <a:xfrm>
            <a:off x="981075" y="1885652"/>
            <a:ext cx="1080385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Selección textual en las otras seis fuentes · II</a:t>
            </a:r>
          </a:p>
        </p:txBody>
      </p:sp>
      <p:sp>
        <p:nvSpPr>
          <p:cNvPr id="45" name="TextBox 44"/>
          <p:cNvSpPr txBox="1"/>
          <p:nvPr/>
        </p:nvSpPr>
        <p:spPr>
          <a:xfrm>
            <a:off x="962025" y="2779365"/>
            <a:ext cx="3339834"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Retailer de prueba</a:t>
            </a:r>
          </a:p>
        </p:txBody>
      </p:sp>
      <p:sp>
        <p:nvSpPr>
          <p:cNvPr id="46" name="TextBox 45"/>
          <p:cNvSpPr txBox="1"/>
          <p:nvPr/>
        </p:nvSpPr>
        <p:spPr>
          <a:xfrm>
            <a:off x="1066800" y="3305770"/>
            <a:ext cx="2089321"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ProductName · único</a:t>
            </a:r>
          </a:p>
        </p:txBody>
      </p:sp>
      <p:sp>
        <p:nvSpPr>
          <p:cNvPr id="47" name="TextBox 46"/>
          <p:cNvSpPr txBox="1"/>
          <p:nvPr/>
        </p:nvSpPr>
        <p:spPr>
          <a:xfrm>
            <a:off x="1200150" y="3909268"/>
            <a:ext cx="1277999" cy="247650"/>
          </a:xfrm>
          <a:prstGeom prst="rect">
            <a:avLst/>
          </a:prstGeom>
          <a:noFill/>
        </p:spPr>
        <p:txBody>
          <a:bodyPr wrap="none" lIns="0" rIns="0" tIns="0" bIns="0" anchor="t">
            <a:spAutoFit/>
          </a:bodyPr>
          <a:lstStyle/>
          <a:p>
            <a:pPr algn="l">
              <a:lnSpc>
                <a:spcPct val="110900"/>
              </a:lnSpc>
            </a:pPr>
            <a:r>
              <a:rPr sz="1353" b="1" i="0">
                <a:solidFill>
                  <a:srgbClr val="FFD21F"/>
                </a:solidFill>
                <a:latin typeface="Roboto Mono"/>
              </a:rPr>
              <a:t>ProductName</a:t>
            </a:r>
          </a:p>
        </p:txBody>
      </p:sp>
      <p:sp>
        <p:nvSpPr>
          <p:cNvPr id="48" name="TextBox 47"/>
          <p:cNvSpPr txBox="1"/>
          <p:nvPr/>
        </p:nvSpPr>
        <p:spPr>
          <a:xfrm>
            <a:off x="2375743" y="3880693"/>
            <a:ext cx="342968" cy="266700"/>
          </a:xfrm>
          <a:prstGeom prst="rect">
            <a:avLst/>
          </a:prstGeom>
          <a:noFill/>
        </p:spPr>
        <p:txBody>
          <a:bodyPr wrap="none" lIns="0" rIns="0" tIns="0" bIns="0" anchor="t">
            <a:spAutoFit/>
          </a:bodyPr>
          <a:lstStyle/>
          <a:p>
            <a:pPr algn="l">
              <a:lnSpc>
                <a:spcPct val="98500"/>
              </a:lnSpc>
            </a:pPr>
            <a:r>
              <a:rPr sz="1650" b="1" i="0">
                <a:solidFill>
                  <a:srgbClr val="F3F7FC"/>
                </a:solidFill>
                <a:latin typeface="Barlow"/>
              </a:rPr>
              <a:t>→</a:t>
            </a:r>
          </a:p>
        </p:txBody>
      </p:sp>
      <p:sp>
        <p:nvSpPr>
          <p:cNvPr id="49" name="TextBox 48"/>
          <p:cNvSpPr txBox="1"/>
          <p:nvPr/>
        </p:nvSpPr>
        <p:spPr>
          <a:xfrm>
            <a:off x="2627412" y="3909268"/>
            <a:ext cx="2151977" cy="247650"/>
          </a:xfrm>
          <a:prstGeom prst="rect">
            <a:avLst/>
          </a:prstGeom>
          <a:noFill/>
        </p:spPr>
        <p:txBody>
          <a:bodyPr wrap="none" lIns="0" rIns="0" tIns="0" bIns="0" anchor="t">
            <a:spAutoFit/>
          </a:bodyPr>
          <a:lstStyle/>
          <a:p>
            <a:pPr algn="l">
              <a:lnSpc>
                <a:spcPct val="110900"/>
              </a:lnSpc>
            </a:pPr>
            <a:r>
              <a:rPr sz="1353" b="1" i="0">
                <a:solidFill>
                  <a:srgbClr val="FFD21F"/>
                </a:solidFill>
                <a:latin typeface="Roboto Mono"/>
              </a:rPr>
              <a:t>build_retailer_text</a:t>
            </a:r>
          </a:p>
        </p:txBody>
      </p:sp>
      <p:sp>
        <p:nvSpPr>
          <p:cNvPr id="50" name="TextBox 49"/>
          <p:cNvSpPr txBox="1"/>
          <p:nvPr/>
        </p:nvSpPr>
        <p:spPr>
          <a:xfrm>
            <a:off x="1200150" y="4211538"/>
            <a:ext cx="2874990"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Mismo compositor de Match</a:t>
            </a:r>
          </a:p>
        </p:txBody>
      </p:sp>
      <p:sp>
        <p:nvSpPr>
          <p:cNvPr id="51" name="TextBox 50"/>
          <p:cNvSpPr txBox="1"/>
          <p:nvPr/>
        </p:nvSpPr>
        <p:spPr>
          <a:xfrm>
            <a:off x="1095375"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52" name="TextBox 51"/>
          <p:cNvSpPr txBox="1"/>
          <p:nvPr/>
        </p:nvSpPr>
        <p:spPr>
          <a:xfrm>
            <a:off x="1095375" y="9190137"/>
            <a:ext cx="2873222"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prepare_retailer_input.py</a:t>
            </a:r>
          </a:p>
        </p:txBody>
      </p:sp>
      <p:sp>
        <p:nvSpPr>
          <p:cNvPr id="53" name="TextBox 52"/>
          <p:cNvSpPr txBox="1"/>
          <p:nvPr/>
        </p:nvSpPr>
        <p:spPr>
          <a:xfrm>
            <a:off x="6632525" y="2779365"/>
            <a:ext cx="2900708"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Pares negativos</a:t>
            </a:r>
          </a:p>
        </p:txBody>
      </p:sp>
      <p:sp>
        <p:nvSpPr>
          <p:cNvPr id="54" name="TextBox 53"/>
          <p:cNvSpPr txBox="1"/>
          <p:nvPr/>
        </p:nvSpPr>
        <p:spPr>
          <a:xfrm>
            <a:off x="6737300" y="3305770"/>
            <a:ext cx="1459563"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retailer_text</a:t>
            </a:r>
          </a:p>
        </p:txBody>
      </p:sp>
      <p:sp>
        <p:nvSpPr>
          <p:cNvPr id="55" name="TextBox 54"/>
          <p:cNvSpPr txBox="1"/>
          <p:nvPr/>
        </p:nvSpPr>
        <p:spPr>
          <a:xfrm>
            <a:off x="8286304" y="3305770"/>
            <a:ext cx="1879402"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manufacturer_text</a:t>
            </a:r>
          </a:p>
        </p:txBody>
      </p:sp>
      <p:sp>
        <p:nvSpPr>
          <p:cNvPr id="56" name="TextBox 55"/>
          <p:cNvSpPr txBox="1"/>
          <p:nvPr/>
        </p:nvSpPr>
        <p:spPr>
          <a:xfrm>
            <a:off x="6870650" y="3880693"/>
            <a:ext cx="2311456"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Textos ya compuestos</a:t>
            </a:r>
          </a:p>
        </p:txBody>
      </p:sp>
      <p:sp>
        <p:nvSpPr>
          <p:cNvPr id="57" name="TextBox 56"/>
          <p:cNvSpPr txBox="1"/>
          <p:nvPr/>
        </p:nvSpPr>
        <p:spPr>
          <a:xfrm>
            <a:off x="6870650" y="4211538"/>
            <a:ext cx="2231571"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Sin paso de selección</a:t>
            </a:r>
          </a:p>
        </p:txBody>
      </p:sp>
      <p:sp>
        <p:nvSpPr>
          <p:cNvPr id="58" name="TextBox 57"/>
          <p:cNvSpPr txBox="1"/>
          <p:nvPr/>
        </p:nvSpPr>
        <p:spPr>
          <a:xfrm>
            <a:off x="6765875"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59" name="TextBox 58"/>
          <p:cNvSpPr txBox="1"/>
          <p:nvPr/>
        </p:nvSpPr>
        <p:spPr>
          <a:xfrm>
            <a:off x="6765875" y="9190137"/>
            <a:ext cx="3762244"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training_pairs_from_code_logs.csv</a:t>
            </a:r>
          </a:p>
        </p:txBody>
      </p:sp>
      <p:sp>
        <p:nvSpPr>
          <p:cNvPr id="60" name="TextBox 59"/>
          <p:cNvSpPr txBox="1"/>
          <p:nvPr/>
        </p:nvSpPr>
        <p:spPr>
          <a:xfrm>
            <a:off x="12303026" y="2779365"/>
            <a:ext cx="4122610" cy="390525"/>
          </a:xfrm>
          <a:prstGeom prst="rect">
            <a:avLst/>
          </a:prstGeom>
          <a:noFill/>
        </p:spPr>
        <p:txBody>
          <a:bodyPr wrap="none" lIns="0" rIns="0" tIns="0" bIns="0" anchor="t">
            <a:spAutoFit/>
          </a:bodyPr>
          <a:lstStyle/>
          <a:p>
            <a:pPr algn="l">
              <a:lnSpc>
                <a:spcPct val="86700"/>
              </a:lnSpc>
            </a:pPr>
            <a:r>
              <a:rPr sz="2400" b="1" i="0">
                <a:solidFill>
                  <a:srgbClr val="F3F7FC"/>
                </a:solidFill>
                <a:latin typeface="Montserrat"/>
              </a:rPr>
              <a:t>Acciones de validación</a:t>
            </a:r>
          </a:p>
        </p:txBody>
      </p:sp>
      <p:sp>
        <p:nvSpPr>
          <p:cNvPr id="61" name="TextBox 60"/>
          <p:cNvSpPr txBox="1"/>
          <p:nvPr/>
        </p:nvSpPr>
        <p:spPr>
          <a:xfrm>
            <a:off x="12407801" y="3305770"/>
            <a:ext cx="2089321" cy="238125"/>
          </a:xfrm>
          <a:prstGeom prst="rect">
            <a:avLst/>
          </a:prstGeom>
          <a:noFill/>
        </p:spPr>
        <p:txBody>
          <a:bodyPr wrap="none" lIns="0" rIns="0" tIns="0" bIns="0" anchor="t">
            <a:spAutoFit/>
          </a:bodyPr>
          <a:lstStyle/>
          <a:p>
            <a:pPr algn="l">
              <a:lnSpc>
                <a:spcPct val="90000"/>
              </a:lnSpc>
            </a:pPr>
            <a:r>
              <a:rPr sz="1275" b="1" i="0">
                <a:solidFill>
                  <a:srgbClr val="FFD21F"/>
                </a:solidFill>
                <a:latin typeface="Roboto Mono"/>
              </a:rPr>
              <a:t>Sin campos de texto</a:t>
            </a:r>
          </a:p>
        </p:txBody>
      </p:sp>
      <p:sp>
        <p:nvSpPr>
          <p:cNvPr id="62" name="TextBox 61"/>
          <p:cNvSpPr txBox="1"/>
          <p:nvPr/>
        </p:nvSpPr>
        <p:spPr>
          <a:xfrm>
            <a:off x="12541151" y="3880693"/>
            <a:ext cx="3032831"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No alimenta el modelo textual</a:t>
            </a:r>
          </a:p>
        </p:txBody>
      </p:sp>
      <p:sp>
        <p:nvSpPr>
          <p:cNvPr id="63" name="TextBox 62"/>
          <p:cNvSpPr txBox="1"/>
          <p:nvPr/>
        </p:nvSpPr>
        <p:spPr>
          <a:xfrm>
            <a:off x="12541151" y="4211538"/>
            <a:ext cx="3100340" cy="266700"/>
          </a:xfrm>
          <a:prstGeom prst="rect">
            <a:avLst/>
          </a:prstGeom>
          <a:noFill/>
        </p:spPr>
        <p:txBody>
          <a:bodyPr wrap="none" lIns="0" rIns="0" tIns="0" bIns="0" anchor="t">
            <a:spAutoFit/>
          </a:bodyPr>
          <a:lstStyle/>
          <a:p>
            <a:pPr algn="l">
              <a:lnSpc>
                <a:spcPct val="97500"/>
              </a:lnSpc>
            </a:pPr>
            <a:r>
              <a:rPr sz="1650" b="1" i="0">
                <a:solidFill>
                  <a:srgbClr val="F3F7FC"/>
                </a:solidFill>
                <a:latin typeface="Barlow"/>
              </a:rPr>
              <a:t>Etiquetas sobre publicaciones</a:t>
            </a:r>
          </a:p>
        </p:txBody>
      </p:sp>
      <p:sp>
        <p:nvSpPr>
          <p:cNvPr id="64" name="TextBox 63"/>
          <p:cNvSpPr txBox="1"/>
          <p:nvPr/>
        </p:nvSpPr>
        <p:spPr>
          <a:xfrm>
            <a:off x="12436376" y="8999637"/>
            <a:ext cx="1332905" cy="190500"/>
          </a:xfrm>
          <a:prstGeom prst="rect">
            <a:avLst/>
          </a:prstGeom>
          <a:noFill/>
        </p:spPr>
        <p:txBody>
          <a:bodyPr wrap="none" lIns="0" rIns="0" tIns="0" bIns="0" anchor="t">
            <a:spAutoFit/>
          </a:bodyPr>
          <a:lstStyle/>
          <a:p>
            <a:pPr algn="l">
              <a:lnSpc>
                <a:spcPct val="100000"/>
              </a:lnSpc>
            </a:pPr>
            <a:r>
              <a:rPr sz="1125" b="1" i="0" spc="101">
                <a:solidFill>
                  <a:srgbClr val="FFD21F"/>
                </a:solidFill>
                <a:latin typeface="Barlow"/>
              </a:rPr>
              <a:t>VERIFICADO EN</a:t>
            </a:r>
          </a:p>
        </p:txBody>
      </p:sp>
      <p:sp>
        <p:nvSpPr>
          <p:cNvPr id="65" name="TextBox 64"/>
          <p:cNvSpPr txBox="1"/>
          <p:nvPr/>
        </p:nvSpPr>
        <p:spPr>
          <a:xfrm>
            <a:off x="12436376" y="9190137"/>
            <a:ext cx="1762065" cy="247650"/>
          </a:xfrm>
          <a:prstGeom prst="rect">
            <a:avLst/>
          </a:prstGeom>
          <a:noFill/>
        </p:spPr>
        <p:txBody>
          <a:bodyPr wrap="none" lIns="0" rIns="0" tIns="0" bIns="0" anchor="t">
            <a:spAutoFit/>
          </a:bodyPr>
          <a:lstStyle/>
          <a:p>
            <a:pPr algn="l">
              <a:lnSpc>
                <a:spcPct val="93300"/>
              </a:lnSpc>
            </a:pPr>
            <a:r>
              <a:rPr sz="1350" b="1" i="0">
                <a:solidFill>
                  <a:srgbClr val="F3F7FC"/>
                </a:solidFill>
                <a:latin typeface="Roboto Mono"/>
              </a:rPr>
              <a:t>gold_externo.py</a:t>
            </a:r>
          </a:p>
        </p:txBody>
      </p:sp>
      <p:sp>
        <p:nvSpPr>
          <p:cNvPr id="66" name="TextBox 65"/>
          <p:cNvSpPr txBox="1"/>
          <p:nvPr/>
        </p:nvSpPr>
        <p:spPr>
          <a:xfrm>
            <a:off x="966490" y="9766935"/>
            <a:ext cx="2040136"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SELECCIONAR CAMPOS</a:t>
            </a:r>
          </a:p>
        </p:txBody>
      </p:sp>
      <p:sp>
        <p:nvSpPr>
          <p:cNvPr id="67" name="TextBox 66"/>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17</a:t>
            </a:r>
          </a:p>
        </p:txBody>
      </p:sp>
      <p:sp>
        <p:nvSpPr>
          <p:cNvPr id="68" name="TextBox 67"/>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18</a:t>
            </a:r>
          </a:p>
        </p:txBody>
      </p:sp>
      <p:sp>
        <p:nvSpPr>
          <p:cNvPr id="69" name="TextBox 68"/>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19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93925"/>
            <a:ext cx="16840200" cy="197167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93925"/>
            <a:ext cx="16840200" cy="952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556075"/>
            <a:ext cx="16840200" cy="952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93925"/>
            <a:ext cx="76200" cy="19716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2593925"/>
            <a:ext cx="9525" cy="197167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23900" y="5594896"/>
            <a:ext cx="16840200" cy="197167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23900" y="5594896"/>
            <a:ext cx="16840200" cy="952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23900" y="7557046"/>
            <a:ext cx="16840200" cy="952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23900" y="5594896"/>
            <a:ext cx="76200" cy="19716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7554575" y="5594896"/>
            <a:ext cx="9525" cy="1971675"/>
          </a:xfrm>
          <a:prstGeom prst="rect">
            <a:avLst/>
          </a:prstGeom>
          <a:solidFill>
            <a:srgbClr val="6D8FB2">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3900" y="8595866"/>
            <a:ext cx="5524500" cy="971550"/>
          </a:xfrm>
          <a:prstGeom prst="rect">
            <a:avLst/>
          </a:prstGeom>
          <a:solidFill>
            <a:srgbClr val="07172D">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8595866"/>
            <a:ext cx="55245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9557891"/>
            <a:ext cx="552450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8875"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381750" y="8595866"/>
            <a:ext cx="5524500" cy="971550"/>
          </a:xfrm>
          <a:prstGeom prst="rect">
            <a:avLst/>
          </a:prstGeom>
          <a:solidFill>
            <a:srgbClr val="07172D">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381750" y="8595866"/>
            <a:ext cx="55245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381750" y="9557891"/>
            <a:ext cx="552450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381750"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896725"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39600" y="8595866"/>
            <a:ext cx="5524500" cy="971550"/>
          </a:xfrm>
          <a:prstGeom prst="rect">
            <a:avLst/>
          </a:prstGeom>
          <a:solidFill>
            <a:srgbClr val="07172D">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039600" y="8595866"/>
            <a:ext cx="5524500" cy="571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039600" y="9557891"/>
            <a:ext cx="552450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039600"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7554575" y="8595866"/>
            <a:ext cx="9525" cy="971550"/>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09912" y="9720262"/>
            <a:ext cx="718661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3114675" y="9944100"/>
            <a:ext cx="861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0372725" y="9720262"/>
            <a:ext cx="718661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81075" y="1663750"/>
            <a:ext cx="456430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ESTRUCTURAR EL CONJUNTO · 01 / 02</a:t>
            </a:r>
          </a:p>
        </p:txBody>
      </p:sp>
      <p:sp>
        <p:nvSpPr>
          <p:cNvPr id="38" name="TextBox 37"/>
          <p:cNvSpPr txBox="1"/>
          <p:nvPr/>
        </p:nvSpPr>
        <p:spPr>
          <a:xfrm>
            <a:off x="981075" y="1885652"/>
            <a:ext cx="1079630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Del volcado del portal a la unidad de análisis</a:t>
            </a:r>
          </a:p>
        </p:txBody>
      </p:sp>
      <p:sp>
        <p:nvSpPr>
          <p:cNvPr id="39" name="TextBox 38"/>
          <p:cNvSpPr txBox="1"/>
          <p:nvPr/>
        </p:nvSpPr>
        <p:spPr>
          <a:xfrm>
            <a:off x="1047750" y="3398788"/>
            <a:ext cx="7046690" cy="381000"/>
          </a:xfrm>
          <a:prstGeom prst="rect">
            <a:avLst/>
          </a:prstGeom>
          <a:noFill/>
        </p:spPr>
        <p:txBody>
          <a:bodyPr wrap="none" lIns="0" rIns="0" tIns="0" bIns="0" anchor="t">
            <a:spAutoFit/>
          </a:bodyPr>
          <a:lstStyle/>
          <a:p>
            <a:pPr algn="l">
              <a:lnSpc>
                <a:spcPct val="100000"/>
              </a:lnSpc>
            </a:pPr>
            <a:r>
              <a:rPr sz="2325" b="1" i="0">
                <a:solidFill>
                  <a:srgbClr val="F3F7FC"/>
                </a:solidFill>
                <a:latin typeface="Montserrat"/>
              </a:rPr>
              <a:t>Volcado del portal · 12 snapshots de 2025</a:t>
            </a:r>
          </a:p>
        </p:txBody>
      </p:sp>
      <p:sp>
        <p:nvSpPr>
          <p:cNvPr id="40" name="TextBox 39"/>
          <p:cNvSpPr txBox="1"/>
          <p:nvPr/>
        </p:nvSpPr>
        <p:spPr>
          <a:xfrm>
            <a:off x="15623828" y="3174950"/>
            <a:ext cx="1912995" cy="590550"/>
          </a:xfrm>
          <a:prstGeom prst="rect">
            <a:avLst/>
          </a:prstGeom>
          <a:noFill/>
        </p:spPr>
        <p:txBody>
          <a:bodyPr wrap="none" lIns="0" rIns="0" tIns="0" bIns="0" anchor="t">
            <a:spAutoFit/>
          </a:bodyPr>
          <a:lstStyle/>
          <a:p>
            <a:pPr algn="l">
              <a:lnSpc>
                <a:spcPct val="100000"/>
              </a:lnSpc>
            </a:pPr>
            <a:r>
              <a:rPr sz="3750" b="1" i="0">
                <a:solidFill>
                  <a:srgbClr val="FFD21F"/>
                </a:solidFill>
                <a:latin typeface="Barlow"/>
              </a:rPr>
              <a:t>129.507</a:t>
            </a:r>
          </a:p>
        </p:txBody>
      </p:sp>
      <p:sp>
        <p:nvSpPr>
          <p:cNvPr id="41" name="TextBox 40"/>
          <p:cNvSpPr txBox="1"/>
          <p:nvPr/>
        </p:nvSpPr>
        <p:spPr>
          <a:xfrm>
            <a:off x="15410325" y="3745498"/>
            <a:ext cx="1896600" cy="259080"/>
          </a:xfrm>
          <a:prstGeom prst="rect">
            <a:avLst/>
          </a:prstGeom>
          <a:noFill/>
        </p:spPr>
        <p:txBody>
          <a:bodyPr wrap="none" lIns="0" rIns="0" tIns="0" bIns="0" anchor="t">
            <a:spAutoFit/>
          </a:bodyPr>
          <a:lstStyle/>
          <a:p>
            <a:pPr algn="r">
              <a:lnSpc>
                <a:spcPct val="100000"/>
              </a:lnSpc>
            </a:pPr>
            <a:r>
              <a:rPr sz="1575" b="1" i="0">
                <a:solidFill>
                  <a:srgbClr val="9AB3CD"/>
                </a:solidFill>
                <a:latin typeface="Barlow"/>
              </a:rPr>
              <a:t>filas × 36 columnas</a:t>
            </a:r>
          </a:p>
        </p:txBody>
      </p:sp>
      <p:sp>
        <p:nvSpPr>
          <p:cNvPr id="42" name="Flecha"/>
          <p:cNvSpPr/>
          <p:nvPr/>
        </p:nvSpPr>
        <p:spPr>
          <a:xfrm rot="10800000">
            <a:off x="1065562" y="5025194"/>
            <a:ext cx="126302" cy="110109"/>
          </a:xfrm>
          <a:prstGeom prst="triangle">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60438" y="4942136"/>
            <a:ext cx="10146613" cy="295275"/>
          </a:xfrm>
          <a:prstGeom prst="rect">
            <a:avLst/>
          </a:prstGeom>
          <a:noFill/>
        </p:spPr>
        <p:txBody>
          <a:bodyPr wrap="none" lIns="0" rIns="0" tIns="0" bIns="0" anchor="t">
            <a:spAutoFit/>
          </a:bodyPr>
          <a:lstStyle/>
          <a:p>
            <a:pPr algn="l">
              <a:lnSpc>
                <a:spcPct val="100000"/>
              </a:lnSpc>
            </a:pPr>
            <a:r>
              <a:rPr sz="1650" b="1" i="0">
                <a:solidFill>
                  <a:srgbClr val="9AB3CD"/>
                </a:solidFill>
                <a:latin typeface="Roboto Mono"/>
              </a:rPr>
              <a:t>Invalid = false  ∧  IsDeleted = false  ∧  MatchConfidence = 100  →  −2.414</a:t>
            </a:r>
          </a:p>
        </p:txBody>
      </p:sp>
      <p:sp>
        <p:nvSpPr>
          <p:cNvPr id="44" name="TextBox 43"/>
          <p:cNvSpPr txBox="1"/>
          <p:nvPr/>
        </p:nvSpPr>
        <p:spPr>
          <a:xfrm>
            <a:off x="1047750" y="6399758"/>
            <a:ext cx="4660267" cy="381000"/>
          </a:xfrm>
          <a:prstGeom prst="rect">
            <a:avLst/>
          </a:prstGeom>
          <a:noFill/>
        </p:spPr>
        <p:txBody>
          <a:bodyPr wrap="none" lIns="0" rIns="0" tIns="0" bIns="0" anchor="t">
            <a:spAutoFit/>
          </a:bodyPr>
          <a:lstStyle/>
          <a:p>
            <a:pPr algn="l">
              <a:lnSpc>
                <a:spcPct val="100000"/>
              </a:lnSpc>
            </a:pPr>
            <a:r>
              <a:rPr sz="2325" b="1" i="0">
                <a:solidFill>
                  <a:srgbClr val="F3F7FC"/>
                </a:solidFill>
                <a:latin typeface="Montserrat"/>
              </a:rPr>
              <a:t>Conjunto de estudio válido</a:t>
            </a:r>
          </a:p>
        </p:txBody>
      </p:sp>
      <p:sp>
        <p:nvSpPr>
          <p:cNvPr id="45" name="TextBox 44"/>
          <p:cNvSpPr txBox="1"/>
          <p:nvPr/>
        </p:nvSpPr>
        <p:spPr>
          <a:xfrm>
            <a:off x="15569208" y="6175921"/>
            <a:ext cx="1912995" cy="590550"/>
          </a:xfrm>
          <a:prstGeom prst="rect">
            <a:avLst/>
          </a:prstGeom>
          <a:noFill/>
        </p:spPr>
        <p:txBody>
          <a:bodyPr wrap="none" lIns="0" rIns="0" tIns="0" bIns="0" anchor="t">
            <a:spAutoFit/>
          </a:bodyPr>
          <a:lstStyle/>
          <a:p>
            <a:pPr algn="l">
              <a:lnSpc>
                <a:spcPct val="100000"/>
              </a:lnSpc>
            </a:pPr>
            <a:r>
              <a:rPr sz="3750" b="1" i="0">
                <a:solidFill>
                  <a:srgbClr val="FFD21F"/>
                </a:solidFill>
                <a:latin typeface="Barlow"/>
              </a:rPr>
              <a:t>127.093</a:t>
            </a:r>
          </a:p>
        </p:txBody>
      </p:sp>
      <p:sp>
        <p:nvSpPr>
          <p:cNvPr id="46" name="TextBox 45"/>
          <p:cNvSpPr txBox="1"/>
          <p:nvPr/>
        </p:nvSpPr>
        <p:spPr>
          <a:xfrm>
            <a:off x="15334940" y="6746468"/>
            <a:ext cx="1971985" cy="259080"/>
          </a:xfrm>
          <a:prstGeom prst="rect">
            <a:avLst/>
          </a:prstGeom>
          <a:noFill/>
        </p:spPr>
        <p:txBody>
          <a:bodyPr wrap="none" lIns="0" rIns="0" tIns="0" bIns="0" anchor="t">
            <a:spAutoFit/>
          </a:bodyPr>
          <a:lstStyle/>
          <a:p>
            <a:pPr algn="r">
              <a:lnSpc>
                <a:spcPct val="100000"/>
              </a:lnSpc>
            </a:pPr>
            <a:r>
              <a:rPr sz="1575" b="1" i="0">
                <a:solidFill>
                  <a:srgbClr val="9AB3CD"/>
                </a:solidFill>
                <a:latin typeface="Barlow"/>
              </a:rPr>
              <a:t>98,14% conservado</a:t>
            </a:r>
          </a:p>
        </p:txBody>
      </p:sp>
      <p:sp>
        <p:nvSpPr>
          <p:cNvPr id="47" name="Flecha"/>
          <p:cNvSpPr/>
          <p:nvPr/>
        </p:nvSpPr>
        <p:spPr>
          <a:xfrm rot="10800000">
            <a:off x="1065562" y="8026164"/>
            <a:ext cx="126302" cy="110109"/>
          </a:xfrm>
          <a:prstGeom prst="triangle">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60438" y="7943106"/>
            <a:ext cx="13133058" cy="295275"/>
          </a:xfrm>
          <a:prstGeom prst="rect">
            <a:avLst/>
          </a:prstGeom>
          <a:noFill/>
        </p:spPr>
        <p:txBody>
          <a:bodyPr wrap="none" lIns="0" rIns="0" tIns="0" bIns="0" anchor="t">
            <a:spAutoFit/>
          </a:bodyPr>
          <a:lstStyle/>
          <a:p>
            <a:pPr algn="l">
              <a:lnSpc>
                <a:spcPct val="100000"/>
              </a:lnSpc>
            </a:pPr>
            <a:r>
              <a:rPr sz="1650" b="1" i="0">
                <a:solidFill>
                  <a:srgbClr val="9AB3CD"/>
                </a:solidFill>
                <a:latin typeface="Roboto Mono"/>
              </a:rPr>
              <a:t>unidad canónica = país + retailer + RetailerProductId  ·  llave de respaldo en 465 filas (0,37%)</a:t>
            </a:r>
          </a:p>
        </p:txBody>
      </p:sp>
      <p:sp>
        <p:nvSpPr>
          <p:cNvPr id="49" name="TextBox 48"/>
          <p:cNvSpPr txBox="1"/>
          <p:nvPr/>
        </p:nvSpPr>
        <p:spPr>
          <a:xfrm>
            <a:off x="2711797" y="8681591"/>
            <a:ext cx="1767691"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111.269</a:t>
            </a:r>
          </a:p>
        </p:txBody>
      </p:sp>
      <p:sp>
        <p:nvSpPr>
          <p:cNvPr id="50" name="TextBox 49"/>
          <p:cNvSpPr txBox="1"/>
          <p:nvPr/>
        </p:nvSpPr>
        <p:spPr>
          <a:xfrm>
            <a:off x="2649486" y="9205466"/>
            <a:ext cx="1673179" cy="295275"/>
          </a:xfrm>
          <a:prstGeom prst="rect">
            <a:avLst/>
          </a:prstGeom>
          <a:noFill/>
        </p:spPr>
        <p:txBody>
          <a:bodyPr wrap="none" lIns="0" rIns="0" tIns="0" bIns="0" anchor="t">
            <a:spAutoFit/>
          </a:bodyPr>
          <a:lstStyle/>
          <a:p>
            <a:pPr algn="ctr">
              <a:lnSpc>
                <a:spcPct val="100000"/>
              </a:lnSpc>
            </a:pPr>
            <a:r>
              <a:rPr sz="1800" b="0" i="0">
                <a:solidFill>
                  <a:srgbClr val="F3F7FC"/>
                </a:solidFill>
                <a:latin typeface="Barlow"/>
              </a:rPr>
              <a:t>pares distintos</a:t>
            </a:r>
          </a:p>
        </p:txBody>
      </p:sp>
      <p:sp>
        <p:nvSpPr>
          <p:cNvPr id="51" name="TextBox 50"/>
          <p:cNvSpPr txBox="1"/>
          <p:nvPr/>
        </p:nvSpPr>
        <p:spPr>
          <a:xfrm>
            <a:off x="8369647" y="8681591"/>
            <a:ext cx="1767691"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110.706</a:t>
            </a:r>
          </a:p>
        </p:txBody>
      </p:sp>
      <p:sp>
        <p:nvSpPr>
          <p:cNvPr id="52" name="TextBox 51"/>
          <p:cNvSpPr txBox="1"/>
          <p:nvPr/>
        </p:nvSpPr>
        <p:spPr>
          <a:xfrm>
            <a:off x="7950500" y="9205466"/>
            <a:ext cx="2387001" cy="295275"/>
          </a:xfrm>
          <a:prstGeom prst="rect">
            <a:avLst/>
          </a:prstGeom>
          <a:noFill/>
        </p:spPr>
        <p:txBody>
          <a:bodyPr wrap="none" lIns="0" rIns="0" tIns="0" bIns="0" anchor="t">
            <a:spAutoFit/>
          </a:bodyPr>
          <a:lstStyle/>
          <a:p>
            <a:pPr algn="ctr">
              <a:lnSpc>
                <a:spcPct val="100000"/>
              </a:lnSpc>
            </a:pPr>
            <a:r>
              <a:rPr sz="1800" b="0" i="0">
                <a:solidFill>
                  <a:srgbClr val="F3F7FC"/>
                </a:solidFill>
                <a:latin typeface="Barlow"/>
              </a:rPr>
              <a:t>publicaciones retailer</a:t>
            </a:r>
          </a:p>
        </p:txBody>
      </p:sp>
      <p:sp>
        <p:nvSpPr>
          <p:cNvPr id="53" name="TextBox 52"/>
          <p:cNvSpPr txBox="1"/>
          <p:nvPr/>
        </p:nvSpPr>
        <p:spPr>
          <a:xfrm>
            <a:off x="14146709" y="8681591"/>
            <a:ext cx="1510195"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17.416</a:t>
            </a:r>
          </a:p>
        </p:txBody>
      </p:sp>
      <p:sp>
        <p:nvSpPr>
          <p:cNvPr id="54" name="TextBox 53"/>
          <p:cNvSpPr txBox="1"/>
          <p:nvPr/>
        </p:nvSpPr>
        <p:spPr>
          <a:xfrm>
            <a:off x="13737419" y="9205466"/>
            <a:ext cx="2128861" cy="295275"/>
          </a:xfrm>
          <a:prstGeom prst="rect">
            <a:avLst/>
          </a:prstGeom>
          <a:noFill/>
        </p:spPr>
        <p:txBody>
          <a:bodyPr wrap="none" lIns="0" rIns="0" tIns="0" bIns="0" anchor="t">
            <a:spAutoFit/>
          </a:bodyPr>
          <a:lstStyle/>
          <a:p>
            <a:pPr algn="ctr">
              <a:lnSpc>
                <a:spcPct val="100000"/>
              </a:lnSpc>
            </a:pPr>
            <a:r>
              <a:rPr sz="1800" b="0" i="0">
                <a:solidFill>
                  <a:srgbClr val="F3F7FC"/>
                </a:solidFill>
                <a:latin typeface="Barlow"/>
              </a:rPr>
              <a:t>productos oficiales</a:t>
            </a:r>
          </a:p>
        </p:txBody>
      </p:sp>
      <p:sp>
        <p:nvSpPr>
          <p:cNvPr id="55" name="TextBox 54"/>
          <p:cNvSpPr txBox="1"/>
          <p:nvPr/>
        </p:nvSpPr>
        <p:spPr>
          <a:xfrm>
            <a:off x="840432" y="9766935"/>
            <a:ext cx="2312420"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ESTRUCTURAR CONJUNTO</a:t>
            </a:r>
          </a:p>
        </p:txBody>
      </p:sp>
      <p:sp>
        <p:nvSpPr>
          <p:cNvPr id="56" name="TextBox 55"/>
          <p:cNvSpPr txBox="1"/>
          <p:nvPr/>
        </p:nvSpPr>
        <p:spPr>
          <a:xfrm>
            <a:off x="662538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20</a:t>
            </a:r>
          </a:p>
        </p:txBody>
      </p:sp>
      <p:sp>
        <p:nvSpPr>
          <p:cNvPr id="57" name="TextBox 56"/>
          <p:cNvSpPr txBox="1"/>
          <p:nvPr/>
        </p:nvSpPr>
        <p:spPr>
          <a:xfrm>
            <a:off x="1388819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537150" cy="348228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537150" cy="66675"/>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6013996"/>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28688" y="5340548"/>
            <a:ext cx="5127575" cy="466725"/>
          </a:xfrm>
          <a:prstGeom prst="rect">
            <a:avLst/>
          </a:prstGeom>
          <a:no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75350" y="2541240"/>
            <a:ext cx="5537150" cy="348228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75350" y="2541240"/>
            <a:ext cx="5537150" cy="666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6013996"/>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902976"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0138" y="5340548"/>
            <a:ext cx="5127575" cy="46672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26801" y="2541240"/>
            <a:ext cx="5537150" cy="348228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26801" y="2541240"/>
            <a:ext cx="5537150" cy="666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26801" y="6013996"/>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26801"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7554426" y="2541240"/>
            <a:ext cx="9525" cy="348228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231588" y="5340548"/>
            <a:ext cx="5127575" cy="46672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8662" y="6142583"/>
            <a:ext cx="16830675" cy="347290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614988" y="6542038"/>
            <a:ext cx="98202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619750" y="6546800"/>
            <a:ext cx="9810750"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614988" y="7315795"/>
            <a:ext cx="98202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619750" y="7320558"/>
            <a:ext cx="1412677"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614988" y="8089553"/>
            <a:ext cx="98202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5619750" y="8094315"/>
            <a:ext cx="1020217"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614988" y="8863310"/>
            <a:ext cx="98202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619750" y="8868073"/>
            <a:ext cx="304056"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09912" y="9720262"/>
            <a:ext cx="718661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14675" y="9944100"/>
            <a:ext cx="717708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0372725" y="9720262"/>
            <a:ext cx="718661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0377488" y="9944100"/>
            <a:ext cx="78302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81075" y="1663750"/>
            <a:ext cx="461349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ESTRUCTURAR EL CONJUNTO · 02 / 02</a:t>
            </a:r>
          </a:p>
        </p:txBody>
      </p:sp>
      <p:sp>
        <p:nvSpPr>
          <p:cNvPr id="41" name="TextBox 40"/>
          <p:cNvSpPr txBox="1"/>
          <p:nvPr/>
        </p:nvSpPr>
        <p:spPr>
          <a:xfrm>
            <a:off x="981075" y="1885652"/>
            <a:ext cx="822117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 ambiguo se marca, no se borra</a:t>
            </a:r>
          </a:p>
        </p:txBody>
      </p:sp>
      <p:sp>
        <p:nvSpPr>
          <p:cNvPr id="42" name="TextBox 41"/>
          <p:cNvSpPr txBox="1"/>
          <p:nvPr/>
        </p:nvSpPr>
        <p:spPr>
          <a:xfrm>
            <a:off x="923925" y="3246090"/>
            <a:ext cx="431024" cy="704850"/>
          </a:xfrm>
          <a:prstGeom prst="rect">
            <a:avLst/>
          </a:prstGeom>
          <a:noFill/>
        </p:spPr>
        <p:txBody>
          <a:bodyPr wrap="none" lIns="0" rIns="0" tIns="0" bIns="0" anchor="t">
            <a:spAutoFit/>
          </a:bodyPr>
          <a:lstStyle/>
          <a:p>
            <a:pPr algn="l">
              <a:lnSpc>
                <a:spcPct val="81700"/>
              </a:lnSpc>
            </a:pPr>
            <a:r>
              <a:rPr sz="4500" b="1" i="0">
                <a:solidFill>
                  <a:srgbClr val="FFD21F"/>
                </a:solidFill>
                <a:latin typeface="Barlow"/>
              </a:rPr>
              <a:t>8</a:t>
            </a:r>
          </a:p>
        </p:txBody>
      </p:sp>
      <p:sp>
        <p:nvSpPr>
          <p:cNvPr id="43" name="TextBox 42"/>
          <p:cNvSpPr txBox="1"/>
          <p:nvPr/>
        </p:nvSpPr>
        <p:spPr>
          <a:xfrm>
            <a:off x="923925" y="3844230"/>
            <a:ext cx="1342709"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filas · 0,01%</a:t>
            </a:r>
          </a:p>
        </p:txBody>
      </p:sp>
      <p:sp>
        <p:nvSpPr>
          <p:cNvPr id="44" name="TextBox 43"/>
          <p:cNvSpPr txBox="1"/>
          <p:nvPr/>
        </p:nvSpPr>
        <p:spPr>
          <a:xfrm>
            <a:off x="923925" y="4677966"/>
            <a:ext cx="51561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Duplicado exacto</a:t>
            </a:r>
          </a:p>
          <a:p>
            <a:pPr algn="l">
              <a:lnSpc>
                <a:spcPct val="85000"/>
              </a:lnSpc>
            </a:pPr>
            <a:r>
              <a:rPr sz="2400" b="0" i="0">
                <a:solidFill>
                  <a:srgbClr val="F3F7FC"/>
                </a:solidFill>
                <a:latin typeface="Inter"/>
              </a:rPr>
              <a:t/>
            </a:r>
          </a:p>
        </p:txBody>
      </p:sp>
      <p:sp>
        <p:nvSpPr>
          <p:cNvPr id="45" name="TextBox 44"/>
          <p:cNvSpPr txBox="1"/>
          <p:nvPr/>
        </p:nvSpPr>
        <p:spPr>
          <a:xfrm>
            <a:off x="923925" y="5045869"/>
            <a:ext cx="2577149" cy="266700"/>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las 36 columnas idénticas</a:t>
            </a:r>
          </a:p>
        </p:txBody>
      </p:sp>
      <p:sp>
        <p:nvSpPr>
          <p:cNvPr id="46" name="TextBox 45"/>
          <p:cNvSpPr txBox="1"/>
          <p:nvPr/>
        </p:nvSpPr>
        <p:spPr>
          <a:xfrm>
            <a:off x="2883170" y="5440561"/>
            <a:ext cx="1218462" cy="285750"/>
          </a:xfrm>
          <a:prstGeom prst="rect">
            <a:avLst/>
          </a:prstGeom>
          <a:noFill/>
        </p:spPr>
        <p:txBody>
          <a:bodyPr wrap="none" lIns="0" rIns="0" tIns="0" bIns="0" anchor="t">
            <a:spAutoFit/>
          </a:bodyPr>
          <a:lstStyle/>
          <a:p>
            <a:pPr algn="ctr">
              <a:lnSpc>
                <a:spcPct val="100000"/>
              </a:lnSpc>
            </a:pPr>
            <a:r>
              <a:rPr sz="1725" b="1" i="0" spc="86">
                <a:solidFill>
                  <a:srgbClr val="E2758F"/>
                </a:solidFill>
                <a:latin typeface="Barlow"/>
              </a:rPr>
              <a:t>ELIMINAR</a:t>
            </a:r>
          </a:p>
        </p:txBody>
      </p:sp>
      <p:sp>
        <p:nvSpPr>
          <p:cNvPr id="47" name="TextBox 46"/>
          <p:cNvSpPr txBox="1"/>
          <p:nvPr/>
        </p:nvSpPr>
        <p:spPr>
          <a:xfrm>
            <a:off x="6575375" y="3246090"/>
            <a:ext cx="1940802" cy="704850"/>
          </a:xfrm>
          <a:prstGeom prst="rect">
            <a:avLst/>
          </a:prstGeom>
          <a:noFill/>
        </p:spPr>
        <p:txBody>
          <a:bodyPr wrap="none" lIns="0" rIns="0" tIns="0" bIns="0" anchor="t">
            <a:spAutoFit/>
          </a:bodyPr>
          <a:lstStyle/>
          <a:p>
            <a:pPr algn="l">
              <a:lnSpc>
                <a:spcPct val="81700"/>
              </a:lnSpc>
            </a:pPr>
            <a:r>
              <a:rPr sz="4500" b="1" i="0">
                <a:solidFill>
                  <a:srgbClr val="FFD21F"/>
                </a:solidFill>
                <a:latin typeface="Barlow"/>
              </a:rPr>
              <a:t>26.592</a:t>
            </a:r>
          </a:p>
        </p:txBody>
      </p:sp>
      <p:sp>
        <p:nvSpPr>
          <p:cNvPr id="48" name="TextBox 47"/>
          <p:cNvSpPr txBox="1"/>
          <p:nvPr/>
        </p:nvSpPr>
        <p:spPr>
          <a:xfrm>
            <a:off x="6575375" y="3844230"/>
            <a:ext cx="1471458"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filas · 20,92%</a:t>
            </a:r>
          </a:p>
        </p:txBody>
      </p:sp>
      <p:sp>
        <p:nvSpPr>
          <p:cNvPr id="49" name="TextBox 48"/>
          <p:cNvSpPr txBox="1"/>
          <p:nvPr/>
        </p:nvSpPr>
        <p:spPr>
          <a:xfrm>
            <a:off x="6575375" y="4677966"/>
            <a:ext cx="51561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Repetición histórica</a:t>
            </a:r>
          </a:p>
          <a:p>
            <a:pPr algn="l">
              <a:lnSpc>
                <a:spcPct val="85000"/>
              </a:lnSpc>
            </a:pPr>
            <a:r>
              <a:rPr sz="2400" b="0" i="0">
                <a:solidFill>
                  <a:srgbClr val="F3F7FC"/>
                </a:solidFill>
                <a:latin typeface="Inter"/>
              </a:rPr>
              <a:t/>
            </a:r>
          </a:p>
        </p:txBody>
      </p:sp>
      <p:sp>
        <p:nvSpPr>
          <p:cNvPr id="50" name="TextBox 49"/>
          <p:cNvSpPr txBox="1"/>
          <p:nvPr/>
        </p:nvSpPr>
        <p:spPr>
          <a:xfrm>
            <a:off x="6575375" y="5045869"/>
            <a:ext cx="3094393" cy="266700"/>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el mismo par hasta en 11 meses</a:t>
            </a:r>
          </a:p>
        </p:txBody>
      </p:sp>
      <p:sp>
        <p:nvSpPr>
          <p:cNvPr id="51" name="TextBox 50"/>
          <p:cNvSpPr txBox="1"/>
          <p:nvPr/>
        </p:nvSpPr>
        <p:spPr>
          <a:xfrm>
            <a:off x="7684972" y="5440561"/>
            <a:ext cx="2917906" cy="285750"/>
          </a:xfrm>
          <a:prstGeom prst="rect">
            <a:avLst/>
          </a:prstGeom>
          <a:noFill/>
        </p:spPr>
        <p:txBody>
          <a:bodyPr wrap="none" lIns="0" rIns="0" tIns="0" bIns="0" anchor="t">
            <a:spAutoFit/>
          </a:bodyPr>
          <a:lstStyle/>
          <a:p>
            <a:pPr algn="ctr">
              <a:lnSpc>
                <a:spcPct val="100000"/>
              </a:lnSpc>
            </a:pPr>
            <a:r>
              <a:rPr sz="1725" b="1" i="0" spc="86">
                <a:solidFill>
                  <a:srgbClr val="FFD21F"/>
                </a:solidFill>
                <a:latin typeface="Barlow"/>
              </a:rPr>
              <a:t>COLAPSAR O PONDERAR</a:t>
            </a:r>
          </a:p>
        </p:txBody>
      </p:sp>
      <p:sp>
        <p:nvSpPr>
          <p:cNvPr id="52" name="TextBox 51"/>
          <p:cNvSpPr txBox="1"/>
          <p:nvPr/>
        </p:nvSpPr>
        <p:spPr>
          <a:xfrm>
            <a:off x="12226826" y="3246090"/>
            <a:ext cx="2111181" cy="704850"/>
          </a:xfrm>
          <a:prstGeom prst="rect">
            <a:avLst/>
          </a:prstGeom>
          <a:noFill/>
        </p:spPr>
        <p:txBody>
          <a:bodyPr wrap="none" lIns="0" rIns="0" tIns="0" bIns="0" anchor="t">
            <a:spAutoFit/>
          </a:bodyPr>
          <a:lstStyle/>
          <a:p>
            <a:pPr algn="l">
              <a:lnSpc>
                <a:spcPct val="81700"/>
              </a:lnSpc>
            </a:pPr>
            <a:r>
              <a:rPr sz="4500" b="1" i="0">
                <a:solidFill>
                  <a:srgbClr val="FFD21F"/>
                </a:solidFill>
                <a:latin typeface="Barlow"/>
              </a:rPr>
              <a:t>36,49%</a:t>
            </a:r>
          </a:p>
        </p:txBody>
      </p:sp>
      <p:sp>
        <p:nvSpPr>
          <p:cNvPr id="53" name="TextBox 52"/>
          <p:cNvSpPr txBox="1"/>
          <p:nvPr/>
        </p:nvSpPr>
        <p:spPr>
          <a:xfrm>
            <a:off x="12226826" y="3844230"/>
            <a:ext cx="2335405"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máximo · llave gruesa</a:t>
            </a:r>
          </a:p>
        </p:txBody>
      </p:sp>
      <p:sp>
        <p:nvSpPr>
          <p:cNvPr id="54" name="TextBox 53"/>
          <p:cNvSpPr txBox="1"/>
          <p:nvPr/>
        </p:nvSpPr>
        <p:spPr>
          <a:xfrm>
            <a:off x="12226826" y="4677966"/>
            <a:ext cx="51561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Co-ocurrencia por reuso</a:t>
            </a:r>
          </a:p>
          <a:p>
            <a:pPr algn="l">
              <a:lnSpc>
                <a:spcPct val="85000"/>
              </a:lnSpc>
            </a:pPr>
            <a:r>
              <a:rPr sz="2400" b="0" i="0">
                <a:solidFill>
                  <a:srgbClr val="F3F7FC"/>
                </a:solidFill>
                <a:latin typeface="Inter"/>
              </a:rPr>
              <a:t/>
            </a:r>
          </a:p>
        </p:txBody>
      </p:sp>
      <p:sp>
        <p:nvSpPr>
          <p:cNvPr id="55" name="TextBox 54"/>
          <p:cNvSpPr txBox="1"/>
          <p:nvPr/>
        </p:nvSpPr>
        <p:spPr>
          <a:xfrm>
            <a:off x="12226826" y="5045869"/>
            <a:ext cx="1630272" cy="266700"/>
          </a:xfrm>
          <a:prstGeom prst="rect">
            <a:avLst/>
          </a:prstGeom>
          <a:noFill/>
        </p:spPr>
        <p:txBody>
          <a:bodyPr wrap="none" lIns="0" rIns="0" tIns="0" bIns="0" anchor="t">
            <a:spAutoFit/>
          </a:bodyPr>
          <a:lstStyle/>
          <a:p>
            <a:pPr algn="l">
              <a:lnSpc>
                <a:spcPct val="98500"/>
              </a:lnSpc>
            </a:pPr>
            <a:r>
              <a:rPr sz="1650" b="0" i="0">
                <a:solidFill>
                  <a:srgbClr val="9AB3CD"/>
                </a:solidFill>
                <a:latin typeface="Barlow"/>
              </a:rPr>
              <a:t>llave gruesa, sin</a:t>
            </a:r>
          </a:p>
        </p:txBody>
      </p:sp>
      <p:sp>
        <p:nvSpPr>
          <p:cNvPr id="56" name="TextBox 55"/>
          <p:cNvSpPr txBox="1"/>
          <p:nvPr/>
        </p:nvSpPr>
        <p:spPr>
          <a:xfrm>
            <a:off x="13692932" y="5064919"/>
            <a:ext cx="992615" cy="257175"/>
          </a:xfrm>
          <a:prstGeom prst="rect">
            <a:avLst/>
          </a:prstGeom>
          <a:noFill/>
        </p:spPr>
        <p:txBody>
          <a:bodyPr wrap="none" lIns="0" rIns="0" tIns="0" bIns="0" anchor="t">
            <a:spAutoFit/>
          </a:bodyPr>
          <a:lstStyle/>
          <a:p>
            <a:pPr algn="l">
              <a:lnSpc>
                <a:spcPct val="110100"/>
              </a:lnSpc>
            </a:pPr>
            <a:r>
              <a:rPr sz="1419" b="1" i="0">
                <a:solidFill>
                  <a:srgbClr val="FFD21F"/>
                </a:solidFill>
                <a:latin typeface="Roboto Mono"/>
              </a:rPr>
              <a:t>Retailer</a:t>
            </a:r>
          </a:p>
        </p:txBody>
      </p:sp>
      <p:sp>
        <p:nvSpPr>
          <p:cNvPr id="57" name="TextBox 56"/>
          <p:cNvSpPr txBox="1"/>
          <p:nvPr/>
        </p:nvSpPr>
        <p:spPr>
          <a:xfrm>
            <a:off x="13707237" y="5440561"/>
            <a:ext cx="2176278" cy="285750"/>
          </a:xfrm>
          <a:prstGeom prst="rect">
            <a:avLst/>
          </a:prstGeom>
          <a:noFill/>
        </p:spPr>
        <p:txBody>
          <a:bodyPr wrap="none" lIns="0" rIns="0" tIns="0" bIns="0" anchor="t">
            <a:spAutoFit/>
          </a:bodyPr>
          <a:lstStyle/>
          <a:p>
            <a:pPr algn="ctr">
              <a:lnSpc>
                <a:spcPct val="100000"/>
              </a:lnSpc>
            </a:pPr>
            <a:r>
              <a:rPr sz="1725" b="1" i="0" spc="86">
                <a:solidFill>
                  <a:srgbClr val="FFD21F"/>
                </a:solidFill>
                <a:latin typeface="Barlow"/>
              </a:rPr>
              <a:t>NO ES DUPLICADO</a:t>
            </a:r>
          </a:p>
        </p:txBody>
      </p:sp>
      <p:sp>
        <p:nvSpPr>
          <p:cNvPr id="58" name="TextBox 57"/>
          <p:cNvSpPr txBox="1"/>
          <p:nvPr/>
        </p:nvSpPr>
        <p:spPr>
          <a:xfrm>
            <a:off x="962025" y="6458248"/>
            <a:ext cx="3342567"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Id reutilizado entre retailers</a:t>
            </a:r>
          </a:p>
        </p:txBody>
      </p:sp>
      <p:sp>
        <p:nvSpPr>
          <p:cNvPr id="59" name="TextBox 58"/>
          <p:cNvSpPr txBox="1"/>
          <p:nvPr/>
        </p:nvSpPr>
        <p:spPr>
          <a:xfrm>
            <a:off x="962025" y="6740128"/>
            <a:ext cx="1542502"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severidad media</a:t>
            </a:r>
          </a:p>
        </p:txBody>
      </p:sp>
      <p:sp>
        <p:nvSpPr>
          <p:cNvPr id="60" name="TextBox 59"/>
          <p:cNvSpPr txBox="1"/>
          <p:nvPr/>
        </p:nvSpPr>
        <p:spPr>
          <a:xfrm>
            <a:off x="16349901" y="6518225"/>
            <a:ext cx="976074"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8.528</a:t>
            </a:r>
          </a:p>
        </p:txBody>
      </p:sp>
      <p:sp>
        <p:nvSpPr>
          <p:cNvPr id="61" name="TextBox 60"/>
          <p:cNvSpPr txBox="1"/>
          <p:nvPr/>
        </p:nvSpPr>
        <p:spPr>
          <a:xfrm>
            <a:off x="962025" y="7232005"/>
            <a:ext cx="3187940"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Nombre → varios oficiales</a:t>
            </a:r>
          </a:p>
        </p:txBody>
      </p:sp>
      <p:sp>
        <p:nvSpPr>
          <p:cNvPr id="62" name="TextBox 61"/>
          <p:cNvSpPr txBox="1"/>
          <p:nvPr/>
        </p:nvSpPr>
        <p:spPr>
          <a:xfrm>
            <a:off x="962025" y="7513886"/>
            <a:ext cx="1542502"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severidad media</a:t>
            </a:r>
          </a:p>
        </p:txBody>
      </p:sp>
      <p:sp>
        <p:nvSpPr>
          <p:cNvPr id="63" name="TextBox 62"/>
          <p:cNvSpPr txBox="1"/>
          <p:nvPr/>
        </p:nvSpPr>
        <p:spPr>
          <a:xfrm>
            <a:off x="16349901" y="7291983"/>
            <a:ext cx="976074"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1.227</a:t>
            </a:r>
          </a:p>
        </p:txBody>
      </p:sp>
      <p:sp>
        <p:nvSpPr>
          <p:cNvPr id="64" name="TextBox 63"/>
          <p:cNvSpPr txBox="1"/>
          <p:nvPr/>
        </p:nvSpPr>
        <p:spPr>
          <a:xfrm>
            <a:off x="962025" y="8005762"/>
            <a:ext cx="337680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Id retailer → varios oficiales</a:t>
            </a:r>
          </a:p>
        </p:txBody>
      </p:sp>
      <p:sp>
        <p:nvSpPr>
          <p:cNvPr id="65" name="TextBox 64"/>
          <p:cNvSpPr txBox="1"/>
          <p:nvPr/>
        </p:nvSpPr>
        <p:spPr>
          <a:xfrm>
            <a:off x="962025" y="8287643"/>
            <a:ext cx="1325511"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severidad alta</a:t>
            </a:r>
          </a:p>
        </p:txBody>
      </p:sp>
      <p:sp>
        <p:nvSpPr>
          <p:cNvPr id="66" name="TextBox 65"/>
          <p:cNvSpPr txBox="1"/>
          <p:nvPr/>
        </p:nvSpPr>
        <p:spPr>
          <a:xfrm>
            <a:off x="16643080" y="8065740"/>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889</a:t>
            </a:r>
          </a:p>
        </p:txBody>
      </p:sp>
      <p:sp>
        <p:nvSpPr>
          <p:cNvPr id="67" name="TextBox 66"/>
          <p:cNvSpPr txBox="1"/>
          <p:nvPr/>
        </p:nvSpPr>
        <p:spPr>
          <a:xfrm>
            <a:off x="962025" y="8779520"/>
            <a:ext cx="4189958"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Unidad canónica → varios oficiales</a:t>
            </a:r>
          </a:p>
        </p:txBody>
      </p:sp>
      <p:sp>
        <p:nvSpPr>
          <p:cNvPr id="68" name="TextBox 67"/>
          <p:cNvSpPr txBox="1"/>
          <p:nvPr/>
        </p:nvSpPr>
        <p:spPr>
          <a:xfrm>
            <a:off x="962025" y="9061400"/>
            <a:ext cx="2282363"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severidad alta · 1.001 filas</a:t>
            </a:r>
          </a:p>
        </p:txBody>
      </p:sp>
      <p:sp>
        <p:nvSpPr>
          <p:cNvPr id="69" name="TextBox 68"/>
          <p:cNvSpPr txBox="1"/>
          <p:nvPr/>
        </p:nvSpPr>
        <p:spPr>
          <a:xfrm>
            <a:off x="16643080" y="8839498"/>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263</a:t>
            </a:r>
          </a:p>
        </p:txBody>
      </p:sp>
      <p:sp>
        <p:nvSpPr>
          <p:cNvPr id="70" name="TextBox 69"/>
          <p:cNvSpPr txBox="1"/>
          <p:nvPr/>
        </p:nvSpPr>
        <p:spPr>
          <a:xfrm>
            <a:off x="840432" y="9766935"/>
            <a:ext cx="2312420"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ESTRUCTURAR CONJUNTO</a:t>
            </a:r>
          </a:p>
        </p:txBody>
      </p:sp>
      <p:sp>
        <p:nvSpPr>
          <p:cNvPr id="71" name="TextBox 70"/>
          <p:cNvSpPr txBox="1"/>
          <p:nvPr/>
        </p:nvSpPr>
        <p:spPr>
          <a:xfrm>
            <a:off x="662538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20</a:t>
            </a:r>
          </a:p>
        </p:txBody>
      </p:sp>
      <p:sp>
        <p:nvSpPr>
          <p:cNvPr id="72" name="TextBox 71"/>
          <p:cNvSpPr txBox="1"/>
          <p:nvPr/>
        </p:nvSpPr>
        <p:spPr>
          <a:xfrm>
            <a:off x="13888194"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41240"/>
            <a:ext cx="5537150" cy="7079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412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2975" y="3829348"/>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42975" y="4753273"/>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2975" y="8474869"/>
            <a:ext cx="5099000" cy="745331"/>
          </a:xfrm>
          <a:prstGeom prst="rect">
            <a:avLst/>
          </a:prstGeom>
          <a:solidFill>
            <a:srgbClr val="07172D">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42975" y="8474869"/>
            <a:ext cx="47625" cy="745331"/>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41240"/>
            <a:ext cx="5537150" cy="7079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25412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75350"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75350"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902976"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594425" y="4136380"/>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94425" y="5060305"/>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594425" y="8474869"/>
            <a:ext cx="5099000" cy="745331"/>
          </a:xfrm>
          <a:prstGeom prst="rect">
            <a:avLst/>
          </a:prstGeom>
          <a:solidFill>
            <a:srgbClr val="07172D">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94425" y="8474869"/>
            <a:ext cx="47625" cy="745331"/>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26801" y="2541240"/>
            <a:ext cx="5537150" cy="7079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26801" y="25412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26801"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026801"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426" y="2541240"/>
            <a:ext cx="9525" cy="7079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245876" y="4200823"/>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2245876" y="5124748"/>
            <a:ext cx="5099000" cy="9525"/>
          </a:xfrm>
          <a:prstGeom prst="rect">
            <a:avLst/>
          </a:prstGeom>
          <a:solidFill>
            <a:srgbClr val="6D8FB2">
              <a:alpha val="3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2245876" y="8474869"/>
            <a:ext cx="5099000" cy="745331"/>
          </a:xfrm>
          <a:prstGeom prst="rect">
            <a:avLst/>
          </a:prstGeom>
          <a:solidFill>
            <a:srgbClr val="07172D">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2245876" y="8474869"/>
            <a:ext cx="47625" cy="745331"/>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09912" y="9720262"/>
            <a:ext cx="718661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14675" y="9944100"/>
            <a:ext cx="8612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0372725" y="9720262"/>
            <a:ext cx="718661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81075" y="1663750"/>
            <a:ext cx="410557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ANÁLISIS EXPLORATORIO · 01 / 02</a:t>
            </a:r>
          </a:p>
        </p:txBody>
      </p:sp>
      <p:sp>
        <p:nvSpPr>
          <p:cNvPr id="40" name="TextBox 39"/>
          <p:cNvSpPr txBox="1"/>
          <p:nvPr/>
        </p:nvSpPr>
        <p:spPr>
          <a:xfrm>
            <a:off x="981075" y="1885652"/>
            <a:ext cx="1210612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Los tres hallazgos que condicionan todo lo demás</a:t>
            </a:r>
          </a:p>
        </p:txBody>
      </p:sp>
      <p:sp>
        <p:nvSpPr>
          <p:cNvPr id="41" name="TextBox 40"/>
          <p:cNvSpPr txBox="1"/>
          <p:nvPr/>
        </p:nvSpPr>
        <p:spPr>
          <a:xfrm>
            <a:off x="942975" y="2760315"/>
            <a:ext cx="4583436" cy="381000"/>
          </a:xfrm>
          <a:prstGeom prst="rect">
            <a:avLst/>
          </a:prstGeom>
          <a:noFill/>
        </p:spPr>
        <p:txBody>
          <a:bodyPr wrap="none" lIns="0" rIns="0" tIns="0" bIns="0" anchor="t">
            <a:spAutoFit/>
          </a:bodyPr>
          <a:lstStyle/>
          <a:p>
            <a:pPr algn="l">
              <a:lnSpc>
                <a:spcPct val="86700"/>
              </a:lnSpc>
            </a:pPr>
            <a:r>
              <a:rPr sz="2325" b="1" i="0">
                <a:solidFill>
                  <a:srgbClr val="F3F7FC"/>
                </a:solidFill>
                <a:latin typeface="Montserrat"/>
              </a:rPr>
              <a:t>Una fila no es un producto</a:t>
            </a:r>
          </a:p>
        </p:txBody>
      </p:sp>
      <p:sp>
        <p:nvSpPr>
          <p:cNvPr id="42" name="TextBox 41"/>
          <p:cNvSpPr txBox="1"/>
          <p:nvPr/>
        </p:nvSpPr>
        <p:spPr>
          <a:xfrm>
            <a:off x="942975" y="3494068"/>
            <a:ext cx="2410950"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Filas en pares repetidos</a:t>
            </a:r>
          </a:p>
        </p:txBody>
      </p:sp>
      <p:sp>
        <p:nvSpPr>
          <p:cNvPr id="43" name="TextBox 42"/>
          <p:cNvSpPr txBox="1"/>
          <p:nvPr/>
        </p:nvSpPr>
        <p:spPr>
          <a:xfrm>
            <a:off x="5077569" y="3409295"/>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20,92%</a:t>
            </a:r>
          </a:p>
        </p:txBody>
      </p:sp>
      <p:sp>
        <p:nvSpPr>
          <p:cNvPr id="44" name="TextBox 43"/>
          <p:cNvSpPr txBox="1"/>
          <p:nvPr/>
        </p:nvSpPr>
        <p:spPr>
          <a:xfrm>
            <a:off x="942975" y="4417993"/>
            <a:ext cx="2742545"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Meses distintos para un par</a:t>
            </a:r>
          </a:p>
        </p:txBody>
      </p:sp>
      <p:sp>
        <p:nvSpPr>
          <p:cNvPr id="45" name="TextBox 44"/>
          <p:cNvSpPr txBox="1"/>
          <p:nvPr/>
        </p:nvSpPr>
        <p:spPr>
          <a:xfrm>
            <a:off x="5720655" y="4333220"/>
            <a:ext cx="442276"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11</a:t>
            </a:r>
          </a:p>
        </p:txBody>
      </p:sp>
      <p:sp>
        <p:nvSpPr>
          <p:cNvPr id="46" name="TextBox 45"/>
          <p:cNvSpPr txBox="1"/>
          <p:nvPr/>
        </p:nvSpPr>
        <p:spPr>
          <a:xfrm>
            <a:off x="4896743" y="5256193"/>
            <a:ext cx="1332101"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 llave gruesa</a:t>
            </a:r>
          </a:p>
        </p:txBody>
      </p:sp>
      <p:sp>
        <p:nvSpPr>
          <p:cNvPr id="47" name="TextBox 46"/>
          <p:cNvSpPr txBox="1"/>
          <p:nvPr/>
        </p:nvSpPr>
        <p:spPr>
          <a:xfrm>
            <a:off x="942975" y="5277148"/>
            <a:ext cx="1262503"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NPX150/INT</a:t>
            </a:r>
          </a:p>
        </p:txBody>
      </p:sp>
      <p:sp>
        <p:nvSpPr>
          <p:cNvPr id="48" name="TextBox 47"/>
          <p:cNvSpPr txBox="1"/>
          <p:nvPr/>
        </p:nvSpPr>
        <p:spPr>
          <a:xfrm>
            <a:off x="942975" y="5628620"/>
            <a:ext cx="1062228"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42 → 1</a:t>
            </a:r>
          </a:p>
        </p:txBody>
      </p:sp>
      <p:sp>
        <p:nvSpPr>
          <p:cNvPr id="49" name="TextBox 48"/>
          <p:cNvSpPr txBox="1"/>
          <p:nvPr/>
        </p:nvSpPr>
        <p:spPr>
          <a:xfrm>
            <a:off x="1123950" y="8579644"/>
            <a:ext cx="4803725" cy="544116"/>
          </a:xfrm>
          <a:prstGeom prst="rect">
            <a:avLst/>
          </a:prstGeom>
          <a:noFill/>
        </p:spPr>
        <p:txBody>
          <a:bodyPr wrap="square" lIns="0" rIns="0" tIns="0" bIns="0" anchor="t">
            <a:spAutoFit/>
          </a:bodyPr>
          <a:lstStyle/>
          <a:p>
            <a:pPr algn="l">
              <a:lnSpc>
                <a:spcPct val="98300"/>
              </a:lnSpc>
            </a:pPr>
            <a:r>
              <a:rPr sz="1725" b="0" i="0">
                <a:solidFill>
                  <a:srgbClr val="F3F7FC"/>
                </a:solidFill>
                <a:latin typeface="Barlow"/>
              </a:rPr>
              <a:t>La división train/test se hace por par, nunca por fila.</a:t>
            </a:r>
          </a:p>
        </p:txBody>
      </p:sp>
      <p:sp>
        <p:nvSpPr>
          <p:cNvPr id="50" name="TextBox 49"/>
          <p:cNvSpPr txBox="1"/>
          <p:nvPr/>
        </p:nvSpPr>
        <p:spPr>
          <a:xfrm>
            <a:off x="6594425" y="2760315"/>
            <a:ext cx="5118050" cy="688032"/>
          </a:xfrm>
          <a:prstGeom prst="rect">
            <a:avLst/>
          </a:prstGeom>
          <a:noFill/>
        </p:spPr>
        <p:txBody>
          <a:bodyPr wrap="square" lIns="0" rIns="0" tIns="0" bIns="0" anchor="t">
            <a:spAutoFit/>
          </a:bodyPr>
          <a:lstStyle/>
          <a:p>
            <a:pPr algn="l">
              <a:lnSpc>
                <a:spcPct val="86700"/>
              </a:lnSpc>
            </a:pPr>
            <a:r>
              <a:rPr sz="2325" b="1" i="0">
                <a:solidFill>
                  <a:srgbClr val="F3F7FC"/>
                </a:solidFill>
                <a:latin typeface="Montserrat"/>
              </a:rPr>
              <a:t>El código vive dentro del texto libre</a:t>
            </a:r>
          </a:p>
        </p:txBody>
      </p:sp>
      <p:sp>
        <p:nvSpPr>
          <p:cNvPr id="51" name="TextBox 50"/>
          <p:cNvSpPr txBox="1"/>
          <p:nvPr/>
        </p:nvSpPr>
        <p:spPr>
          <a:xfrm>
            <a:off x="6594425" y="3801100"/>
            <a:ext cx="2886081"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Títulos con token tipo código</a:t>
            </a:r>
          </a:p>
        </p:txBody>
      </p:sp>
      <p:sp>
        <p:nvSpPr>
          <p:cNvPr id="52" name="TextBox 51"/>
          <p:cNvSpPr txBox="1"/>
          <p:nvPr/>
        </p:nvSpPr>
        <p:spPr>
          <a:xfrm>
            <a:off x="10729020" y="3716328"/>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90,19%</a:t>
            </a:r>
          </a:p>
        </p:txBody>
      </p:sp>
      <p:sp>
        <p:nvSpPr>
          <p:cNvPr id="53" name="TextBox 52"/>
          <p:cNvSpPr txBox="1"/>
          <p:nvPr/>
        </p:nvSpPr>
        <p:spPr>
          <a:xfrm>
            <a:off x="6594425" y="4725025"/>
            <a:ext cx="2367552"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Reproducen el id oficial</a:t>
            </a:r>
          </a:p>
        </p:txBody>
      </p:sp>
      <p:sp>
        <p:nvSpPr>
          <p:cNvPr id="54" name="TextBox 53"/>
          <p:cNvSpPr txBox="1"/>
          <p:nvPr/>
        </p:nvSpPr>
        <p:spPr>
          <a:xfrm>
            <a:off x="10729020" y="4640253"/>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58,97%</a:t>
            </a:r>
          </a:p>
        </p:txBody>
      </p:sp>
      <p:sp>
        <p:nvSpPr>
          <p:cNvPr id="55" name="TextBox 54"/>
          <p:cNvSpPr txBox="1"/>
          <p:nvPr/>
        </p:nvSpPr>
        <p:spPr>
          <a:xfrm>
            <a:off x="6594425" y="5563225"/>
            <a:ext cx="1325511"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Id oficial con</a:t>
            </a:r>
          </a:p>
        </p:txBody>
      </p:sp>
      <p:sp>
        <p:nvSpPr>
          <p:cNvPr id="56" name="TextBox 55"/>
          <p:cNvSpPr txBox="1"/>
          <p:nvPr/>
        </p:nvSpPr>
        <p:spPr>
          <a:xfrm>
            <a:off x="6594425" y="6020425"/>
            <a:ext cx="1862685"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 retailer numérico</a:t>
            </a:r>
          </a:p>
        </p:txBody>
      </p:sp>
      <p:sp>
        <p:nvSpPr>
          <p:cNvPr id="57" name="TextBox 56"/>
          <p:cNvSpPr txBox="1"/>
          <p:nvPr/>
        </p:nvSpPr>
        <p:spPr>
          <a:xfrm>
            <a:off x="9577090" y="5584180"/>
            <a:ext cx="212104"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a:t>
            </a:r>
          </a:p>
        </p:txBody>
      </p:sp>
      <p:sp>
        <p:nvSpPr>
          <p:cNvPr id="58" name="TextBox 57"/>
          <p:cNvSpPr txBox="1"/>
          <p:nvPr/>
        </p:nvSpPr>
        <p:spPr>
          <a:xfrm>
            <a:off x="9577090" y="5935653"/>
            <a:ext cx="2380893"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87,66% · 73,75%</a:t>
            </a:r>
          </a:p>
        </p:txBody>
      </p:sp>
      <p:sp>
        <p:nvSpPr>
          <p:cNvPr id="59" name="TextBox 58"/>
          <p:cNvSpPr txBox="1"/>
          <p:nvPr/>
        </p:nvSpPr>
        <p:spPr>
          <a:xfrm>
            <a:off x="6775400" y="8579644"/>
            <a:ext cx="4803725" cy="544116"/>
          </a:xfrm>
          <a:prstGeom prst="rect">
            <a:avLst/>
          </a:prstGeom>
          <a:noFill/>
        </p:spPr>
        <p:txBody>
          <a:bodyPr wrap="square" lIns="0" rIns="0" tIns="0" bIns="0" anchor="t">
            <a:spAutoFit/>
          </a:bodyPr>
          <a:lstStyle/>
          <a:p>
            <a:pPr algn="l">
              <a:lnSpc>
                <a:spcPct val="98300"/>
              </a:lnSpc>
            </a:pPr>
            <a:r>
              <a:rPr sz="1725" b="0" i="0">
                <a:solidFill>
                  <a:srgbClr val="F3F7FC"/>
                </a:solidFill>
                <a:latin typeface="Barlow"/>
              </a:rPr>
              <a:t>Los identificadores no se comparan como cadenas: se buscan dentro del título.</a:t>
            </a:r>
          </a:p>
        </p:txBody>
      </p:sp>
      <p:sp>
        <p:nvSpPr>
          <p:cNvPr id="60" name="TextBox 59"/>
          <p:cNvSpPr txBox="1"/>
          <p:nvPr/>
        </p:nvSpPr>
        <p:spPr>
          <a:xfrm>
            <a:off x="12245876" y="2760315"/>
            <a:ext cx="5350782" cy="381000"/>
          </a:xfrm>
          <a:prstGeom prst="rect">
            <a:avLst/>
          </a:prstGeom>
          <a:noFill/>
        </p:spPr>
        <p:txBody>
          <a:bodyPr wrap="none" lIns="0" rIns="0" tIns="0" bIns="0" anchor="t">
            <a:spAutoFit/>
          </a:bodyPr>
          <a:lstStyle/>
          <a:p>
            <a:pPr algn="l">
              <a:lnSpc>
                <a:spcPct val="86700"/>
              </a:lnSpc>
            </a:pPr>
            <a:r>
              <a:rPr sz="2325" b="1" i="0">
                <a:solidFill>
                  <a:srgbClr val="F3F7FC"/>
                </a:solidFill>
                <a:latin typeface="Montserrat"/>
              </a:rPr>
              <a:t>Lo que parece ruido es sintaxis</a:t>
            </a:r>
          </a:p>
        </p:txBody>
      </p:sp>
      <p:sp>
        <p:nvSpPr>
          <p:cNvPr id="61" name="TextBox 60"/>
          <p:cNvSpPr txBox="1"/>
          <p:nvPr/>
        </p:nvSpPr>
        <p:spPr>
          <a:xfrm>
            <a:off x="14941451" y="3408343"/>
            <a:ext cx="2690949"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separa variantes de código</a:t>
            </a:r>
          </a:p>
        </p:txBody>
      </p:sp>
      <p:sp>
        <p:nvSpPr>
          <p:cNvPr id="62" name="TextBox 61"/>
          <p:cNvSpPr txBox="1"/>
          <p:nvPr/>
        </p:nvSpPr>
        <p:spPr>
          <a:xfrm>
            <a:off x="12245876" y="3429298"/>
            <a:ext cx="212104" cy="257175"/>
          </a:xfrm>
          <a:prstGeom prst="rect">
            <a:avLst/>
          </a:prstGeom>
          <a:noFill/>
        </p:spPr>
        <p:txBody>
          <a:bodyPr wrap="none" lIns="0" rIns="0" tIns="0" bIns="0" anchor="t">
            <a:spAutoFit/>
          </a:bodyPr>
          <a:lstStyle/>
          <a:p>
            <a:pPr algn="l">
              <a:lnSpc>
                <a:spcPct val="100000"/>
              </a:lnSpc>
            </a:pPr>
            <a:r>
              <a:rPr sz="1419" b="1" i="0">
                <a:solidFill>
                  <a:srgbClr val="FFD21F"/>
                </a:solidFill>
                <a:latin typeface="Roboto Mono"/>
              </a:rPr>
              <a:t>/</a:t>
            </a:r>
          </a:p>
        </p:txBody>
      </p:sp>
      <p:sp>
        <p:nvSpPr>
          <p:cNvPr id="63" name="TextBox 62"/>
          <p:cNvSpPr txBox="1"/>
          <p:nvPr/>
        </p:nvSpPr>
        <p:spPr>
          <a:xfrm>
            <a:off x="12245876" y="3780770"/>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65,70%</a:t>
            </a:r>
          </a:p>
        </p:txBody>
      </p:sp>
      <p:sp>
        <p:nvSpPr>
          <p:cNvPr id="64" name="TextBox 63"/>
          <p:cNvSpPr txBox="1"/>
          <p:nvPr/>
        </p:nvSpPr>
        <p:spPr>
          <a:xfrm>
            <a:off x="12245876" y="4789468"/>
            <a:ext cx="3036046"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Comillas que marcan pulgadas</a:t>
            </a:r>
          </a:p>
        </p:txBody>
      </p:sp>
      <p:sp>
        <p:nvSpPr>
          <p:cNvPr id="65" name="TextBox 64"/>
          <p:cNvSpPr txBox="1"/>
          <p:nvPr/>
        </p:nvSpPr>
        <p:spPr>
          <a:xfrm>
            <a:off x="16380470" y="4704695"/>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11,02%</a:t>
            </a:r>
          </a:p>
        </p:txBody>
      </p:sp>
      <p:sp>
        <p:nvSpPr>
          <p:cNvPr id="66" name="TextBox 65"/>
          <p:cNvSpPr txBox="1"/>
          <p:nvPr/>
        </p:nvSpPr>
        <p:spPr>
          <a:xfrm>
            <a:off x="12245876" y="5713393"/>
            <a:ext cx="2632924" cy="270510"/>
          </a:xfrm>
          <a:prstGeom prst="rect">
            <a:avLst/>
          </a:prstGeom>
          <a:noFill/>
        </p:spPr>
        <p:txBody>
          <a:bodyPr wrap="none" lIns="0" rIns="0" tIns="0" bIns="0" anchor="t">
            <a:spAutoFit/>
          </a:bodyPr>
          <a:lstStyle/>
          <a:p>
            <a:pPr algn="l">
              <a:lnSpc>
                <a:spcPct val="100000"/>
              </a:lnSpc>
            </a:pPr>
            <a:r>
              <a:rPr sz="1650" b="0" i="0">
                <a:solidFill>
                  <a:srgbClr val="9AB3CD"/>
                </a:solidFill>
                <a:latin typeface="Barlow"/>
              </a:rPr>
              <a:t>Texto en alfabeto no latino</a:t>
            </a:r>
          </a:p>
        </p:txBody>
      </p:sp>
      <p:sp>
        <p:nvSpPr>
          <p:cNvPr id="67" name="TextBox 66"/>
          <p:cNvSpPr txBox="1"/>
          <p:nvPr/>
        </p:nvSpPr>
        <p:spPr>
          <a:xfrm>
            <a:off x="16380470" y="5628620"/>
            <a:ext cx="1136809" cy="373380"/>
          </a:xfrm>
          <a:prstGeom prst="rect">
            <a:avLst/>
          </a:prstGeom>
          <a:noFill/>
        </p:spPr>
        <p:txBody>
          <a:bodyPr wrap="none" lIns="0" rIns="0" tIns="0" bIns="0" anchor="t">
            <a:spAutoFit/>
          </a:bodyPr>
          <a:lstStyle/>
          <a:p>
            <a:pPr algn="l">
              <a:lnSpc>
                <a:spcPct val="100000"/>
              </a:lnSpc>
            </a:pPr>
            <a:r>
              <a:rPr sz="2325" b="1" i="0">
                <a:solidFill>
                  <a:srgbClr val="FFD21F"/>
                </a:solidFill>
                <a:latin typeface="Barlow"/>
              </a:rPr>
              <a:t>13,60%</a:t>
            </a:r>
          </a:p>
        </p:txBody>
      </p:sp>
      <p:sp>
        <p:nvSpPr>
          <p:cNvPr id="68" name="TextBox 67"/>
          <p:cNvSpPr txBox="1"/>
          <p:nvPr/>
        </p:nvSpPr>
        <p:spPr>
          <a:xfrm>
            <a:off x="12426851" y="8579644"/>
            <a:ext cx="4803725" cy="544116"/>
          </a:xfrm>
          <a:prstGeom prst="rect">
            <a:avLst/>
          </a:prstGeom>
          <a:noFill/>
        </p:spPr>
        <p:txBody>
          <a:bodyPr wrap="square" lIns="0" rIns="0" tIns="0" bIns="0" anchor="t">
            <a:spAutoFit/>
          </a:bodyPr>
          <a:lstStyle/>
          <a:p>
            <a:pPr algn="l">
              <a:lnSpc>
                <a:spcPct val="98300"/>
              </a:lnSpc>
            </a:pPr>
            <a:r>
              <a:rPr sz="1725" b="0" i="0">
                <a:solidFill>
                  <a:srgbClr val="F3F7FC"/>
                </a:solidFill>
                <a:latin typeface="Barlow"/>
              </a:rPr>
              <a:t>Una limpieza estándar destruiría la señal y borraría mercados enteros.</a:t>
            </a:r>
          </a:p>
        </p:txBody>
      </p:sp>
      <p:sp>
        <p:nvSpPr>
          <p:cNvPr id="69" name="TextBox 68"/>
          <p:cNvSpPr txBox="1"/>
          <p:nvPr/>
        </p:nvSpPr>
        <p:spPr>
          <a:xfrm>
            <a:off x="871686" y="9766935"/>
            <a:ext cx="224475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EXPLORATORIO</a:t>
            </a:r>
          </a:p>
        </p:txBody>
      </p:sp>
      <p:sp>
        <p:nvSpPr>
          <p:cNvPr id="70" name="TextBox 69"/>
          <p:cNvSpPr txBox="1"/>
          <p:nvPr/>
        </p:nvSpPr>
        <p:spPr>
          <a:xfrm>
            <a:off x="662538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22</a:t>
            </a:r>
          </a:p>
        </p:txBody>
      </p:sp>
      <p:sp>
        <p:nvSpPr>
          <p:cNvPr id="71" name="TextBox 70"/>
          <p:cNvSpPr txBox="1"/>
          <p:nvPr/>
        </p:nvSpPr>
        <p:spPr>
          <a:xfrm>
            <a:off x="1388819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46003"/>
            <a:ext cx="16830675" cy="7069485"/>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395788" y="3104852"/>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400550" y="3109615"/>
            <a:ext cx="10858500"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95788" y="4038005"/>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0550" y="4042767"/>
            <a:ext cx="245387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95788" y="4971157"/>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400550" y="4975920"/>
            <a:ext cx="944612"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95788" y="5904309"/>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00550" y="5909072"/>
            <a:ext cx="369094"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95788" y="6837462"/>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400550" y="6842224"/>
            <a:ext cx="16281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395788" y="7770614"/>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400550" y="7775377"/>
            <a:ext cx="97631"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95788" y="8703766"/>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00550" y="8708529"/>
            <a:ext cx="54173"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109912" y="9720262"/>
            <a:ext cx="718661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14675" y="9944100"/>
            <a:ext cx="7177088"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0372725" y="9720262"/>
            <a:ext cx="718661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0377488" y="9944100"/>
            <a:ext cx="95670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1075" y="1663750"/>
            <a:ext cx="4154757"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ANÁLISIS EXPLORATORIO · 02 / 02</a:t>
            </a:r>
          </a:p>
        </p:txBody>
      </p:sp>
      <p:sp>
        <p:nvSpPr>
          <p:cNvPr id="29" name="TextBox 28"/>
          <p:cNvSpPr txBox="1"/>
          <p:nvPr/>
        </p:nvSpPr>
        <p:spPr>
          <a:xfrm>
            <a:off x="981075" y="1885652"/>
            <a:ext cx="898305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Las siete fuentes del corpus, a escala</a:t>
            </a:r>
          </a:p>
        </p:txBody>
      </p:sp>
      <p:sp>
        <p:nvSpPr>
          <p:cNvPr id="30" name="TextBox 29"/>
          <p:cNvSpPr txBox="1"/>
          <p:nvPr/>
        </p:nvSpPr>
        <p:spPr>
          <a:xfrm>
            <a:off x="981075" y="3021062"/>
            <a:ext cx="808911"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Match</a:t>
            </a:r>
          </a:p>
        </p:txBody>
      </p:sp>
      <p:sp>
        <p:nvSpPr>
          <p:cNvPr id="31" name="TextBox 30"/>
          <p:cNvSpPr txBox="1"/>
          <p:nvPr/>
        </p:nvSpPr>
        <p:spPr>
          <a:xfrm>
            <a:off x="981075" y="3302943"/>
            <a:ext cx="2388447"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pares históricos validados</a:t>
            </a:r>
          </a:p>
        </p:txBody>
      </p:sp>
      <p:sp>
        <p:nvSpPr>
          <p:cNvPr id="32" name="TextBox 31"/>
          <p:cNvSpPr txBox="1"/>
          <p:nvPr/>
        </p:nvSpPr>
        <p:spPr>
          <a:xfrm>
            <a:off x="15939141" y="3081040"/>
            <a:ext cx="1367784"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127.093</a:t>
            </a:r>
          </a:p>
        </p:txBody>
      </p:sp>
      <p:sp>
        <p:nvSpPr>
          <p:cNvPr id="33" name="TextBox 32"/>
          <p:cNvSpPr txBox="1"/>
          <p:nvPr/>
        </p:nvSpPr>
        <p:spPr>
          <a:xfrm>
            <a:off x="981075" y="3954214"/>
            <a:ext cx="506891"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NIC</a:t>
            </a:r>
          </a:p>
        </p:txBody>
      </p:sp>
      <p:sp>
        <p:nvSpPr>
          <p:cNvPr id="34" name="TextBox 33"/>
          <p:cNvSpPr txBox="1"/>
          <p:nvPr/>
        </p:nvSpPr>
        <p:spPr>
          <a:xfrm>
            <a:off x="981075" y="4236095"/>
            <a:ext cx="1806107"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no está en catálogo</a:t>
            </a:r>
          </a:p>
        </p:txBody>
      </p:sp>
      <p:sp>
        <p:nvSpPr>
          <p:cNvPr id="35" name="TextBox 34"/>
          <p:cNvSpPr txBox="1"/>
          <p:nvPr/>
        </p:nvSpPr>
        <p:spPr>
          <a:xfrm>
            <a:off x="16135076" y="4014192"/>
            <a:ext cx="1171849"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28.712</a:t>
            </a:r>
          </a:p>
        </p:txBody>
      </p:sp>
      <p:sp>
        <p:nvSpPr>
          <p:cNvPr id="36" name="TextBox 35"/>
          <p:cNvSpPr txBox="1"/>
          <p:nvPr/>
        </p:nvSpPr>
        <p:spPr>
          <a:xfrm>
            <a:off x="981075" y="4887367"/>
            <a:ext cx="92319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Hidden</a:t>
            </a:r>
          </a:p>
        </p:txBody>
      </p:sp>
      <p:sp>
        <p:nvSpPr>
          <p:cNvPr id="37" name="TextBox 36"/>
          <p:cNvSpPr txBox="1"/>
          <p:nvPr/>
        </p:nvSpPr>
        <p:spPr>
          <a:xfrm>
            <a:off x="981075" y="5169247"/>
            <a:ext cx="1926015"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publicación ocultada</a:t>
            </a:r>
          </a:p>
        </p:txBody>
      </p:sp>
      <p:sp>
        <p:nvSpPr>
          <p:cNvPr id="38" name="TextBox 37"/>
          <p:cNvSpPr txBox="1"/>
          <p:nvPr/>
        </p:nvSpPr>
        <p:spPr>
          <a:xfrm>
            <a:off x="16135076" y="4947345"/>
            <a:ext cx="1171849"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11.077</a:t>
            </a:r>
          </a:p>
        </p:txBody>
      </p:sp>
      <p:sp>
        <p:nvSpPr>
          <p:cNvPr id="39" name="TextBox 38"/>
          <p:cNvSpPr txBox="1"/>
          <p:nvPr/>
        </p:nvSpPr>
        <p:spPr>
          <a:xfrm>
            <a:off x="981075" y="5820519"/>
            <a:ext cx="1926979"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Catálogo oficial</a:t>
            </a:r>
          </a:p>
        </p:txBody>
      </p:sp>
      <p:sp>
        <p:nvSpPr>
          <p:cNvPr id="40" name="TextBox 39"/>
          <p:cNvSpPr txBox="1"/>
          <p:nvPr/>
        </p:nvSpPr>
        <p:spPr>
          <a:xfrm>
            <a:off x="981075" y="6102400"/>
            <a:ext cx="1294971"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productos UA</a:t>
            </a:r>
          </a:p>
        </p:txBody>
      </p:sp>
      <p:sp>
        <p:nvSpPr>
          <p:cNvPr id="41" name="TextBox 40"/>
          <p:cNvSpPr txBox="1"/>
          <p:nvPr/>
        </p:nvSpPr>
        <p:spPr>
          <a:xfrm>
            <a:off x="16330851" y="5880497"/>
            <a:ext cx="976074"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4.316</a:t>
            </a:r>
          </a:p>
        </p:txBody>
      </p:sp>
      <p:sp>
        <p:nvSpPr>
          <p:cNvPr id="42" name="TextBox 41"/>
          <p:cNvSpPr txBox="1"/>
          <p:nvPr/>
        </p:nvSpPr>
        <p:spPr>
          <a:xfrm>
            <a:off x="981075" y="6753671"/>
            <a:ext cx="224764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Retailer de prueba</a:t>
            </a:r>
          </a:p>
        </p:txBody>
      </p:sp>
      <p:sp>
        <p:nvSpPr>
          <p:cNvPr id="43" name="TextBox 42"/>
          <p:cNvSpPr txBox="1"/>
          <p:nvPr/>
        </p:nvSpPr>
        <p:spPr>
          <a:xfrm>
            <a:off x="981075" y="7035552"/>
            <a:ext cx="2098643"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gold externo · 14 países</a:t>
            </a:r>
          </a:p>
        </p:txBody>
      </p:sp>
      <p:sp>
        <p:nvSpPr>
          <p:cNvPr id="44" name="TextBox 43"/>
          <p:cNvSpPr txBox="1"/>
          <p:nvPr/>
        </p:nvSpPr>
        <p:spPr>
          <a:xfrm>
            <a:off x="16330851" y="6813649"/>
            <a:ext cx="976074"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1.856</a:t>
            </a:r>
          </a:p>
        </p:txBody>
      </p:sp>
      <p:sp>
        <p:nvSpPr>
          <p:cNvPr id="45" name="TextBox 44"/>
          <p:cNvSpPr txBox="1"/>
          <p:nvPr/>
        </p:nvSpPr>
        <p:spPr>
          <a:xfrm>
            <a:off x="981075" y="7686824"/>
            <a:ext cx="1968127"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Pares negativos</a:t>
            </a:r>
          </a:p>
        </p:txBody>
      </p:sp>
      <p:sp>
        <p:nvSpPr>
          <p:cNvPr id="46" name="TextBox 45"/>
          <p:cNvSpPr txBox="1"/>
          <p:nvPr/>
        </p:nvSpPr>
        <p:spPr>
          <a:xfrm>
            <a:off x="981075" y="7968704"/>
            <a:ext cx="1263789"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800 elegibles</a:t>
            </a:r>
          </a:p>
        </p:txBody>
      </p:sp>
      <p:sp>
        <p:nvSpPr>
          <p:cNvPr id="47" name="TextBox 46"/>
          <p:cNvSpPr txBox="1"/>
          <p:nvPr/>
        </p:nvSpPr>
        <p:spPr>
          <a:xfrm>
            <a:off x="16624030" y="7746802"/>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896</a:t>
            </a:r>
          </a:p>
        </p:txBody>
      </p:sp>
      <p:sp>
        <p:nvSpPr>
          <p:cNvPr id="48" name="TextBox 47"/>
          <p:cNvSpPr txBox="1"/>
          <p:nvPr/>
        </p:nvSpPr>
        <p:spPr>
          <a:xfrm>
            <a:off x="981075" y="8619976"/>
            <a:ext cx="2775335"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Acciones de validación</a:t>
            </a:r>
          </a:p>
        </p:txBody>
      </p:sp>
      <p:sp>
        <p:nvSpPr>
          <p:cNvPr id="49" name="TextBox 48"/>
          <p:cNvSpPr txBox="1"/>
          <p:nvPr/>
        </p:nvSpPr>
        <p:spPr>
          <a:xfrm>
            <a:off x="981075" y="8901857"/>
            <a:ext cx="2546288"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decisión humana registrada</a:t>
            </a:r>
          </a:p>
        </p:txBody>
      </p:sp>
      <p:sp>
        <p:nvSpPr>
          <p:cNvPr id="50" name="TextBox 49"/>
          <p:cNvSpPr txBox="1"/>
          <p:nvPr/>
        </p:nvSpPr>
        <p:spPr>
          <a:xfrm>
            <a:off x="16624030" y="8679954"/>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180</a:t>
            </a:r>
          </a:p>
        </p:txBody>
      </p:sp>
      <p:sp>
        <p:nvSpPr>
          <p:cNvPr id="51" name="TextBox 50"/>
          <p:cNvSpPr txBox="1"/>
          <p:nvPr/>
        </p:nvSpPr>
        <p:spPr>
          <a:xfrm>
            <a:off x="871686" y="9766935"/>
            <a:ext cx="2244751"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ANÁLISIS EXPLORATORIO</a:t>
            </a:r>
          </a:p>
        </p:txBody>
      </p:sp>
      <p:sp>
        <p:nvSpPr>
          <p:cNvPr id="52" name="TextBox 51"/>
          <p:cNvSpPr txBox="1"/>
          <p:nvPr/>
        </p:nvSpPr>
        <p:spPr>
          <a:xfrm>
            <a:off x="662538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22</a:t>
            </a:r>
          </a:p>
        </p:txBody>
      </p:sp>
      <p:sp>
        <p:nvSpPr>
          <p:cNvPr id="53" name="TextBox 52"/>
          <p:cNvSpPr txBox="1"/>
          <p:nvPr/>
        </p:nvSpPr>
        <p:spPr>
          <a:xfrm>
            <a:off x="13888194"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3178076"/>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8662" y="4486424"/>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8662" y="5794772"/>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8662" y="7103120"/>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8662" y="8411468"/>
            <a:ext cx="3228975" cy="53340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086225" y="2512665"/>
            <a:ext cx="10115550" cy="7098060"/>
          </a:xfrm>
          <a:prstGeom prst="rect">
            <a:avLst/>
          </a:prstGeom>
          <a:solidFill>
            <a:srgbClr val="0B5EA8">
              <a:alpha val="2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48162" y="54892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767512" y="54892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186862" y="54892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606212" y="54892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348162" y="60607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767512" y="60607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186862" y="60607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1606212" y="6060728"/>
            <a:ext cx="2333625" cy="485775"/>
          </a:xfrm>
          <a:prstGeom prst="rect">
            <a:avLst/>
          </a:prstGeom>
          <a:solidFill>
            <a:srgbClr val="07172D">
              <a:alpha val="80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4330362" y="3132088"/>
            <a:ext cx="3228975" cy="533400"/>
          </a:xfrm>
          <a:prstGeom prst="rect">
            <a:avLst/>
          </a:prstGeom>
          <a:solidFill>
            <a:srgbClr val="0D2748">
              <a:alpha val="8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4330362" y="4394448"/>
            <a:ext cx="3228975" cy="533400"/>
          </a:xfrm>
          <a:prstGeom prst="rect">
            <a:avLst/>
          </a:prstGeom>
          <a:solidFill>
            <a:srgbClr val="0D2748">
              <a:alpha val="8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330362" y="5656808"/>
            <a:ext cx="3228975" cy="533400"/>
          </a:xfrm>
          <a:prstGeom prst="rect">
            <a:avLst/>
          </a:prstGeom>
          <a:solidFill>
            <a:srgbClr val="0D2748">
              <a:alpha val="8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4330362" y="6919168"/>
            <a:ext cx="3228975" cy="533400"/>
          </a:xfrm>
          <a:prstGeom prst="rect">
            <a:avLst/>
          </a:prstGeom>
          <a:solidFill>
            <a:srgbClr val="0D2748">
              <a:alpha val="8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4330362" y="8181529"/>
            <a:ext cx="3228975" cy="809625"/>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09912"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14675"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81075" y="1663750"/>
            <a:ext cx="581096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PIPELINE DE PROCESAMIENTO TEXTUAL · 01 / 03</a:t>
            </a:r>
          </a:p>
        </p:txBody>
      </p:sp>
      <p:sp>
        <p:nvSpPr>
          <p:cNvPr id="33" name="TextBox 32"/>
          <p:cNvSpPr txBox="1"/>
          <p:nvPr/>
        </p:nvSpPr>
        <p:spPr>
          <a:xfrm>
            <a:off x="981075" y="1885652"/>
            <a:ext cx="7492889"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Cinco fuentes, un solo pipeline</a:t>
            </a:r>
          </a:p>
        </p:txBody>
      </p:sp>
      <p:sp>
        <p:nvSpPr>
          <p:cNvPr id="34" name="TextBox 33"/>
          <p:cNvSpPr txBox="1"/>
          <p:nvPr/>
        </p:nvSpPr>
        <p:spPr>
          <a:xfrm>
            <a:off x="1412617" y="3306663"/>
            <a:ext cx="1860917"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prepare_match</a:t>
            </a:r>
          </a:p>
        </p:txBody>
      </p:sp>
      <p:sp>
        <p:nvSpPr>
          <p:cNvPr id="35" name="TextBox 34"/>
          <p:cNvSpPr txBox="1"/>
          <p:nvPr/>
        </p:nvSpPr>
        <p:spPr>
          <a:xfrm>
            <a:off x="1344781" y="4615011"/>
            <a:ext cx="1996738"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prepare_hidden</a:t>
            </a:r>
          </a:p>
        </p:txBody>
      </p:sp>
      <p:sp>
        <p:nvSpPr>
          <p:cNvPr id="36" name="TextBox 35"/>
          <p:cNvSpPr txBox="1"/>
          <p:nvPr/>
        </p:nvSpPr>
        <p:spPr>
          <a:xfrm>
            <a:off x="1548438" y="5923359"/>
            <a:ext cx="1589276"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prepare_nic</a:t>
            </a:r>
          </a:p>
        </p:txBody>
      </p:sp>
      <p:sp>
        <p:nvSpPr>
          <p:cNvPr id="37" name="TextBox 36"/>
          <p:cNvSpPr txBox="1"/>
          <p:nvPr/>
        </p:nvSpPr>
        <p:spPr>
          <a:xfrm>
            <a:off x="1276796" y="7231707"/>
            <a:ext cx="2132558"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prepare_catalog</a:t>
            </a:r>
          </a:p>
        </p:txBody>
      </p:sp>
      <p:sp>
        <p:nvSpPr>
          <p:cNvPr id="38" name="TextBox 37"/>
          <p:cNvSpPr txBox="1"/>
          <p:nvPr/>
        </p:nvSpPr>
        <p:spPr>
          <a:xfrm>
            <a:off x="801505" y="8540055"/>
            <a:ext cx="3083141" cy="295275"/>
          </a:xfrm>
          <a:prstGeom prst="rect">
            <a:avLst/>
          </a:prstGeom>
          <a:noFill/>
        </p:spPr>
        <p:txBody>
          <a:bodyPr wrap="none" lIns="0" rIns="0" tIns="0" bIns="0" anchor="t">
            <a:spAutoFit/>
          </a:bodyPr>
          <a:lstStyle/>
          <a:p>
            <a:pPr algn="ctr">
              <a:lnSpc>
                <a:spcPct val="100000"/>
              </a:lnSpc>
            </a:pPr>
            <a:r>
              <a:rPr sz="1650" b="1" i="0">
                <a:solidFill>
                  <a:srgbClr val="F3F7FC"/>
                </a:solidFill>
                <a:latin typeface="Roboto Mono"/>
              </a:rPr>
              <a:t>prepare_retailer_input</a:t>
            </a:r>
          </a:p>
        </p:txBody>
      </p:sp>
      <p:sp>
        <p:nvSpPr>
          <p:cNvPr id="39" name="TextBox 38"/>
          <p:cNvSpPr txBox="1"/>
          <p:nvPr/>
        </p:nvSpPr>
        <p:spPr>
          <a:xfrm>
            <a:off x="6745962" y="3822353"/>
            <a:ext cx="4795927" cy="400050"/>
          </a:xfrm>
          <a:prstGeom prst="rect">
            <a:avLst/>
          </a:prstGeom>
          <a:noFill/>
        </p:spPr>
        <p:txBody>
          <a:bodyPr wrap="none" lIns="0" rIns="0" tIns="0" bIns="0" anchor="t">
            <a:spAutoFit/>
          </a:bodyPr>
          <a:lstStyle/>
          <a:p>
            <a:pPr algn="ctr">
              <a:lnSpc>
                <a:spcPct val="100000"/>
              </a:lnSpc>
            </a:pPr>
            <a:r>
              <a:rPr sz="2475" b="1" i="0">
                <a:solidFill>
                  <a:srgbClr val="FFD21F"/>
                </a:solidFill>
                <a:latin typeface="Montserrat"/>
              </a:rPr>
              <a:t>El pipeline genérico único</a:t>
            </a:r>
          </a:p>
        </p:txBody>
      </p:sp>
      <p:sp>
        <p:nvSpPr>
          <p:cNvPr id="40" name="TextBox 39"/>
          <p:cNvSpPr txBox="1"/>
          <p:nvPr/>
        </p:nvSpPr>
        <p:spPr>
          <a:xfrm>
            <a:off x="5035141" y="5608290"/>
            <a:ext cx="959519"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as_text</a:t>
            </a:r>
          </a:p>
        </p:txBody>
      </p:sp>
      <p:sp>
        <p:nvSpPr>
          <p:cNvPr id="41" name="TextBox 40"/>
          <p:cNvSpPr txBox="1"/>
          <p:nvPr/>
        </p:nvSpPr>
        <p:spPr>
          <a:xfrm>
            <a:off x="7207597" y="5608290"/>
            <a:ext cx="1453455"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decode_html</a:t>
            </a:r>
          </a:p>
        </p:txBody>
      </p:sp>
      <p:sp>
        <p:nvSpPr>
          <p:cNvPr id="42" name="TextBox 41"/>
          <p:cNvSpPr txBox="1"/>
          <p:nvPr/>
        </p:nvSpPr>
        <p:spPr>
          <a:xfrm>
            <a:off x="9256460" y="5608290"/>
            <a:ext cx="2194280"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normalize_unicode</a:t>
            </a:r>
          </a:p>
        </p:txBody>
      </p:sp>
      <p:sp>
        <p:nvSpPr>
          <p:cNvPr id="43" name="TextBox 42"/>
          <p:cNvSpPr txBox="1"/>
          <p:nvPr/>
        </p:nvSpPr>
        <p:spPr>
          <a:xfrm>
            <a:off x="11552664" y="5608290"/>
            <a:ext cx="2441168"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normalize_technical</a:t>
            </a:r>
          </a:p>
        </p:txBody>
      </p:sp>
      <p:sp>
        <p:nvSpPr>
          <p:cNvPr id="44" name="TextBox 43"/>
          <p:cNvSpPr txBox="1"/>
          <p:nvPr/>
        </p:nvSpPr>
        <p:spPr>
          <a:xfrm>
            <a:off x="4664803" y="6179790"/>
            <a:ext cx="1700343"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extract_codes</a:t>
            </a:r>
          </a:p>
        </p:txBody>
      </p:sp>
      <p:sp>
        <p:nvSpPr>
          <p:cNvPr id="45" name="TextBox 44"/>
          <p:cNvSpPr txBox="1"/>
          <p:nvPr/>
        </p:nvSpPr>
        <p:spPr>
          <a:xfrm>
            <a:off x="6837110" y="6179790"/>
            <a:ext cx="2194280"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canonicalize_code</a:t>
            </a:r>
          </a:p>
        </p:txBody>
      </p:sp>
      <p:sp>
        <p:nvSpPr>
          <p:cNvPr id="46" name="TextBox 45"/>
          <p:cNvSpPr txBox="1"/>
          <p:nvPr/>
        </p:nvSpPr>
        <p:spPr>
          <a:xfrm>
            <a:off x="9503503" y="6179790"/>
            <a:ext cx="1700343"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quality_flags</a:t>
            </a:r>
          </a:p>
        </p:txBody>
      </p:sp>
      <p:sp>
        <p:nvSpPr>
          <p:cNvPr id="47" name="TextBox 46"/>
          <p:cNvSpPr txBox="1"/>
          <p:nvPr/>
        </p:nvSpPr>
        <p:spPr>
          <a:xfrm>
            <a:off x="11675810" y="6179790"/>
            <a:ext cx="2194280" cy="266700"/>
          </a:xfrm>
          <a:prstGeom prst="rect">
            <a:avLst/>
          </a:prstGeom>
          <a:noFill/>
        </p:spPr>
        <p:txBody>
          <a:bodyPr wrap="none" lIns="0" rIns="0" tIns="0" bIns="0" anchor="t">
            <a:spAutoFit/>
          </a:bodyPr>
          <a:lstStyle/>
          <a:p>
            <a:pPr algn="ctr">
              <a:lnSpc>
                <a:spcPct val="100000"/>
              </a:lnSpc>
            </a:pPr>
            <a:r>
              <a:rPr sz="1500" b="1" i="0">
                <a:solidFill>
                  <a:srgbClr val="F3F7FC"/>
                </a:solidFill>
                <a:latin typeface="Roboto Mono"/>
              </a:rPr>
              <a:t>19 pasos · v1.3.1</a:t>
            </a:r>
          </a:p>
        </p:txBody>
      </p:sp>
      <p:sp>
        <p:nvSpPr>
          <p:cNvPr id="48" name="TextBox 47"/>
          <p:cNvSpPr txBox="1"/>
          <p:nvPr/>
        </p:nvSpPr>
        <p:spPr>
          <a:xfrm>
            <a:off x="4343400" y="7765703"/>
            <a:ext cx="9620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Lo único propio de cada fuente es qué columnas leer. De ahí en adelante, las mismas funciones — eso elimina el </a:t>
            </a:r>
            <a:r>
              <a:rPr sz="1725" b="0" i="1">
                <a:solidFill>
                  <a:srgbClr val="9AB3CD"/>
                </a:solidFill>
                <a:latin typeface="Barlow"/>
              </a:rPr>
              <a:t>training-serving skew</a:t>
            </a:r>
            <a:r>
              <a:rPr sz="1725" b="0" i="0">
                <a:solidFill>
                  <a:srgbClr val="9AB3CD"/>
                </a:solidFill>
                <a:latin typeface="Barlow"/>
              </a:rPr>
              <a:t>.</a:t>
            </a:r>
          </a:p>
        </p:txBody>
      </p:sp>
      <p:sp>
        <p:nvSpPr>
          <p:cNvPr id="49" name="TextBox 48"/>
          <p:cNvSpPr txBox="1"/>
          <p:nvPr/>
        </p:nvSpPr>
        <p:spPr>
          <a:xfrm>
            <a:off x="15489763" y="3260675"/>
            <a:ext cx="910173" cy="295275"/>
          </a:xfrm>
          <a:prstGeom prst="rect">
            <a:avLst/>
          </a:prstGeom>
          <a:noFill/>
        </p:spPr>
        <p:txBody>
          <a:bodyPr wrap="none" lIns="0" rIns="0" tIns="0" bIns="0" anchor="t">
            <a:spAutoFit/>
          </a:bodyPr>
          <a:lstStyle/>
          <a:p>
            <a:pPr algn="ctr">
              <a:lnSpc>
                <a:spcPct val="100000"/>
              </a:lnSpc>
            </a:pPr>
            <a:r>
              <a:rPr sz="1650" b="1" i="0">
                <a:solidFill>
                  <a:srgbClr val="FFD21F"/>
                </a:solidFill>
                <a:latin typeface="Roboto Mono"/>
              </a:rPr>
              <a:t>*_text</a:t>
            </a:r>
          </a:p>
        </p:txBody>
      </p:sp>
      <p:sp>
        <p:nvSpPr>
          <p:cNvPr id="50" name="TextBox 49"/>
          <p:cNvSpPr txBox="1"/>
          <p:nvPr/>
        </p:nvSpPr>
        <p:spPr>
          <a:xfrm>
            <a:off x="15421779" y="4523036"/>
            <a:ext cx="1045994" cy="295275"/>
          </a:xfrm>
          <a:prstGeom prst="rect">
            <a:avLst/>
          </a:prstGeom>
          <a:noFill/>
        </p:spPr>
        <p:txBody>
          <a:bodyPr wrap="none" lIns="0" rIns="0" tIns="0" bIns="0" anchor="t">
            <a:spAutoFit/>
          </a:bodyPr>
          <a:lstStyle/>
          <a:p>
            <a:pPr algn="ctr">
              <a:lnSpc>
                <a:spcPct val="100000"/>
              </a:lnSpc>
            </a:pPr>
            <a:r>
              <a:rPr sz="1650" b="1" i="0">
                <a:solidFill>
                  <a:srgbClr val="FFD21F"/>
                </a:solidFill>
                <a:latin typeface="Roboto Mono"/>
              </a:rPr>
              <a:t>*_codes</a:t>
            </a:r>
          </a:p>
        </p:txBody>
      </p:sp>
      <p:sp>
        <p:nvSpPr>
          <p:cNvPr id="51" name="TextBox 50"/>
          <p:cNvSpPr txBox="1"/>
          <p:nvPr/>
        </p:nvSpPr>
        <p:spPr>
          <a:xfrm>
            <a:off x="15014317" y="5785396"/>
            <a:ext cx="1860917" cy="295275"/>
          </a:xfrm>
          <a:prstGeom prst="rect">
            <a:avLst/>
          </a:prstGeom>
          <a:noFill/>
        </p:spPr>
        <p:txBody>
          <a:bodyPr wrap="none" lIns="0" rIns="0" tIns="0" bIns="0" anchor="t">
            <a:spAutoFit/>
          </a:bodyPr>
          <a:lstStyle/>
          <a:p>
            <a:pPr algn="ctr">
              <a:lnSpc>
                <a:spcPct val="100000"/>
              </a:lnSpc>
            </a:pPr>
            <a:r>
              <a:rPr sz="1650" b="1" i="0">
                <a:solidFill>
                  <a:srgbClr val="FFD21F"/>
                </a:solidFill>
                <a:latin typeface="Roboto Mono"/>
              </a:rPr>
              <a:t>*_token_count</a:t>
            </a:r>
          </a:p>
        </p:txBody>
      </p:sp>
      <p:sp>
        <p:nvSpPr>
          <p:cNvPr id="52" name="TextBox 51"/>
          <p:cNvSpPr txBox="1"/>
          <p:nvPr/>
        </p:nvSpPr>
        <p:spPr>
          <a:xfrm>
            <a:off x="14607010" y="7047756"/>
            <a:ext cx="2675680" cy="295275"/>
          </a:xfrm>
          <a:prstGeom prst="rect">
            <a:avLst/>
          </a:prstGeom>
          <a:noFill/>
        </p:spPr>
        <p:txBody>
          <a:bodyPr wrap="none" lIns="0" rIns="0" tIns="0" bIns="0" anchor="t">
            <a:spAutoFit/>
          </a:bodyPr>
          <a:lstStyle/>
          <a:p>
            <a:pPr algn="ctr">
              <a:lnSpc>
                <a:spcPct val="100000"/>
              </a:lnSpc>
            </a:pPr>
            <a:r>
              <a:rPr sz="1650" b="1" i="0">
                <a:solidFill>
                  <a:srgbClr val="FFD21F"/>
                </a:solidFill>
                <a:latin typeface="Roboto Mono"/>
              </a:rPr>
              <a:t>banderas de calidad</a:t>
            </a:r>
          </a:p>
        </p:txBody>
      </p:sp>
      <p:sp>
        <p:nvSpPr>
          <p:cNvPr id="53" name="TextBox 52"/>
          <p:cNvSpPr txBox="1"/>
          <p:nvPr/>
        </p:nvSpPr>
        <p:spPr>
          <a:xfrm>
            <a:off x="14487525" y="8310116"/>
            <a:ext cx="2933700" cy="571500"/>
          </a:xfrm>
          <a:prstGeom prst="rect">
            <a:avLst/>
          </a:prstGeom>
          <a:noFill/>
        </p:spPr>
        <p:txBody>
          <a:bodyPr wrap="square" lIns="0" rIns="0" tIns="0" bIns="0" anchor="t">
            <a:spAutoFit/>
          </a:bodyPr>
          <a:lstStyle/>
          <a:p>
            <a:pPr algn="ctr">
              <a:lnSpc>
                <a:spcPct val="100000"/>
              </a:lnSpc>
            </a:pPr>
            <a:r>
              <a:rPr sz="1650" b="1" i="0">
                <a:solidFill>
                  <a:srgbClr val="F3F7FC"/>
                </a:solidFill>
                <a:latin typeface="Roboto Mono"/>
              </a:rPr>
              <a:t>127.093 × 53 · 33,14 MiB</a:t>
            </a:r>
          </a:p>
        </p:txBody>
      </p:sp>
      <p:sp>
        <p:nvSpPr>
          <p:cNvPr id="54" name="TextBox 53"/>
          <p:cNvSpPr txBox="1"/>
          <p:nvPr/>
        </p:nvSpPr>
        <p:spPr>
          <a:xfrm>
            <a:off x="1117253" y="9766935"/>
            <a:ext cx="17144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PIPELINE TEXTUAL</a:t>
            </a:r>
          </a:p>
        </p:txBody>
      </p:sp>
      <p:sp>
        <p:nvSpPr>
          <p:cNvPr id="55" name="TextBox 54"/>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24</a:t>
            </a:r>
          </a:p>
        </p:txBody>
      </p:sp>
      <p:sp>
        <p:nvSpPr>
          <p:cNvPr id="56" name="TextBox 55"/>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25</a:t>
            </a:r>
          </a:p>
        </p:txBody>
      </p:sp>
      <p:sp>
        <p:nvSpPr>
          <p:cNvPr id="57" name="TextBox 56"/>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7107585"/>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81075" y="2959596"/>
            <a:ext cx="16325850" cy="1057275"/>
          </a:xfrm>
          <a:prstGeom prst="rect">
            <a:avLst/>
          </a:prstGeom>
          <a:solidFill>
            <a:srgbClr val="07172D">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81075" y="2959596"/>
            <a:ext cx="57150" cy="10572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81075" y="4444752"/>
            <a:ext cx="16325850" cy="1057275"/>
          </a:xfrm>
          <a:prstGeom prst="rect">
            <a:avLst/>
          </a:prstGeom>
          <a:solidFill>
            <a:srgbClr val="07172D">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81075" y="4444752"/>
            <a:ext cx="57150" cy="10572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81075" y="5929908"/>
            <a:ext cx="16325850" cy="1057275"/>
          </a:xfrm>
          <a:prstGeom prst="rect">
            <a:avLst/>
          </a:prstGeom>
          <a:solidFill>
            <a:srgbClr val="07172D">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81075" y="5929908"/>
            <a:ext cx="57150" cy="10572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81075" y="7415064"/>
            <a:ext cx="16325850" cy="1057275"/>
          </a:xfrm>
          <a:prstGeom prst="rect">
            <a:avLst/>
          </a:prstGeom>
          <a:solidFill>
            <a:srgbClr val="07172D">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81075" y="7415064"/>
            <a:ext cx="57150" cy="10572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951738" y="9720262"/>
            <a:ext cx="47656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956500" y="9944100"/>
            <a:ext cx="570732"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793563" y="9720262"/>
            <a:ext cx="4765774"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81075" y="1663750"/>
            <a:ext cx="585998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PIPELINE DE PROCESAMIENTO TEXTUAL · 02 / 03</a:t>
            </a:r>
          </a:p>
        </p:txBody>
      </p:sp>
      <p:sp>
        <p:nvSpPr>
          <p:cNvPr id="24" name="TextBox 23"/>
          <p:cNvSpPr txBox="1"/>
          <p:nvPr/>
        </p:nvSpPr>
        <p:spPr>
          <a:xfrm>
            <a:off x="981075" y="1885652"/>
            <a:ext cx="8958465"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Un título real atravesando el pipeline</a:t>
            </a:r>
          </a:p>
        </p:txBody>
      </p:sp>
      <p:sp>
        <p:nvSpPr>
          <p:cNvPr id="25" name="TextBox 24"/>
          <p:cNvSpPr txBox="1"/>
          <p:nvPr/>
        </p:nvSpPr>
        <p:spPr>
          <a:xfrm>
            <a:off x="1209675" y="3235821"/>
            <a:ext cx="907280" cy="295275"/>
          </a:xfrm>
          <a:prstGeom prst="rect">
            <a:avLst/>
          </a:prstGeom>
          <a:noFill/>
        </p:spPr>
        <p:txBody>
          <a:bodyPr wrap="none" lIns="0" rIns="0" tIns="0" bIns="0" anchor="t">
            <a:spAutoFit/>
          </a:bodyPr>
          <a:lstStyle/>
          <a:p>
            <a:pPr algn="l">
              <a:lnSpc>
                <a:spcPct val="100000"/>
              </a:lnSpc>
            </a:pPr>
            <a:r>
              <a:rPr sz="1800" b="1" i="0" spc="72">
                <a:solidFill>
                  <a:srgbClr val="F3F7FC"/>
                </a:solidFill>
                <a:latin typeface="Barlow"/>
              </a:rPr>
              <a:t>CRUDO</a:t>
            </a:r>
          </a:p>
        </p:txBody>
      </p:sp>
      <p:sp>
        <p:nvSpPr>
          <p:cNvPr id="26" name="TextBox 25"/>
          <p:cNvSpPr txBox="1"/>
          <p:nvPr/>
        </p:nvSpPr>
        <p:spPr>
          <a:xfrm>
            <a:off x="1209675" y="3512046"/>
            <a:ext cx="1920389" cy="247650"/>
          </a:xfrm>
          <a:prstGeom prst="rect">
            <a:avLst/>
          </a:prstGeom>
          <a:noFill/>
        </p:spPr>
        <p:txBody>
          <a:bodyPr wrap="none" lIns="0" rIns="0" tIns="0" bIns="0" anchor="t">
            <a:spAutoFit/>
          </a:bodyPr>
          <a:lstStyle/>
          <a:p>
            <a:pPr algn="l">
              <a:lnSpc>
                <a:spcPct val="100000"/>
              </a:lnSpc>
            </a:pPr>
            <a:r>
              <a:rPr sz="1500" b="0" i="0">
                <a:solidFill>
                  <a:srgbClr val="9AB3CD"/>
                </a:solidFill>
                <a:latin typeface="Barlow"/>
              </a:rPr>
              <a:t>como llega del portal</a:t>
            </a:r>
          </a:p>
        </p:txBody>
      </p:sp>
      <p:sp>
        <p:nvSpPr>
          <p:cNvPr id="27" name="TextBox 26"/>
          <p:cNvSpPr txBox="1"/>
          <p:nvPr/>
        </p:nvSpPr>
        <p:spPr>
          <a:xfrm>
            <a:off x="4276725" y="3321546"/>
            <a:ext cx="7595759" cy="352425"/>
          </a:xfrm>
          <a:prstGeom prst="rect">
            <a:avLst/>
          </a:prstGeom>
          <a:noFill/>
        </p:spPr>
        <p:txBody>
          <a:bodyPr wrap="none" lIns="0" rIns="0" tIns="0" bIns="0" anchor="t">
            <a:spAutoFit/>
          </a:bodyPr>
          <a:lstStyle/>
          <a:p>
            <a:pPr algn="l">
              <a:lnSpc>
                <a:spcPct val="100000"/>
              </a:lnSpc>
            </a:pPr>
            <a:r>
              <a:rPr sz="2025" b="1" i="0">
                <a:solidFill>
                  <a:srgbClr val="F3F7FC"/>
                </a:solidFill>
                <a:latin typeface="Roboto Mono"/>
              </a:rPr>
              <a:t>Philips — P21 / 5W | GU 10; 12 V; 4000 K; 55"</a:t>
            </a:r>
          </a:p>
        </p:txBody>
      </p:sp>
      <p:sp>
        <p:nvSpPr>
          <p:cNvPr id="28" name="TextBox 27"/>
          <p:cNvSpPr txBox="1"/>
          <p:nvPr/>
        </p:nvSpPr>
        <p:spPr>
          <a:xfrm>
            <a:off x="1209675" y="4720977"/>
            <a:ext cx="1846290" cy="295275"/>
          </a:xfrm>
          <a:prstGeom prst="rect">
            <a:avLst/>
          </a:prstGeom>
          <a:noFill/>
        </p:spPr>
        <p:txBody>
          <a:bodyPr wrap="none" lIns="0" rIns="0" tIns="0" bIns="0" anchor="t">
            <a:spAutoFit/>
          </a:bodyPr>
          <a:lstStyle/>
          <a:p>
            <a:pPr algn="l">
              <a:lnSpc>
                <a:spcPct val="100000"/>
              </a:lnSpc>
            </a:pPr>
            <a:r>
              <a:rPr sz="1800" b="1" i="0" spc="72">
                <a:solidFill>
                  <a:srgbClr val="F3F7FC"/>
                </a:solidFill>
                <a:latin typeface="Barlow"/>
              </a:rPr>
              <a:t>UNICODE NFKC</a:t>
            </a:r>
          </a:p>
        </p:txBody>
      </p:sp>
      <p:sp>
        <p:nvSpPr>
          <p:cNvPr id="29" name="TextBox 28"/>
          <p:cNvSpPr txBox="1"/>
          <p:nvPr/>
        </p:nvSpPr>
        <p:spPr>
          <a:xfrm>
            <a:off x="1209675" y="4997202"/>
            <a:ext cx="986522" cy="247650"/>
          </a:xfrm>
          <a:prstGeom prst="rect">
            <a:avLst/>
          </a:prstGeom>
          <a:noFill/>
        </p:spPr>
        <p:txBody>
          <a:bodyPr wrap="none" lIns="0" rIns="0" tIns="0" bIns="0" anchor="t">
            <a:spAutoFit/>
          </a:bodyPr>
          <a:lstStyle/>
          <a:p>
            <a:pPr algn="l">
              <a:lnSpc>
                <a:spcPct val="100000"/>
              </a:lnSpc>
            </a:pPr>
            <a:r>
              <a:rPr sz="1500" b="0" i="0">
                <a:solidFill>
                  <a:srgbClr val="9AB3CD"/>
                </a:solidFill>
                <a:latin typeface="Barlow"/>
              </a:rPr>
              <a:t>+ casefold</a:t>
            </a:r>
          </a:p>
        </p:txBody>
      </p:sp>
      <p:sp>
        <p:nvSpPr>
          <p:cNvPr id="30" name="TextBox 29"/>
          <p:cNvSpPr txBox="1"/>
          <p:nvPr/>
        </p:nvSpPr>
        <p:spPr>
          <a:xfrm>
            <a:off x="4276725" y="4806702"/>
            <a:ext cx="7595759" cy="352425"/>
          </a:xfrm>
          <a:prstGeom prst="rect">
            <a:avLst/>
          </a:prstGeom>
          <a:noFill/>
        </p:spPr>
        <p:txBody>
          <a:bodyPr wrap="none" lIns="0" rIns="0" tIns="0" bIns="0" anchor="t">
            <a:spAutoFit/>
          </a:bodyPr>
          <a:lstStyle/>
          <a:p>
            <a:pPr algn="l">
              <a:lnSpc>
                <a:spcPct val="100000"/>
              </a:lnSpc>
            </a:pPr>
            <a:r>
              <a:rPr sz="2025" b="1" i="0">
                <a:solidFill>
                  <a:srgbClr val="F3F7FC"/>
                </a:solidFill>
                <a:latin typeface="Roboto Mono"/>
              </a:rPr>
              <a:t>philips — p21 / 5w | gu 10; 12 v; 4000 k; 55"</a:t>
            </a:r>
          </a:p>
        </p:txBody>
      </p:sp>
      <p:sp>
        <p:nvSpPr>
          <p:cNvPr id="31" name="TextBox 30"/>
          <p:cNvSpPr txBox="1"/>
          <p:nvPr/>
        </p:nvSpPr>
        <p:spPr>
          <a:xfrm>
            <a:off x="1209675" y="6206133"/>
            <a:ext cx="3179743" cy="295275"/>
          </a:xfrm>
          <a:prstGeom prst="rect">
            <a:avLst/>
          </a:prstGeom>
          <a:noFill/>
        </p:spPr>
        <p:txBody>
          <a:bodyPr wrap="none" lIns="0" rIns="0" tIns="0" bIns="0" anchor="t">
            <a:spAutoFit/>
          </a:bodyPr>
          <a:lstStyle/>
          <a:p>
            <a:pPr algn="l">
              <a:lnSpc>
                <a:spcPct val="100000"/>
              </a:lnSpc>
            </a:pPr>
            <a:r>
              <a:rPr sz="1800" b="1" i="0" spc="72">
                <a:solidFill>
                  <a:srgbClr val="F3F7FC"/>
                </a:solidFill>
                <a:latin typeface="Barlow"/>
              </a:rPr>
              <a:t>NORMALIZACIÓN TÉCNICA</a:t>
            </a:r>
          </a:p>
        </p:txBody>
      </p:sp>
      <p:sp>
        <p:nvSpPr>
          <p:cNvPr id="32" name="TextBox 31"/>
          <p:cNvSpPr txBox="1"/>
          <p:nvPr/>
        </p:nvSpPr>
        <p:spPr>
          <a:xfrm>
            <a:off x="1209675" y="6482358"/>
            <a:ext cx="1885831" cy="247650"/>
          </a:xfrm>
          <a:prstGeom prst="rect">
            <a:avLst/>
          </a:prstGeom>
          <a:noFill/>
        </p:spPr>
        <p:txBody>
          <a:bodyPr wrap="none" lIns="0" rIns="0" tIns="0" bIns="0" anchor="t">
            <a:spAutoFit/>
          </a:bodyPr>
          <a:lstStyle/>
          <a:p>
            <a:pPr algn="l">
              <a:lnSpc>
                <a:spcPct val="100000"/>
              </a:lnSpc>
            </a:pPr>
            <a:r>
              <a:rPr sz="1500" b="0" i="0">
                <a:solidFill>
                  <a:srgbClr val="9AB3CD"/>
                </a:solidFill>
                <a:latin typeface="Barlow"/>
              </a:rPr>
              <a:t>10 reglas de dominio</a:t>
            </a:r>
          </a:p>
        </p:txBody>
      </p:sp>
      <p:sp>
        <p:nvSpPr>
          <p:cNvPr id="33" name="TextBox 32"/>
          <p:cNvSpPr txBox="1"/>
          <p:nvPr/>
        </p:nvSpPr>
        <p:spPr>
          <a:xfrm>
            <a:off x="4276725" y="6291858"/>
            <a:ext cx="5595580" cy="352425"/>
          </a:xfrm>
          <a:prstGeom prst="rect">
            <a:avLst/>
          </a:prstGeom>
          <a:noFill/>
        </p:spPr>
        <p:txBody>
          <a:bodyPr wrap="none" lIns="0" rIns="0" tIns="0" bIns="0" anchor="t">
            <a:spAutoFit/>
          </a:bodyPr>
          <a:lstStyle/>
          <a:p>
            <a:pPr algn="l">
              <a:lnSpc>
                <a:spcPct val="100000"/>
              </a:lnSpc>
            </a:pPr>
            <a:r>
              <a:rPr sz="2025" b="1" i="0">
                <a:solidFill>
                  <a:srgbClr val="F3F7FC"/>
                </a:solidFill>
                <a:latin typeface="Roboto Mono"/>
              </a:rPr>
              <a:t>philips p21/5w gu10 12v 4000k 55"</a:t>
            </a:r>
          </a:p>
        </p:txBody>
      </p:sp>
      <p:sp>
        <p:nvSpPr>
          <p:cNvPr id="34" name="TextBox 33"/>
          <p:cNvSpPr txBox="1"/>
          <p:nvPr/>
        </p:nvSpPr>
        <p:spPr>
          <a:xfrm>
            <a:off x="1209675" y="7691289"/>
            <a:ext cx="2160044" cy="295275"/>
          </a:xfrm>
          <a:prstGeom prst="rect">
            <a:avLst/>
          </a:prstGeom>
          <a:noFill/>
        </p:spPr>
        <p:txBody>
          <a:bodyPr wrap="none" lIns="0" rIns="0" tIns="0" bIns="0" anchor="t">
            <a:spAutoFit/>
          </a:bodyPr>
          <a:lstStyle/>
          <a:p>
            <a:pPr algn="l">
              <a:lnSpc>
                <a:spcPct val="100000"/>
              </a:lnSpc>
            </a:pPr>
            <a:r>
              <a:rPr sz="1800" b="1" i="0" spc="72">
                <a:solidFill>
                  <a:srgbClr val="F3F7FC"/>
                </a:solidFill>
                <a:latin typeface="Barlow"/>
              </a:rPr>
              <a:t>CÓDIGOS APARTE</a:t>
            </a:r>
          </a:p>
        </p:txBody>
      </p:sp>
      <p:sp>
        <p:nvSpPr>
          <p:cNvPr id="35" name="TextBox 34"/>
          <p:cNvSpPr txBox="1"/>
          <p:nvPr/>
        </p:nvSpPr>
        <p:spPr>
          <a:xfrm>
            <a:off x="1209675" y="7967514"/>
            <a:ext cx="2067300" cy="247650"/>
          </a:xfrm>
          <a:prstGeom prst="rect">
            <a:avLst/>
          </a:prstGeom>
          <a:noFill/>
        </p:spPr>
        <p:txBody>
          <a:bodyPr wrap="none" lIns="0" rIns="0" tIns="0" bIns="0" anchor="t">
            <a:spAutoFit/>
          </a:bodyPr>
          <a:lstStyle/>
          <a:p>
            <a:pPr algn="l">
              <a:lnSpc>
                <a:spcPct val="100000"/>
              </a:lnSpc>
            </a:pPr>
            <a:r>
              <a:rPr sz="1500" b="0" i="0">
                <a:solidFill>
                  <a:srgbClr val="9AB3CD"/>
                </a:solidFill>
                <a:latin typeface="Barlow"/>
              </a:rPr>
              <a:t>nunca dentro del texto</a:t>
            </a:r>
          </a:p>
        </p:txBody>
      </p:sp>
      <p:sp>
        <p:nvSpPr>
          <p:cNvPr id="36" name="TextBox 35"/>
          <p:cNvSpPr txBox="1"/>
          <p:nvPr/>
        </p:nvSpPr>
        <p:spPr>
          <a:xfrm>
            <a:off x="4276725" y="7777014"/>
            <a:ext cx="9097018" cy="352425"/>
          </a:xfrm>
          <a:prstGeom prst="rect">
            <a:avLst/>
          </a:prstGeom>
          <a:noFill/>
        </p:spPr>
        <p:txBody>
          <a:bodyPr wrap="none" lIns="0" rIns="0" tIns="0" bIns="0" anchor="t">
            <a:spAutoFit/>
          </a:bodyPr>
          <a:lstStyle/>
          <a:p>
            <a:pPr algn="l">
              <a:lnSpc>
                <a:spcPct val="100000"/>
              </a:lnSpc>
            </a:pPr>
            <a:r>
              <a:rPr sz="2025" b="1" i="0">
                <a:solidFill>
                  <a:srgbClr val="F3F7FC"/>
                </a:solidFill>
                <a:latin typeface="Roboto Mono"/>
              </a:rPr>
              <a:t>text → philips gu10 12v 4000k 55"  ·  codes → [p21/5w]</a:t>
            </a:r>
          </a:p>
        </p:txBody>
      </p:sp>
      <p:sp>
        <p:nvSpPr>
          <p:cNvPr id="37" name="TextBox 36"/>
          <p:cNvSpPr txBox="1"/>
          <p:nvPr/>
        </p:nvSpPr>
        <p:spPr>
          <a:xfrm>
            <a:off x="981075" y="8890695"/>
            <a:ext cx="14357372"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La barra, las comillas y el alfabeto se conservan: son sintaxis del dominio. La normalización es idempotente — verificada sobre 254.186 textos.</a:t>
            </a:r>
          </a:p>
        </p:txBody>
      </p:sp>
      <p:sp>
        <p:nvSpPr>
          <p:cNvPr id="38" name="TextBox 37"/>
          <p:cNvSpPr txBox="1"/>
          <p:nvPr/>
        </p:nvSpPr>
        <p:spPr>
          <a:xfrm>
            <a:off x="1117253" y="9766935"/>
            <a:ext cx="17144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PIPELINE TEXTUAL</a:t>
            </a:r>
          </a:p>
        </p:txBody>
      </p:sp>
      <p:sp>
        <p:nvSpPr>
          <p:cNvPr id="39" name="TextBox 38"/>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24</a:t>
            </a:r>
          </a:p>
        </p:txBody>
      </p:sp>
      <p:sp>
        <p:nvSpPr>
          <p:cNvPr id="40" name="TextBox 39"/>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25</a:t>
            </a:r>
          </a:p>
        </p:txBody>
      </p:sp>
      <p:sp>
        <p:nvSpPr>
          <p:cNvPr id="41" name="TextBox 40"/>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4793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66675"/>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72866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6424612"/>
            <a:ext cx="5089475" cy="466725"/>
          </a:xfrm>
          <a:prstGeom prst="rect">
            <a:avLst/>
          </a:prstGeom>
          <a:no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75350" y="2503140"/>
            <a:ext cx="5537150" cy="4793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75350" y="2503140"/>
            <a:ext cx="5537150" cy="6667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72866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902976"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99188" y="6424612"/>
            <a:ext cx="5089475" cy="46672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26801" y="2503140"/>
            <a:ext cx="5537150" cy="47930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26801" y="2503140"/>
            <a:ext cx="5537150" cy="666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26801" y="72866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26801"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7554426" y="2503140"/>
            <a:ext cx="9525" cy="47930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250638" y="6424612"/>
            <a:ext cx="5089475" cy="46672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8662" y="7415212"/>
            <a:ext cx="16830675" cy="2200275"/>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95788" y="7596188"/>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400550" y="7600950"/>
            <a:ext cx="10858500"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95788" y="8091488"/>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400550" y="8096250"/>
            <a:ext cx="1085626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395788" y="8586788"/>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4400550" y="8591550"/>
            <a:ext cx="10551170"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395788" y="9082088"/>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400550" y="9086850"/>
            <a:ext cx="983009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109912"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3114675"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951738" y="9720262"/>
            <a:ext cx="47656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956500" y="9944100"/>
            <a:ext cx="47561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793563" y="9720262"/>
            <a:ext cx="4765774"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2798326" y="9944100"/>
            <a:ext cx="57075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81075" y="1663750"/>
            <a:ext cx="585548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PIPELINE DE PROCESAMIENTO TEXTUAL · 03 / 03</a:t>
            </a:r>
          </a:p>
        </p:txBody>
      </p:sp>
      <p:sp>
        <p:nvSpPr>
          <p:cNvPr id="43" name="TextBox 42"/>
          <p:cNvSpPr txBox="1"/>
          <p:nvPr/>
        </p:nvSpPr>
        <p:spPr>
          <a:xfrm>
            <a:off x="981075" y="1885652"/>
            <a:ext cx="11348103"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Qué se destruye, qué se conserva, qué se gana</a:t>
            </a:r>
          </a:p>
        </p:txBody>
      </p:sp>
      <p:sp>
        <p:nvSpPr>
          <p:cNvPr id="44" name="TextBox 43"/>
          <p:cNvSpPr txBox="1"/>
          <p:nvPr/>
        </p:nvSpPr>
        <p:spPr>
          <a:xfrm>
            <a:off x="942975" y="3312765"/>
            <a:ext cx="2596759" cy="800100"/>
          </a:xfrm>
          <a:prstGeom prst="rect">
            <a:avLst/>
          </a:prstGeom>
          <a:noFill/>
        </p:spPr>
        <p:txBody>
          <a:bodyPr wrap="none" lIns="0" rIns="0" tIns="0" bIns="0" anchor="t">
            <a:spAutoFit/>
          </a:bodyPr>
          <a:lstStyle/>
          <a:p>
            <a:pPr algn="l">
              <a:lnSpc>
                <a:spcPct val="81700"/>
              </a:lnSpc>
            </a:pPr>
            <a:r>
              <a:rPr sz="5100" b="1" i="0">
                <a:solidFill>
                  <a:srgbClr val="FFD21F"/>
                </a:solidFill>
                <a:latin typeface="Barlow"/>
              </a:rPr>
              <a:t>575 → 0</a:t>
            </a:r>
          </a:p>
        </p:txBody>
      </p:sp>
      <p:sp>
        <p:nvSpPr>
          <p:cNvPr id="45" name="TextBox 44"/>
          <p:cNvSpPr txBox="1"/>
          <p:nvPr/>
        </p:nvSpPr>
        <p:spPr>
          <a:xfrm>
            <a:off x="942975" y="3994993"/>
            <a:ext cx="1781997"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entidades HTML</a:t>
            </a:r>
          </a:p>
        </p:txBody>
      </p:sp>
      <p:sp>
        <p:nvSpPr>
          <p:cNvPr id="46" name="TextBox 45"/>
          <p:cNvSpPr txBox="1"/>
          <p:nvPr/>
        </p:nvSpPr>
        <p:spPr>
          <a:xfrm>
            <a:off x="942975" y="4933504"/>
            <a:ext cx="51180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Se destruye lo que sí es ruido</a:t>
            </a:r>
          </a:p>
          <a:p>
            <a:pPr algn="l">
              <a:lnSpc>
                <a:spcPct val="85000"/>
              </a:lnSpc>
            </a:pPr>
            <a:r>
              <a:rPr sz="2400" b="0" i="0">
                <a:solidFill>
                  <a:srgbClr val="F3F7FC"/>
                </a:solidFill>
                <a:latin typeface="Inter"/>
              </a:rPr>
              <a:t/>
            </a:r>
          </a:p>
        </p:txBody>
      </p:sp>
      <p:sp>
        <p:nvSpPr>
          <p:cNvPr id="47" name="TextBox 46"/>
          <p:cNvSpPr txBox="1"/>
          <p:nvPr/>
        </p:nvSpPr>
        <p:spPr>
          <a:xfrm>
            <a:off x="942975" y="5301407"/>
            <a:ext cx="2880134" cy="266700"/>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marcado heredado del portal</a:t>
            </a:r>
          </a:p>
        </p:txBody>
      </p:sp>
      <p:sp>
        <p:nvSpPr>
          <p:cNvPr id="48" name="TextBox 47"/>
          <p:cNvSpPr txBox="1"/>
          <p:nvPr/>
        </p:nvSpPr>
        <p:spPr>
          <a:xfrm>
            <a:off x="2803446" y="6524625"/>
            <a:ext cx="1377910" cy="285750"/>
          </a:xfrm>
          <a:prstGeom prst="rect">
            <a:avLst/>
          </a:prstGeom>
          <a:noFill/>
        </p:spPr>
        <p:txBody>
          <a:bodyPr wrap="none" lIns="0" rIns="0" tIns="0" bIns="0" anchor="t">
            <a:spAutoFit/>
          </a:bodyPr>
          <a:lstStyle/>
          <a:p>
            <a:pPr algn="ctr">
              <a:lnSpc>
                <a:spcPct val="100000"/>
              </a:lnSpc>
            </a:pPr>
            <a:r>
              <a:rPr sz="1725" b="1" i="0" spc="86">
                <a:solidFill>
                  <a:srgbClr val="E2758F"/>
                </a:solidFill>
                <a:latin typeface="Barlow"/>
              </a:rPr>
              <a:t>ELIMINADO</a:t>
            </a:r>
          </a:p>
        </p:txBody>
      </p:sp>
      <p:sp>
        <p:nvSpPr>
          <p:cNvPr id="49" name="TextBox 48"/>
          <p:cNvSpPr txBox="1"/>
          <p:nvPr/>
        </p:nvSpPr>
        <p:spPr>
          <a:xfrm>
            <a:off x="6594425" y="3312765"/>
            <a:ext cx="5257717" cy="800100"/>
          </a:xfrm>
          <a:prstGeom prst="rect">
            <a:avLst/>
          </a:prstGeom>
          <a:noFill/>
        </p:spPr>
        <p:txBody>
          <a:bodyPr wrap="none" lIns="0" rIns="0" tIns="0" bIns="0" anchor="t">
            <a:spAutoFit/>
          </a:bodyPr>
          <a:lstStyle/>
          <a:p>
            <a:pPr algn="l">
              <a:lnSpc>
                <a:spcPct val="81700"/>
              </a:lnSpc>
            </a:pPr>
            <a:r>
              <a:rPr sz="5100" b="1" i="0">
                <a:solidFill>
                  <a:srgbClr val="FFD21F"/>
                </a:solidFill>
                <a:latin typeface="Barlow"/>
              </a:rPr>
              <a:t>30.919 → 30.919</a:t>
            </a:r>
          </a:p>
        </p:txBody>
      </p:sp>
      <p:sp>
        <p:nvSpPr>
          <p:cNvPr id="50" name="TextBox 49"/>
          <p:cNvSpPr txBox="1"/>
          <p:nvPr/>
        </p:nvSpPr>
        <p:spPr>
          <a:xfrm>
            <a:off x="6594425" y="3994993"/>
            <a:ext cx="1606957"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filas no latinas</a:t>
            </a:r>
          </a:p>
        </p:txBody>
      </p:sp>
      <p:sp>
        <p:nvSpPr>
          <p:cNvPr id="51" name="TextBox 50"/>
          <p:cNvSpPr txBox="1"/>
          <p:nvPr/>
        </p:nvSpPr>
        <p:spPr>
          <a:xfrm>
            <a:off x="6594425" y="4933504"/>
            <a:ext cx="51180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Se conserva lo que es señal</a:t>
            </a:r>
          </a:p>
          <a:p>
            <a:pPr algn="l">
              <a:lnSpc>
                <a:spcPct val="85000"/>
              </a:lnSpc>
            </a:pPr>
            <a:r>
              <a:rPr sz="2400" b="0" i="0">
                <a:solidFill>
                  <a:srgbClr val="F3F7FC"/>
                </a:solidFill>
                <a:latin typeface="Inter"/>
              </a:rPr>
              <a:t/>
            </a:r>
          </a:p>
        </p:txBody>
      </p:sp>
      <p:sp>
        <p:nvSpPr>
          <p:cNvPr id="52" name="TextBox 51"/>
          <p:cNvSpPr txBox="1"/>
          <p:nvPr/>
        </p:nvSpPr>
        <p:spPr>
          <a:xfrm>
            <a:off x="6594425" y="5301407"/>
            <a:ext cx="2798159" cy="266700"/>
          </a:xfrm>
          <a:prstGeom prst="rect">
            <a:avLst/>
          </a:prstGeom>
          <a:noFill/>
        </p:spPr>
        <p:txBody>
          <a:bodyPr wrap="none" lIns="0" rIns="0" tIns="0" bIns="0" anchor="t">
            <a:spAutoFit/>
          </a:bodyPr>
          <a:lstStyle/>
          <a:p>
            <a:pPr algn="l">
              <a:lnSpc>
                <a:spcPct val="85000"/>
              </a:lnSpc>
            </a:pPr>
            <a:r>
              <a:rPr sz="1650" b="0" i="0">
                <a:solidFill>
                  <a:srgbClr val="9AB3CD"/>
                </a:solidFill>
                <a:latin typeface="Barlow"/>
              </a:rPr>
              <a:t>0 filas perdidas · 0 excluidos</a:t>
            </a:r>
          </a:p>
        </p:txBody>
      </p:sp>
      <p:sp>
        <p:nvSpPr>
          <p:cNvPr id="53" name="TextBox 52"/>
          <p:cNvSpPr txBox="1"/>
          <p:nvPr/>
        </p:nvSpPr>
        <p:spPr>
          <a:xfrm>
            <a:off x="8596176" y="6524625"/>
            <a:ext cx="1095500" cy="285750"/>
          </a:xfrm>
          <a:prstGeom prst="rect">
            <a:avLst/>
          </a:prstGeom>
          <a:noFill/>
        </p:spPr>
        <p:txBody>
          <a:bodyPr wrap="none" lIns="0" rIns="0" tIns="0" bIns="0" anchor="t">
            <a:spAutoFit/>
          </a:bodyPr>
          <a:lstStyle/>
          <a:p>
            <a:pPr algn="ctr">
              <a:lnSpc>
                <a:spcPct val="100000"/>
              </a:lnSpc>
            </a:pPr>
            <a:r>
              <a:rPr sz="1725" b="1" i="0" spc="86">
                <a:solidFill>
                  <a:srgbClr val="FFD21F"/>
                </a:solidFill>
                <a:latin typeface="Barlow"/>
              </a:rPr>
              <a:t>INTACTO</a:t>
            </a:r>
          </a:p>
        </p:txBody>
      </p:sp>
      <p:sp>
        <p:nvSpPr>
          <p:cNvPr id="54" name="TextBox 53"/>
          <p:cNvSpPr txBox="1"/>
          <p:nvPr/>
        </p:nvSpPr>
        <p:spPr>
          <a:xfrm>
            <a:off x="12245876" y="3312765"/>
            <a:ext cx="4489728" cy="800100"/>
          </a:xfrm>
          <a:prstGeom prst="rect">
            <a:avLst/>
          </a:prstGeom>
          <a:noFill/>
        </p:spPr>
        <p:txBody>
          <a:bodyPr wrap="none" lIns="0" rIns="0" tIns="0" bIns="0" anchor="t">
            <a:spAutoFit/>
          </a:bodyPr>
          <a:lstStyle/>
          <a:p>
            <a:pPr algn="l">
              <a:lnSpc>
                <a:spcPct val="81700"/>
              </a:lnSpc>
            </a:pPr>
            <a:r>
              <a:rPr sz="5100" b="1" i="0">
                <a:solidFill>
                  <a:srgbClr val="FFD21F"/>
                </a:solidFill>
                <a:latin typeface="Barlow"/>
              </a:rPr>
              <a:t>51,17 → 83,18</a:t>
            </a:r>
          </a:p>
        </p:txBody>
      </p:sp>
      <p:sp>
        <p:nvSpPr>
          <p:cNvPr id="55" name="TextBox 54"/>
          <p:cNvSpPr txBox="1"/>
          <p:nvPr/>
        </p:nvSpPr>
        <p:spPr>
          <a:xfrm>
            <a:off x="12245876" y="3994993"/>
            <a:ext cx="2821948" cy="285750"/>
          </a:xfrm>
          <a:prstGeom prst="rect">
            <a:avLst/>
          </a:prstGeom>
          <a:noFill/>
        </p:spPr>
        <p:txBody>
          <a:bodyPr wrap="none" lIns="0" rIns="0" tIns="0" bIns="0" anchor="t">
            <a:spAutoFit/>
          </a:bodyPr>
          <a:lstStyle/>
          <a:p>
            <a:pPr algn="l">
              <a:lnSpc>
                <a:spcPct val="81700"/>
              </a:lnSpc>
            </a:pPr>
            <a:r>
              <a:rPr sz="1725" b="1" i="0">
                <a:solidFill>
                  <a:srgbClr val="9AB3CD"/>
                </a:solidFill>
                <a:latin typeface="Barlow"/>
              </a:rPr>
              <a:t>Recall@1 en validación · %</a:t>
            </a:r>
          </a:p>
        </p:txBody>
      </p:sp>
      <p:sp>
        <p:nvSpPr>
          <p:cNvPr id="56" name="TextBox 55"/>
          <p:cNvSpPr txBox="1"/>
          <p:nvPr/>
        </p:nvSpPr>
        <p:spPr>
          <a:xfrm>
            <a:off x="12245876" y="4933504"/>
            <a:ext cx="5118050" cy="390525"/>
          </a:xfrm>
          <a:prstGeom prst="rect">
            <a:avLst/>
          </a:prstGeom>
          <a:noFill/>
        </p:spPr>
        <p:txBody>
          <a:bodyPr wrap="square" lIns="0" rIns="0" tIns="0" bIns="0" anchor="t">
            <a:spAutoFit/>
          </a:bodyPr>
          <a:lstStyle/>
          <a:p>
            <a:pPr algn="l">
              <a:lnSpc>
                <a:spcPct val="85000"/>
              </a:lnSpc>
            </a:pPr>
            <a:r>
              <a:rPr sz="2400" b="1" i="0">
                <a:solidFill>
                  <a:srgbClr val="F3F7FC"/>
                </a:solidFill>
                <a:latin typeface="Montserrat"/>
              </a:rPr>
              <a:t>Se gana con los códigos aparte</a:t>
            </a:r>
          </a:p>
          <a:p>
            <a:pPr algn="l">
              <a:lnSpc>
                <a:spcPct val="85000"/>
              </a:lnSpc>
            </a:pPr>
            <a:r>
              <a:rPr sz="2400" b="0" i="0">
                <a:solidFill>
                  <a:srgbClr val="F3F7FC"/>
                </a:solidFill>
                <a:latin typeface="Inter"/>
              </a:rPr>
              <a:t/>
            </a:r>
          </a:p>
        </p:txBody>
      </p:sp>
      <p:sp>
        <p:nvSpPr>
          <p:cNvPr id="57" name="TextBox 56"/>
          <p:cNvSpPr txBox="1"/>
          <p:nvPr/>
        </p:nvSpPr>
        <p:spPr>
          <a:xfrm>
            <a:off x="12245876" y="5301407"/>
            <a:ext cx="785795" cy="266700"/>
          </a:xfrm>
          <a:prstGeom prst="rect">
            <a:avLst/>
          </a:prstGeom>
          <a:noFill/>
        </p:spPr>
        <p:txBody>
          <a:bodyPr wrap="none" lIns="0" rIns="0" tIns="0" bIns="0" anchor="t">
            <a:spAutoFit/>
          </a:bodyPr>
          <a:lstStyle/>
          <a:p>
            <a:pPr algn="l">
              <a:lnSpc>
                <a:spcPct val="98500"/>
              </a:lnSpc>
            </a:pPr>
            <a:r>
              <a:rPr sz="1650" b="0" i="0">
                <a:solidFill>
                  <a:srgbClr val="9AB3CD"/>
                </a:solidFill>
                <a:latin typeface="Barlow"/>
              </a:rPr>
              <a:t>la vista</a:t>
            </a:r>
          </a:p>
        </p:txBody>
      </p:sp>
      <p:sp>
        <p:nvSpPr>
          <p:cNvPr id="58" name="TextBox 57"/>
          <p:cNvSpPr txBox="1"/>
          <p:nvPr/>
        </p:nvSpPr>
        <p:spPr>
          <a:xfrm>
            <a:off x="12915305" y="5320457"/>
            <a:ext cx="992615" cy="257175"/>
          </a:xfrm>
          <a:prstGeom prst="rect">
            <a:avLst/>
          </a:prstGeom>
          <a:noFill/>
        </p:spPr>
        <p:txBody>
          <a:bodyPr wrap="none" lIns="0" rIns="0" tIns="0" bIns="0" anchor="t">
            <a:spAutoFit/>
          </a:bodyPr>
          <a:lstStyle/>
          <a:p>
            <a:pPr algn="l">
              <a:lnSpc>
                <a:spcPct val="110100"/>
              </a:lnSpc>
            </a:pPr>
            <a:r>
              <a:rPr sz="1419" b="1" i="0">
                <a:solidFill>
                  <a:srgbClr val="FFD21F"/>
                </a:solidFill>
                <a:latin typeface="Roboto Mono"/>
              </a:rPr>
              <a:t>enriched</a:t>
            </a:r>
          </a:p>
        </p:txBody>
      </p:sp>
      <p:sp>
        <p:nvSpPr>
          <p:cNvPr id="59" name="TextBox 58"/>
          <p:cNvSpPr txBox="1"/>
          <p:nvPr/>
        </p:nvSpPr>
        <p:spPr>
          <a:xfrm>
            <a:off x="14043815" y="6524625"/>
            <a:ext cx="1503122" cy="285750"/>
          </a:xfrm>
          <a:prstGeom prst="rect">
            <a:avLst/>
          </a:prstGeom>
          <a:noFill/>
        </p:spPr>
        <p:txBody>
          <a:bodyPr wrap="none" lIns="0" rIns="0" tIns="0" bIns="0" anchor="t">
            <a:spAutoFit/>
          </a:bodyPr>
          <a:lstStyle/>
          <a:p>
            <a:pPr algn="ctr">
              <a:lnSpc>
                <a:spcPct val="100000"/>
              </a:lnSpc>
            </a:pPr>
            <a:r>
              <a:rPr sz="1725" b="1" i="0" spc="86">
                <a:solidFill>
                  <a:srgbClr val="FFD21F"/>
                </a:solidFill>
                <a:latin typeface="Barlow"/>
              </a:rPr>
              <a:t>+32 PUNTOS</a:t>
            </a:r>
          </a:p>
        </p:txBody>
      </p:sp>
      <p:sp>
        <p:nvSpPr>
          <p:cNvPr id="60" name="TextBox 59"/>
          <p:cNvSpPr txBox="1"/>
          <p:nvPr/>
        </p:nvSpPr>
        <p:spPr>
          <a:xfrm>
            <a:off x="981075" y="7645747"/>
            <a:ext cx="2579882" cy="295275"/>
          </a:xfrm>
          <a:prstGeom prst="rect">
            <a:avLst/>
          </a:prstGeom>
          <a:noFill/>
        </p:spPr>
        <p:txBody>
          <a:bodyPr wrap="none" lIns="0" rIns="0" tIns="0" bIns="0" anchor="t">
            <a:spAutoFit/>
          </a:bodyPr>
          <a:lstStyle/>
          <a:p>
            <a:pPr algn="l">
              <a:lnSpc>
                <a:spcPct val="91700"/>
              </a:lnSpc>
            </a:pPr>
            <a:r>
              <a:rPr sz="1677" b="1" i="0">
                <a:solidFill>
                  <a:srgbClr val="FFD21F"/>
                </a:solidFill>
                <a:latin typeface="Roboto Mono"/>
              </a:rPr>
              <a:t>manufacturer_codes</a:t>
            </a:r>
          </a:p>
        </p:txBody>
      </p:sp>
      <p:sp>
        <p:nvSpPr>
          <p:cNvPr id="61" name="TextBox 60"/>
          <p:cNvSpPr txBox="1"/>
          <p:nvPr/>
        </p:nvSpPr>
        <p:spPr>
          <a:xfrm>
            <a:off x="16326993" y="7572375"/>
            <a:ext cx="979932"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100%</a:t>
            </a:r>
          </a:p>
        </p:txBody>
      </p:sp>
      <p:sp>
        <p:nvSpPr>
          <p:cNvPr id="62" name="TextBox 61"/>
          <p:cNvSpPr txBox="1"/>
          <p:nvPr/>
        </p:nvSpPr>
        <p:spPr>
          <a:xfrm>
            <a:off x="981075" y="8141047"/>
            <a:ext cx="2027759" cy="295275"/>
          </a:xfrm>
          <a:prstGeom prst="rect">
            <a:avLst/>
          </a:prstGeom>
          <a:noFill/>
        </p:spPr>
        <p:txBody>
          <a:bodyPr wrap="none" lIns="0" rIns="0" tIns="0" bIns="0" anchor="t">
            <a:spAutoFit/>
          </a:bodyPr>
          <a:lstStyle/>
          <a:p>
            <a:pPr algn="l">
              <a:lnSpc>
                <a:spcPct val="91700"/>
              </a:lnSpc>
            </a:pPr>
            <a:r>
              <a:rPr sz="1677" b="1" i="0">
                <a:solidFill>
                  <a:srgbClr val="FFD21F"/>
                </a:solidFill>
                <a:latin typeface="Roboto Mono"/>
              </a:rPr>
              <a:t>retailer_codes</a:t>
            </a:r>
          </a:p>
        </p:txBody>
      </p:sp>
      <p:sp>
        <p:nvSpPr>
          <p:cNvPr id="63" name="TextBox 62"/>
          <p:cNvSpPr txBox="1"/>
          <p:nvPr/>
        </p:nvSpPr>
        <p:spPr>
          <a:xfrm>
            <a:off x="16035742" y="8067675"/>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99,98%</a:t>
            </a:r>
          </a:p>
        </p:txBody>
      </p:sp>
      <p:sp>
        <p:nvSpPr>
          <p:cNvPr id="64" name="TextBox 63"/>
          <p:cNvSpPr txBox="1"/>
          <p:nvPr/>
        </p:nvSpPr>
        <p:spPr>
          <a:xfrm>
            <a:off x="981075" y="8636347"/>
            <a:ext cx="2441811" cy="295275"/>
          </a:xfrm>
          <a:prstGeom prst="rect">
            <a:avLst/>
          </a:prstGeom>
          <a:noFill/>
        </p:spPr>
        <p:txBody>
          <a:bodyPr wrap="none" lIns="0" rIns="0" tIns="0" bIns="0" anchor="t">
            <a:spAutoFit/>
          </a:bodyPr>
          <a:lstStyle/>
          <a:p>
            <a:pPr algn="l">
              <a:lnSpc>
                <a:spcPct val="91700"/>
              </a:lnSpc>
            </a:pPr>
            <a:r>
              <a:rPr sz="1677" b="1" i="0">
                <a:solidFill>
                  <a:srgbClr val="FFD21F"/>
                </a:solidFill>
                <a:latin typeface="Roboto Mono"/>
              </a:rPr>
              <a:t>manufacturer_eans</a:t>
            </a:r>
          </a:p>
        </p:txBody>
      </p:sp>
      <p:sp>
        <p:nvSpPr>
          <p:cNvPr id="65" name="TextBox 64"/>
          <p:cNvSpPr txBox="1"/>
          <p:nvPr/>
        </p:nvSpPr>
        <p:spPr>
          <a:xfrm>
            <a:off x="16035742" y="8562975"/>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97,17%</a:t>
            </a:r>
          </a:p>
        </p:txBody>
      </p:sp>
      <p:sp>
        <p:nvSpPr>
          <p:cNvPr id="66" name="TextBox 65"/>
          <p:cNvSpPr txBox="1"/>
          <p:nvPr/>
        </p:nvSpPr>
        <p:spPr>
          <a:xfrm>
            <a:off x="981075" y="9131647"/>
            <a:ext cx="2855863" cy="295275"/>
          </a:xfrm>
          <a:prstGeom prst="rect">
            <a:avLst/>
          </a:prstGeom>
          <a:noFill/>
        </p:spPr>
        <p:txBody>
          <a:bodyPr wrap="none" lIns="0" rIns="0" tIns="0" bIns="0" anchor="t">
            <a:spAutoFit/>
          </a:bodyPr>
          <a:lstStyle/>
          <a:p>
            <a:pPr algn="l">
              <a:lnSpc>
                <a:spcPct val="91700"/>
              </a:lnSpc>
            </a:pPr>
            <a:r>
              <a:rPr sz="1677" b="1" i="0">
                <a:solidFill>
                  <a:srgbClr val="FFD21F"/>
                </a:solidFill>
                <a:latin typeface="Roboto Mono"/>
              </a:rPr>
              <a:t>retailer_title_codes</a:t>
            </a:r>
          </a:p>
        </p:txBody>
      </p:sp>
      <p:sp>
        <p:nvSpPr>
          <p:cNvPr id="67" name="TextBox 66"/>
          <p:cNvSpPr txBox="1"/>
          <p:nvPr/>
        </p:nvSpPr>
        <p:spPr>
          <a:xfrm>
            <a:off x="16035742" y="9058275"/>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90,53%</a:t>
            </a:r>
          </a:p>
        </p:txBody>
      </p:sp>
      <p:sp>
        <p:nvSpPr>
          <p:cNvPr id="68" name="TextBox 67"/>
          <p:cNvSpPr txBox="1"/>
          <p:nvPr/>
        </p:nvSpPr>
        <p:spPr>
          <a:xfrm>
            <a:off x="1117253" y="9766935"/>
            <a:ext cx="17144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PIPELINE TEXTUAL</a:t>
            </a:r>
          </a:p>
        </p:txBody>
      </p:sp>
      <p:sp>
        <p:nvSpPr>
          <p:cNvPr id="69" name="TextBox 68"/>
          <p:cNvSpPr txBox="1"/>
          <p:nvPr/>
        </p:nvSpPr>
        <p:spPr>
          <a:xfrm>
            <a:off x="541496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24</a:t>
            </a:r>
          </a:p>
        </p:txBody>
      </p:sp>
      <p:sp>
        <p:nvSpPr>
          <p:cNvPr id="70" name="TextBox 69"/>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25</a:t>
            </a:r>
          </a:p>
        </p:txBody>
      </p:sp>
      <p:sp>
        <p:nvSpPr>
          <p:cNvPr id="71" name="TextBox 70"/>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3910161"/>
            <a:ext cx="5089475" cy="3381226"/>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42975" y="7648575"/>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7738" y="8767762"/>
            <a:ext cx="5089475" cy="44767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03140"/>
            <a:ext cx="5537150" cy="762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75350"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902976"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599188" y="3910161"/>
            <a:ext cx="5089475" cy="3381226"/>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594425" y="7648575"/>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99188" y="8767762"/>
            <a:ext cx="5089475" cy="447675"/>
          </a:xfrm>
          <a:prstGeom prst="rect">
            <a:avLst/>
          </a:prstGeom>
          <a:no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26801"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26801"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26801" y="961072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26801"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426" y="2503140"/>
            <a:ext cx="9525" cy="711711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250638" y="3910161"/>
            <a:ext cx="5089475" cy="3381226"/>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245876" y="7648575"/>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250638" y="8767762"/>
            <a:ext cx="5089475" cy="44767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12270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81075" y="1663750"/>
            <a:ext cx="405092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01 / 06</a:t>
            </a:r>
          </a:p>
        </p:txBody>
      </p:sp>
      <p:sp>
        <p:nvSpPr>
          <p:cNvPr id="47" name="TextBox 46"/>
          <p:cNvSpPr txBox="1"/>
          <p:nvPr/>
        </p:nvSpPr>
        <p:spPr>
          <a:xfrm>
            <a:off x="981075" y="1885652"/>
            <a:ext cx="13539073"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¿Qué puede mirar cada modelo al comparar dos textos?</a:t>
            </a:r>
          </a:p>
        </p:txBody>
      </p:sp>
      <p:sp>
        <p:nvSpPr>
          <p:cNvPr id="48" name="TextBox 47"/>
          <p:cNvSpPr txBox="1"/>
          <p:nvPr/>
        </p:nvSpPr>
        <p:spPr>
          <a:xfrm>
            <a:off x="942975" y="2722215"/>
            <a:ext cx="311920"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1</a:t>
            </a:r>
          </a:p>
        </p:txBody>
      </p:sp>
      <p:sp>
        <p:nvSpPr>
          <p:cNvPr id="49" name="TextBox 48"/>
          <p:cNvSpPr txBox="1"/>
          <p:nvPr/>
        </p:nvSpPr>
        <p:spPr>
          <a:xfrm>
            <a:off x="1257895" y="2912715"/>
            <a:ext cx="3727996"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TF-IDF</a:t>
            </a:r>
          </a:p>
          <a:p>
            <a:pPr algn="l">
              <a:lnSpc>
                <a:spcPct val="85000"/>
              </a:lnSpc>
            </a:pPr>
            <a:r>
              <a:rPr sz="2325" b="1" i="0">
                <a:solidFill>
                  <a:srgbClr val="F3F7FC"/>
                </a:solidFill>
                <a:latin typeface="Montserrat"/>
              </a:rPr>
              <a:t>n-gramas de caracteres</a:t>
            </a:r>
          </a:p>
        </p:txBody>
      </p:sp>
      <p:sp>
        <p:nvSpPr>
          <p:cNvPr id="50" name="TextBox 49"/>
          <p:cNvSpPr txBox="1"/>
          <p:nvPr/>
        </p:nvSpPr>
        <p:spPr>
          <a:xfrm>
            <a:off x="1123950" y="5451217"/>
            <a:ext cx="586454"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Mira</a:t>
            </a:r>
          </a:p>
        </p:txBody>
      </p:sp>
      <p:sp>
        <p:nvSpPr>
          <p:cNvPr id="51" name="TextBox 50"/>
          <p:cNvSpPr txBox="1"/>
          <p:nvPr/>
        </p:nvSpPr>
        <p:spPr>
          <a:xfrm>
            <a:off x="2116038" y="5154156"/>
            <a:ext cx="3213104" cy="910590"/>
          </a:xfrm>
          <a:prstGeom prst="rect">
            <a:avLst/>
          </a:prstGeom>
          <a:noFill/>
        </p:spPr>
        <p:txBody>
          <a:bodyPr wrap="square" lIns="0" rIns="0" tIns="0" bIns="0" anchor="t">
            <a:spAutoFit/>
          </a:bodyPr>
          <a:lstStyle/>
          <a:p>
            <a:pPr algn="l">
              <a:lnSpc>
                <a:spcPct val="100000"/>
              </a:lnSpc>
            </a:pPr>
            <a:r>
              <a:rPr sz="1950" b="0" i="0">
                <a:solidFill>
                  <a:srgbClr val="F3F7FC"/>
                </a:solidFill>
                <a:latin typeface="Barlow"/>
              </a:rPr>
              <a:t>— solo geometría de vectores dispersos. Coseno sobre n-gramas.</a:t>
            </a:r>
          </a:p>
        </p:txBody>
      </p:sp>
      <p:sp>
        <p:nvSpPr>
          <p:cNvPr id="52" name="TextBox 51"/>
          <p:cNvSpPr txBox="1"/>
          <p:nvPr/>
        </p:nvSpPr>
        <p:spPr>
          <a:xfrm>
            <a:off x="1578769" y="5451217"/>
            <a:ext cx="675501"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nada</a:t>
            </a:r>
          </a:p>
        </p:txBody>
      </p:sp>
      <p:sp>
        <p:nvSpPr>
          <p:cNvPr id="53" name="TextBox 52"/>
          <p:cNvSpPr txBox="1"/>
          <p:nvPr/>
        </p:nvSpPr>
        <p:spPr>
          <a:xfrm>
            <a:off x="942975" y="7696200"/>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91,16%</a:t>
            </a:r>
          </a:p>
        </p:txBody>
      </p:sp>
      <p:sp>
        <p:nvSpPr>
          <p:cNvPr id="54" name="TextBox 53"/>
          <p:cNvSpPr txBox="1"/>
          <p:nvPr/>
        </p:nvSpPr>
        <p:spPr>
          <a:xfrm>
            <a:off x="942975" y="8200072"/>
            <a:ext cx="1347853"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RECALL@10</a:t>
            </a:r>
          </a:p>
        </p:txBody>
      </p:sp>
      <p:sp>
        <p:nvSpPr>
          <p:cNvPr id="55" name="TextBox 54"/>
          <p:cNvSpPr txBox="1"/>
          <p:nvPr/>
        </p:nvSpPr>
        <p:spPr>
          <a:xfrm>
            <a:off x="2654647" y="8858250"/>
            <a:ext cx="1904798" cy="285750"/>
          </a:xfrm>
          <a:prstGeom prst="rect">
            <a:avLst/>
          </a:prstGeom>
          <a:noFill/>
        </p:spPr>
        <p:txBody>
          <a:bodyPr wrap="none" lIns="0" rIns="0" tIns="0" bIns="0" anchor="t">
            <a:spAutoFit/>
          </a:bodyPr>
          <a:lstStyle/>
          <a:p>
            <a:pPr algn="l">
              <a:lnSpc>
                <a:spcPct val="100000"/>
              </a:lnSpc>
            </a:pPr>
            <a:r>
              <a:rPr sz="1725" b="1" i="0" spc="138">
                <a:solidFill>
                  <a:srgbClr val="FFD21F"/>
                </a:solidFill>
                <a:latin typeface="Barlow"/>
              </a:rPr>
              <a:t>RECUPERADOR</a:t>
            </a:r>
          </a:p>
        </p:txBody>
      </p:sp>
      <p:sp>
        <p:nvSpPr>
          <p:cNvPr id="56" name="TextBox 55"/>
          <p:cNvSpPr txBox="1"/>
          <p:nvPr/>
        </p:nvSpPr>
        <p:spPr>
          <a:xfrm>
            <a:off x="6594425" y="2722215"/>
            <a:ext cx="415754" cy="619125"/>
          </a:xfrm>
          <a:prstGeom prst="rect">
            <a:avLst/>
          </a:prstGeom>
          <a:noFill/>
        </p:spPr>
        <p:txBody>
          <a:bodyPr wrap="none" lIns="0" rIns="0" tIns="0" bIns="0" anchor="t">
            <a:spAutoFit/>
          </a:bodyPr>
          <a:lstStyle/>
          <a:p>
            <a:pPr algn="l">
              <a:lnSpc>
                <a:spcPct val="93300"/>
              </a:lnSpc>
            </a:pPr>
            <a:r>
              <a:rPr sz="3900" b="1" i="0">
                <a:solidFill>
                  <a:srgbClr val="E2758F"/>
                </a:solidFill>
                <a:latin typeface="Montserrat"/>
              </a:rPr>
              <a:t>2</a:t>
            </a:r>
          </a:p>
        </p:txBody>
      </p:sp>
      <p:sp>
        <p:nvSpPr>
          <p:cNvPr id="57" name="TextBox 56"/>
          <p:cNvSpPr txBox="1"/>
          <p:nvPr/>
        </p:nvSpPr>
        <p:spPr>
          <a:xfrm>
            <a:off x="7005489" y="2912715"/>
            <a:ext cx="3385542"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Embeddings</a:t>
            </a:r>
          </a:p>
          <a:p>
            <a:pPr algn="l">
              <a:lnSpc>
                <a:spcPct val="85000"/>
              </a:lnSpc>
            </a:pPr>
            <a:r>
              <a:rPr sz="2325" b="1" i="0">
                <a:solidFill>
                  <a:srgbClr val="F3F7FC"/>
                </a:solidFill>
                <a:latin typeface="Montserrat"/>
              </a:rPr>
              <a:t>encoders congelados</a:t>
            </a:r>
          </a:p>
        </p:txBody>
      </p:sp>
      <p:sp>
        <p:nvSpPr>
          <p:cNvPr id="58" name="TextBox 57"/>
          <p:cNvSpPr txBox="1"/>
          <p:nvPr/>
        </p:nvSpPr>
        <p:spPr>
          <a:xfrm>
            <a:off x="6775400" y="5451217"/>
            <a:ext cx="586454"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Mira</a:t>
            </a:r>
          </a:p>
        </p:txBody>
      </p:sp>
      <p:sp>
        <p:nvSpPr>
          <p:cNvPr id="59" name="TextBox 58"/>
          <p:cNvSpPr txBox="1"/>
          <p:nvPr/>
        </p:nvSpPr>
        <p:spPr>
          <a:xfrm>
            <a:off x="7942213" y="5302687"/>
            <a:ext cx="3712839" cy="613410"/>
          </a:xfrm>
          <a:prstGeom prst="rect">
            <a:avLst/>
          </a:prstGeom>
          <a:noFill/>
        </p:spPr>
        <p:txBody>
          <a:bodyPr wrap="square" lIns="0" rIns="0" tIns="0" bIns="0" anchor="t">
            <a:spAutoFit/>
          </a:bodyPr>
          <a:lstStyle/>
          <a:p>
            <a:pPr algn="l">
              <a:lnSpc>
                <a:spcPct val="100000"/>
              </a:lnSpc>
            </a:pPr>
            <a:r>
              <a:rPr sz="1950" b="0" i="0">
                <a:solidFill>
                  <a:srgbClr val="F3F7FC"/>
                </a:solidFill>
                <a:latin typeface="Barlow"/>
              </a:rPr>
              <a:t>— cada texto por separado. Self-attention, mean pooling y coseno.</a:t>
            </a:r>
          </a:p>
        </p:txBody>
      </p:sp>
      <p:sp>
        <p:nvSpPr>
          <p:cNvPr id="60" name="TextBox 59"/>
          <p:cNvSpPr txBox="1"/>
          <p:nvPr/>
        </p:nvSpPr>
        <p:spPr>
          <a:xfrm>
            <a:off x="7230219" y="5302687"/>
            <a:ext cx="731044" cy="613410"/>
          </a:xfrm>
          <a:prstGeom prst="rect">
            <a:avLst/>
          </a:prstGeom>
          <a:noFill/>
        </p:spPr>
        <p:txBody>
          <a:bodyPr wrap="square" lIns="0" rIns="0" tIns="0" bIns="0" anchor="t">
            <a:spAutoFit/>
          </a:bodyPr>
          <a:lstStyle/>
          <a:p>
            <a:pPr algn="l">
              <a:lnSpc>
                <a:spcPct val="100000"/>
              </a:lnSpc>
            </a:pPr>
            <a:r>
              <a:rPr sz="1950" b="1" i="0">
                <a:solidFill>
                  <a:srgbClr val="FFD21F"/>
                </a:solidFill>
                <a:latin typeface="Barlow"/>
              </a:rPr>
              <a:t>lo propio</a:t>
            </a:r>
          </a:p>
        </p:txBody>
      </p:sp>
      <p:sp>
        <p:nvSpPr>
          <p:cNvPr id="61" name="TextBox 60"/>
          <p:cNvSpPr txBox="1"/>
          <p:nvPr/>
        </p:nvSpPr>
        <p:spPr>
          <a:xfrm>
            <a:off x="6594425" y="7696200"/>
            <a:ext cx="1383375" cy="542925"/>
          </a:xfrm>
          <a:prstGeom prst="rect">
            <a:avLst/>
          </a:prstGeom>
          <a:noFill/>
        </p:spPr>
        <p:txBody>
          <a:bodyPr wrap="none" lIns="0" rIns="0" tIns="0" bIns="0" anchor="t">
            <a:spAutoFit/>
          </a:bodyPr>
          <a:lstStyle/>
          <a:p>
            <a:pPr algn="l">
              <a:lnSpc>
                <a:spcPct val="83300"/>
              </a:lnSpc>
            </a:pPr>
            <a:r>
              <a:rPr sz="3450" b="1" i="0">
                <a:solidFill>
                  <a:srgbClr val="E2758F"/>
                </a:solidFill>
                <a:latin typeface="Barlow"/>
              </a:rPr>
              <a:t>8,84%</a:t>
            </a:r>
          </a:p>
        </p:txBody>
      </p:sp>
      <p:sp>
        <p:nvSpPr>
          <p:cNvPr id="62" name="TextBox 61"/>
          <p:cNvSpPr txBox="1"/>
          <p:nvPr/>
        </p:nvSpPr>
        <p:spPr>
          <a:xfrm>
            <a:off x="6594425" y="8200072"/>
            <a:ext cx="1213961"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a:t>
            </a:r>
          </a:p>
        </p:txBody>
      </p:sp>
      <p:sp>
        <p:nvSpPr>
          <p:cNvPr id="63" name="TextBox 62"/>
          <p:cNvSpPr txBox="1"/>
          <p:nvPr/>
        </p:nvSpPr>
        <p:spPr>
          <a:xfrm>
            <a:off x="8051899" y="8858250"/>
            <a:ext cx="2454027" cy="285750"/>
          </a:xfrm>
          <a:prstGeom prst="rect">
            <a:avLst/>
          </a:prstGeom>
          <a:noFill/>
        </p:spPr>
        <p:txBody>
          <a:bodyPr wrap="none" lIns="0" rIns="0" tIns="0" bIns="0" anchor="t">
            <a:spAutoFit/>
          </a:bodyPr>
          <a:lstStyle/>
          <a:p>
            <a:pPr algn="l">
              <a:lnSpc>
                <a:spcPct val="100000"/>
              </a:lnSpc>
            </a:pPr>
            <a:r>
              <a:rPr sz="1725" b="1" i="0" spc="138">
                <a:solidFill>
                  <a:srgbClr val="E2758F"/>
                </a:solidFill>
                <a:latin typeface="Barlow"/>
              </a:rPr>
              <a:t>FRACASO LEGÍTIMO</a:t>
            </a:r>
          </a:p>
        </p:txBody>
      </p:sp>
      <p:sp>
        <p:nvSpPr>
          <p:cNvPr id="64" name="TextBox 63"/>
          <p:cNvSpPr txBox="1"/>
          <p:nvPr/>
        </p:nvSpPr>
        <p:spPr>
          <a:xfrm>
            <a:off x="12245876" y="2722215"/>
            <a:ext cx="417844"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3</a:t>
            </a:r>
          </a:p>
        </p:txBody>
      </p:sp>
      <p:sp>
        <p:nvSpPr>
          <p:cNvPr id="65" name="TextBox 64"/>
          <p:cNvSpPr txBox="1"/>
          <p:nvPr/>
        </p:nvSpPr>
        <p:spPr>
          <a:xfrm>
            <a:off x="12658874" y="2912715"/>
            <a:ext cx="2297162"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Cross-encoder</a:t>
            </a:r>
          </a:p>
          <a:p>
            <a:pPr algn="l">
              <a:lnSpc>
                <a:spcPct val="85000"/>
              </a:lnSpc>
            </a:pPr>
            <a:r>
              <a:rPr sz="2325" b="1" i="0">
                <a:solidFill>
                  <a:srgbClr val="F3F7FC"/>
                </a:solidFill>
                <a:latin typeface="Montserrat"/>
              </a:rPr>
              <a:t>fine-tuneado</a:t>
            </a:r>
          </a:p>
        </p:txBody>
      </p:sp>
      <p:sp>
        <p:nvSpPr>
          <p:cNvPr id="66" name="TextBox 65"/>
          <p:cNvSpPr txBox="1"/>
          <p:nvPr/>
        </p:nvSpPr>
        <p:spPr>
          <a:xfrm>
            <a:off x="12426851" y="5451217"/>
            <a:ext cx="586454"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Mira</a:t>
            </a:r>
          </a:p>
        </p:txBody>
      </p:sp>
      <p:sp>
        <p:nvSpPr>
          <p:cNvPr id="67" name="TextBox 66"/>
          <p:cNvSpPr txBox="1"/>
          <p:nvPr/>
        </p:nvSpPr>
        <p:spPr>
          <a:xfrm>
            <a:off x="13390215" y="5154156"/>
            <a:ext cx="3847584" cy="910590"/>
          </a:xfrm>
          <a:prstGeom prst="rect">
            <a:avLst/>
          </a:prstGeom>
          <a:noFill/>
        </p:spPr>
        <p:txBody>
          <a:bodyPr wrap="square" lIns="0" rIns="0" tIns="0" bIns="0" anchor="t">
            <a:spAutoFit/>
          </a:bodyPr>
          <a:lstStyle/>
          <a:p>
            <a:pPr algn="l">
              <a:lnSpc>
                <a:spcPct val="100000"/>
              </a:lnSpc>
            </a:pPr>
            <a:r>
              <a:rPr sz="1950" b="0" i="0">
                <a:solidFill>
                  <a:srgbClr val="F3F7FC"/>
                </a:solidFill>
                <a:latin typeface="Barlow"/>
              </a:rPr>
              <a:t>— los dos textos juntos en una sola secuencia. Atención cruzada token a token.</a:t>
            </a:r>
          </a:p>
        </p:txBody>
      </p:sp>
      <p:sp>
        <p:nvSpPr>
          <p:cNvPr id="68" name="TextBox 67"/>
          <p:cNvSpPr txBox="1"/>
          <p:nvPr/>
        </p:nvSpPr>
        <p:spPr>
          <a:xfrm>
            <a:off x="12881670" y="5451217"/>
            <a:ext cx="644479" cy="316230"/>
          </a:xfrm>
          <a:prstGeom prst="rect">
            <a:avLst/>
          </a:prstGeom>
          <a:noFill/>
        </p:spPr>
        <p:txBody>
          <a:bodyPr wrap="none" lIns="0" rIns="0" tIns="0" bIns="0" anchor="t">
            <a:spAutoFit/>
          </a:bodyPr>
          <a:lstStyle/>
          <a:p>
            <a:pPr algn="l">
              <a:lnSpc>
                <a:spcPct val="100000"/>
              </a:lnSpc>
            </a:pPr>
            <a:r>
              <a:rPr sz="1950" b="1" i="0">
                <a:solidFill>
                  <a:srgbClr val="FFD21F"/>
                </a:solidFill>
                <a:latin typeface="Barlow"/>
              </a:rPr>
              <a:t>todo</a:t>
            </a:r>
          </a:p>
        </p:txBody>
      </p:sp>
      <p:sp>
        <p:nvSpPr>
          <p:cNvPr id="69" name="TextBox 68"/>
          <p:cNvSpPr txBox="1"/>
          <p:nvPr/>
        </p:nvSpPr>
        <p:spPr>
          <a:xfrm>
            <a:off x="12245876" y="7696200"/>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97,41%</a:t>
            </a:r>
          </a:p>
        </p:txBody>
      </p:sp>
      <p:sp>
        <p:nvSpPr>
          <p:cNvPr id="70" name="TextBox 69"/>
          <p:cNvSpPr txBox="1"/>
          <p:nvPr/>
        </p:nvSpPr>
        <p:spPr>
          <a:xfrm>
            <a:off x="12245876" y="8200072"/>
            <a:ext cx="1406842"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F1 DE PARES</a:t>
            </a:r>
          </a:p>
        </p:txBody>
      </p:sp>
      <p:sp>
        <p:nvSpPr>
          <p:cNvPr id="71" name="TextBox 70"/>
          <p:cNvSpPr txBox="1"/>
          <p:nvPr/>
        </p:nvSpPr>
        <p:spPr>
          <a:xfrm>
            <a:off x="14154448" y="8858250"/>
            <a:ext cx="1479494" cy="285750"/>
          </a:xfrm>
          <a:prstGeom prst="rect">
            <a:avLst/>
          </a:prstGeom>
          <a:noFill/>
        </p:spPr>
        <p:txBody>
          <a:bodyPr wrap="none" lIns="0" rIns="0" tIns="0" bIns="0" anchor="t">
            <a:spAutoFit/>
          </a:bodyPr>
          <a:lstStyle/>
          <a:p>
            <a:pPr algn="l">
              <a:lnSpc>
                <a:spcPct val="100000"/>
              </a:lnSpc>
            </a:pPr>
            <a:r>
              <a:rPr sz="1725" b="1" i="0" spc="138">
                <a:solidFill>
                  <a:srgbClr val="FFD21F"/>
                </a:solidFill>
                <a:latin typeface="Barlow"/>
              </a:rPr>
              <a:t>VALIDADOR</a:t>
            </a:r>
          </a:p>
        </p:txBody>
      </p:sp>
      <p:sp>
        <p:nvSpPr>
          <p:cNvPr id="72" name="TextBox 71"/>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3" name="TextBox 72"/>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27</a:t>
            </a:r>
          </a:p>
        </p:txBody>
      </p:sp>
      <p:sp>
        <p:nvSpPr>
          <p:cNvPr id="74" name="TextBox 73"/>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5" name="TextBox 74"/>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6" name="TextBox 75"/>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7" name="TextBox 76"/>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8" name="TextBox 77"/>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79" name="TextBox 78"/>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0" name="TextBox 79"/>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1" name="TextBox 80"/>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2" name="TextBox 81"/>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3" name="TextBox 82"/>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4" name="TextBox 83"/>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838200"/>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47738" y="2688878"/>
            <a:ext cx="905024" cy="47625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928961" y="2688878"/>
            <a:ext cx="1156543" cy="476250"/>
          </a:xfrm>
          <a:prstGeom prst="rect">
            <a:avLst/>
          </a:prstGeom>
          <a:solidFill>
            <a:srgbClr val="0B5EA8">
              <a:alpha val="34000"/>
            </a:srgbClr>
          </a:solidFill>
          <a:ln w="9525">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161705" y="2688878"/>
            <a:ext cx="1030784" cy="476250"/>
          </a:xfrm>
          <a:prstGeom prst="rect">
            <a:avLst/>
          </a:prstGeom>
          <a:solidFill>
            <a:srgbClr val="0B5EA8">
              <a:alpha val="34000"/>
            </a:srgbClr>
          </a:solidFill>
          <a:ln w="9525">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268688" y="2688878"/>
            <a:ext cx="653504" cy="476250"/>
          </a:xfrm>
          <a:prstGeom prst="rect">
            <a:avLst/>
          </a:prstGeom>
          <a:solidFill>
            <a:srgbClr val="0B5EA8">
              <a:alpha val="34000"/>
            </a:srgbClr>
          </a:solidFill>
          <a:ln w="9525">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998393" y="2688878"/>
            <a:ext cx="1533823" cy="476250"/>
          </a:xfrm>
          <a:prstGeom prst="rect">
            <a:avLst/>
          </a:prstGeom>
          <a:solidFill>
            <a:srgbClr val="0B5EA8">
              <a:alpha val="34000"/>
            </a:srgbClr>
          </a:solidFill>
          <a:ln w="9525">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608415" y="2688878"/>
            <a:ext cx="905024" cy="47625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589639" y="2688878"/>
            <a:ext cx="1408063"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073902" y="2688878"/>
            <a:ext cx="1156543"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0306645" y="2688878"/>
            <a:ext cx="1030784"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413629" y="2688878"/>
            <a:ext cx="653504"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143333" y="2688878"/>
            <a:ext cx="1408063" cy="476250"/>
          </a:xfrm>
          <a:prstGeom prst="rect">
            <a:avLst/>
          </a:prstGeom>
          <a:solidFill>
            <a:srgbClr val="FFD21F">
              <a:alpha val="14000"/>
            </a:srgbClr>
          </a:solidFill>
          <a:ln w="9525">
            <a:solidFill>
              <a:srgbClr val="FFD21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3627596" y="2688878"/>
            <a:ext cx="905024" cy="47625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3469928"/>
            <a:ext cx="16830675" cy="3010793"/>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971675" y="4396234"/>
            <a:ext cx="7667625" cy="19050"/>
          </a:xfrm>
          <a:prstGeom prst="rect">
            <a:avLst/>
          </a:prstGeom>
          <a:solidFill>
            <a:srgbClr val="FFD21F">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734550" y="4396234"/>
            <a:ext cx="7667625" cy="19050"/>
          </a:xfrm>
          <a:prstGeom prst="rect">
            <a:avLst/>
          </a:prstGeom>
          <a:solidFill>
            <a:srgbClr val="FFD21F">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857375" y="4510534"/>
            <a:ext cx="19050" cy="858887"/>
          </a:xfrm>
          <a:prstGeom prst="rect">
            <a:avLst/>
          </a:prstGeom>
          <a:solidFill>
            <a:srgbClr val="FFD21F">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976438" y="4515296"/>
            <a:ext cx="7658100" cy="849362"/>
          </a:xfrm>
          <a:prstGeom prst="rect">
            <a:avLst/>
          </a:prstGeom>
          <a:solidFill>
            <a:srgbClr val="07172D">
              <a:alpha val="6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739312" y="4515296"/>
            <a:ext cx="7658100" cy="849362"/>
          </a:xfrm>
          <a:prstGeom prst="rect">
            <a:avLst/>
          </a:prstGeom>
          <a:solidFill>
            <a:srgbClr val="FFD21F">
              <a:alpha val="12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857375" y="5464671"/>
            <a:ext cx="19050" cy="858887"/>
          </a:xfrm>
          <a:prstGeom prst="rect">
            <a:avLst/>
          </a:prstGeom>
          <a:solidFill>
            <a:srgbClr val="FFD21F">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976438" y="5469434"/>
            <a:ext cx="7658100" cy="849362"/>
          </a:xfrm>
          <a:prstGeom prst="rect">
            <a:avLst/>
          </a:prstGeom>
          <a:solidFill>
            <a:srgbClr val="FFD21F">
              <a:alpha val="12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739312" y="5469434"/>
            <a:ext cx="7658100" cy="849362"/>
          </a:xfrm>
          <a:prstGeom prst="rect">
            <a:avLst/>
          </a:prstGeom>
          <a:solidFill>
            <a:srgbClr val="07172D">
              <a:alpha val="6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320332"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325094" y="9944100"/>
            <a:ext cx="12270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81075" y="1663750"/>
            <a:ext cx="4099947"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02 / 06</a:t>
            </a:r>
          </a:p>
        </p:txBody>
      </p:sp>
      <p:sp>
        <p:nvSpPr>
          <p:cNvPr id="46" name="TextBox 45"/>
          <p:cNvSpPr txBox="1"/>
          <p:nvPr/>
        </p:nvSpPr>
        <p:spPr>
          <a:xfrm>
            <a:off x="981075" y="1885652"/>
            <a:ext cx="13430095"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 lectura conjunta: los dos cruces que nadie más tiene</a:t>
            </a:r>
          </a:p>
        </p:txBody>
      </p:sp>
      <p:sp>
        <p:nvSpPr>
          <p:cNvPr id="47" name="TextBox 46"/>
          <p:cNvSpPr txBox="1"/>
          <p:nvPr/>
        </p:nvSpPr>
        <p:spPr>
          <a:xfrm>
            <a:off x="1085850" y="2788890"/>
            <a:ext cx="774353" cy="295275"/>
          </a:xfrm>
          <a:prstGeom prst="rect">
            <a:avLst/>
          </a:prstGeom>
          <a:noFill/>
        </p:spPr>
        <p:txBody>
          <a:bodyPr wrap="none" lIns="0" rIns="0" tIns="0" bIns="0" anchor="t">
            <a:spAutoFit/>
          </a:bodyPr>
          <a:lstStyle/>
          <a:p>
            <a:pPr algn="l">
              <a:lnSpc>
                <a:spcPct val="100000"/>
              </a:lnSpc>
            </a:pPr>
            <a:r>
              <a:rPr sz="1650" b="1" i="0">
                <a:solidFill>
                  <a:srgbClr val="FFD21F"/>
                </a:solidFill>
                <a:latin typeface="Roboto Mono"/>
              </a:rPr>
              <a:t>[CLS]</a:t>
            </a:r>
          </a:p>
        </p:txBody>
      </p:sp>
      <p:sp>
        <p:nvSpPr>
          <p:cNvPr id="48" name="TextBox 47"/>
          <p:cNvSpPr txBox="1"/>
          <p:nvPr/>
        </p:nvSpPr>
        <p:spPr>
          <a:xfrm>
            <a:off x="2067074" y="2788890"/>
            <a:ext cx="1045994"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philips</a:t>
            </a:r>
          </a:p>
        </p:txBody>
      </p:sp>
      <p:sp>
        <p:nvSpPr>
          <p:cNvPr id="49" name="TextBox 48"/>
          <p:cNvSpPr txBox="1"/>
          <p:nvPr/>
        </p:nvSpPr>
        <p:spPr>
          <a:xfrm>
            <a:off x="3299817" y="2788890"/>
            <a:ext cx="910173"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neopix</a:t>
            </a:r>
          </a:p>
        </p:txBody>
      </p:sp>
      <p:sp>
        <p:nvSpPr>
          <p:cNvPr id="50" name="TextBox 49"/>
          <p:cNvSpPr txBox="1"/>
          <p:nvPr/>
        </p:nvSpPr>
        <p:spPr>
          <a:xfrm>
            <a:off x="4406801" y="2788890"/>
            <a:ext cx="502712"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150</a:t>
            </a:r>
          </a:p>
        </p:txBody>
      </p:sp>
      <p:sp>
        <p:nvSpPr>
          <p:cNvPr id="51" name="TextBox 50"/>
          <p:cNvSpPr txBox="1"/>
          <p:nvPr/>
        </p:nvSpPr>
        <p:spPr>
          <a:xfrm>
            <a:off x="5136505" y="2788890"/>
            <a:ext cx="1453455"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npx150/int</a:t>
            </a:r>
          </a:p>
        </p:txBody>
      </p:sp>
      <p:sp>
        <p:nvSpPr>
          <p:cNvPr id="52" name="TextBox 51"/>
          <p:cNvSpPr txBox="1"/>
          <p:nvPr/>
        </p:nvSpPr>
        <p:spPr>
          <a:xfrm>
            <a:off x="6746528" y="2788890"/>
            <a:ext cx="774353" cy="295275"/>
          </a:xfrm>
          <a:prstGeom prst="rect">
            <a:avLst/>
          </a:prstGeom>
          <a:noFill/>
        </p:spPr>
        <p:txBody>
          <a:bodyPr wrap="none" lIns="0" rIns="0" tIns="0" bIns="0" anchor="t">
            <a:spAutoFit/>
          </a:bodyPr>
          <a:lstStyle/>
          <a:p>
            <a:pPr algn="l">
              <a:lnSpc>
                <a:spcPct val="100000"/>
              </a:lnSpc>
            </a:pPr>
            <a:r>
              <a:rPr sz="1650" b="1" i="0">
                <a:solidFill>
                  <a:srgbClr val="FFD21F"/>
                </a:solidFill>
                <a:latin typeface="Roboto Mono"/>
              </a:rPr>
              <a:t>[SEP]</a:t>
            </a:r>
          </a:p>
        </p:txBody>
      </p:sp>
      <p:sp>
        <p:nvSpPr>
          <p:cNvPr id="53" name="TextBox 52"/>
          <p:cNvSpPr txBox="1"/>
          <p:nvPr/>
        </p:nvSpPr>
        <p:spPr>
          <a:xfrm>
            <a:off x="7727752" y="2788890"/>
            <a:ext cx="1317635"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proyector</a:t>
            </a:r>
          </a:p>
        </p:txBody>
      </p:sp>
      <p:sp>
        <p:nvSpPr>
          <p:cNvPr id="54" name="TextBox 53"/>
          <p:cNvSpPr txBox="1"/>
          <p:nvPr/>
        </p:nvSpPr>
        <p:spPr>
          <a:xfrm>
            <a:off x="9212014" y="2788890"/>
            <a:ext cx="1045994"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philips</a:t>
            </a:r>
          </a:p>
        </p:txBody>
      </p:sp>
      <p:sp>
        <p:nvSpPr>
          <p:cNvPr id="55" name="TextBox 54"/>
          <p:cNvSpPr txBox="1"/>
          <p:nvPr/>
        </p:nvSpPr>
        <p:spPr>
          <a:xfrm>
            <a:off x="10444758" y="2788890"/>
            <a:ext cx="910173"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neopix</a:t>
            </a:r>
          </a:p>
        </p:txBody>
      </p:sp>
      <p:sp>
        <p:nvSpPr>
          <p:cNvPr id="56" name="TextBox 55"/>
          <p:cNvSpPr txBox="1"/>
          <p:nvPr/>
        </p:nvSpPr>
        <p:spPr>
          <a:xfrm>
            <a:off x="11551741" y="2788890"/>
            <a:ext cx="502712"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150</a:t>
            </a:r>
          </a:p>
        </p:txBody>
      </p:sp>
      <p:sp>
        <p:nvSpPr>
          <p:cNvPr id="57" name="TextBox 56"/>
          <p:cNvSpPr txBox="1"/>
          <p:nvPr/>
        </p:nvSpPr>
        <p:spPr>
          <a:xfrm>
            <a:off x="12281446" y="2788890"/>
            <a:ext cx="1317635" cy="295275"/>
          </a:xfrm>
          <a:prstGeom prst="rect">
            <a:avLst/>
          </a:prstGeom>
          <a:noFill/>
        </p:spPr>
        <p:txBody>
          <a:bodyPr wrap="none" lIns="0" rIns="0" tIns="0" bIns="0" anchor="t">
            <a:spAutoFit/>
          </a:bodyPr>
          <a:lstStyle/>
          <a:p>
            <a:pPr algn="l">
              <a:lnSpc>
                <a:spcPct val="100000"/>
              </a:lnSpc>
            </a:pPr>
            <a:r>
              <a:rPr sz="1650" b="1" i="0">
                <a:solidFill>
                  <a:srgbClr val="F3F7FC"/>
                </a:solidFill>
                <a:latin typeface="Roboto Mono"/>
              </a:rPr>
              <a:t>npx150/90</a:t>
            </a:r>
          </a:p>
        </p:txBody>
      </p:sp>
      <p:sp>
        <p:nvSpPr>
          <p:cNvPr id="58" name="TextBox 57"/>
          <p:cNvSpPr txBox="1"/>
          <p:nvPr/>
        </p:nvSpPr>
        <p:spPr>
          <a:xfrm>
            <a:off x="13765709" y="2788890"/>
            <a:ext cx="774353" cy="295275"/>
          </a:xfrm>
          <a:prstGeom prst="rect">
            <a:avLst/>
          </a:prstGeom>
          <a:noFill/>
        </p:spPr>
        <p:txBody>
          <a:bodyPr wrap="none" lIns="0" rIns="0" tIns="0" bIns="0" anchor="t">
            <a:spAutoFit/>
          </a:bodyPr>
          <a:lstStyle/>
          <a:p>
            <a:pPr algn="l">
              <a:lnSpc>
                <a:spcPct val="100000"/>
              </a:lnSpc>
            </a:pPr>
            <a:r>
              <a:rPr sz="1650" b="1" i="0">
                <a:solidFill>
                  <a:srgbClr val="FFD21F"/>
                </a:solidFill>
                <a:latin typeface="Roboto Mono"/>
              </a:rPr>
              <a:t>[SEP]</a:t>
            </a:r>
          </a:p>
        </p:txBody>
      </p:sp>
      <p:sp>
        <p:nvSpPr>
          <p:cNvPr id="59" name="TextBox 58"/>
          <p:cNvSpPr txBox="1"/>
          <p:nvPr/>
        </p:nvSpPr>
        <p:spPr>
          <a:xfrm>
            <a:off x="902963" y="3617565"/>
            <a:ext cx="956325" cy="425648"/>
          </a:xfrm>
          <a:prstGeom prst="rect">
            <a:avLst/>
          </a:prstGeom>
          <a:noFill/>
        </p:spPr>
        <p:txBody>
          <a:bodyPr wrap="square" lIns="0" rIns="0" tIns="0" bIns="0" anchor="t">
            <a:spAutoFit/>
          </a:bodyPr>
          <a:lstStyle/>
          <a:p>
            <a:pPr algn="ctr">
              <a:lnSpc>
                <a:spcPct val="95800"/>
              </a:lnSpc>
            </a:pPr>
            <a:r>
              <a:rPr sz="1350" b="1" i="0" spc="67">
                <a:solidFill>
                  <a:srgbClr val="9AB3CD"/>
                </a:solidFill>
                <a:latin typeface="Barlow"/>
              </a:rPr>
              <a:t>CONSULTA ↓</a:t>
            </a:r>
          </a:p>
        </p:txBody>
      </p:sp>
      <p:sp>
        <p:nvSpPr>
          <p:cNvPr id="60" name="TextBox 59"/>
          <p:cNvSpPr txBox="1"/>
          <p:nvPr/>
        </p:nvSpPr>
        <p:spPr>
          <a:xfrm>
            <a:off x="926570" y="4011662"/>
            <a:ext cx="909111" cy="425648"/>
          </a:xfrm>
          <a:prstGeom prst="rect">
            <a:avLst/>
          </a:prstGeom>
          <a:noFill/>
        </p:spPr>
        <p:txBody>
          <a:bodyPr wrap="square" lIns="0" rIns="0" tIns="0" bIns="0" anchor="t">
            <a:spAutoFit/>
          </a:bodyPr>
          <a:lstStyle/>
          <a:p>
            <a:pPr algn="ctr">
              <a:lnSpc>
                <a:spcPct val="95800"/>
              </a:lnSpc>
            </a:pPr>
            <a:r>
              <a:rPr sz="1350" b="1" i="0" spc="67">
                <a:solidFill>
                  <a:srgbClr val="9AB3CD"/>
                </a:solidFill>
                <a:latin typeface="Barlow"/>
              </a:rPr>
              <a:t>ATENDIDO →</a:t>
            </a:r>
          </a:p>
        </p:txBody>
      </p:sp>
      <p:sp>
        <p:nvSpPr>
          <p:cNvPr id="61" name="TextBox 60"/>
          <p:cNvSpPr txBox="1"/>
          <p:nvPr/>
        </p:nvSpPr>
        <p:spPr>
          <a:xfrm>
            <a:off x="4522625" y="3885932"/>
            <a:ext cx="2565577" cy="270510"/>
          </a:xfrm>
          <a:prstGeom prst="rect">
            <a:avLst/>
          </a:prstGeom>
          <a:noFill/>
        </p:spPr>
        <p:txBody>
          <a:bodyPr wrap="none" lIns="0" rIns="0" tIns="0" bIns="0" anchor="t">
            <a:spAutoFit/>
          </a:bodyPr>
          <a:lstStyle/>
          <a:p>
            <a:pPr algn="ctr">
              <a:lnSpc>
                <a:spcPct val="100000"/>
              </a:lnSpc>
            </a:pPr>
            <a:r>
              <a:rPr sz="1650" b="1" i="0" spc="82">
                <a:solidFill>
                  <a:srgbClr val="FFD21F"/>
                </a:solidFill>
                <a:latin typeface="Barlow"/>
              </a:rPr>
              <a:t>A · PRODUCTO OFICIAL</a:t>
            </a:r>
          </a:p>
        </p:txBody>
      </p:sp>
      <p:sp>
        <p:nvSpPr>
          <p:cNvPr id="62" name="TextBox 61"/>
          <p:cNvSpPr txBox="1"/>
          <p:nvPr/>
        </p:nvSpPr>
        <p:spPr>
          <a:xfrm>
            <a:off x="12031700" y="3885932"/>
            <a:ext cx="3073176" cy="270510"/>
          </a:xfrm>
          <a:prstGeom prst="rect">
            <a:avLst/>
          </a:prstGeom>
          <a:noFill/>
        </p:spPr>
        <p:txBody>
          <a:bodyPr wrap="none" lIns="0" rIns="0" tIns="0" bIns="0" anchor="t">
            <a:spAutoFit/>
          </a:bodyPr>
          <a:lstStyle/>
          <a:p>
            <a:pPr algn="ctr">
              <a:lnSpc>
                <a:spcPct val="100000"/>
              </a:lnSpc>
            </a:pPr>
            <a:r>
              <a:rPr sz="1650" b="1" i="0" spc="82">
                <a:solidFill>
                  <a:srgbClr val="FFD21F"/>
                </a:solidFill>
                <a:latin typeface="Barlow"/>
              </a:rPr>
              <a:t>B · PUBLICACIÓN RETAILER</a:t>
            </a:r>
          </a:p>
        </p:txBody>
      </p:sp>
      <p:sp>
        <p:nvSpPr>
          <p:cNvPr id="63" name="TextBox 62"/>
          <p:cNvSpPr txBox="1"/>
          <p:nvPr/>
        </p:nvSpPr>
        <p:spPr>
          <a:xfrm>
            <a:off x="1190405" y="4734163"/>
            <a:ext cx="362391" cy="430530"/>
          </a:xfrm>
          <a:prstGeom prst="rect">
            <a:avLst/>
          </a:prstGeom>
          <a:noFill/>
        </p:spPr>
        <p:txBody>
          <a:bodyPr wrap="none" lIns="0" rIns="0" tIns="0" bIns="0" anchor="t">
            <a:spAutoFit/>
          </a:bodyPr>
          <a:lstStyle/>
          <a:p>
            <a:pPr algn="ctr">
              <a:lnSpc>
                <a:spcPct val="100000"/>
              </a:lnSpc>
            </a:pPr>
            <a:r>
              <a:rPr sz="2700" b="1" i="0" spc="135">
                <a:solidFill>
                  <a:srgbClr val="FFD21F"/>
                </a:solidFill>
                <a:latin typeface="Barlow"/>
              </a:rPr>
              <a:t>A</a:t>
            </a:r>
          </a:p>
        </p:txBody>
      </p:sp>
      <p:sp>
        <p:nvSpPr>
          <p:cNvPr id="64" name="TextBox 63"/>
          <p:cNvSpPr txBox="1"/>
          <p:nvPr/>
        </p:nvSpPr>
        <p:spPr>
          <a:xfrm>
            <a:off x="2152650" y="4622453"/>
            <a:ext cx="898440" cy="342900"/>
          </a:xfrm>
          <a:prstGeom prst="rect">
            <a:avLst/>
          </a:prstGeom>
          <a:noFill/>
        </p:spPr>
        <p:txBody>
          <a:bodyPr wrap="none" lIns="0" rIns="0" tIns="0" bIns="0" anchor="t">
            <a:spAutoFit/>
          </a:bodyPr>
          <a:lstStyle/>
          <a:p>
            <a:pPr algn="l">
              <a:lnSpc>
                <a:spcPct val="100000"/>
              </a:lnSpc>
            </a:pPr>
            <a:r>
              <a:rPr sz="1950" b="1" i="0">
                <a:solidFill>
                  <a:srgbClr val="F3F7FC"/>
                </a:solidFill>
                <a:latin typeface="Roboto Mono"/>
              </a:rPr>
              <a:t>A → A</a:t>
            </a:r>
          </a:p>
        </p:txBody>
      </p:sp>
      <p:sp>
        <p:nvSpPr>
          <p:cNvPr id="65" name="TextBox 64"/>
          <p:cNvSpPr txBox="1"/>
          <p:nvPr/>
        </p:nvSpPr>
        <p:spPr>
          <a:xfrm>
            <a:off x="2152650" y="4993928"/>
            <a:ext cx="6852202" cy="285750"/>
          </a:xfrm>
          <a:prstGeom prst="rect">
            <a:avLst/>
          </a:prstGeom>
          <a:noFill/>
        </p:spPr>
        <p:txBody>
          <a:bodyPr wrap="none" lIns="0" rIns="0" tIns="0" bIns="0" anchor="t">
            <a:spAutoFit/>
          </a:bodyPr>
          <a:lstStyle/>
          <a:p>
            <a:pPr algn="l">
              <a:lnSpc>
                <a:spcPct val="96700"/>
              </a:lnSpc>
            </a:pPr>
            <a:r>
              <a:rPr sz="1725" b="0" i="0">
                <a:solidFill>
                  <a:srgbClr val="9AB3CD"/>
                </a:solidFill>
                <a:latin typeface="Barlow"/>
              </a:rPr>
              <a:t>El producto oficial se lee a sí mismo. Es lo único que ve el Modelo 2.</a:t>
            </a:r>
          </a:p>
        </p:txBody>
      </p:sp>
      <p:sp>
        <p:nvSpPr>
          <p:cNvPr id="66" name="TextBox 65"/>
          <p:cNvSpPr txBox="1"/>
          <p:nvPr/>
        </p:nvSpPr>
        <p:spPr>
          <a:xfrm>
            <a:off x="9915525" y="4622453"/>
            <a:ext cx="898440" cy="342900"/>
          </a:xfrm>
          <a:prstGeom prst="rect">
            <a:avLst/>
          </a:prstGeom>
          <a:noFill/>
        </p:spPr>
        <p:txBody>
          <a:bodyPr wrap="none" lIns="0" rIns="0" tIns="0" bIns="0" anchor="t">
            <a:spAutoFit/>
          </a:bodyPr>
          <a:lstStyle/>
          <a:p>
            <a:pPr algn="l">
              <a:lnSpc>
                <a:spcPct val="100000"/>
              </a:lnSpc>
            </a:pPr>
            <a:r>
              <a:rPr sz="1950" b="1" i="0">
                <a:solidFill>
                  <a:srgbClr val="FFD21F"/>
                </a:solidFill>
                <a:latin typeface="Roboto Mono"/>
              </a:rPr>
              <a:t>A → B</a:t>
            </a:r>
          </a:p>
        </p:txBody>
      </p:sp>
      <p:sp>
        <p:nvSpPr>
          <p:cNvPr id="67" name="TextBox 66"/>
          <p:cNvSpPr txBox="1"/>
          <p:nvPr/>
        </p:nvSpPr>
        <p:spPr>
          <a:xfrm>
            <a:off x="9915525" y="4993928"/>
            <a:ext cx="5425523" cy="285750"/>
          </a:xfrm>
          <a:prstGeom prst="rect">
            <a:avLst/>
          </a:prstGeom>
          <a:noFill/>
        </p:spPr>
        <p:txBody>
          <a:bodyPr wrap="none" lIns="0" rIns="0" tIns="0" bIns="0" anchor="t">
            <a:spAutoFit/>
          </a:bodyPr>
          <a:lstStyle/>
          <a:p>
            <a:pPr algn="l">
              <a:lnSpc>
                <a:spcPct val="96700"/>
              </a:lnSpc>
            </a:pPr>
            <a:r>
              <a:rPr sz="1725" b="0" i="0">
                <a:solidFill>
                  <a:srgbClr val="9AB3CD"/>
                </a:solidFill>
                <a:latin typeface="Barlow"/>
              </a:rPr>
              <a:t>Cada token del catálogo consulta el título del retailer.</a:t>
            </a:r>
          </a:p>
        </p:txBody>
      </p:sp>
      <p:sp>
        <p:nvSpPr>
          <p:cNvPr id="68" name="TextBox 67"/>
          <p:cNvSpPr txBox="1"/>
          <p:nvPr/>
        </p:nvSpPr>
        <p:spPr>
          <a:xfrm>
            <a:off x="1199888" y="5688300"/>
            <a:ext cx="343424" cy="430530"/>
          </a:xfrm>
          <a:prstGeom prst="rect">
            <a:avLst/>
          </a:prstGeom>
          <a:noFill/>
        </p:spPr>
        <p:txBody>
          <a:bodyPr wrap="none" lIns="0" rIns="0" tIns="0" bIns="0" anchor="t">
            <a:spAutoFit/>
          </a:bodyPr>
          <a:lstStyle/>
          <a:p>
            <a:pPr algn="ctr">
              <a:lnSpc>
                <a:spcPct val="100000"/>
              </a:lnSpc>
            </a:pPr>
            <a:r>
              <a:rPr sz="2700" b="1" i="0" spc="135">
                <a:solidFill>
                  <a:srgbClr val="FFD21F"/>
                </a:solidFill>
                <a:latin typeface="Barlow"/>
              </a:rPr>
              <a:t>B</a:t>
            </a:r>
          </a:p>
        </p:txBody>
      </p:sp>
      <p:sp>
        <p:nvSpPr>
          <p:cNvPr id="69" name="TextBox 68"/>
          <p:cNvSpPr txBox="1"/>
          <p:nvPr/>
        </p:nvSpPr>
        <p:spPr>
          <a:xfrm>
            <a:off x="2152650" y="5576590"/>
            <a:ext cx="898440" cy="342900"/>
          </a:xfrm>
          <a:prstGeom prst="rect">
            <a:avLst/>
          </a:prstGeom>
          <a:noFill/>
        </p:spPr>
        <p:txBody>
          <a:bodyPr wrap="none" lIns="0" rIns="0" tIns="0" bIns="0" anchor="t">
            <a:spAutoFit/>
          </a:bodyPr>
          <a:lstStyle/>
          <a:p>
            <a:pPr algn="l">
              <a:lnSpc>
                <a:spcPct val="100000"/>
              </a:lnSpc>
            </a:pPr>
            <a:r>
              <a:rPr sz="1950" b="1" i="0">
                <a:solidFill>
                  <a:srgbClr val="FFD21F"/>
                </a:solidFill>
                <a:latin typeface="Roboto Mono"/>
              </a:rPr>
              <a:t>B → A</a:t>
            </a:r>
          </a:p>
        </p:txBody>
      </p:sp>
      <p:sp>
        <p:nvSpPr>
          <p:cNvPr id="70" name="TextBox 69"/>
          <p:cNvSpPr txBox="1"/>
          <p:nvPr/>
        </p:nvSpPr>
        <p:spPr>
          <a:xfrm>
            <a:off x="2152650" y="5948065"/>
            <a:ext cx="1956515"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Y al revés: el sufijo</a:t>
            </a:r>
          </a:p>
        </p:txBody>
      </p:sp>
      <p:sp>
        <p:nvSpPr>
          <p:cNvPr id="71" name="TextBox 70"/>
          <p:cNvSpPr txBox="1"/>
          <p:nvPr/>
        </p:nvSpPr>
        <p:spPr>
          <a:xfrm>
            <a:off x="3926532" y="5967115"/>
            <a:ext cx="435572"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/90</a:t>
            </a:r>
          </a:p>
        </p:txBody>
      </p:sp>
      <p:sp>
        <p:nvSpPr>
          <p:cNvPr id="72" name="TextBox 71"/>
          <p:cNvSpPr txBox="1"/>
          <p:nvPr/>
        </p:nvSpPr>
        <p:spPr>
          <a:xfrm>
            <a:off x="4309318" y="5948065"/>
            <a:ext cx="1802386"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se confronta con</a:t>
            </a:r>
          </a:p>
        </p:txBody>
      </p:sp>
      <p:sp>
        <p:nvSpPr>
          <p:cNvPr id="73" name="TextBox 72"/>
          <p:cNvSpPr txBox="1"/>
          <p:nvPr/>
        </p:nvSpPr>
        <p:spPr>
          <a:xfrm>
            <a:off x="5937796" y="5967115"/>
            <a:ext cx="555310"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/INT</a:t>
            </a:r>
          </a:p>
        </p:txBody>
      </p:sp>
      <p:sp>
        <p:nvSpPr>
          <p:cNvPr id="74" name="TextBox 73"/>
          <p:cNvSpPr txBox="1"/>
          <p:nvPr/>
        </p:nvSpPr>
        <p:spPr>
          <a:xfrm>
            <a:off x="6389787" y="5948065"/>
            <a:ext cx="141354"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a:t>
            </a:r>
          </a:p>
        </p:txBody>
      </p:sp>
      <p:sp>
        <p:nvSpPr>
          <p:cNvPr id="75" name="TextBox 74"/>
          <p:cNvSpPr txBox="1"/>
          <p:nvPr/>
        </p:nvSpPr>
        <p:spPr>
          <a:xfrm>
            <a:off x="9915525" y="5576590"/>
            <a:ext cx="898440" cy="342900"/>
          </a:xfrm>
          <a:prstGeom prst="rect">
            <a:avLst/>
          </a:prstGeom>
          <a:noFill/>
        </p:spPr>
        <p:txBody>
          <a:bodyPr wrap="none" lIns="0" rIns="0" tIns="0" bIns="0" anchor="t">
            <a:spAutoFit/>
          </a:bodyPr>
          <a:lstStyle/>
          <a:p>
            <a:pPr algn="l">
              <a:lnSpc>
                <a:spcPct val="100000"/>
              </a:lnSpc>
            </a:pPr>
            <a:r>
              <a:rPr sz="1950" b="1" i="0">
                <a:solidFill>
                  <a:srgbClr val="F3F7FC"/>
                </a:solidFill>
                <a:latin typeface="Roboto Mono"/>
              </a:rPr>
              <a:t>B → B</a:t>
            </a:r>
          </a:p>
        </p:txBody>
      </p:sp>
      <p:sp>
        <p:nvSpPr>
          <p:cNvPr id="76" name="TextBox 75"/>
          <p:cNvSpPr txBox="1"/>
          <p:nvPr/>
        </p:nvSpPr>
        <p:spPr>
          <a:xfrm>
            <a:off x="9915525" y="5948065"/>
            <a:ext cx="3383393" cy="285750"/>
          </a:xfrm>
          <a:prstGeom prst="rect">
            <a:avLst/>
          </a:prstGeom>
          <a:noFill/>
        </p:spPr>
        <p:txBody>
          <a:bodyPr wrap="none" lIns="0" rIns="0" tIns="0" bIns="0" anchor="t">
            <a:spAutoFit/>
          </a:bodyPr>
          <a:lstStyle/>
          <a:p>
            <a:pPr algn="l">
              <a:lnSpc>
                <a:spcPct val="96700"/>
              </a:lnSpc>
            </a:pPr>
            <a:r>
              <a:rPr sz="1725" b="0" i="0">
                <a:solidFill>
                  <a:srgbClr val="9AB3CD"/>
                </a:solidFill>
                <a:latin typeface="Barlow"/>
              </a:rPr>
              <a:t>La publicación se lee a sí misma.</a:t>
            </a:r>
          </a:p>
        </p:txBody>
      </p:sp>
      <p:sp>
        <p:nvSpPr>
          <p:cNvPr id="77" name="TextBox 76"/>
          <p:cNvSpPr txBox="1"/>
          <p:nvPr/>
        </p:nvSpPr>
        <p:spPr>
          <a:xfrm>
            <a:off x="723900" y="6590258"/>
            <a:ext cx="11273201"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Los cuadrantes cruzados son la diferencia: el falso positivo por sufijo distinto cae de </a:t>
            </a:r>
            <a:r>
              <a:rPr sz="1725" b="0" i="0">
                <a:solidFill>
                  <a:srgbClr val="FFD21F"/>
                </a:solidFill>
                <a:latin typeface="Barlow"/>
              </a:rPr>
              <a:t>36,59%</a:t>
            </a:r>
            <a:r>
              <a:rPr sz="1725" b="0" i="0">
                <a:solidFill>
                  <a:srgbClr val="9AB3CD"/>
                </a:solidFill>
                <a:latin typeface="Barlow"/>
              </a:rPr>
              <a:t> y </a:t>
            </a:r>
            <a:r>
              <a:rPr sz="1725" b="0" i="0">
                <a:solidFill>
                  <a:srgbClr val="FFD21F"/>
                </a:solidFill>
                <a:latin typeface="Barlow"/>
              </a:rPr>
              <a:t>90,24%</a:t>
            </a:r>
            <a:r>
              <a:rPr sz="1725" b="0" i="0">
                <a:solidFill>
                  <a:srgbClr val="9AB3CD"/>
                </a:solidFill>
                <a:latin typeface="Barlow"/>
              </a:rPr>
              <a:t> a </a:t>
            </a:r>
            <a:r>
              <a:rPr sz="1725" b="0" i="0">
                <a:solidFill>
                  <a:srgbClr val="FFD21F"/>
                </a:solidFill>
                <a:latin typeface="Barlow"/>
              </a:rPr>
              <a:t>4,88%</a:t>
            </a:r>
            <a:r>
              <a:rPr sz="1725" b="0" i="0">
                <a:solidFill>
                  <a:srgbClr val="9AB3CD"/>
                </a:solidFill>
                <a:latin typeface="Barlow"/>
              </a:rPr>
              <a:t>.</a:t>
            </a:r>
          </a:p>
        </p:txBody>
      </p:sp>
      <p:sp>
        <p:nvSpPr>
          <p:cNvPr id="78" name="TextBox 77"/>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9" name="TextBox 78"/>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80" name="TextBox 79"/>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28</a:t>
            </a:r>
          </a:p>
        </p:txBody>
      </p:sp>
      <p:sp>
        <p:nvSpPr>
          <p:cNvPr id="81" name="TextBox 80"/>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82" name="TextBox 81"/>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83" name="TextBox 82"/>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4" name="TextBox 83"/>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5" name="TextBox 84"/>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6" name="TextBox 85"/>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7" name="TextBox 86"/>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8" name="TextBox 87"/>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9" name="TextBox 88"/>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90" name="TextBox 89"/>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11701" cy="126682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11701"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760440"/>
            <a:ext cx="5511701"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66675" cy="126682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6076" y="2503140"/>
            <a:ext cx="9525" cy="12668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88001" y="2503140"/>
            <a:ext cx="5511850" cy="126682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88001" y="2503140"/>
            <a:ext cx="551185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88001" y="3760440"/>
            <a:ext cx="551185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88001" y="2503140"/>
            <a:ext cx="66675" cy="1266825"/>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890325" y="2503140"/>
            <a:ext cx="9525" cy="12668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052250" y="2503140"/>
            <a:ext cx="5511850" cy="1266825"/>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052250" y="2503140"/>
            <a:ext cx="551185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052250" y="3760440"/>
            <a:ext cx="5511850"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052250" y="2503140"/>
            <a:ext cx="66675" cy="12668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7554575" y="2503140"/>
            <a:ext cx="9525" cy="12668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3889028"/>
            <a:ext cx="5502176" cy="572646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8688"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574750"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220813"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2866876" y="4498628"/>
            <a:ext cx="579537" cy="579537"/>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513088"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159151"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805214"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451277" y="4498628"/>
            <a:ext cx="579537" cy="579537"/>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28688"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574750"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220813"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2866876" y="5144839"/>
            <a:ext cx="579537" cy="579537"/>
          </a:xfrm>
          <a:prstGeom prst="rect">
            <a:avLst/>
          </a:prstGeom>
          <a:solidFill>
            <a:srgbClr val="FFD21F"/>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3513088"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159151"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4805214" y="5144839"/>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451277" y="5144839"/>
            <a:ext cx="579537" cy="579537"/>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392763" y="3889028"/>
            <a:ext cx="5502325" cy="572646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592788"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238851"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884914" y="4498628"/>
            <a:ext cx="579537" cy="579537"/>
          </a:xfrm>
          <a:prstGeom prst="rect">
            <a:avLst/>
          </a:prstGeom>
          <a:solidFill>
            <a:srgbClr val="FFD21F"/>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8531126"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177189" y="4498628"/>
            <a:ext cx="579388" cy="579388"/>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823252" y="4498628"/>
            <a:ext cx="579537" cy="579537"/>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057013" y="3889028"/>
            <a:ext cx="5502325" cy="572646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2257038" y="4498628"/>
            <a:ext cx="579388" cy="579388"/>
          </a:xfrm>
          <a:prstGeom prst="rect">
            <a:avLst/>
          </a:prstGeom>
          <a:solidFill>
            <a:srgbClr val="FFD21F"/>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530751" y="9720262"/>
            <a:ext cx="1134368"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5535513" y="9944100"/>
            <a:ext cx="134981"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Rectangle 62"/>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981075" y="1663750"/>
            <a:ext cx="409544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03 / 06</a:t>
            </a:r>
          </a:p>
        </p:txBody>
      </p:sp>
      <p:sp>
        <p:nvSpPr>
          <p:cNvPr id="66" name="TextBox 65"/>
          <p:cNvSpPr txBox="1"/>
          <p:nvPr/>
        </p:nvSpPr>
        <p:spPr>
          <a:xfrm>
            <a:off x="981075" y="1885652"/>
            <a:ext cx="1111905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23 configuraciones definidas antes de evaluar</a:t>
            </a:r>
          </a:p>
        </p:txBody>
      </p:sp>
      <p:sp>
        <p:nvSpPr>
          <p:cNvPr id="67" name="TextBox 66"/>
          <p:cNvSpPr txBox="1"/>
          <p:nvPr/>
        </p:nvSpPr>
        <p:spPr>
          <a:xfrm>
            <a:off x="962025" y="2646015"/>
            <a:ext cx="883009" cy="304800"/>
          </a:xfrm>
          <a:prstGeom prst="rect">
            <a:avLst/>
          </a:prstGeom>
          <a:noFill/>
        </p:spPr>
        <p:txBody>
          <a:bodyPr wrap="none" lIns="0" rIns="0" tIns="0" bIns="0" anchor="t">
            <a:spAutoFit/>
          </a:bodyPr>
          <a:lstStyle/>
          <a:p>
            <a:pPr algn="l">
              <a:lnSpc>
                <a:spcPct val="100000"/>
              </a:lnSpc>
            </a:pPr>
            <a:r>
              <a:rPr sz="1875" b="1" i="0" spc="93">
                <a:solidFill>
                  <a:srgbClr val="F3F7FC"/>
                </a:solidFill>
                <a:latin typeface="Barlow"/>
              </a:rPr>
              <a:t>TRAIN</a:t>
            </a:r>
          </a:p>
        </p:txBody>
      </p:sp>
      <p:sp>
        <p:nvSpPr>
          <p:cNvPr id="68" name="TextBox 67"/>
          <p:cNvSpPr txBox="1"/>
          <p:nvPr/>
        </p:nvSpPr>
        <p:spPr>
          <a:xfrm>
            <a:off x="962025" y="2988915"/>
            <a:ext cx="1950768"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2025-01 … 10</a:t>
            </a:r>
          </a:p>
        </p:txBody>
      </p:sp>
      <p:sp>
        <p:nvSpPr>
          <p:cNvPr id="69" name="TextBox 68"/>
          <p:cNvSpPr txBox="1"/>
          <p:nvPr/>
        </p:nvSpPr>
        <p:spPr>
          <a:xfrm>
            <a:off x="962025" y="3388013"/>
            <a:ext cx="3751314" cy="259080"/>
          </a:xfrm>
          <a:prstGeom prst="rect">
            <a:avLst/>
          </a:prstGeom>
          <a:noFill/>
        </p:spPr>
        <p:txBody>
          <a:bodyPr wrap="none" lIns="0" rIns="0" tIns="0" bIns="0" anchor="t">
            <a:spAutoFit/>
          </a:bodyPr>
          <a:lstStyle/>
          <a:p>
            <a:pPr algn="l">
              <a:lnSpc>
                <a:spcPct val="100000"/>
              </a:lnSpc>
            </a:pPr>
            <a:r>
              <a:rPr sz="1575" b="0" i="0">
                <a:solidFill>
                  <a:srgbClr val="9AB3CD"/>
                </a:solidFill>
                <a:latin typeface="Barlow"/>
              </a:rPr>
              <a:t>Ajusta las transformaciones. Nada más.</a:t>
            </a:r>
          </a:p>
        </p:txBody>
      </p:sp>
      <p:sp>
        <p:nvSpPr>
          <p:cNvPr id="70" name="TextBox 69"/>
          <p:cNvSpPr txBox="1"/>
          <p:nvPr/>
        </p:nvSpPr>
        <p:spPr>
          <a:xfrm>
            <a:off x="6626126" y="2646015"/>
            <a:ext cx="1593616" cy="304800"/>
          </a:xfrm>
          <a:prstGeom prst="rect">
            <a:avLst/>
          </a:prstGeom>
          <a:noFill/>
        </p:spPr>
        <p:txBody>
          <a:bodyPr wrap="none" lIns="0" rIns="0" tIns="0" bIns="0" anchor="t">
            <a:spAutoFit/>
          </a:bodyPr>
          <a:lstStyle/>
          <a:p>
            <a:pPr algn="l">
              <a:lnSpc>
                <a:spcPct val="100000"/>
              </a:lnSpc>
            </a:pPr>
            <a:r>
              <a:rPr sz="1875" b="1" i="0" spc="93">
                <a:solidFill>
                  <a:srgbClr val="F3F7FC"/>
                </a:solidFill>
                <a:latin typeface="Barlow"/>
              </a:rPr>
              <a:t>VALIDATION</a:t>
            </a:r>
          </a:p>
        </p:txBody>
      </p:sp>
      <p:sp>
        <p:nvSpPr>
          <p:cNvPr id="71" name="TextBox 70"/>
          <p:cNvSpPr txBox="1"/>
          <p:nvPr/>
        </p:nvSpPr>
        <p:spPr>
          <a:xfrm>
            <a:off x="6626126" y="2988915"/>
            <a:ext cx="3328261"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2025-11 · 428 consultas</a:t>
            </a:r>
          </a:p>
        </p:txBody>
      </p:sp>
      <p:sp>
        <p:nvSpPr>
          <p:cNvPr id="72" name="TextBox 71"/>
          <p:cNvSpPr txBox="1"/>
          <p:nvPr/>
        </p:nvSpPr>
        <p:spPr>
          <a:xfrm>
            <a:off x="6626126" y="3388013"/>
            <a:ext cx="3340316" cy="259080"/>
          </a:xfrm>
          <a:prstGeom prst="rect">
            <a:avLst/>
          </a:prstGeom>
          <a:noFill/>
        </p:spPr>
        <p:txBody>
          <a:bodyPr wrap="none" lIns="0" rIns="0" tIns="0" bIns="0" anchor="t">
            <a:spAutoFit/>
          </a:bodyPr>
          <a:lstStyle/>
          <a:p>
            <a:pPr algn="l">
              <a:lnSpc>
                <a:spcPct val="100000"/>
              </a:lnSpc>
            </a:pPr>
            <a:r>
              <a:rPr sz="1575" b="0" i="0">
                <a:solidFill>
                  <a:srgbClr val="9AB3CD"/>
                </a:solidFill>
                <a:latin typeface="Barlow"/>
              </a:rPr>
              <a:t>Selecciona configuración y umbral.</a:t>
            </a:r>
          </a:p>
        </p:txBody>
      </p:sp>
      <p:sp>
        <p:nvSpPr>
          <p:cNvPr id="73" name="TextBox 72"/>
          <p:cNvSpPr txBox="1"/>
          <p:nvPr/>
        </p:nvSpPr>
        <p:spPr>
          <a:xfrm>
            <a:off x="12290375" y="2646015"/>
            <a:ext cx="748796" cy="304800"/>
          </a:xfrm>
          <a:prstGeom prst="rect">
            <a:avLst/>
          </a:prstGeom>
          <a:noFill/>
        </p:spPr>
        <p:txBody>
          <a:bodyPr wrap="none" lIns="0" rIns="0" tIns="0" bIns="0" anchor="t">
            <a:spAutoFit/>
          </a:bodyPr>
          <a:lstStyle/>
          <a:p>
            <a:pPr algn="l">
              <a:lnSpc>
                <a:spcPct val="100000"/>
              </a:lnSpc>
            </a:pPr>
            <a:r>
              <a:rPr sz="1875" b="1" i="0" spc="93">
                <a:solidFill>
                  <a:srgbClr val="F3F7FC"/>
                </a:solidFill>
                <a:latin typeface="Barlow"/>
              </a:rPr>
              <a:t>TEST</a:t>
            </a:r>
          </a:p>
        </p:txBody>
      </p:sp>
      <p:sp>
        <p:nvSpPr>
          <p:cNvPr id="74" name="TextBox 73"/>
          <p:cNvSpPr txBox="1"/>
          <p:nvPr/>
        </p:nvSpPr>
        <p:spPr>
          <a:xfrm>
            <a:off x="12290375" y="2988915"/>
            <a:ext cx="3328261" cy="361950"/>
          </a:xfrm>
          <a:prstGeom prst="rect">
            <a:avLst/>
          </a:prstGeom>
          <a:noFill/>
        </p:spPr>
        <p:txBody>
          <a:bodyPr wrap="none" lIns="0" rIns="0" tIns="0" bIns="0" anchor="t">
            <a:spAutoFit/>
          </a:bodyPr>
          <a:lstStyle/>
          <a:p>
            <a:pPr algn="l">
              <a:lnSpc>
                <a:spcPct val="100000"/>
              </a:lnSpc>
            </a:pPr>
            <a:r>
              <a:rPr sz="2250" b="1" i="0">
                <a:solidFill>
                  <a:srgbClr val="FFD21F"/>
                </a:solidFill>
                <a:latin typeface="Barlow"/>
              </a:rPr>
              <a:t>2025-12 · 147 consultas</a:t>
            </a:r>
          </a:p>
        </p:txBody>
      </p:sp>
      <p:sp>
        <p:nvSpPr>
          <p:cNvPr id="75" name="TextBox 74"/>
          <p:cNvSpPr txBox="1"/>
          <p:nvPr/>
        </p:nvSpPr>
        <p:spPr>
          <a:xfrm>
            <a:off x="12290375" y="3388013"/>
            <a:ext cx="2874026" cy="259080"/>
          </a:xfrm>
          <a:prstGeom prst="rect">
            <a:avLst/>
          </a:prstGeom>
          <a:noFill/>
        </p:spPr>
        <p:txBody>
          <a:bodyPr wrap="none" lIns="0" rIns="0" tIns="0" bIns="0" anchor="t">
            <a:spAutoFit/>
          </a:bodyPr>
          <a:lstStyle/>
          <a:p>
            <a:pPr algn="l">
              <a:lnSpc>
                <a:spcPct val="100000"/>
              </a:lnSpc>
            </a:pPr>
            <a:r>
              <a:rPr sz="1575" b="0" i="0">
                <a:solidFill>
                  <a:srgbClr val="9AB3CD"/>
                </a:solidFill>
                <a:latin typeface="Barlow"/>
              </a:rPr>
              <a:t>Se abre una sola vez, al cerrar.</a:t>
            </a:r>
          </a:p>
        </p:txBody>
      </p:sp>
      <p:sp>
        <p:nvSpPr>
          <p:cNvPr id="76" name="TextBox 75"/>
          <p:cNvSpPr txBox="1"/>
          <p:nvPr/>
        </p:nvSpPr>
        <p:spPr>
          <a:xfrm>
            <a:off x="923925" y="4065240"/>
            <a:ext cx="2783854" cy="352425"/>
          </a:xfrm>
          <a:prstGeom prst="rect">
            <a:avLst/>
          </a:prstGeom>
          <a:noFill/>
        </p:spPr>
        <p:txBody>
          <a:bodyPr wrap="none" lIns="0" rIns="0" tIns="0" bIns="0" anchor="t">
            <a:spAutoFit/>
          </a:bodyPr>
          <a:lstStyle/>
          <a:p>
            <a:pPr algn="l">
              <a:lnSpc>
                <a:spcPct val="100000"/>
              </a:lnSpc>
            </a:pPr>
            <a:r>
              <a:rPr sz="2175" b="1" i="0">
                <a:solidFill>
                  <a:srgbClr val="F3F7FC"/>
                </a:solidFill>
                <a:latin typeface="Montserrat"/>
              </a:rPr>
              <a:t>Modelo 1 · TF-IDF</a:t>
            </a:r>
          </a:p>
        </p:txBody>
      </p:sp>
      <p:sp>
        <p:nvSpPr>
          <p:cNvPr id="77" name="TextBox 76"/>
          <p:cNvSpPr txBox="1"/>
          <p:nvPr/>
        </p:nvSpPr>
        <p:spPr>
          <a:xfrm>
            <a:off x="923925" y="8913019"/>
            <a:ext cx="5130701"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8 configuraciones × 2 vistas. Gana </a:t>
            </a:r>
            <a:r>
              <a:rPr sz="1725" b="1" i="0">
                <a:solidFill>
                  <a:srgbClr val="FFD21F"/>
                </a:solidFill>
                <a:latin typeface="Barlow"/>
              </a:rPr>
              <a:t>char_4_6_enriched</a:t>
            </a:r>
            <a:r>
              <a:rPr sz="1725" b="0" i="0">
                <a:solidFill>
                  <a:srgbClr val="9AB3CD"/>
                </a:solidFill>
                <a:latin typeface="Barlow"/>
              </a:rPr>
              <a:t>.</a:t>
            </a:r>
          </a:p>
        </p:txBody>
      </p:sp>
      <p:sp>
        <p:nvSpPr>
          <p:cNvPr id="78" name="TextBox 77"/>
          <p:cNvSpPr txBox="1"/>
          <p:nvPr/>
        </p:nvSpPr>
        <p:spPr>
          <a:xfrm>
            <a:off x="6588026" y="4065240"/>
            <a:ext cx="3809982" cy="352425"/>
          </a:xfrm>
          <a:prstGeom prst="rect">
            <a:avLst/>
          </a:prstGeom>
          <a:noFill/>
        </p:spPr>
        <p:txBody>
          <a:bodyPr wrap="none" lIns="0" rIns="0" tIns="0" bIns="0" anchor="t">
            <a:spAutoFit/>
          </a:bodyPr>
          <a:lstStyle/>
          <a:p>
            <a:pPr algn="l">
              <a:lnSpc>
                <a:spcPct val="100000"/>
              </a:lnSpc>
            </a:pPr>
            <a:r>
              <a:rPr sz="2175" b="1" i="0">
                <a:solidFill>
                  <a:srgbClr val="F3F7FC"/>
                </a:solidFill>
                <a:latin typeface="Montserrat"/>
              </a:rPr>
              <a:t>Modelo 2 · Embeddings</a:t>
            </a:r>
          </a:p>
        </p:txBody>
      </p:sp>
      <p:sp>
        <p:nvSpPr>
          <p:cNvPr id="79" name="TextBox 78"/>
          <p:cNvSpPr txBox="1"/>
          <p:nvPr/>
        </p:nvSpPr>
        <p:spPr>
          <a:xfrm>
            <a:off x="6588026" y="8913019"/>
            <a:ext cx="513085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3 encoders × 2 vistas, todos congelados. </a:t>
            </a:r>
            <a:r>
              <a:rPr sz="1725" b="1" i="0">
                <a:solidFill>
                  <a:srgbClr val="FFD21F"/>
                </a:solidFill>
                <a:latin typeface="Barlow"/>
              </a:rPr>
              <a:t>Sin entrenamiento.</a:t>
            </a:r>
          </a:p>
        </p:txBody>
      </p:sp>
      <p:sp>
        <p:nvSpPr>
          <p:cNvPr id="80" name="TextBox 79"/>
          <p:cNvSpPr txBox="1"/>
          <p:nvPr/>
        </p:nvSpPr>
        <p:spPr>
          <a:xfrm>
            <a:off x="12252275" y="4065240"/>
            <a:ext cx="4108627" cy="352425"/>
          </a:xfrm>
          <a:prstGeom prst="rect">
            <a:avLst/>
          </a:prstGeom>
          <a:noFill/>
        </p:spPr>
        <p:txBody>
          <a:bodyPr wrap="none" lIns="0" rIns="0" tIns="0" bIns="0" anchor="t">
            <a:spAutoFit/>
          </a:bodyPr>
          <a:lstStyle/>
          <a:p>
            <a:pPr algn="l">
              <a:lnSpc>
                <a:spcPct val="100000"/>
              </a:lnSpc>
            </a:pPr>
            <a:r>
              <a:rPr sz="2175" b="1" i="0">
                <a:solidFill>
                  <a:srgbClr val="F3F7FC"/>
                </a:solidFill>
                <a:latin typeface="Montserrat"/>
              </a:rPr>
              <a:t>Modelo 3 · Cross-encoder</a:t>
            </a:r>
          </a:p>
        </p:txBody>
      </p:sp>
      <p:sp>
        <p:nvSpPr>
          <p:cNvPr id="81" name="TextBox 80"/>
          <p:cNvSpPr txBox="1"/>
          <p:nvPr/>
        </p:nvSpPr>
        <p:spPr>
          <a:xfrm>
            <a:off x="12252275" y="8913019"/>
            <a:ext cx="3573533"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Una configuración. Checkpoint por</a:t>
            </a:r>
          </a:p>
        </p:txBody>
      </p:sp>
      <p:sp>
        <p:nvSpPr>
          <p:cNvPr id="82" name="TextBox 81"/>
          <p:cNvSpPr txBox="1"/>
          <p:nvPr/>
        </p:nvSpPr>
        <p:spPr>
          <a:xfrm>
            <a:off x="15551646" y="8932069"/>
            <a:ext cx="1154159"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eval_loss</a:t>
            </a:r>
          </a:p>
        </p:txBody>
      </p:sp>
      <p:sp>
        <p:nvSpPr>
          <p:cNvPr id="83" name="TextBox 82"/>
          <p:cNvSpPr txBox="1"/>
          <p:nvPr/>
        </p:nvSpPr>
        <p:spPr>
          <a:xfrm>
            <a:off x="16568589" y="8913019"/>
            <a:ext cx="899065"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 gana la</a:t>
            </a:r>
          </a:p>
        </p:txBody>
      </p:sp>
      <p:sp>
        <p:nvSpPr>
          <p:cNvPr id="84" name="TextBox 83"/>
          <p:cNvSpPr txBox="1"/>
          <p:nvPr/>
        </p:nvSpPr>
        <p:spPr>
          <a:xfrm>
            <a:off x="12252275" y="9171384"/>
            <a:ext cx="1567169" cy="285750"/>
          </a:xfrm>
          <a:prstGeom prst="rect">
            <a:avLst/>
          </a:prstGeom>
          <a:noFill/>
        </p:spPr>
        <p:txBody>
          <a:bodyPr wrap="none" lIns="0" rIns="0" tIns="0" bIns="0" anchor="t">
            <a:spAutoFit/>
          </a:bodyPr>
          <a:lstStyle/>
          <a:p>
            <a:pPr algn="l">
              <a:lnSpc>
                <a:spcPct val="101400"/>
              </a:lnSpc>
            </a:pPr>
            <a:r>
              <a:rPr sz="1725" b="1" i="0">
                <a:solidFill>
                  <a:srgbClr val="FFD21F"/>
                </a:solidFill>
                <a:latin typeface="Barlow"/>
              </a:rPr>
              <a:t>primera época</a:t>
            </a:r>
          </a:p>
        </p:txBody>
      </p:sp>
      <p:sp>
        <p:nvSpPr>
          <p:cNvPr id="85" name="TextBox 84"/>
          <p:cNvSpPr txBox="1"/>
          <p:nvPr/>
        </p:nvSpPr>
        <p:spPr>
          <a:xfrm>
            <a:off x="13658850" y="9171384"/>
            <a:ext cx="956173"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 Umbral</a:t>
            </a:r>
          </a:p>
        </p:txBody>
      </p:sp>
      <p:sp>
        <p:nvSpPr>
          <p:cNvPr id="86" name="TextBox 85"/>
          <p:cNvSpPr txBox="1"/>
          <p:nvPr/>
        </p:nvSpPr>
        <p:spPr>
          <a:xfrm>
            <a:off x="14489013" y="9171384"/>
            <a:ext cx="1049092" cy="285750"/>
          </a:xfrm>
          <a:prstGeom prst="rect">
            <a:avLst/>
          </a:prstGeom>
          <a:noFill/>
        </p:spPr>
        <p:txBody>
          <a:bodyPr wrap="none" lIns="0" rIns="0" tIns="0" bIns="0" anchor="t">
            <a:spAutoFit/>
          </a:bodyPr>
          <a:lstStyle/>
          <a:p>
            <a:pPr algn="l">
              <a:lnSpc>
                <a:spcPct val="101400"/>
              </a:lnSpc>
            </a:pPr>
            <a:r>
              <a:rPr sz="1725" b="1" i="0">
                <a:solidFill>
                  <a:srgbClr val="FFD21F"/>
                </a:solidFill>
                <a:latin typeface="Barlow"/>
              </a:rPr>
              <a:t>0,998844</a:t>
            </a:r>
          </a:p>
        </p:txBody>
      </p:sp>
      <p:sp>
        <p:nvSpPr>
          <p:cNvPr id="87" name="TextBox 86"/>
          <p:cNvSpPr txBox="1"/>
          <p:nvPr/>
        </p:nvSpPr>
        <p:spPr>
          <a:xfrm>
            <a:off x="15406836" y="9171384"/>
            <a:ext cx="141354"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a:t>
            </a:r>
          </a:p>
        </p:txBody>
      </p:sp>
      <p:sp>
        <p:nvSpPr>
          <p:cNvPr id="88" name="TextBox 87"/>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89" name="TextBox 88"/>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90" name="TextBox 89"/>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91" name="TextBox 90"/>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29</a:t>
            </a:r>
          </a:p>
        </p:txBody>
      </p:sp>
      <p:sp>
        <p:nvSpPr>
          <p:cNvPr id="92" name="TextBox 91"/>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93" name="TextBox 92"/>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94" name="TextBox 93"/>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95" name="TextBox 94"/>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96" name="TextBox 95"/>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97" name="TextBox 96"/>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98" name="TextBox 97"/>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99" name="TextBox 98"/>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100" name="TextBox 99"/>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4051548"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4051548"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233595"/>
            <a:ext cx="4051548"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765923"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7710041"/>
            <a:ext cx="2499866" cy="409575"/>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889748" y="2503140"/>
            <a:ext cx="4051548"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889748" y="2503140"/>
            <a:ext cx="4051548"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889748" y="9233595"/>
            <a:ext cx="4051548"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889748"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931771"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13586" y="7813030"/>
            <a:ext cx="1419523"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9055596" y="2503140"/>
            <a:ext cx="8508504"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55596" y="2503140"/>
            <a:ext cx="8508504"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055596" y="9233595"/>
            <a:ext cx="8508504" cy="9525"/>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055596"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7554575" y="2503140"/>
            <a:ext cx="9525" cy="6739979"/>
          </a:xfrm>
          <a:prstGeom prst="rect">
            <a:avLst/>
          </a:prstGeom>
          <a:solidFill>
            <a:srgbClr val="6D8FB2">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279434" y="7462391"/>
            <a:ext cx="1059359"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0424517" y="7462391"/>
            <a:ext cx="1539478"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49720" y="7462391"/>
            <a:ext cx="1539478"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3674923" y="7462391"/>
            <a:ext cx="1419523"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5180171" y="7462391"/>
            <a:ext cx="1299418"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279434" y="7957691"/>
            <a:ext cx="1539478"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0904637" y="7957691"/>
            <a:ext cx="1179463" cy="409575"/>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741319"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746081" y="9944100"/>
            <a:ext cx="134963"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81075" y="1663750"/>
            <a:ext cx="411007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04 / 06</a:t>
            </a:r>
          </a:p>
        </p:txBody>
      </p:sp>
      <p:sp>
        <p:nvSpPr>
          <p:cNvPr id="50" name="TextBox 49"/>
          <p:cNvSpPr txBox="1"/>
          <p:nvPr/>
        </p:nvSpPr>
        <p:spPr>
          <a:xfrm>
            <a:off x="981075" y="1885652"/>
            <a:ext cx="12382911"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Siete medidas de similitud, tres funciones distintas</a:t>
            </a:r>
          </a:p>
        </p:txBody>
      </p:sp>
      <p:sp>
        <p:nvSpPr>
          <p:cNvPr id="51" name="TextBox 50"/>
          <p:cNvSpPr txBox="1"/>
          <p:nvPr/>
        </p:nvSpPr>
        <p:spPr>
          <a:xfrm>
            <a:off x="942975" y="3926532"/>
            <a:ext cx="1076533" cy="304800"/>
          </a:xfrm>
          <a:prstGeom prst="rect">
            <a:avLst/>
          </a:prstGeom>
          <a:noFill/>
        </p:spPr>
        <p:txBody>
          <a:bodyPr wrap="none" lIns="0" rIns="0" tIns="0" bIns="0" anchor="t">
            <a:spAutoFit/>
          </a:bodyPr>
          <a:lstStyle/>
          <a:p>
            <a:pPr algn="l">
              <a:lnSpc>
                <a:spcPct val="100000"/>
              </a:lnSpc>
            </a:pPr>
            <a:r>
              <a:rPr sz="1875" b="1" i="0" spc="168">
                <a:solidFill>
                  <a:srgbClr val="FFD21F"/>
                </a:solidFill>
                <a:latin typeface="Barlow"/>
              </a:rPr>
              <a:t>DECIDE</a:t>
            </a:r>
          </a:p>
        </p:txBody>
      </p:sp>
      <p:sp>
        <p:nvSpPr>
          <p:cNvPr id="52" name="TextBox 51"/>
          <p:cNvSpPr txBox="1"/>
          <p:nvPr/>
        </p:nvSpPr>
        <p:spPr>
          <a:xfrm>
            <a:off x="942975" y="5402907"/>
            <a:ext cx="503676" cy="1162050"/>
          </a:xfrm>
          <a:prstGeom prst="rect">
            <a:avLst/>
          </a:prstGeom>
          <a:noFill/>
        </p:spPr>
        <p:txBody>
          <a:bodyPr wrap="none" lIns="0" rIns="0" tIns="0" bIns="0" anchor="t">
            <a:spAutoFit/>
          </a:bodyPr>
          <a:lstStyle/>
          <a:p>
            <a:pPr algn="l">
              <a:lnSpc>
                <a:spcPct val="78300"/>
              </a:lnSpc>
            </a:pPr>
            <a:r>
              <a:rPr sz="7350" b="1" i="0">
                <a:solidFill>
                  <a:srgbClr val="F3F7FC"/>
                </a:solidFill>
                <a:latin typeface="Montserrat"/>
              </a:rPr>
              <a:t>1</a:t>
            </a:r>
          </a:p>
        </p:txBody>
      </p:sp>
      <p:sp>
        <p:nvSpPr>
          <p:cNvPr id="53" name="TextBox 52"/>
          <p:cNvSpPr txBox="1"/>
          <p:nvPr/>
        </p:nvSpPr>
        <p:spPr>
          <a:xfrm>
            <a:off x="942975" y="6375499"/>
            <a:ext cx="3887617" cy="285750"/>
          </a:xfrm>
          <a:prstGeom prst="rect">
            <a:avLst/>
          </a:prstGeom>
          <a:noFill/>
        </p:spPr>
        <p:txBody>
          <a:bodyPr wrap="none" lIns="0" rIns="0" tIns="0" bIns="0" anchor="t">
            <a:spAutoFit/>
          </a:bodyPr>
          <a:lstStyle/>
          <a:p>
            <a:pPr algn="l">
              <a:lnSpc>
                <a:spcPct val="78300"/>
              </a:lnSpc>
            </a:pPr>
            <a:r>
              <a:rPr sz="1725" b="0" i="0">
                <a:solidFill>
                  <a:srgbClr val="9AB3CD"/>
                </a:solidFill>
                <a:latin typeface="Barlow"/>
              </a:rPr>
              <a:t>el ranking top-10 y el corte por umbral</a:t>
            </a:r>
          </a:p>
        </p:txBody>
      </p:sp>
      <p:sp>
        <p:nvSpPr>
          <p:cNvPr id="54" name="TextBox 53"/>
          <p:cNvSpPr txBox="1"/>
          <p:nvPr/>
        </p:nvSpPr>
        <p:spPr>
          <a:xfrm>
            <a:off x="1057275" y="7781479"/>
            <a:ext cx="2558504" cy="285750"/>
          </a:xfrm>
          <a:prstGeom prst="rect">
            <a:avLst/>
          </a:prstGeom>
          <a:noFill/>
        </p:spPr>
        <p:txBody>
          <a:bodyPr wrap="none" lIns="0" rIns="0" tIns="0" bIns="0" anchor="t">
            <a:spAutoFit/>
          </a:bodyPr>
          <a:lstStyle/>
          <a:p>
            <a:pPr algn="l">
              <a:lnSpc>
                <a:spcPct val="100000"/>
              </a:lnSpc>
            </a:pPr>
            <a:r>
              <a:rPr sz="1575" b="1" i="0">
                <a:solidFill>
                  <a:srgbClr val="FFD21F"/>
                </a:solidFill>
                <a:latin typeface="Roboto Mono"/>
              </a:rPr>
              <a:t>coseno sobre TF-IDF</a:t>
            </a:r>
          </a:p>
        </p:txBody>
      </p:sp>
      <p:sp>
        <p:nvSpPr>
          <p:cNvPr id="55" name="TextBox 54"/>
          <p:cNvSpPr txBox="1"/>
          <p:nvPr/>
        </p:nvSpPr>
        <p:spPr>
          <a:xfrm>
            <a:off x="5108823" y="3823692"/>
            <a:ext cx="1721721" cy="304800"/>
          </a:xfrm>
          <a:prstGeom prst="rect">
            <a:avLst/>
          </a:prstGeom>
          <a:noFill/>
        </p:spPr>
        <p:txBody>
          <a:bodyPr wrap="none" lIns="0" rIns="0" tIns="0" bIns="0" anchor="t">
            <a:spAutoFit/>
          </a:bodyPr>
          <a:lstStyle/>
          <a:p>
            <a:pPr algn="l">
              <a:lnSpc>
                <a:spcPct val="100000"/>
              </a:lnSpc>
            </a:pPr>
            <a:r>
              <a:rPr sz="1875" b="1" i="0" spc="168">
                <a:solidFill>
                  <a:srgbClr val="FFD21F"/>
                </a:solidFill>
                <a:latin typeface="Barlow"/>
              </a:rPr>
              <a:t>CONTRASTA</a:t>
            </a:r>
          </a:p>
        </p:txBody>
      </p:sp>
      <p:sp>
        <p:nvSpPr>
          <p:cNvPr id="56" name="TextBox 55"/>
          <p:cNvSpPr txBox="1"/>
          <p:nvPr/>
        </p:nvSpPr>
        <p:spPr>
          <a:xfrm>
            <a:off x="5108823" y="5300067"/>
            <a:ext cx="503676" cy="1162050"/>
          </a:xfrm>
          <a:prstGeom prst="rect">
            <a:avLst/>
          </a:prstGeom>
          <a:noFill/>
        </p:spPr>
        <p:txBody>
          <a:bodyPr wrap="none" lIns="0" rIns="0" tIns="0" bIns="0" anchor="t">
            <a:spAutoFit/>
          </a:bodyPr>
          <a:lstStyle/>
          <a:p>
            <a:pPr algn="l">
              <a:lnSpc>
                <a:spcPct val="78300"/>
              </a:lnSpc>
            </a:pPr>
            <a:r>
              <a:rPr sz="7350" b="1" i="0">
                <a:solidFill>
                  <a:srgbClr val="F3F7FC"/>
                </a:solidFill>
                <a:latin typeface="Montserrat"/>
              </a:rPr>
              <a:t>1</a:t>
            </a:r>
          </a:p>
        </p:txBody>
      </p:sp>
      <p:sp>
        <p:nvSpPr>
          <p:cNvPr id="57" name="TextBox 56"/>
          <p:cNvSpPr txBox="1"/>
          <p:nvPr/>
        </p:nvSpPr>
        <p:spPr>
          <a:xfrm>
            <a:off x="5108823" y="6272659"/>
            <a:ext cx="3632448" cy="491579"/>
          </a:xfrm>
          <a:prstGeom prst="rect">
            <a:avLst/>
          </a:prstGeom>
          <a:noFill/>
        </p:spPr>
        <p:txBody>
          <a:bodyPr wrap="square" lIns="0" rIns="0" tIns="0" bIns="0" anchor="t">
            <a:spAutoFit/>
          </a:bodyPr>
          <a:lstStyle/>
          <a:p>
            <a:pPr algn="l">
              <a:lnSpc>
                <a:spcPct val="78300"/>
              </a:lnSpc>
            </a:pPr>
            <a:r>
              <a:rPr sz="1725" b="0" i="0">
                <a:solidFill>
                  <a:srgbClr val="9AB3CD"/>
                </a:solidFill>
                <a:latin typeface="Barlow"/>
              </a:rPr>
              <a:t>segundo ranking independiente de control</a:t>
            </a:r>
          </a:p>
        </p:txBody>
      </p:sp>
      <p:sp>
        <p:nvSpPr>
          <p:cNvPr id="58" name="TextBox 57"/>
          <p:cNvSpPr txBox="1"/>
          <p:nvPr/>
        </p:nvSpPr>
        <p:spPr>
          <a:xfrm>
            <a:off x="5223123" y="7884468"/>
            <a:ext cx="1391733"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BM25 Okapi</a:t>
            </a:r>
          </a:p>
        </p:txBody>
      </p:sp>
      <p:sp>
        <p:nvSpPr>
          <p:cNvPr id="59" name="TextBox 58"/>
          <p:cNvSpPr txBox="1"/>
          <p:nvPr/>
        </p:nvSpPr>
        <p:spPr>
          <a:xfrm>
            <a:off x="9274671" y="3678882"/>
            <a:ext cx="1262182" cy="304800"/>
          </a:xfrm>
          <a:prstGeom prst="rect">
            <a:avLst/>
          </a:prstGeom>
          <a:noFill/>
        </p:spPr>
        <p:txBody>
          <a:bodyPr wrap="none" lIns="0" rIns="0" tIns="0" bIns="0" anchor="t">
            <a:spAutoFit/>
          </a:bodyPr>
          <a:lstStyle/>
          <a:p>
            <a:pPr algn="l">
              <a:lnSpc>
                <a:spcPct val="100000"/>
              </a:lnSpc>
            </a:pPr>
            <a:r>
              <a:rPr sz="1875" b="1" i="0" spc="168">
                <a:solidFill>
                  <a:srgbClr val="FFD21F"/>
                </a:solidFill>
                <a:latin typeface="Barlow"/>
              </a:rPr>
              <a:t>EXPLICA</a:t>
            </a:r>
          </a:p>
        </p:txBody>
      </p:sp>
      <p:sp>
        <p:nvSpPr>
          <p:cNvPr id="60" name="TextBox 59"/>
          <p:cNvSpPr txBox="1"/>
          <p:nvPr/>
        </p:nvSpPr>
        <p:spPr>
          <a:xfrm>
            <a:off x="9274671" y="5155257"/>
            <a:ext cx="707326" cy="1162050"/>
          </a:xfrm>
          <a:prstGeom prst="rect">
            <a:avLst/>
          </a:prstGeom>
          <a:noFill/>
        </p:spPr>
        <p:txBody>
          <a:bodyPr wrap="none" lIns="0" rIns="0" tIns="0" bIns="0" anchor="t">
            <a:spAutoFit/>
          </a:bodyPr>
          <a:lstStyle/>
          <a:p>
            <a:pPr algn="l">
              <a:lnSpc>
                <a:spcPct val="78300"/>
              </a:lnSpc>
            </a:pPr>
            <a:r>
              <a:rPr sz="7350" b="1" i="0">
                <a:solidFill>
                  <a:srgbClr val="F3F7FC"/>
                </a:solidFill>
                <a:latin typeface="Montserrat"/>
              </a:rPr>
              <a:t>5</a:t>
            </a:r>
          </a:p>
        </p:txBody>
      </p:sp>
      <p:sp>
        <p:nvSpPr>
          <p:cNvPr id="61" name="TextBox 60"/>
          <p:cNvSpPr txBox="1"/>
          <p:nvPr/>
        </p:nvSpPr>
        <p:spPr>
          <a:xfrm>
            <a:off x="9274671" y="6127849"/>
            <a:ext cx="6291399" cy="285750"/>
          </a:xfrm>
          <a:prstGeom prst="rect">
            <a:avLst/>
          </a:prstGeom>
          <a:noFill/>
        </p:spPr>
        <p:txBody>
          <a:bodyPr wrap="none" lIns="0" rIns="0" tIns="0" bIns="0" anchor="t">
            <a:spAutoFit/>
          </a:bodyPr>
          <a:lstStyle/>
          <a:p>
            <a:pPr algn="l">
              <a:lnSpc>
                <a:spcPct val="78300"/>
              </a:lnSpc>
            </a:pPr>
            <a:r>
              <a:rPr sz="1725" b="0" i="0">
                <a:solidFill>
                  <a:srgbClr val="9AB3CD"/>
                </a:solidFill>
                <a:latin typeface="Barlow"/>
              </a:rPr>
              <a:t>auditoría por par y features candidatas — nunca deciden solas</a:t>
            </a:r>
          </a:p>
        </p:txBody>
      </p:sp>
      <p:sp>
        <p:nvSpPr>
          <p:cNvPr id="62" name="TextBox 61"/>
          <p:cNvSpPr txBox="1"/>
          <p:nvPr/>
        </p:nvSpPr>
        <p:spPr>
          <a:xfrm>
            <a:off x="9388971" y="7533829"/>
            <a:ext cx="1002756"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Jaccard</a:t>
            </a:r>
          </a:p>
        </p:txBody>
      </p:sp>
      <p:sp>
        <p:nvSpPr>
          <p:cNvPr id="63" name="TextBox 62"/>
          <p:cNvSpPr txBox="1"/>
          <p:nvPr/>
        </p:nvSpPr>
        <p:spPr>
          <a:xfrm>
            <a:off x="10534055" y="7533829"/>
            <a:ext cx="1521285"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Levenshtein</a:t>
            </a:r>
          </a:p>
        </p:txBody>
      </p:sp>
      <p:sp>
        <p:nvSpPr>
          <p:cNvPr id="64" name="TextBox 63"/>
          <p:cNvSpPr txBox="1"/>
          <p:nvPr/>
        </p:nvSpPr>
        <p:spPr>
          <a:xfrm>
            <a:off x="12159258" y="7533829"/>
            <a:ext cx="1521285"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fuzzy ratio</a:t>
            </a:r>
          </a:p>
        </p:txBody>
      </p:sp>
      <p:sp>
        <p:nvSpPr>
          <p:cNvPr id="65" name="TextBox 64"/>
          <p:cNvSpPr txBox="1"/>
          <p:nvPr/>
        </p:nvSpPr>
        <p:spPr>
          <a:xfrm>
            <a:off x="13784461" y="7533829"/>
            <a:ext cx="1391733"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token_sort</a:t>
            </a:r>
          </a:p>
        </p:txBody>
      </p:sp>
      <p:sp>
        <p:nvSpPr>
          <p:cNvPr id="66" name="TextBox 65"/>
          <p:cNvSpPr txBox="1"/>
          <p:nvPr/>
        </p:nvSpPr>
        <p:spPr>
          <a:xfrm>
            <a:off x="15289709" y="7533829"/>
            <a:ext cx="1262021"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token_set</a:t>
            </a:r>
          </a:p>
        </p:txBody>
      </p:sp>
      <p:sp>
        <p:nvSpPr>
          <p:cNvPr id="67" name="TextBox 66"/>
          <p:cNvSpPr txBox="1"/>
          <p:nvPr/>
        </p:nvSpPr>
        <p:spPr>
          <a:xfrm>
            <a:off x="9388971" y="8029129"/>
            <a:ext cx="1521285"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BoW overlap</a:t>
            </a:r>
          </a:p>
        </p:txBody>
      </p:sp>
      <p:sp>
        <p:nvSpPr>
          <p:cNvPr id="68" name="TextBox 67"/>
          <p:cNvSpPr txBox="1"/>
          <p:nvPr/>
        </p:nvSpPr>
        <p:spPr>
          <a:xfrm>
            <a:off x="11014174" y="8029129"/>
            <a:ext cx="1132469" cy="285750"/>
          </a:xfrm>
          <a:prstGeom prst="rect">
            <a:avLst/>
          </a:prstGeom>
          <a:noFill/>
        </p:spPr>
        <p:txBody>
          <a:bodyPr wrap="none" lIns="0" rIns="0" tIns="0" bIns="0" anchor="t">
            <a:spAutoFit/>
          </a:bodyPr>
          <a:lstStyle/>
          <a:p>
            <a:pPr algn="l">
              <a:lnSpc>
                <a:spcPct val="100000"/>
              </a:lnSpc>
            </a:pPr>
            <a:r>
              <a:rPr sz="1575" b="1" i="0">
                <a:solidFill>
                  <a:srgbClr val="F3F7FC"/>
                </a:solidFill>
                <a:latin typeface="Roboto Mono"/>
              </a:rPr>
              <a:t>BoW Dice</a:t>
            </a:r>
          </a:p>
        </p:txBody>
      </p:sp>
      <p:sp>
        <p:nvSpPr>
          <p:cNvPr id="69" name="TextBox 68"/>
          <p:cNvSpPr txBox="1"/>
          <p:nvPr/>
        </p:nvSpPr>
        <p:spPr>
          <a:xfrm>
            <a:off x="723900" y="9347895"/>
            <a:ext cx="13517213"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El score del cross-encoder no es una similitud simétrica: es σ(logit), una probabilidad no calibrada de que el par sea correspondencia.</a:t>
            </a:r>
          </a:p>
        </p:txBody>
      </p:sp>
      <p:sp>
        <p:nvSpPr>
          <p:cNvPr id="70" name="TextBox 69"/>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1" name="TextBox 70"/>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72" name="TextBox 71"/>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3" name="TextBox 72"/>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4" name="TextBox 73"/>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30</a:t>
            </a:r>
          </a:p>
        </p:txBody>
      </p:sp>
      <p:sp>
        <p:nvSpPr>
          <p:cNvPr id="75" name="TextBox 74"/>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6" name="TextBox 75"/>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77" name="TextBox 76"/>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78" name="TextBox 77"/>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79" name="TextBox 78"/>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0" name="TextBox 79"/>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1" name="TextBox 80"/>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2" name="TextBox 81"/>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487680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487680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8970764"/>
            <a:ext cx="48768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591175"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705600" y="2503140"/>
            <a:ext cx="487680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705600" y="2503140"/>
            <a:ext cx="487680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705600" y="8970764"/>
            <a:ext cx="48768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70560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72875"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2687300" y="2503140"/>
            <a:ext cx="487680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2687300" y="2503140"/>
            <a:ext cx="487680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2687300" y="8970764"/>
            <a:ext cx="48768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68730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7554575"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951738"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6500" y="9944100"/>
            <a:ext cx="134963"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81075" y="1663750"/>
            <a:ext cx="409528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05 / 06</a:t>
            </a:r>
          </a:p>
        </p:txBody>
      </p:sp>
      <p:sp>
        <p:nvSpPr>
          <p:cNvPr id="42" name="TextBox 41"/>
          <p:cNvSpPr txBox="1"/>
          <p:nvPr/>
        </p:nvSpPr>
        <p:spPr>
          <a:xfrm>
            <a:off x="981075" y="1885652"/>
            <a:ext cx="1010032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 cascada: recuperar barato, validar caro</a:t>
            </a:r>
          </a:p>
        </p:txBody>
      </p:sp>
      <p:sp>
        <p:nvSpPr>
          <p:cNvPr id="43" name="TextBox 42"/>
          <p:cNvSpPr txBox="1"/>
          <p:nvPr/>
        </p:nvSpPr>
        <p:spPr>
          <a:xfrm>
            <a:off x="962025" y="4989612"/>
            <a:ext cx="3302544" cy="419100"/>
          </a:xfrm>
          <a:prstGeom prst="rect">
            <a:avLst/>
          </a:prstGeom>
          <a:noFill/>
        </p:spPr>
        <p:txBody>
          <a:bodyPr wrap="none" lIns="0" rIns="0" tIns="0" bIns="0" anchor="t">
            <a:spAutoFit/>
          </a:bodyPr>
          <a:lstStyle/>
          <a:p>
            <a:pPr algn="l">
              <a:lnSpc>
                <a:spcPct val="85000"/>
              </a:lnSpc>
            </a:pPr>
            <a:r>
              <a:rPr sz="2550" b="1" i="0">
                <a:solidFill>
                  <a:srgbClr val="F3F7FC"/>
                </a:solidFill>
                <a:latin typeface="Montserrat"/>
              </a:rPr>
              <a:t>Catálogo del país</a:t>
            </a:r>
          </a:p>
        </p:txBody>
      </p:sp>
      <p:sp>
        <p:nvSpPr>
          <p:cNvPr id="44" name="TextBox 43"/>
          <p:cNvSpPr txBox="1"/>
          <p:nvPr/>
        </p:nvSpPr>
        <p:spPr>
          <a:xfrm>
            <a:off x="962025" y="5405586"/>
            <a:ext cx="1303169" cy="571500"/>
          </a:xfrm>
          <a:prstGeom prst="rect">
            <a:avLst/>
          </a:prstGeom>
          <a:noFill/>
        </p:spPr>
        <p:txBody>
          <a:bodyPr wrap="none" lIns="0" rIns="0" tIns="0" bIns="0" anchor="t">
            <a:spAutoFit/>
          </a:bodyPr>
          <a:lstStyle/>
          <a:p>
            <a:pPr algn="l">
              <a:lnSpc>
                <a:spcPct val="83300"/>
              </a:lnSpc>
            </a:pPr>
            <a:r>
              <a:rPr sz="3600" b="1" i="0">
                <a:solidFill>
                  <a:srgbClr val="FFD21F"/>
                </a:solidFill>
                <a:latin typeface="Barlow"/>
              </a:rPr>
              <a:t>4.316</a:t>
            </a:r>
          </a:p>
        </p:txBody>
      </p:sp>
      <p:sp>
        <p:nvSpPr>
          <p:cNvPr id="45" name="TextBox 44"/>
          <p:cNvSpPr txBox="1"/>
          <p:nvPr/>
        </p:nvSpPr>
        <p:spPr>
          <a:xfrm>
            <a:off x="962025" y="5996136"/>
            <a:ext cx="441960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productos oficiales candidatos para cada consulta</a:t>
            </a:r>
          </a:p>
        </p:txBody>
      </p:sp>
      <p:sp>
        <p:nvSpPr>
          <p:cNvPr id="46" name="Flecha"/>
          <p:cNvSpPr/>
          <p:nvPr/>
        </p:nvSpPr>
        <p:spPr>
          <a:xfrm rot="5400000">
            <a:off x="5959909" y="4042094"/>
            <a:ext cx="386334" cy="336804"/>
          </a:xfrm>
          <a:prstGeom prst="triangle">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4958" y="7358509"/>
            <a:ext cx="976235" cy="228600"/>
          </a:xfrm>
          <a:prstGeom prst="rect">
            <a:avLst/>
          </a:prstGeom>
          <a:noFill/>
        </p:spPr>
        <p:txBody>
          <a:bodyPr wrap="none" lIns="0" rIns="0" tIns="0" bIns="0" anchor="t">
            <a:spAutoFit/>
          </a:bodyPr>
          <a:lstStyle/>
          <a:p>
            <a:pPr algn="ctr">
              <a:lnSpc>
                <a:spcPct val="100000"/>
              </a:lnSpc>
            </a:pPr>
            <a:r>
              <a:rPr sz="1350" b="1" i="0" spc="81">
                <a:solidFill>
                  <a:srgbClr val="9AB3CD"/>
                </a:solidFill>
                <a:latin typeface="Barlow"/>
              </a:rPr>
              <a:t>MODELO 1</a:t>
            </a:r>
          </a:p>
        </p:txBody>
      </p:sp>
      <p:sp>
        <p:nvSpPr>
          <p:cNvPr id="48" name="TextBox 47"/>
          <p:cNvSpPr txBox="1"/>
          <p:nvPr/>
        </p:nvSpPr>
        <p:spPr>
          <a:xfrm>
            <a:off x="6943725" y="4989612"/>
            <a:ext cx="3976181" cy="419100"/>
          </a:xfrm>
          <a:prstGeom prst="rect">
            <a:avLst/>
          </a:prstGeom>
          <a:noFill/>
        </p:spPr>
        <p:txBody>
          <a:bodyPr wrap="none" lIns="0" rIns="0" tIns="0" bIns="0" anchor="t">
            <a:spAutoFit/>
          </a:bodyPr>
          <a:lstStyle/>
          <a:p>
            <a:pPr algn="l">
              <a:lnSpc>
                <a:spcPct val="85000"/>
              </a:lnSpc>
            </a:pPr>
            <a:r>
              <a:rPr sz="2550" b="1" i="0">
                <a:solidFill>
                  <a:srgbClr val="F3F7FC"/>
                </a:solidFill>
                <a:latin typeface="Montserrat"/>
              </a:rPr>
              <a:t>Recuperación TF-IDF</a:t>
            </a:r>
          </a:p>
        </p:txBody>
      </p:sp>
      <p:sp>
        <p:nvSpPr>
          <p:cNvPr id="49" name="TextBox 48"/>
          <p:cNvSpPr txBox="1"/>
          <p:nvPr/>
        </p:nvSpPr>
        <p:spPr>
          <a:xfrm>
            <a:off x="6943725" y="5405586"/>
            <a:ext cx="1470976" cy="571500"/>
          </a:xfrm>
          <a:prstGeom prst="rect">
            <a:avLst/>
          </a:prstGeom>
          <a:noFill/>
        </p:spPr>
        <p:txBody>
          <a:bodyPr wrap="none" lIns="0" rIns="0" tIns="0" bIns="0" anchor="t">
            <a:spAutoFit/>
          </a:bodyPr>
          <a:lstStyle/>
          <a:p>
            <a:pPr algn="l">
              <a:lnSpc>
                <a:spcPct val="83300"/>
              </a:lnSpc>
            </a:pPr>
            <a:r>
              <a:rPr sz="3600" b="1" i="0">
                <a:solidFill>
                  <a:srgbClr val="FFD21F"/>
                </a:solidFill>
                <a:latin typeface="Barlow"/>
              </a:rPr>
              <a:t>top 20</a:t>
            </a:r>
          </a:p>
        </p:txBody>
      </p:sp>
      <p:sp>
        <p:nvSpPr>
          <p:cNvPr id="50" name="TextBox 49"/>
          <p:cNvSpPr txBox="1"/>
          <p:nvPr/>
        </p:nvSpPr>
        <p:spPr>
          <a:xfrm>
            <a:off x="6943725" y="5996136"/>
            <a:ext cx="441960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candidatos con la verdad dentro el 91,84% de las veces — el techo del pool</a:t>
            </a:r>
          </a:p>
        </p:txBody>
      </p:sp>
      <p:sp>
        <p:nvSpPr>
          <p:cNvPr id="51" name="Flecha"/>
          <p:cNvSpPr/>
          <p:nvPr/>
        </p:nvSpPr>
        <p:spPr>
          <a:xfrm rot="5400000">
            <a:off x="11941609" y="4042094"/>
            <a:ext cx="386334" cy="336804"/>
          </a:xfrm>
          <a:prstGeom prst="triangle">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629459" y="7358509"/>
            <a:ext cx="1010632" cy="228600"/>
          </a:xfrm>
          <a:prstGeom prst="rect">
            <a:avLst/>
          </a:prstGeom>
          <a:noFill/>
        </p:spPr>
        <p:txBody>
          <a:bodyPr wrap="none" lIns="0" rIns="0" tIns="0" bIns="0" anchor="t">
            <a:spAutoFit/>
          </a:bodyPr>
          <a:lstStyle/>
          <a:p>
            <a:pPr algn="ctr">
              <a:lnSpc>
                <a:spcPct val="100000"/>
              </a:lnSpc>
            </a:pPr>
            <a:r>
              <a:rPr sz="1350" b="1" i="0" spc="81">
                <a:solidFill>
                  <a:srgbClr val="9AB3CD"/>
                </a:solidFill>
                <a:latin typeface="Barlow"/>
              </a:rPr>
              <a:t>MODELO 3</a:t>
            </a:r>
          </a:p>
        </p:txBody>
      </p:sp>
      <p:sp>
        <p:nvSpPr>
          <p:cNvPr id="53" name="TextBox 52"/>
          <p:cNvSpPr txBox="1"/>
          <p:nvPr/>
        </p:nvSpPr>
        <p:spPr>
          <a:xfrm>
            <a:off x="12925425" y="4989612"/>
            <a:ext cx="3634942" cy="419100"/>
          </a:xfrm>
          <a:prstGeom prst="rect">
            <a:avLst/>
          </a:prstGeom>
          <a:noFill/>
        </p:spPr>
        <p:txBody>
          <a:bodyPr wrap="none" lIns="0" rIns="0" tIns="0" bIns="0" anchor="t">
            <a:spAutoFit/>
          </a:bodyPr>
          <a:lstStyle/>
          <a:p>
            <a:pPr algn="l">
              <a:lnSpc>
                <a:spcPct val="85000"/>
              </a:lnSpc>
            </a:pPr>
            <a:r>
              <a:rPr sz="2550" b="1" i="0">
                <a:solidFill>
                  <a:srgbClr val="F3F7FC"/>
                </a:solidFill>
                <a:latin typeface="Montserrat"/>
              </a:rPr>
              <a:t>Validación cruzada</a:t>
            </a:r>
          </a:p>
        </p:txBody>
      </p:sp>
      <p:sp>
        <p:nvSpPr>
          <p:cNvPr id="54" name="TextBox 53"/>
          <p:cNvSpPr txBox="1"/>
          <p:nvPr/>
        </p:nvSpPr>
        <p:spPr>
          <a:xfrm>
            <a:off x="12925425" y="5405586"/>
            <a:ext cx="2317885" cy="571500"/>
          </a:xfrm>
          <a:prstGeom prst="rect">
            <a:avLst/>
          </a:prstGeom>
          <a:noFill/>
        </p:spPr>
        <p:txBody>
          <a:bodyPr wrap="none" lIns="0" rIns="0" tIns="0" bIns="0" anchor="t">
            <a:spAutoFit/>
          </a:bodyPr>
          <a:lstStyle/>
          <a:p>
            <a:pPr algn="l">
              <a:lnSpc>
                <a:spcPct val="83300"/>
              </a:lnSpc>
            </a:pPr>
            <a:r>
              <a:rPr sz="3600" b="1" i="0">
                <a:solidFill>
                  <a:srgbClr val="FFD21F"/>
                </a:solidFill>
                <a:latin typeface="Barlow"/>
              </a:rPr>
              <a:t>1 decisión</a:t>
            </a:r>
          </a:p>
        </p:txBody>
      </p:sp>
      <p:sp>
        <p:nvSpPr>
          <p:cNvPr id="55" name="TextBox 54"/>
          <p:cNvSpPr txBox="1"/>
          <p:nvPr/>
        </p:nvSpPr>
        <p:spPr>
          <a:xfrm>
            <a:off x="12925425" y="5996136"/>
            <a:ext cx="4419600" cy="544116"/>
          </a:xfrm>
          <a:prstGeom prst="rect">
            <a:avLst/>
          </a:prstGeom>
          <a:noFill/>
        </p:spPr>
        <p:txBody>
          <a:bodyPr wrap="square" lIns="0" rIns="0" tIns="0" bIns="0" anchor="t">
            <a:spAutoFit/>
          </a:bodyPr>
          <a:lstStyle/>
          <a:p>
            <a:pPr algn="l">
              <a:lnSpc>
                <a:spcPct val="98300"/>
              </a:lnSpc>
            </a:pPr>
            <a:r>
              <a:rPr sz="1725" b="0" i="0">
                <a:solidFill>
                  <a:srgbClr val="9AB3CD"/>
                </a:solidFill>
                <a:latin typeface="Barlow"/>
              </a:rPr>
              <a:t>reordena, puntúa y exige margen y soporte de código antes de afirmar Match</a:t>
            </a:r>
          </a:p>
        </p:txBody>
      </p:sp>
      <p:sp>
        <p:nvSpPr>
          <p:cNvPr id="56" name="TextBox 55"/>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Ninguno de los dos puede hacer el trabajo del otro: el recuperador no distingue variantes casi homónimas y el validador es demasiado caro para recorrer 4.316 productos por consulta.</a:t>
            </a:r>
          </a:p>
        </p:txBody>
      </p:sp>
      <p:sp>
        <p:nvSpPr>
          <p:cNvPr id="57" name="TextBox 56"/>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58" name="TextBox 57"/>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59" name="TextBox 58"/>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60" name="TextBox 59"/>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61" name="TextBox 60"/>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62" name="TextBox 61"/>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31</a:t>
            </a:r>
          </a:p>
        </p:txBody>
      </p:sp>
      <p:sp>
        <p:nvSpPr>
          <p:cNvPr id="63" name="TextBox 62"/>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64" name="TextBox 63"/>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65" name="TextBox 64"/>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66" name="TextBox 65"/>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67" name="TextBox 66"/>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68" name="TextBox 67"/>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69" name="TextBox 68"/>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46762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947738" y="2884736"/>
            <a:ext cx="16392525" cy="638175"/>
          </a:xfrm>
          <a:prstGeom prst="rect">
            <a:avLst/>
          </a:prstGeom>
          <a:solidFill>
            <a:srgbClr val="07172D">
              <a:alpha val="62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09662" y="2989511"/>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47738" y="3899743"/>
            <a:ext cx="16392525" cy="638175"/>
          </a:xfrm>
          <a:prstGeom prst="rect">
            <a:avLst/>
          </a:prstGeom>
          <a:solidFill>
            <a:srgbClr val="07172D">
              <a:alpha val="62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09662" y="4004518"/>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4914751"/>
            <a:ext cx="16392525" cy="638175"/>
          </a:xfrm>
          <a:prstGeom prst="rect">
            <a:avLst/>
          </a:prstGeom>
          <a:solidFill>
            <a:srgbClr val="07172D">
              <a:alpha val="62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09662" y="5019526"/>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7738" y="5929759"/>
            <a:ext cx="16392525" cy="638175"/>
          </a:xfrm>
          <a:prstGeom prst="rect">
            <a:avLst/>
          </a:prstGeom>
          <a:solidFill>
            <a:srgbClr val="07172D">
              <a:alpha val="62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09662" y="6034534"/>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47738" y="6944767"/>
            <a:ext cx="16392525" cy="638175"/>
          </a:xfrm>
          <a:prstGeom prst="rect">
            <a:avLst/>
          </a:prstGeom>
          <a:solidFill>
            <a:srgbClr val="FFD21F">
              <a:alpha val="1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09662" y="7049542"/>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47738" y="7959775"/>
            <a:ext cx="16392525" cy="638175"/>
          </a:xfrm>
          <a:prstGeom prst="rect">
            <a:avLst/>
          </a:prstGeom>
          <a:solidFill>
            <a:srgbClr val="07172D">
              <a:alpha val="62000"/>
            </a:srgbClr>
          </a:solidFill>
          <a:ln w="9525">
            <a:solidFill>
              <a:srgbClr val="6D8FB2">
                <a:alpha val="5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09662" y="8064550"/>
            <a:ext cx="638175" cy="42862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162157" y="9720262"/>
            <a:ext cx="1134368"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166920" y="9944100"/>
            <a:ext cx="12272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81075" y="1663750"/>
            <a:ext cx="409480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06 / 06</a:t>
            </a:r>
          </a:p>
        </p:txBody>
      </p:sp>
      <p:sp>
        <p:nvSpPr>
          <p:cNvPr id="41" name="TextBox 40"/>
          <p:cNvSpPr txBox="1"/>
          <p:nvPr/>
        </p:nvSpPr>
        <p:spPr>
          <a:xfrm>
            <a:off x="981075" y="1885652"/>
            <a:ext cx="1408460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 escalera de decisión, medida sobre 2.365 publicaciones</a:t>
            </a:r>
          </a:p>
        </p:txBody>
      </p:sp>
      <p:sp>
        <p:nvSpPr>
          <p:cNvPr id="42" name="TextBox 41"/>
          <p:cNvSpPr txBox="1"/>
          <p:nvPr/>
        </p:nvSpPr>
        <p:spPr>
          <a:xfrm>
            <a:off x="1360736" y="3060948"/>
            <a:ext cx="242000"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0</a:t>
            </a:r>
          </a:p>
        </p:txBody>
      </p:sp>
      <p:sp>
        <p:nvSpPr>
          <p:cNvPr id="43" name="TextBox 42"/>
          <p:cNvSpPr txBox="1"/>
          <p:nvPr/>
        </p:nvSpPr>
        <p:spPr>
          <a:xfrm>
            <a:off x="1924050" y="3053209"/>
            <a:ext cx="6004649"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El enrutador de estados indica publicación ocultada</a:t>
            </a:r>
          </a:p>
        </p:txBody>
      </p:sp>
      <p:sp>
        <p:nvSpPr>
          <p:cNvPr id="44" name="TextBox 43"/>
          <p:cNvSpPr txBox="1"/>
          <p:nvPr/>
        </p:nvSpPr>
        <p:spPr>
          <a:xfrm>
            <a:off x="14224355" y="3060948"/>
            <a:ext cx="1040690"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HIDDEN</a:t>
            </a:r>
          </a:p>
        </p:txBody>
      </p:sp>
      <p:sp>
        <p:nvSpPr>
          <p:cNvPr id="45" name="TextBox 44"/>
          <p:cNvSpPr txBox="1"/>
          <p:nvPr/>
        </p:nvSpPr>
        <p:spPr>
          <a:xfrm>
            <a:off x="16500205" y="3003798"/>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188</a:t>
            </a:r>
          </a:p>
        </p:txBody>
      </p:sp>
      <p:sp>
        <p:nvSpPr>
          <p:cNvPr id="46" name="TextBox 45"/>
          <p:cNvSpPr txBox="1"/>
          <p:nvPr/>
        </p:nvSpPr>
        <p:spPr>
          <a:xfrm>
            <a:off x="1386483" y="4075956"/>
            <a:ext cx="186386"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1</a:t>
            </a:r>
          </a:p>
        </p:txBody>
      </p:sp>
      <p:sp>
        <p:nvSpPr>
          <p:cNvPr id="47" name="TextBox 46"/>
          <p:cNvSpPr txBox="1"/>
          <p:nvPr/>
        </p:nvSpPr>
        <p:spPr>
          <a:xfrm>
            <a:off x="1924050" y="4068217"/>
            <a:ext cx="6426898"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El código de la consulta no existe en el catálogo del país</a:t>
            </a:r>
          </a:p>
        </p:txBody>
      </p:sp>
      <p:sp>
        <p:nvSpPr>
          <p:cNvPr id="48" name="TextBox 47"/>
          <p:cNvSpPr txBox="1"/>
          <p:nvPr/>
        </p:nvSpPr>
        <p:spPr>
          <a:xfrm>
            <a:off x="14480244" y="4075956"/>
            <a:ext cx="528911"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NIC</a:t>
            </a:r>
          </a:p>
        </p:txBody>
      </p:sp>
      <p:sp>
        <p:nvSpPr>
          <p:cNvPr id="49" name="TextBox 48"/>
          <p:cNvSpPr txBox="1"/>
          <p:nvPr/>
        </p:nvSpPr>
        <p:spPr>
          <a:xfrm>
            <a:off x="16500205" y="4018806"/>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890</a:t>
            </a:r>
          </a:p>
        </p:txBody>
      </p:sp>
      <p:sp>
        <p:nvSpPr>
          <p:cNvPr id="50" name="TextBox 49"/>
          <p:cNvSpPr txBox="1"/>
          <p:nvPr/>
        </p:nvSpPr>
        <p:spPr>
          <a:xfrm>
            <a:off x="1361926" y="5090964"/>
            <a:ext cx="239429"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2</a:t>
            </a:r>
          </a:p>
        </p:txBody>
      </p:sp>
      <p:sp>
        <p:nvSpPr>
          <p:cNvPr id="51" name="TextBox 50"/>
          <p:cNvSpPr txBox="1"/>
          <p:nvPr/>
        </p:nvSpPr>
        <p:spPr>
          <a:xfrm>
            <a:off x="1924050" y="5083225"/>
            <a:ext cx="6043708"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El enrutador de estados indica ausencia de catálogo</a:t>
            </a:r>
          </a:p>
        </p:txBody>
      </p:sp>
      <p:sp>
        <p:nvSpPr>
          <p:cNvPr id="52" name="TextBox 51"/>
          <p:cNvSpPr txBox="1"/>
          <p:nvPr/>
        </p:nvSpPr>
        <p:spPr>
          <a:xfrm>
            <a:off x="14480244" y="5090964"/>
            <a:ext cx="528911"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NIC</a:t>
            </a:r>
          </a:p>
        </p:txBody>
      </p:sp>
      <p:sp>
        <p:nvSpPr>
          <p:cNvPr id="53" name="TextBox 52"/>
          <p:cNvSpPr txBox="1"/>
          <p:nvPr/>
        </p:nvSpPr>
        <p:spPr>
          <a:xfrm>
            <a:off x="16695980" y="5033814"/>
            <a:ext cx="487120"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83</a:t>
            </a:r>
          </a:p>
        </p:txBody>
      </p:sp>
      <p:sp>
        <p:nvSpPr>
          <p:cNvPr id="54" name="TextBox 53"/>
          <p:cNvSpPr txBox="1"/>
          <p:nvPr/>
        </p:nvSpPr>
        <p:spPr>
          <a:xfrm>
            <a:off x="1364307" y="6105971"/>
            <a:ext cx="234285"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3</a:t>
            </a:r>
          </a:p>
        </p:txBody>
      </p:sp>
      <p:sp>
        <p:nvSpPr>
          <p:cNvPr id="55" name="TextBox 54"/>
          <p:cNvSpPr txBox="1"/>
          <p:nvPr/>
        </p:nvSpPr>
        <p:spPr>
          <a:xfrm>
            <a:off x="1924050" y="6098232"/>
            <a:ext cx="5661481"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Regla exacta de código y el título no es multipack</a:t>
            </a:r>
          </a:p>
        </p:txBody>
      </p:sp>
      <p:sp>
        <p:nvSpPr>
          <p:cNvPr id="56" name="TextBox 55"/>
          <p:cNvSpPr txBox="1"/>
          <p:nvPr/>
        </p:nvSpPr>
        <p:spPr>
          <a:xfrm>
            <a:off x="14267116" y="6105971"/>
            <a:ext cx="955018"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MATCH</a:t>
            </a:r>
          </a:p>
        </p:txBody>
      </p:sp>
      <p:sp>
        <p:nvSpPr>
          <p:cNvPr id="57" name="TextBox 56"/>
          <p:cNvSpPr txBox="1"/>
          <p:nvPr/>
        </p:nvSpPr>
        <p:spPr>
          <a:xfrm>
            <a:off x="16500205" y="6048821"/>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113</a:t>
            </a:r>
          </a:p>
        </p:txBody>
      </p:sp>
      <p:sp>
        <p:nvSpPr>
          <p:cNvPr id="58" name="TextBox 57"/>
          <p:cNvSpPr txBox="1"/>
          <p:nvPr/>
        </p:nvSpPr>
        <p:spPr>
          <a:xfrm>
            <a:off x="1356568" y="7120979"/>
            <a:ext cx="251002"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4</a:t>
            </a:r>
          </a:p>
        </p:txBody>
      </p:sp>
      <p:sp>
        <p:nvSpPr>
          <p:cNvPr id="59" name="TextBox 58"/>
          <p:cNvSpPr txBox="1"/>
          <p:nvPr/>
        </p:nvSpPr>
        <p:spPr>
          <a:xfrm>
            <a:off x="1924050" y="7113240"/>
            <a:ext cx="9397109"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TF-IDF recupera · el cross-encoder puntúa · compuerta de score, margen y código</a:t>
            </a:r>
          </a:p>
        </p:txBody>
      </p:sp>
      <p:sp>
        <p:nvSpPr>
          <p:cNvPr id="60" name="TextBox 59"/>
          <p:cNvSpPr txBox="1"/>
          <p:nvPr/>
        </p:nvSpPr>
        <p:spPr>
          <a:xfrm>
            <a:off x="14267116" y="7120979"/>
            <a:ext cx="955018" cy="304800"/>
          </a:xfrm>
          <a:prstGeom prst="rect">
            <a:avLst/>
          </a:prstGeom>
          <a:noFill/>
        </p:spPr>
        <p:txBody>
          <a:bodyPr wrap="none" lIns="0" rIns="0" tIns="0" bIns="0" anchor="t">
            <a:spAutoFit/>
          </a:bodyPr>
          <a:lstStyle/>
          <a:p>
            <a:pPr algn="ctr">
              <a:lnSpc>
                <a:spcPct val="100000"/>
              </a:lnSpc>
            </a:pPr>
            <a:r>
              <a:rPr sz="1875" b="1" i="0" spc="93">
                <a:solidFill>
                  <a:srgbClr val="FFD21F"/>
                </a:solidFill>
                <a:latin typeface="Barlow"/>
              </a:rPr>
              <a:t>MATCH</a:t>
            </a:r>
          </a:p>
        </p:txBody>
      </p:sp>
      <p:sp>
        <p:nvSpPr>
          <p:cNvPr id="61" name="TextBox 60"/>
          <p:cNvSpPr txBox="1"/>
          <p:nvPr/>
        </p:nvSpPr>
        <p:spPr>
          <a:xfrm>
            <a:off x="16891915" y="7063829"/>
            <a:ext cx="29118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a:t>
            </a:r>
          </a:p>
        </p:txBody>
      </p:sp>
      <p:sp>
        <p:nvSpPr>
          <p:cNvPr id="62" name="TextBox 61"/>
          <p:cNvSpPr txBox="1"/>
          <p:nvPr/>
        </p:nvSpPr>
        <p:spPr>
          <a:xfrm>
            <a:off x="1364456" y="8135987"/>
            <a:ext cx="233964" cy="304800"/>
          </a:xfrm>
          <a:prstGeom prst="rect">
            <a:avLst/>
          </a:prstGeom>
          <a:noFill/>
        </p:spPr>
        <p:txBody>
          <a:bodyPr wrap="none" lIns="0" rIns="0" tIns="0" bIns="0" anchor="t">
            <a:spAutoFit/>
          </a:bodyPr>
          <a:lstStyle/>
          <a:p>
            <a:pPr algn="l">
              <a:lnSpc>
                <a:spcPct val="100000"/>
              </a:lnSpc>
            </a:pPr>
            <a:r>
              <a:rPr sz="1875" b="1" i="0">
                <a:solidFill>
                  <a:srgbClr val="FFD21F"/>
                </a:solidFill>
                <a:latin typeface="Barlow"/>
              </a:rPr>
              <a:t>5</a:t>
            </a:r>
          </a:p>
        </p:txBody>
      </p:sp>
      <p:sp>
        <p:nvSpPr>
          <p:cNvPr id="63" name="TextBox 62"/>
          <p:cNvSpPr txBox="1"/>
          <p:nvPr/>
        </p:nvSpPr>
        <p:spPr>
          <a:xfrm>
            <a:off x="1924050" y="8128248"/>
            <a:ext cx="7443543" cy="314325"/>
          </a:xfrm>
          <a:prstGeom prst="rect">
            <a:avLst/>
          </a:prstGeom>
          <a:noFill/>
        </p:spPr>
        <p:txBody>
          <a:bodyPr wrap="none" lIns="0" rIns="0" tIns="0" bIns="0" anchor="t">
            <a:spAutoFit/>
          </a:bodyPr>
          <a:lstStyle/>
          <a:p>
            <a:pPr algn="l">
              <a:lnSpc>
                <a:spcPct val="95000"/>
              </a:lnSpc>
            </a:pPr>
            <a:r>
              <a:rPr sz="1950" b="0" i="0">
                <a:solidFill>
                  <a:srgbClr val="F3F7FC"/>
                </a:solidFill>
                <a:latin typeface="Barlow"/>
              </a:rPr>
              <a:t>Todo lo demás — llega al revisor con los candidatos ya ordenados</a:t>
            </a:r>
          </a:p>
        </p:txBody>
      </p:sp>
      <p:sp>
        <p:nvSpPr>
          <p:cNvPr id="64" name="TextBox 63"/>
          <p:cNvSpPr txBox="1"/>
          <p:nvPr/>
        </p:nvSpPr>
        <p:spPr>
          <a:xfrm>
            <a:off x="14201209" y="8135987"/>
            <a:ext cx="1086981" cy="304800"/>
          </a:xfrm>
          <a:prstGeom prst="rect">
            <a:avLst/>
          </a:prstGeom>
          <a:noFill/>
        </p:spPr>
        <p:txBody>
          <a:bodyPr wrap="none" lIns="0" rIns="0" tIns="0" bIns="0" anchor="t">
            <a:spAutoFit/>
          </a:bodyPr>
          <a:lstStyle/>
          <a:p>
            <a:pPr algn="ctr">
              <a:lnSpc>
                <a:spcPct val="100000"/>
              </a:lnSpc>
            </a:pPr>
            <a:r>
              <a:rPr sz="1875" b="1" i="0" spc="93">
                <a:solidFill>
                  <a:srgbClr val="9AB3CD"/>
                </a:solidFill>
                <a:latin typeface="Barlow"/>
              </a:rPr>
              <a:t>REVIEW</a:t>
            </a:r>
          </a:p>
        </p:txBody>
      </p:sp>
      <p:sp>
        <p:nvSpPr>
          <p:cNvPr id="65" name="TextBox 64"/>
          <p:cNvSpPr txBox="1"/>
          <p:nvPr/>
        </p:nvSpPr>
        <p:spPr>
          <a:xfrm>
            <a:off x="16207026" y="8078837"/>
            <a:ext cx="976074" cy="419100"/>
          </a:xfrm>
          <a:prstGeom prst="rect">
            <a:avLst/>
          </a:prstGeom>
          <a:noFill/>
        </p:spPr>
        <p:txBody>
          <a:bodyPr wrap="none" lIns="0" rIns="0" tIns="0" bIns="0" anchor="t">
            <a:spAutoFit/>
          </a:bodyPr>
          <a:lstStyle/>
          <a:p>
            <a:pPr algn="r">
              <a:lnSpc>
                <a:spcPct val="100000"/>
              </a:lnSpc>
            </a:pPr>
            <a:r>
              <a:rPr sz="2625" b="1" i="0">
                <a:solidFill>
                  <a:srgbClr val="9AB3CD"/>
                </a:solidFill>
                <a:latin typeface="Barlow"/>
              </a:rPr>
              <a:t>1.083</a:t>
            </a:r>
          </a:p>
        </p:txBody>
      </p:sp>
      <p:sp>
        <p:nvSpPr>
          <p:cNvPr id="66" name="TextBox 65"/>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Las capas 0–3 resuelven 1.274 de las 1.282 decisiones automáticas — el 99,4% y no necesitan GPU. </a:t>
            </a:r>
            <a:r>
              <a:rPr sz="1725" b="0" i="0">
                <a:solidFill>
                  <a:srgbClr val="FFD21F"/>
                </a:solidFill>
                <a:latin typeface="Barlow"/>
              </a:rPr>
              <a:t>No Match automático permanece deshabilitado</a:t>
            </a:r>
            <a:r>
              <a:rPr sz="1725" b="0" i="0">
                <a:solidFill>
                  <a:srgbClr val="9AB3CD"/>
                </a:solidFill>
                <a:latin typeface="Barlow"/>
              </a:rPr>
              <a:t>: el sistema nunca afirma la ausencia de correspondencia sin verdad que la respalde.</a:t>
            </a:r>
          </a:p>
        </p:txBody>
      </p:sp>
      <p:sp>
        <p:nvSpPr>
          <p:cNvPr id="67" name="TextBox 66"/>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68" name="TextBox 67"/>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69" name="TextBox 68"/>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0" name="TextBox 69"/>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1" name="TextBox 70"/>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2" name="TextBox 71"/>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3" name="TextBox 72"/>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32</a:t>
            </a:r>
          </a:p>
        </p:txBody>
      </p:sp>
      <p:sp>
        <p:nvSpPr>
          <p:cNvPr id="74" name="TextBox 73"/>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75" name="TextBox 74"/>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76" name="TextBox 75"/>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77" name="TextBox 76"/>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78" name="TextBox 77"/>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79" name="TextBox 78"/>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16840200" cy="1387971"/>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881586"/>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76200" cy="138797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2503140"/>
            <a:ext cx="9525" cy="1387971"/>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3362474"/>
            <a:ext cx="3458170" cy="34290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577358" y="3362474"/>
            <a:ext cx="2915096" cy="342900"/>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578179" y="3362474"/>
            <a:ext cx="4327029" cy="342900"/>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28662" y="4010174"/>
            <a:ext cx="16830675" cy="4965353"/>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47738" y="4445496"/>
            <a:ext cx="16392525" cy="523875"/>
          </a:xfrm>
          <a:prstGeom prst="rect">
            <a:avLst/>
          </a:prstGeom>
          <a:solidFill>
            <a:srgbClr val="FFD21F">
              <a:alpha val="12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090612" y="4540746"/>
            <a:ext cx="504825" cy="33337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47738" y="5338018"/>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90612" y="5433268"/>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47738" y="6230541"/>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090612" y="6325791"/>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47738" y="7123063"/>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090612" y="7218313"/>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47738" y="8015585"/>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090612" y="8110835"/>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0372725"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0377488" y="9944100"/>
            <a:ext cx="11247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81075" y="1663750"/>
            <a:ext cx="4041761"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07 / 12</a:t>
            </a:r>
          </a:p>
        </p:txBody>
      </p:sp>
      <p:sp>
        <p:nvSpPr>
          <p:cNvPr id="48" name="TextBox 47"/>
          <p:cNvSpPr txBox="1"/>
          <p:nvPr/>
        </p:nvSpPr>
        <p:spPr>
          <a:xfrm>
            <a:off x="981075" y="1885652"/>
            <a:ext cx="15070229"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El recuperador en marcha: una consulta real y lo que devuelve</a:t>
            </a:r>
          </a:p>
        </p:txBody>
      </p:sp>
      <p:sp>
        <p:nvSpPr>
          <p:cNvPr id="49" name="TextBox 48"/>
          <p:cNvSpPr txBox="1"/>
          <p:nvPr/>
        </p:nvSpPr>
        <p:spPr>
          <a:xfrm>
            <a:off x="1028700" y="2684115"/>
            <a:ext cx="5142792"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CONSULTA · PUBLICACIÓN DE RETAILER · UCRANIA</a:t>
            </a:r>
          </a:p>
        </p:txBody>
      </p:sp>
      <p:sp>
        <p:nvSpPr>
          <p:cNvPr id="50" name="TextBox 49"/>
          <p:cNvSpPr txBox="1"/>
          <p:nvPr/>
        </p:nvSpPr>
        <p:spPr>
          <a:xfrm>
            <a:off x="1028700" y="2960340"/>
            <a:ext cx="7959983"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монітор philips 27" 27e2n1100l/00 black/va/100 гц</a:t>
            </a:r>
          </a:p>
        </p:txBody>
      </p:sp>
      <p:sp>
        <p:nvSpPr>
          <p:cNvPr id="51" name="TextBox 50"/>
          <p:cNvSpPr txBox="1"/>
          <p:nvPr/>
        </p:nvSpPr>
        <p:spPr>
          <a:xfrm>
            <a:off x="1133475" y="3414861"/>
            <a:ext cx="3614047" cy="257175"/>
          </a:xfrm>
          <a:prstGeom prst="rect">
            <a:avLst/>
          </a:prstGeom>
          <a:noFill/>
        </p:spPr>
        <p:txBody>
          <a:bodyPr wrap="none" lIns="0" rIns="0" tIns="0" bIns="0" anchor="t">
            <a:spAutoFit/>
          </a:bodyPr>
          <a:lstStyle/>
          <a:p>
            <a:pPr algn="l">
              <a:lnSpc>
                <a:spcPct val="100000"/>
              </a:lnSpc>
            </a:pPr>
            <a:r>
              <a:rPr sz="1425" b="1" i="0">
                <a:solidFill>
                  <a:srgbClr val="FFD21F"/>
                </a:solidFill>
                <a:latin typeface="Roboto Mono"/>
              </a:rPr>
              <a:t>código presente: 27E2N1100L/00</a:t>
            </a:r>
          </a:p>
        </p:txBody>
      </p:sp>
      <p:sp>
        <p:nvSpPr>
          <p:cNvPr id="52" name="TextBox 51"/>
          <p:cNvSpPr txBox="1"/>
          <p:nvPr/>
        </p:nvSpPr>
        <p:spPr>
          <a:xfrm>
            <a:off x="4677370" y="3414861"/>
            <a:ext cx="3027527" cy="257175"/>
          </a:xfrm>
          <a:prstGeom prst="rect">
            <a:avLst/>
          </a:prstGeom>
          <a:noFill/>
        </p:spPr>
        <p:txBody>
          <a:bodyPr wrap="none" lIns="0" rIns="0" tIns="0" bIns="0" anchor="t">
            <a:spAutoFit/>
          </a:bodyPr>
          <a:lstStyle/>
          <a:p>
            <a:pPr algn="l">
              <a:lnSpc>
                <a:spcPct val="100000"/>
              </a:lnSpc>
            </a:pPr>
            <a:r>
              <a:rPr sz="1425" b="1" i="0">
                <a:solidFill>
                  <a:srgbClr val="9AB3CD"/>
                </a:solidFill>
                <a:latin typeface="Roboto Mono"/>
              </a:rPr>
              <a:t>catálogo: 4.316 productos</a:t>
            </a:r>
          </a:p>
        </p:txBody>
      </p:sp>
      <p:sp>
        <p:nvSpPr>
          <p:cNvPr id="53" name="TextBox 52"/>
          <p:cNvSpPr txBox="1"/>
          <p:nvPr/>
        </p:nvSpPr>
        <p:spPr>
          <a:xfrm>
            <a:off x="7678192" y="3414861"/>
            <a:ext cx="4552414" cy="257175"/>
          </a:xfrm>
          <a:prstGeom prst="rect">
            <a:avLst/>
          </a:prstGeom>
          <a:noFill/>
        </p:spPr>
        <p:txBody>
          <a:bodyPr wrap="none" lIns="0" rIns="0" tIns="0" bIns="0" anchor="t">
            <a:spAutoFit/>
          </a:bodyPr>
          <a:lstStyle/>
          <a:p>
            <a:pPr algn="l">
              <a:lnSpc>
                <a:spcPct val="100000"/>
              </a:lnSpc>
            </a:pPr>
            <a:r>
              <a:rPr sz="1425" b="1" i="0">
                <a:solidFill>
                  <a:srgbClr val="9AB3CD"/>
                </a:solidFill>
                <a:latin typeface="Roboto Mono"/>
              </a:rPr>
              <a:t>TF-IDF char_wb 4-6 · texto enriquecido</a:t>
            </a:r>
          </a:p>
        </p:txBody>
      </p:sp>
      <p:sp>
        <p:nvSpPr>
          <p:cNvPr id="54" name="TextBox 53"/>
          <p:cNvSpPr txBox="1"/>
          <p:nvPr/>
        </p:nvSpPr>
        <p:spPr>
          <a:xfrm>
            <a:off x="1307604" y="4587419"/>
            <a:ext cx="171760" cy="259080"/>
          </a:xfrm>
          <a:prstGeom prst="rect">
            <a:avLst/>
          </a:prstGeom>
          <a:noFill/>
        </p:spPr>
        <p:txBody>
          <a:bodyPr wrap="none" lIns="0" rIns="0" tIns="0" bIns="0" anchor="t">
            <a:spAutoFit/>
          </a:bodyPr>
          <a:lstStyle/>
          <a:p>
            <a:pPr algn="l">
              <a:lnSpc>
                <a:spcPct val="100000"/>
              </a:lnSpc>
            </a:pPr>
            <a:r>
              <a:rPr sz="1575" b="1" i="0">
                <a:solidFill>
                  <a:srgbClr val="FFD21F"/>
                </a:solidFill>
                <a:latin typeface="Barlow"/>
              </a:rPr>
              <a:t>1</a:t>
            </a:r>
          </a:p>
        </p:txBody>
      </p:sp>
      <p:sp>
        <p:nvSpPr>
          <p:cNvPr id="55" name="TextBox 54"/>
          <p:cNvSpPr txBox="1"/>
          <p:nvPr/>
        </p:nvSpPr>
        <p:spPr>
          <a:xfrm>
            <a:off x="1733550" y="4564559"/>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27E2N1100L/00</a:t>
            </a:r>
          </a:p>
        </p:txBody>
      </p:sp>
      <p:sp>
        <p:nvSpPr>
          <p:cNvPr id="56" name="TextBox 55"/>
          <p:cNvSpPr txBox="1"/>
          <p:nvPr/>
        </p:nvSpPr>
        <p:spPr>
          <a:xfrm>
            <a:off x="3867150" y="4583906"/>
            <a:ext cx="4234642"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27e2n1100l full hd lcd monitor</a:t>
            </a:r>
          </a:p>
        </p:txBody>
      </p:sp>
      <p:sp>
        <p:nvSpPr>
          <p:cNvPr id="57" name="TextBox 56"/>
          <p:cNvSpPr txBox="1"/>
          <p:nvPr/>
        </p:nvSpPr>
        <p:spPr>
          <a:xfrm>
            <a:off x="16059394" y="4564559"/>
            <a:ext cx="1142756" cy="304800"/>
          </a:xfrm>
          <a:prstGeom prst="rect">
            <a:avLst/>
          </a:prstGeom>
          <a:noFill/>
        </p:spPr>
        <p:txBody>
          <a:bodyPr wrap="none" lIns="0" rIns="0" tIns="0" bIns="0" anchor="t">
            <a:spAutoFit/>
          </a:bodyPr>
          <a:lstStyle/>
          <a:p>
            <a:pPr algn="r">
              <a:lnSpc>
                <a:spcPct val="100000"/>
              </a:lnSpc>
            </a:pPr>
            <a:r>
              <a:rPr sz="1875" b="1" i="0">
                <a:solidFill>
                  <a:srgbClr val="FFD21F"/>
                </a:solidFill>
                <a:latin typeface="Barlow"/>
              </a:rPr>
              <a:t>0,691793</a:t>
            </a:r>
          </a:p>
        </p:txBody>
      </p:sp>
      <p:sp>
        <p:nvSpPr>
          <p:cNvPr id="58" name="TextBox 57"/>
          <p:cNvSpPr txBox="1"/>
          <p:nvPr/>
        </p:nvSpPr>
        <p:spPr>
          <a:xfrm>
            <a:off x="1286917" y="5479941"/>
            <a:ext cx="216283"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2</a:t>
            </a:r>
          </a:p>
        </p:txBody>
      </p:sp>
      <p:sp>
        <p:nvSpPr>
          <p:cNvPr id="59" name="TextBox 58"/>
          <p:cNvSpPr txBox="1"/>
          <p:nvPr/>
        </p:nvSpPr>
        <p:spPr>
          <a:xfrm>
            <a:off x="1733550" y="5457081"/>
            <a:ext cx="1799195"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27E2N1110/00</a:t>
            </a:r>
          </a:p>
        </p:txBody>
      </p:sp>
      <p:sp>
        <p:nvSpPr>
          <p:cNvPr id="60" name="TextBox 59"/>
          <p:cNvSpPr txBox="1"/>
          <p:nvPr/>
        </p:nvSpPr>
        <p:spPr>
          <a:xfrm>
            <a:off x="3867150" y="5476429"/>
            <a:ext cx="4139970"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27e2n1110 full hd lcd monitor</a:t>
            </a:r>
          </a:p>
        </p:txBody>
      </p:sp>
      <p:sp>
        <p:nvSpPr>
          <p:cNvPr id="61" name="TextBox 60"/>
          <p:cNvSpPr txBox="1"/>
          <p:nvPr/>
        </p:nvSpPr>
        <p:spPr>
          <a:xfrm>
            <a:off x="16059394" y="5457081"/>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0,344748</a:t>
            </a:r>
          </a:p>
        </p:txBody>
      </p:sp>
      <p:sp>
        <p:nvSpPr>
          <p:cNvPr id="62" name="TextBox 61"/>
          <p:cNvSpPr txBox="1"/>
          <p:nvPr/>
        </p:nvSpPr>
        <p:spPr>
          <a:xfrm>
            <a:off x="1289000" y="6372463"/>
            <a:ext cx="211943"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3</a:t>
            </a:r>
          </a:p>
        </p:txBody>
      </p:sp>
      <p:sp>
        <p:nvSpPr>
          <p:cNvPr id="63" name="TextBox 62"/>
          <p:cNvSpPr txBox="1"/>
          <p:nvPr/>
        </p:nvSpPr>
        <p:spPr>
          <a:xfrm>
            <a:off x="1733550" y="6349603"/>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27E2N1500L/00</a:t>
            </a:r>
          </a:p>
        </p:txBody>
      </p:sp>
      <p:sp>
        <p:nvSpPr>
          <p:cNvPr id="64" name="TextBox 63"/>
          <p:cNvSpPr txBox="1"/>
          <p:nvPr/>
        </p:nvSpPr>
        <p:spPr>
          <a:xfrm>
            <a:off x="3867150" y="6368951"/>
            <a:ext cx="4120039"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27e2n1500l quad hd monitor</a:t>
            </a:r>
          </a:p>
        </p:txBody>
      </p:sp>
      <p:sp>
        <p:nvSpPr>
          <p:cNvPr id="65" name="TextBox 64"/>
          <p:cNvSpPr txBox="1"/>
          <p:nvPr/>
        </p:nvSpPr>
        <p:spPr>
          <a:xfrm>
            <a:off x="16059394" y="6349603"/>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0,316991</a:t>
            </a:r>
          </a:p>
        </p:txBody>
      </p:sp>
      <p:sp>
        <p:nvSpPr>
          <p:cNvPr id="66" name="TextBox 65"/>
          <p:cNvSpPr txBox="1"/>
          <p:nvPr/>
        </p:nvSpPr>
        <p:spPr>
          <a:xfrm>
            <a:off x="1282452" y="7264985"/>
            <a:ext cx="226088"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4</a:t>
            </a:r>
          </a:p>
        </p:txBody>
      </p:sp>
      <p:sp>
        <p:nvSpPr>
          <p:cNvPr id="67" name="TextBox 66"/>
          <p:cNvSpPr txBox="1"/>
          <p:nvPr/>
        </p:nvSpPr>
        <p:spPr>
          <a:xfrm>
            <a:off x="1733550" y="7242125"/>
            <a:ext cx="2083052"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24E2N1100LB/00</a:t>
            </a:r>
          </a:p>
        </p:txBody>
      </p:sp>
      <p:sp>
        <p:nvSpPr>
          <p:cNvPr id="68" name="TextBox 67"/>
          <p:cNvSpPr txBox="1"/>
          <p:nvPr/>
        </p:nvSpPr>
        <p:spPr>
          <a:xfrm>
            <a:off x="3867150" y="7261473"/>
            <a:ext cx="4366766"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24e2n1100lb full hd lcd monitor</a:t>
            </a:r>
          </a:p>
        </p:txBody>
      </p:sp>
      <p:sp>
        <p:nvSpPr>
          <p:cNvPr id="69" name="TextBox 68"/>
          <p:cNvSpPr txBox="1"/>
          <p:nvPr/>
        </p:nvSpPr>
        <p:spPr>
          <a:xfrm>
            <a:off x="16059394" y="7242125"/>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0,314381</a:t>
            </a:r>
          </a:p>
        </p:txBody>
      </p:sp>
      <p:sp>
        <p:nvSpPr>
          <p:cNvPr id="70" name="TextBox 69"/>
          <p:cNvSpPr txBox="1"/>
          <p:nvPr/>
        </p:nvSpPr>
        <p:spPr>
          <a:xfrm>
            <a:off x="1289000" y="8157508"/>
            <a:ext cx="211782"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5</a:t>
            </a:r>
          </a:p>
        </p:txBody>
      </p:sp>
      <p:sp>
        <p:nvSpPr>
          <p:cNvPr id="71" name="TextBox 70"/>
          <p:cNvSpPr txBox="1"/>
          <p:nvPr/>
        </p:nvSpPr>
        <p:spPr>
          <a:xfrm>
            <a:off x="1733550" y="8134648"/>
            <a:ext cx="1799195"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27E2N2500/00</a:t>
            </a:r>
          </a:p>
        </p:txBody>
      </p:sp>
      <p:sp>
        <p:nvSpPr>
          <p:cNvPr id="72" name="TextBox 71"/>
          <p:cNvSpPr txBox="1"/>
          <p:nvPr/>
        </p:nvSpPr>
        <p:spPr>
          <a:xfrm>
            <a:off x="3867150" y="8153995"/>
            <a:ext cx="4110395"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monitor 27e2n2500 quad hd monitor</a:t>
            </a:r>
          </a:p>
        </p:txBody>
      </p:sp>
      <p:sp>
        <p:nvSpPr>
          <p:cNvPr id="73" name="TextBox 72"/>
          <p:cNvSpPr txBox="1"/>
          <p:nvPr/>
        </p:nvSpPr>
        <p:spPr>
          <a:xfrm>
            <a:off x="16059394" y="8134648"/>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0,157108</a:t>
            </a:r>
          </a:p>
        </p:txBody>
      </p:sp>
      <p:sp>
        <p:nvSpPr>
          <p:cNvPr id="74" name="TextBox 73"/>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El correcto queda primero y con el doble de puntuación que el segundo. Consulta en cirílico, catálogo en inglés: los n-gramas de caracteres cruzan el idioma porque el código es la parte que comparten.</a:t>
            </a:r>
          </a:p>
        </p:txBody>
      </p:sp>
      <p:sp>
        <p:nvSpPr>
          <p:cNvPr id="75" name="TextBox 74"/>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6" name="TextBox 75"/>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77" name="TextBox 76"/>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8" name="TextBox 77"/>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9" name="TextBox 78"/>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80" name="TextBox 79"/>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1" name="TextBox 80"/>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2" name="TextBox 81"/>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33</a:t>
            </a:r>
          </a:p>
        </p:txBody>
      </p:sp>
      <p:sp>
        <p:nvSpPr>
          <p:cNvPr id="83" name="TextBox 82"/>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4" name="TextBox 83"/>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5" name="TextBox 84"/>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6" name="TextBox 85"/>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7" name="TextBox 86"/>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16840200" cy="1387971"/>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3881586"/>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76200" cy="138797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2503140"/>
            <a:ext cx="9525" cy="1387971"/>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3362474"/>
            <a:ext cx="2697956" cy="34290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817144" y="3362474"/>
            <a:ext cx="2915096"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817965" y="3362474"/>
            <a:ext cx="2372171" cy="342900"/>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28662" y="4010174"/>
            <a:ext cx="16830675" cy="5228183"/>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47738" y="4489400"/>
            <a:ext cx="16392525" cy="523875"/>
          </a:xfrm>
          <a:prstGeom prst="rect">
            <a:avLst/>
          </a:prstGeom>
          <a:solidFill>
            <a:srgbClr val="FFD21F">
              <a:alpha val="12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090612" y="4584650"/>
            <a:ext cx="504825" cy="333375"/>
          </a:xfrm>
          <a:prstGeom prst="rect">
            <a:avLst/>
          </a:prstGeom>
          <a:no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47738" y="5425827"/>
            <a:ext cx="16392525" cy="523875"/>
          </a:xfrm>
          <a:prstGeom prst="rect">
            <a:avLst/>
          </a:prstGeom>
          <a:solidFill>
            <a:srgbClr val="07172D">
              <a:alpha val="55000"/>
            </a:srgbClr>
          </a:solidFill>
          <a:ln w="9525">
            <a:solidFill>
              <a:srgbClr val="E2758F">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90612" y="5521077"/>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47738" y="6362254"/>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090612" y="6457504"/>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47738" y="7298680"/>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090612" y="7393930"/>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947738" y="8235107"/>
            <a:ext cx="16392525" cy="523875"/>
          </a:xfrm>
          <a:prstGeom prst="rect">
            <a:avLst/>
          </a:prstGeom>
          <a:solidFill>
            <a:srgbClr val="07172D">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090612" y="8330357"/>
            <a:ext cx="504825" cy="333375"/>
          </a:xfrm>
          <a:prstGeom prst="rect">
            <a:avLst/>
          </a:prstGeom>
          <a:no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1583144"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87907" y="9944100"/>
            <a:ext cx="11247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81075" y="1663750"/>
            <a:ext cx="405204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08 / 12</a:t>
            </a:r>
          </a:p>
        </p:txBody>
      </p:sp>
      <p:sp>
        <p:nvSpPr>
          <p:cNvPr id="49" name="TextBox 48"/>
          <p:cNvSpPr txBox="1"/>
          <p:nvPr/>
        </p:nvSpPr>
        <p:spPr>
          <a:xfrm>
            <a:off x="981075" y="1885652"/>
            <a:ext cx="11553843"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El caso que el recuperador no puede cerrar solo</a:t>
            </a:r>
          </a:p>
        </p:txBody>
      </p:sp>
      <p:sp>
        <p:nvSpPr>
          <p:cNvPr id="50" name="TextBox 49"/>
          <p:cNvSpPr txBox="1"/>
          <p:nvPr/>
        </p:nvSpPr>
        <p:spPr>
          <a:xfrm>
            <a:off x="1028700" y="2684115"/>
            <a:ext cx="4974503"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CONSULTA · EL SUFIJO ES LO ÚNICO QUE CAMBIA</a:t>
            </a:r>
          </a:p>
        </p:txBody>
      </p:sp>
      <p:sp>
        <p:nvSpPr>
          <p:cNvPr id="51" name="TextBox 50"/>
          <p:cNvSpPr txBox="1"/>
          <p:nvPr/>
        </p:nvSpPr>
        <p:spPr>
          <a:xfrm>
            <a:off x="1028700" y="2960340"/>
            <a:ext cx="4749957"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монітор philips 27m2c5500w/00</a:t>
            </a:r>
          </a:p>
        </p:txBody>
      </p:sp>
      <p:sp>
        <p:nvSpPr>
          <p:cNvPr id="52" name="TextBox 51"/>
          <p:cNvSpPr txBox="1"/>
          <p:nvPr/>
        </p:nvSpPr>
        <p:spPr>
          <a:xfrm>
            <a:off x="1133475" y="3414861"/>
            <a:ext cx="2793016" cy="257175"/>
          </a:xfrm>
          <a:prstGeom prst="rect">
            <a:avLst/>
          </a:prstGeom>
          <a:noFill/>
        </p:spPr>
        <p:txBody>
          <a:bodyPr wrap="none" lIns="0" rIns="0" tIns="0" bIns="0" anchor="t">
            <a:spAutoFit/>
          </a:bodyPr>
          <a:lstStyle/>
          <a:p>
            <a:pPr algn="l">
              <a:lnSpc>
                <a:spcPct val="100000"/>
              </a:lnSpc>
            </a:pPr>
            <a:r>
              <a:rPr sz="1425" b="1" i="0">
                <a:solidFill>
                  <a:srgbClr val="FFD21F"/>
                </a:solidFill>
                <a:latin typeface="Roboto Mono"/>
              </a:rPr>
              <a:t>correcto: 27M2C5500W/00</a:t>
            </a:r>
          </a:p>
        </p:txBody>
      </p:sp>
      <p:sp>
        <p:nvSpPr>
          <p:cNvPr id="53" name="TextBox 52"/>
          <p:cNvSpPr txBox="1"/>
          <p:nvPr/>
        </p:nvSpPr>
        <p:spPr>
          <a:xfrm>
            <a:off x="3917156" y="3414861"/>
            <a:ext cx="3027527"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competidor: 27M2C5500W/01</a:t>
            </a:r>
          </a:p>
        </p:txBody>
      </p:sp>
      <p:sp>
        <p:nvSpPr>
          <p:cNvPr id="54" name="TextBox 53"/>
          <p:cNvSpPr txBox="1"/>
          <p:nvPr/>
        </p:nvSpPr>
        <p:spPr>
          <a:xfrm>
            <a:off x="6917978" y="3414861"/>
            <a:ext cx="2441168" cy="257175"/>
          </a:xfrm>
          <a:prstGeom prst="rect">
            <a:avLst/>
          </a:prstGeom>
          <a:noFill/>
        </p:spPr>
        <p:txBody>
          <a:bodyPr wrap="none" lIns="0" rIns="0" tIns="0" bIns="0" anchor="t">
            <a:spAutoFit/>
          </a:bodyPr>
          <a:lstStyle/>
          <a:p>
            <a:pPr algn="l">
              <a:lnSpc>
                <a:spcPct val="100000"/>
              </a:lnSpc>
            </a:pPr>
            <a:r>
              <a:rPr sz="1425" b="1" i="0">
                <a:solidFill>
                  <a:srgbClr val="9AB3CD"/>
                </a:solidFill>
                <a:latin typeface="Roboto Mono"/>
              </a:rPr>
              <a:t>separación: 0,054387</a:t>
            </a:r>
          </a:p>
        </p:txBody>
      </p:sp>
      <p:sp>
        <p:nvSpPr>
          <p:cNvPr id="55" name="TextBox 54"/>
          <p:cNvSpPr txBox="1"/>
          <p:nvPr/>
        </p:nvSpPr>
        <p:spPr>
          <a:xfrm>
            <a:off x="1307604" y="4631323"/>
            <a:ext cx="171760" cy="259080"/>
          </a:xfrm>
          <a:prstGeom prst="rect">
            <a:avLst/>
          </a:prstGeom>
          <a:noFill/>
        </p:spPr>
        <p:txBody>
          <a:bodyPr wrap="none" lIns="0" rIns="0" tIns="0" bIns="0" anchor="t">
            <a:spAutoFit/>
          </a:bodyPr>
          <a:lstStyle/>
          <a:p>
            <a:pPr algn="l">
              <a:lnSpc>
                <a:spcPct val="100000"/>
              </a:lnSpc>
            </a:pPr>
            <a:r>
              <a:rPr sz="1575" b="1" i="0">
                <a:solidFill>
                  <a:srgbClr val="FFD21F"/>
                </a:solidFill>
                <a:latin typeface="Barlow"/>
              </a:rPr>
              <a:t>1</a:t>
            </a:r>
          </a:p>
        </p:txBody>
      </p:sp>
      <p:sp>
        <p:nvSpPr>
          <p:cNvPr id="56" name="TextBox 55"/>
          <p:cNvSpPr txBox="1"/>
          <p:nvPr/>
        </p:nvSpPr>
        <p:spPr>
          <a:xfrm>
            <a:off x="1733550" y="4608463"/>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27M2C5500W/00</a:t>
            </a:r>
          </a:p>
        </p:txBody>
      </p:sp>
      <p:sp>
        <p:nvSpPr>
          <p:cNvPr id="57" name="TextBox 56"/>
          <p:cNvSpPr txBox="1"/>
          <p:nvPr/>
        </p:nvSpPr>
        <p:spPr>
          <a:xfrm>
            <a:off x="3867150" y="4627811"/>
            <a:ext cx="4956983"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curved gaming monitor 27m2c5500w quad hd</a:t>
            </a:r>
          </a:p>
        </p:txBody>
      </p:sp>
      <p:sp>
        <p:nvSpPr>
          <p:cNvPr id="58" name="TextBox 57"/>
          <p:cNvSpPr txBox="1"/>
          <p:nvPr/>
        </p:nvSpPr>
        <p:spPr>
          <a:xfrm>
            <a:off x="16059394" y="4608463"/>
            <a:ext cx="1142756" cy="304800"/>
          </a:xfrm>
          <a:prstGeom prst="rect">
            <a:avLst/>
          </a:prstGeom>
          <a:noFill/>
        </p:spPr>
        <p:txBody>
          <a:bodyPr wrap="none" lIns="0" rIns="0" tIns="0" bIns="0" anchor="t">
            <a:spAutoFit/>
          </a:bodyPr>
          <a:lstStyle/>
          <a:p>
            <a:pPr algn="r">
              <a:lnSpc>
                <a:spcPct val="100000"/>
              </a:lnSpc>
            </a:pPr>
            <a:r>
              <a:rPr sz="1875" b="1" i="0">
                <a:solidFill>
                  <a:srgbClr val="FFD21F"/>
                </a:solidFill>
                <a:latin typeface="Barlow"/>
              </a:rPr>
              <a:t>0,668532</a:t>
            </a:r>
          </a:p>
        </p:txBody>
      </p:sp>
      <p:sp>
        <p:nvSpPr>
          <p:cNvPr id="59" name="TextBox 58"/>
          <p:cNvSpPr txBox="1"/>
          <p:nvPr/>
        </p:nvSpPr>
        <p:spPr>
          <a:xfrm>
            <a:off x="1286917" y="5567749"/>
            <a:ext cx="216283"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2</a:t>
            </a:r>
          </a:p>
        </p:txBody>
      </p:sp>
      <p:sp>
        <p:nvSpPr>
          <p:cNvPr id="60" name="TextBox 59"/>
          <p:cNvSpPr txBox="1"/>
          <p:nvPr/>
        </p:nvSpPr>
        <p:spPr>
          <a:xfrm>
            <a:off x="1733550" y="5544889"/>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27M2C5500W/01</a:t>
            </a:r>
          </a:p>
        </p:txBody>
      </p:sp>
      <p:sp>
        <p:nvSpPr>
          <p:cNvPr id="61" name="TextBox 60"/>
          <p:cNvSpPr txBox="1"/>
          <p:nvPr/>
        </p:nvSpPr>
        <p:spPr>
          <a:xfrm>
            <a:off x="3867150" y="5564237"/>
            <a:ext cx="4956983"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curved gaming monitor 27m2c5500w quad hd</a:t>
            </a:r>
          </a:p>
        </p:txBody>
      </p:sp>
      <p:sp>
        <p:nvSpPr>
          <p:cNvPr id="62" name="TextBox 61"/>
          <p:cNvSpPr txBox="1"/>
          <p:nvPr/>
        </p:nvSpPr>
        <p:spPr>
          <a:xfrm>
            <a:off x="16059394" y="5544889"/>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0,614145</a:t>
            </a:r>
          </a:p>
        </p:txBody>
      </p:sp>
      <p:sp>
        <p:nvSpPr>
          <p:cNvPr id="63" name="TextBox 62"/>
          <p:cNvSpPr txBox="1"/>
          <p:nvPr/>
        </p:nvSpPr>
        <p:spPr>
          <a:xfrm>
            <a:off x="1289000" y="6504176"/>
            <a:ext cx="211943"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3</a:t>
            </a:r>
          </a:p>
        </p:txBody>
      </p:sp>
      <p:sp>
        <p:nvSpPr>
          <p:cNvPr id="64" name="TextBox 63"/>
          <p:cNvSpPr txBox="1"/>
          <p:nvPr/>
        </p:nvSpPr>
        <p:spPr>
          <a:xfrm>
            <a:off x="1733550" y="6481316"/>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32M2C5500W/00</a:t>
            </a:r>
          </a:p>
        </p:txBody>
      </p:sp>
      <p:sp>
        <p:nvSpPr>
          <p:cNvPr id="65" name="TextBox 64"/>
          <p:cNvSpPr txBox="1"/>
          <p:nvPr/>
        </p:nvSpPr>
        <p:spPr>
          <a:xfrm>
            <a:off x="3867150" y="6500664"/>
            <a:ext cx="4282380"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gaming monitor 32m2c5500w quad hd</a:t>
            </a:r>
          </a:p>
        </p:txBody>
      </p:sp>
      <p:sp>
        <p:nvSpPr>
          <p:cNvPr id="66" name="TextBox 65"/>
          <p:cNvSpPr txBox="1"/>
          <p:nvPr/>
        </p:nvSpPr>
        <p:spPr>
          <a:xfrm>
            <a:off x="16059394" y="6481316"/>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0,456400</a:t>
            </a:r>
          </a:p>
        </p:txBody>
      </p:sp>
      <p:sp>
        <p:nvSpPr>
          <p:cNvPr id="67" name="TextBox 66"/>
          <p:cNvSpPr txBox="1"/>
          <p:nvPr/>
        </p:nvSpPr>
        <p:spPr>
          <a:xfrm>
            <a:off x="1282452" y="7440603"/>
            <a:ext cx="226088"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4</a:t>
            </a:r>
          </a:p>
        </p:txBody>
      </p:sp>
      <p:sp>
        <p:nvSpPr>
          <p:cNvPr id="68" name="TextBox 67"/>
          <p:cNvSpPr txBox="1"/>
          <p:nvPr/>
        </p:nvSpPr>
        <p:spPr>
          <a:xfrm>
            <a:off x="1733550" y="7417743"/>
            <a:ext cx="1941124"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32M2C5500W/01</a:t>
            </a:r>
          </a:p>
        </p:txBody>
      </p:sp>
      <p:sp>
        <p:nvSpPr>
          <p:cNvPr id="69" name="TextBox 68"/>
          <p:cNvSpPr txBox="1"/>
          <p:nvPr/>
        </p:nvSpPr>
        <p:spPr>
          <a:xfrm>
            <a:off x="3867150" y="7437090"/>
            <a:ext cx="4282380"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gaming monitor 32m2c5500w quad hd</a:t>
            </a:r>
          </a:p>
        </p:txBody>
      </p:sp>
      <p:sp>
        <p:nvSpPr>
          <p:cNvPr id="70" name="TextBox 69"/>
          <p:cNvSpPr txBox="1"/>
          <p:nvPr/>
        </p:nvSpPr>
        <p:spPr>
          <a:xfrm>
            <a:off x="16059394" y="7417743"/>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0,397797</a:t>
            </a:r>
          </a:p>
        </p:txBody>
      </p:sp>
      <p:sp>
        <p:nvSpPr>
          <p:cNvPr id="71" name="TextBox 70"/>
          <p:cNvSpPr txBox="1"/>
          <p:nvPr/>
        </p:nvSpPr>
        <p:spPr>
          <a:xfrm>
            <a:off x="1289000" y="8377029"/>
            <a:ext cx="211782" cy="259080"/>
          </a:xfrm>
          <a:prstGeom prst="rect">
            <a:avLst/>
          </a:prstGeom>
          <a:noFill/>
        </p:spPr>
        <p:txBody>
          <a:bodyPr wrap="none" lIns="0" rIns="0" tIns="0" bIns="0" anchor="t">
            <a:spAutoFit/>
          </a:bodyPr>
          <a:lstStyle/>
          <a:p>
            <a:pPr algn="l">
              <a:lnSpc>
                <a:spcPct val="100000"/>
              </a:lnSpc>
            </a:pPr>
            <a:r>
              <a:rPr sz="1575" b="1" i="0">
                <a:solidFill>
                  <a:srgbClr val="9AB3CD"/>
                </a:solidFill>
                <a:latin typeface="Barlow"/>
              </a:rPr>
              <a:t>5</a:t>
            </a:r>
          </a:p>
        </p:txBody>
      </p:sp>
      <p:sp>
        <p:nvSpPr>
          <p:cNvPr id="72" name="TextBox 71"/>
          <p:cNvSpPr txBox="1"/>
          <p:nvPr/>
        </p:nvSpPr>
        <p:spPr>
          <a:xfrm>
            <a:off x="1733550" y="8354169"/>
            <a:ext cx="1799195" cy="304800"/>
          </a:xfrm>
          <a:prstGeom prst="rect">
            <a:avLst/>
          </a:prstGeom>
          <a:noFill/>
        </p:spPr>
        <p:txBody>
          <a:bodyPr wrap="none" lIns="0" rIns="0" tIns="0" bIns="0" anchor="t">
            <a:spAutoFit/>
          </a:bodyPr>
          <a:lstStyle/>
          <a:p>
            <a:pPr algn="l">
              <a:lnSpc>
                <a:spcPct val="100000"/>
              </a:lnSpc>
            </a:pPr>
            <a:r>
              <a:rPr sz="1725" b="1" i="0">
                <a:solidFill>
                  <a:srgbClr val="FFD21F"/>
                </a:solidFill>
                <a:latin typeface="Roboto Mono"/>
              </a:rPr>
              <a:t>27M2C5501/00</a:t>
            </a:r>
          </a:p>
        </p:txBody>
      </p:sp>
      <p:sp>
        <p:nvSpPr>
          <p:cNvPr id="73" name="TextBox 72"/>
          <p:cNvSpPr txBox="1"/>
          <p:nvPr/>
        </p:nvSpPr>
        <p:spPr>
          <a:xfrm>
            <a:off x="3867150" y="8373517"/>
            <a:ext cx="4629085" cy="257175"/>
          </a:xfrm>
          <a:prstGeom prst="rect">
            <a:avLst/>
          </a:prstGeom>
          <a:noFill/>
        </p:spPr>
        <p:txBody>
          <a:bodyPr wrap="none" lIns="0" rIns="0" tIns="0" bIns="0" anchor="t">
            <a:spAutoFit/>
          </a:bodyPr>
          <a:lstStyle/>
          <a:p>
            <a:pPr algn="l">
              <a:lnSpc>
                <a:spcPct val="95000"/>
              </a:lnSpc>
            </a:pPr>
            <a:r>
              <a:rPr sz="1575" b="0" i="0">
                <a:solidFill>
                  <a:srgbClr val="F3F7FC"/>
                </a:solidFill>
                <a:latin typeface="Barlow"/>
              </a:rPr>
              <a:t>philips curved fast va gaming monitor 27m2c5501</a:t>
            </a:r>
          </a:p>
        </p:txBody>
      </p:sp>
      <p:sp>
        <p:nvSpPr>
          <p:cNvPr id="74" name="TextBox 73"/>
          <p:cNvSpPr txBox="1"/>
          <p:nvPr/>
        </p:nvSpPr>
        <p:spPr>
          <a:xfrm>
            <a:off x="16059394" y="8354169"/>
            <a:ext cx="1142756" cy="304800"/>
          </a:xfrm>
          <a:prstGeom prst="rect">
            <a:avLst/>
          </a:prstGeom>
          <a:noFill/>
        </p:spPr>
        <p:txBody>
          <a:bodyPr wrap="none" lIns="0" rIns="0" tIns="0" bIns="0" anchor="t">
            <a:spAutoFit/>
          </a:bodyPr>
          <a:lstStyle/>
          <a:p>
            <a:pPr algn="r">
              <a:lnSpc>
                <a:spcPct val="100000"/>
              </a:lnSpc>
            </a:pPr>
            <a:r>
              <a:rPr sz="1875" b="1" i="0">
                <a:solidFill>
                  <a:srgbClr val="F3F7FC"/>
                </a:solidFill>
                <a:latin typeface="Barlow"/>
              </a:rPr>
              <a:t>0,388397</a:t>
            </a:r>
          </a:p>
        </p:txBody>
      </p:sp>
      <p:sp>
        <p:nvSpPr>
          <p:cNvPr id="75" name="TextBox 74"/>
          <p:cNvSpPr txBox="1"/>
          <p:nvPr/>
        </p:nvSpPr>
        <p:spPr>
          <a:xfrm>
            <a:off x="723900" y="9347895"/>
            <a:ext cx="5073021"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Los dos primeros son el mismo texto: solo cambia</a:t>
            </a:r>
          </a:p>
        </p:txBody>
      </p:sp>
      <p:sp>
        <p:nvSpPr>
          <p:cNvPr id="76" name="TextBox 75"/>
          <p:cNvSpPr txBox="1"/>
          <p:nvPr/>
        </p:nvSpPr>
        <p:spPr>
          <a:xfrm>
            <a:off x="5437882" y="9366945"/>
            <a:ext cx="435572"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/00</a:t>
            </a:r>
          </a:p>
        </p:txBody>
      </p:sp>
      <p:sp>
        <p:nvSpPr>
          <p:cNvPr id="77" name="TextBox 76"/>
          <p:cNvSpPr txBox="1"/>
          <p:nvPr/>
        </p:nvSpPr>
        <p:spPr>
          <a:xfrm>
            <a:off x="5820668" y="9347895"/>
            <a:ext cx="456712"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por</a:t>
            </a:r>
          </a:p>
        </p:txBody>
      </p:sp>
      <p:sp>
        <p:nvSpPr>
          <p:cNvPr id="78" name="TextBox 77"/>
          <p:cNvSpPr txBox="1"/>
          <p:nvPr/>
        </p:nvSpPr>
        <p:spPr>
          <a:xfrm>
            <a:off x="6179641" y="9366945"/>
            <a:ext cx="435572" cy="266700"/>
          </a:xfrm>
          <a:prstGeom prst="rect">
            <a:avLst/>
          </a:prstGeom>
          <a:noFill/>
        </p:spPr>
        <p:txBody>
          <a:bodyPr wrap="none" lIns="0" rIns="0" tIns="0" bIns="0" anchor="t">
            <a:spAutoFit/>
          </a:bodyPr>
          <a:lstStyle/>
          <a:p>
            <a:pPr algn="l">
              <a:lnSpc>
                <a:spcPct val="109500"/>
              </a:lnSpc>
            </a:pPr>
            <a:r>
              <a:rPr sz="1483" b="1" i="0">
                <a:solidFill>
                  <a:srgbClr val="FFD21F"/>
                </a:solidFill>
                <a:latin typeface="Roboto Mono"/>
              </a:rPr>
              <a:t>/01</a:t>
            </a:r>
          </a:p>
        </p:txBody>
      </p:sp>
      <p:sp>
        <p:nvSpPr>
          <p:cNvPr id="79" name="TextBox 78"/>
          <p:cNvSpPr txBox="1"/>
          <p:nvPr/>
        </p:nvSpPr>
        <p:spPr>
          <a:xfrm>
            <a:off x="6518672" y="9347895"/>
            <a:ext cx="11616500" cy="285750"/>
          </a:xfrm>
          <a:prstGeom prst="rect">
            <a:avLst/>
          </a:prstGeom>
          <a:noFill/>
        </p:spPr>
        <p:txBody>
          <a:bodyPr wrap="none" lIns="0" rIns="0" tIns="0" bIns="0" anchor="t">
            <a:spAutoFit/>
          </a:bodyPr>
          <a:lstStyle/>
          <a:p>
            <a:pPr algn="l">
              <a:lnSpc>
                <a:spcPct val="101400"/>
              </a:lnSpc>
            </a:pPr>
            <a:r>
              <a:rPr sz="1725" b="0" i="0">
                <a:solidFill>
                  <a:srgbClr val="9AB3CD"/>
                </a:solidFill>
                <a:latin typeface="Barlow"/>
              </a:rPr>
              <a:t>. Una bolsa de n-gramas no puede separar eso — por esto hace falta un segundo modelo que lea los dos textos juntos.</a:t>
            </a:r>
          </a:p>
        </p:txBody>
      </p:sp>
      <p:sp>
        <p:nvSpPr>
          <p:cNvPr id="80" name="TextBox 79"/>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81" name="TextBox 80"/>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82" name="TextBox 81"/>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83" name="TextBox 82"/>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84" name="TextBox 83"/>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85" name="TextBox 84"/>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6" name="TextBox 85"/>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7" name="TextBox 86"/>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8" name="TextBox 87"/>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34</a:t>
            </a:r>
          </a:p>
        </p:txBody>
      </p:sp>
      <p:sp>
        <p:nvSpPr>
          <p:cNvPr id="89" name="TextBox 88"/>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90" name="TextBox 89"/>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91" name="TextBox 90"/>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92" name="TextBox 91"/>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46762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452938" y="2650778"/>
            <a:ext cx="6400800" cy="776883"/>
          </a:xfrm>
          <a:prstGeom prst="rect">
            <a:avLst/>
          </a:prstGeom>
          <a:solidFill>
            <a:srgbClr val="0B5EA8"/>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0939462" y="2650778"/>
            <a:ext cx="6400800" cy="776883"/>
          </a:xfrm>
          <a:prstGeom prst="rect">
            <a:avLst/>
          </a:prstGeom>
          <a:solidFill>
            <a:srgbClr val="0B5EA8"/>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452938" y="3551486"/>
            <a:ext cx="6400800" cy="777032"/>
          </a:xfrm>
          <a:prstGeom prst="rect">
            <a:avLst/>
          </a:prstGeom>
          <a:solidFill>
            <a:srgbClr val="0B5EA8">
              <a:alpha val="14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0939462" y="3551486"/>
            <a:ext cx="6400800" cy="777032"/>
          </a:xfrm>
          <a:prstGeom prst="rect">
            <a:avLst/>
          </a:prstGeom>
          <a:solidFill>
            <a:srgbClr val="0B5EA8">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52938" y="4452342"/>
            <a:ext cx="6400800" cy="777032"/>
          </a:xfrm>
          <a:prstGeom prst="rect">
            <a:avLst/>
          </a:prstGeom>
          <a:solidFill>
            <a:srgbClr val="0B5EA8">
              <a:alpha val="14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0939462" y="4452342"/>
            <a:ext cx="6400800" cy="777032"/>
          </a:xfrm>
          <a:prstGeom prst="rect">
            <a:avLst/>
          </a:prstGeom>
          <a:solidFill>
            <a:srgbClr val="0B5EA8">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52938" y="5353199"/>
            <a:ext cx="6400800" cy="776883"/>
          </a:xfrm>
          <a:prstGeom prst="rect">
            <a:avLst/>
          </a:prstGeom>
          <a:solidFill>
            <a:srgbClr val="0B5EA8">
              <a:alpha val="3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0939462" y="5353199"/>
            <a:ext cx="6400800" cy="776883"/>
          </a:xfrm>
          <a:prstGeom prst="rect">
            <a:avLst/>
          </a:prstGeom>
          <a:solidFill>
            <a:srgbClr val="FFD21F">
              <a:alpha val="4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452938" y="6253907"/>
            <a:ext cx="6400800" cy="777032"/>
          </a:xfrm>
          <a:prstGeom prst="rect">
            <a:avLst/>
          </a:prstGeom>
          <a:solidFill>
            <a:srgbClr val="0B5EA8">
              <a:alpha val="3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0944225" y="6258669"/>
            <a:ext cx="6391275" cy="767507"/>
          </a:xfrm>
          <a:prstGeom prst="rect">
            <a:avLst/>
          </a:prstGeom>
          <a:solidFill>
            <a:srgbClr val="FFD21F"/>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52938" y="7154763"/>
            <a:ext cx="6400800" cy="777032"/>
          </a:xfrm>
          <a:prstGeom prst="rect">
            <a:avLst/>
          </a:prstGeom>
          <a:solidFill>
            <a:srgbClr val="0B5EA8">
              <a:alpha val="3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0939462" y="7154763"/>
            <a:ext cx="6400800" cy="777032"/>
          </a:xfrm>
          <a:prstGeom prst="rect">
            <a:avLst/>
          </a:prstGeom>
          <a:solidFill>
            <a:srgbClr val="FFD21F">
              <a:alpha val="4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452938" y="8055620"/>
            <a:ext cx="6400800" cy="777032"/>
          </a:xfrm>
          <a:prstGeom prst="rect">
            <a:avLst/>
          </a:prstGeom>
          <a:solidFill>
            <a:srgbClr val="07172D">
              <a:alpha val="60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0939462" y="8055620"/>
            <a:ext cx="6400800" cy="777032"/>
          </a:xfrm>
          <a:prstGeom prst="rect">
            <a:avLst/>
          </a:prstGeom>
          <a:solidFill>
            <a:srgbClr val="0B5EA8">
              <a:alpha val="55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87907"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793563" y="9720262"/>
            <a:ext cx="1134368"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2798326" y="9944100"/>
            <a:ext cx="11248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81075" y="1663750"/>
            <a:ext cx="404979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09 / 12</a:t>
            </a:r>
          </a:p>
        </p:txBody>
      </p:sp>
      <p:sp>
        <p:nvSpPr>
          <p:cNvPr id="46" name="TextBox 45"/>
          <p:cNvSpPr txBox="1"/>
          <p:nvPr/>
        </p:nvSpPr>
        <p:spPr>
          <a:xfrm>
            <a:off x="981075" y="1885652"/>
            <a:ext cx="15097714"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17 configuraciones evaluadas: lo que decide no es el algoritmo</a:t>
            </a:r>
          </a:p>
        </p:txBody>
      </p:sp>
      <p:sp>
        <p:nvSpPr>
          <p:cNvPr id="47" name="TextBox 46"/>
          <p:cNvSpPr txBox="1"/>
          <p:nvPr/>
        </p:nvSpPr>
        <p:spPr>
          <a:xfrm>
            <a:off x="942975" y="2913489"/>
            <a:ext cx="1684270"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Representación</a:t>
            </a:r>
          </a:p>
        </p:txBody>
      </p:sp>
      <p:sp>
        <p:nvSpPr>
          <p:cNvPr id="48" name="TextBox 47"/>
          <p:cNvSpPr txBox="1"/>
          <p:nvPr/>
        </p:nvSpPr>
        <p:spPr>
          <a:xfrm>
            <a:off x="6945809" y="2819192"/>
            <a:ext cx="1623512" cy="259080"/>
          </a:xfrm>
          <a:prstGeom prst="rect">
            <a:avLst/>
          </a:prstGeom>
          <a:noFill/>
        </p:spPr>
        <p:txBody>
          <a:bodyPr wrap="none" lIns="0" rIns="0" tIns="0" bIns="0" anchor="t">
            <a:spAutoFit/>
          </a:bodyPr>
          <a:lstStyle/>
          <a:p>
            <a:pPr algn="l">
              <a:lnSpc>
                <a:spcPct val="100000"/>
              </a:lnSpc>
            </a:pPr>
            <a:r>
              <a:rPr sz="1575" b="1" i="0" spc="78">
                <a:solidFill>
                  <a:srgbClr val="F3F7FC"/>
                </a:solidFill>
                <a:latin typeface="Barlow"/>
              </a:rPr>
              <a:t>TEXTO BÁSICO</a:t>
            </a:r>
          </a:p>
        </p:txBody>
      </p:sp>
      <p:sp>
        <p:nvSpPr>
          <p:cNvPr id="49" name="TextBox 48"/>
          <p:cNvSpPr txBox="1"/>
          <p:nvPr/>
        </p:nvSpPr>
        <p:spPr>
          <a:xfrm>
            <a:off x="7155210" y="3076367"/>
            <a:ext cx="1171206" cy="201930"/>
          </a:xfrm>
          <a:prstGeom prst="rect">
            <a:avLst/>
          </a:prstGeom>
          <a:noFill/>
        </p:spPr>
        <p:txBody>
          <a:bodyPr wrap="none" lIns="0" rIns="0" tIns="0" bIns="0" anchor="t">
            <a:spAutoFit/>
          </a:bodyPr>
          <a:lstStyle/>
          <a:p>
            <a:pPr algn="l">
              <a:lnSpc>
                <a:spcPct val="100000"/>
              </a:lnSpc>
            </a:pPr>
            <a:r>
              <a:rPr sz="1200" b="0" i="0" spc="24">
                <a:solidFill>
                  <a:srgbClr val="F3F7FC">
                    <a:alpha val="75000"/>
                  </a:srgbClr>
                </a:solidFill>
                <a:latin typeface="Barlow"/>
              </a:rPr>
              <a:t>solo el nombre</a:t>
            </a:r>
          </a:p>
        </p:txBody>
      </p:sp>
      <p:sp>
        <p:nvSpPr>
          <p:cNvPr id="50" name="TextBox 49"/>
          <p:cNvSpPr txBox="1"/>
          <p:nvPr/>
        </p:nvSpPr>
        <p:spPr>
          <a:xfrm>
            <a:off x="13132743" y="2819192"/>
            <a:ext cx="2270468" cy="259080"/>
          </a:xfrm>
          <a:prstGeom prst="rect">
            <a:avLst/>
          </a:prstGeom>
          <a:noFill/>
        </p:spPr>
        <p:txBody>
          <a:bodyPr wrap="none" lIns="0" rIns="0" tIns="0" bIns="0" anchor="t">
            <a:spAutoFit/>
          </a:bodyPr>
          <a:lstStyle/>
          <a:p>
            <a:pPr algn="l">
              <a:lnSpc>
                <a:spcPct val="100000"/>
              </a:lnSpc>
            </a:pPr>
            <a:r>
              <a:rPr sz="1575" b="1" i="0" spc="78">
                <a:solidFill>
                  <a:srgbClr val="F3F7FC"/>
                </a:solidFill>
                <a:latin typeface="Barlow"/>
              </a:rPr>
              <a:t>TEXTO ENRIQUECIDO</a:t>
            </a:r>
          </a:p>
        </p:txBody>
      </p:sp>
      <p:sp>
        <p:nvSpPr>
          <p:cNvPr id="51" name="TextBox 50"/>
          <p:cNvSpPr txBox="1"/>
          <p:nvPr/>
        </p:nvSpPr>
        <p:spPr>
          <a:xfrm>
            <a:off x="13313866" y="3076367"/>
            <a:ext cx="1879241" cy="201930"/>
          </a:xfrm>
          <a:prstGeom prst="rect">
            <a:avLst/>
          </a:prstGeom>
          <a:noFill/>
        </p:spPr>
        <p:txBody>
          <a:bodyPr wrap="none" lIns="0" rIns="0" tIns="0" bIns="0" anchor="t">
            <a:spAutoFit/>
          </a:bodyPr>
          <a:lstStyle/>
          <a:p>
            <a:pPr algn="l">
              <a:lnSpc>
                <a:spcPct val="100000"/>
              </a:lnSpc>
            </a:pPr>
            <a:r>
              <a:rPr sz="1200" b="0" i="0" spc="24">
                <a:solidFill>
                  <a:srgbClr val="F3F7FC">
                    <a:alpha val="75000"/>
                  </a:srgbClr>
                </a:solidFill>
                <a:latin typeface="Barlow"/>
              </a:rPr>
              <a:t>nombre + códigos + EAN</a:t>
            </a:r>
          </a:p>
        </p:txBody>
      </p:sp>
      <p:sp>
        <p:nvSpPr>
          <p:cNvPr id="52" name="TextBox 51"/>
          <p:cNvSpPr txBox="1"/>
          <p:nvPr/>
        </p:nvSpPr>
        <p:spPr>
          <a:xfrm>
            <a:off x="942975" y="3709422"/>
            <a:ext cx="1267647"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Palabras 1-1</a:t>
            </a:r>
          </a:p>
        </p:txBody>
      </p:sp>
      <p:sp>
        <p:nvSpPr>
          <p:cNvPr id="53" name="TextBox 52"/>
          <p:cNvSpPr txBox="1"/>
          <p:nvPr/>
        </p:nvSpPr>
        <p:spPr>
          <a:xfrm>
            <a:off x="942975" y="3958977"/>
            <a:ext cx="1277291"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word unigrama</a:t>
            </a:r>
          </a:p>
        </p:txBody>
      </p:sp>
      <p:sp>
        <p:nvSpPr>
          <p:cNvPr id="54" name="TextBox 53"/>
          <p:cNvSpPr txBox="1"/>
          <p:nvPr/>
        </p:nvSpPr>
        <p:spPr>
          <a:xfrm>
            <a:off x="7283648" y="3791337"/>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0,2593</a:t>
            </a:r>
          </a:p>
        </p:txBody>
      </p:sp>
      <p:sp>
        <p:nvSpPr>
          <p:cNvPr id="55" name="TextBox 54"/>
          <p:cNvSpPr txBox="1"/>
          <p:nvPr/>
        </p:nvSpPr>
        <p:spPr>
          <a:xfrm>
            <a:off x="13770173" y="3791337"/>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0,7523</a:t>
            </a:r>
          </a:p>
        </p:txBody>
      </p:sp>
      <p:sp>
        <p:nvSpPr>
          <p:cNvPr id="56" name="TextBox 55"/>
          <p:cNvSpPr txBox="1"/>
          <p:nvPr/>
        </p:nvSpPr>
        <p:spPr>
          <a:xfrm>
            <a:off x="942975" y="4610279"/>
            <a:ext cx="1309759"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Palabras 1-3</a:t>
            </a:r>
          </a:p>
        </p:txBody>
      </p:sp>
      <p:sp>
        <p:nvSpPr>
          <p:cNvPr id="57" name="TextBox 56"/>
          <p:cNvSpPr txBox="1"/>
          <p:nvPr/>
        </p:nvSpPr>
        <p:spPr>
          <a:xfrm>
            <a:off x="942975" y="4859834"/>
            <a:ext cx="1211711"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word trigrama</a:t>
            </a:r>
          </a:p>
        </p:txBody>
      </p:sp>
      <p:sp>
        <p:nvSpPr>
          <p:cNvPr id="58" name="TextBox 57"/>
          <p:cNvSpPr txBox="1"/>
          <p:nvPr/>
        </p:nvSpPr>
        <p:spPr>
          <a:xfrm>
            <a:off x="7283648" y="4692194"/>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0,2383</a:t>
            </a:r>
          </a:p>
        </p:txBody>
      </p:sp>
      <p:sp>
        <p:nvSpPr>
          <p:cNvPr id="59" name="TextBox 58"/>
          <p:cNvSpPr txBox="1"/>
          <p:nvPr/>
        </p:nvSpPr>
        <p:spPr>
          <a:xfrm>
            <a:off x="13770173" y="4692194"/>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0,7406</a:t>
            </a:r>
          </a:p>
        </p:txBody>
      </p:sp>
      <p:sp>
        <p:nvSpPr>
          <p:cNvPr id="60" name="TextBox 59"/>
          <p:cNvSpPr txBox="1"/>
          <p:nvPr/>
        </p:nvSpPr>
        <p:spPr>
          <a:xfrm>
            <a:off x="942975" y="5511135"/>
            <a:ext cx="1587347"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Caracteres 3-5</a:t>
            </a:r>
          </a:p>
        </p:txBody>
      </p:sp>
      <p:sp>
        <p:nvSpPr>
          <p:cNvPr id="61" name="TextBox 60"/>
          <p:cNvSpPr txBox="1"/>
          <p:nvPr/>
        </p:nvSpPr>
        <p:spPr>
          <a:xfrm>
            <a:off x="942975" y="5760690"/>
            <a:ext cx="768888"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char_wb</a:t>
            </a:r>
          </a:p>
        </p:txBody>
      </p:sp>
      <p:sp>
        <p:nvSpPr>
          <p:cNvPr id="62" name="TextBox 61"/>
          <p:cNvSpPr txBox="1"/>
          <p:nvPr/>
        </p:nvSpPr>
        <p:spPr>
          <a:xfrm>
            <a:off x="7283648" y="5593050"/>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0,4953</a:t>
            </a:r>
          </a:p>
        </p:txBody>
      </p:sp>
      <p:sp>
        <p:nvSpPr>
          <p:cNvPr id="63" name="TextBox 62"/>
          <p:cNvSpPr txBox="1"/>
          <p:nvPr/>
        </p:nvSpPr>
        <p:spPr>
          <a:xfrm>
            <a:off x="13770173" y="5593050"/>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0,8060</a:t>
            </a:r>
          </a:p>
        </p:txBody>
      </p:sp>
      <p:sp>
        <p:nvSpPr>
          <p:cNvPr id="64" name="TextBox 63"/>
          <p:cNvSpPr txBox="1"/>
          <p:nvPr/>
        </p:nvSpPr>
        <p:spPr>
          <a:xfrm>
            <a:off x="942975" y="6411843"/>
            <a:ext cx="1601653"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Caracteres 4-6</a:t>
            </a:r>
          </a:p>
        </p:txBody>
      </p:sp>
      <p:sp>
        <p:nvSpPr>
          <p:cNvPr id="65" name="TextBox 64"/>
          <p:cNvSpPr txBox="1"/>
          <p:nvPr/>
        </p:nvSpPr>
        <p:spPr>
          <a:xfrm>
            <a:off x="942975" y="6661398"/>
            <a:ext cx="1931962"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char_wb · seleccionada</a:t>
            </a:r>
          </a:p>
        </p:txBody>
      </p:sp>
      <p:sp>
        <p:nvSpPr>
          <p:cNvPr id="66" name="TextBox 65"/>
          <p:cNvSpPr txBox="1"/>
          <p:nvPr/>
        </p:nvSpPr>
        <p:spPr>
          <a:xfrm>
            <a:off x="7283648" y="6493758"/>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0,5116</a:t>
            </a:r>
          </a:p>
        </p:txBody>
      </p:sp>
      <p:sp>
        <p:nvSpPr>
          <p:cNvPr id="67" name="TextBox 66"/>
          <p:cNvSpPr txBox="1"/>
          <p:nvPr/>
        </p:nvSpPr>
        <p:spPr>
          <a:xfrm>
            <a:off x="13770173" y="6393746"/>
            <a:ext cx="893778" cy="316230"/>
          </a:xfrm>
          <a:prstGeom prst="rect">
            <a:avLst/>
          </a:prstGeom>
          <a:noFill/>
        </p:spPr>
        <p:txBody>
          <a:bodyPr wrap="none" lIns="0" rIns="0" tIns="0" bIns="0" anchor="t">
            <a:spAutoFit/>
          </a:bodyPr>
          <a:lstStyle/>
          <a:p>
            <a:pPr algn="l">
              <a:lnSpc>
                <a:spcPct val="100000"/>
              </a:lnSpc>
            </a:pPr>
            <a:r>
              <a:rPr sz="1950" b="1" i="0">
                <a:solidFill>
                  <a:srgbClr val="07172D"/>
                </a:solidFill>
                <a:latin typeface="Barlow"/>
              </a:rPr>
              <a:t>0,8317</a:t>
            </a:r>
          </a:p>
        </p:txBody>
      </p:sp>
      <p:sp>
        <p:nvSpPr>
          <p:cNvPr id="68" name="TextBox 67"/>
          <p:cNvSpPr txBox="1"/>
          <p:nvPr/>
        </p:nvSpPr>
        <p:spPr>
          <a:xfrm>
            <a:off x="13759011" y="6708071"/>
            <a:ext cx="917728" cy="201930"/>
          </a:xfrm>
          <a:prstGeom prst="rect">
            <a:avLst/>
          </a:prstGeom>
          <a:noFill/>
        </p:spPr>
        <p:txBody>
          <a:bodyPr wrap="none" lIns="0" rIns="0" tIns="0" bIns="0" anchor="t">
            <a:spAutoFit/>
          </a:bodyPr>
          <a:lstStyle/>
          <a:p>
            <a:pPr algn="l">
              <a:lnSpc>
                <a:spcPct val="100000"/>
              </a:lnSpc>
            </a:pPr>
            <a:r>
              <a:rPr sz="1200" b="0" i="0" spc="24">
                <a:solidFill>
                  <a:srgbClr val="07172D">
                    <a:alpha val="72000"/>
                  </a:srgbClr>
                </a:solidFill>
                <a:latin typeface="Barlow"/>
              </a:rPr>
              <a:t>test 0,8571</a:t>
            </a:r>
          </a:p>
        </p:txBody>
      </p:sp>
      <p:sp>
        <p:nvSpPr>
          <p:cNvPr id="69" name="TextBox 68"/>
          <p:cNvSpPr txBox="1"/>
          <p:nvPr/>
        </p:nvSpPr>
        <p:spPr>
          <a:xfrm>
            <a:off x="942975" y="7312700"/>
            <a:ext cx="1288863"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Híbrido w25</a:t>
            </a:r>
          </a:p>
        </p:txBody>
      </p:sp>
      <p:sp>
        <p:nvSpPr>
          <p:cNvPr id="70" name="TextBox 69"/>
          <p:cNvSpPr txBox="1"/>
          <p:nvPr/>
        </p:nvSpPr>
        <p:spPr>
          <a:xfrm>
            <a:off x="942975" y="7562255"/>
            <a:ext cx="1581882"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word 1-2 + char 3-5</a:t>
            </a:r>
          </a:p>
        </p:txBody>
      </p:sp>
      <p:sp>
        <p:nvSpPr>
          <p:cNvPr id="71" name="TextBox 70"/>
          <p:cNvSpPr txBox="1"/>
          <p:nvPr/>
        </p:nvSpPr>
        <p:spPr>
          <a:xfrm>
            <a:off x="7283648" y="7394615"/>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0,4929</a:t>
            </a:r>
          </a:p>
        </p:txBody>
      </p:sp>
      <p:sp>
        <p:nvSpPr>
          <p:cNvPr id="72" name="TextBox 71"/>
          <p:cNvSpPr txBox="1"/>
          <p:nvPr/>
        </p:nvSpPr>
        <p:spPr>
          <a:xfrm>
            <a:off x="13770173" y="7394615"/>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0,8177</a:t>
            </a:r>
          </a:p>
        </p:txBody>
      </p:sp>
      <p:sp>
        <p:nvSpPr>
          <p:cNvPr id="73" name="TextBox 72"/>
          <p:cNvSpPr txBox="1"/>
          <p:nvPr/>
        </p:nvSpPr>
        <p:spPr>
          <a:xfrm>
            <a:off x="942975" y="8213556"/>
            <a:ext cx="646247"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BM25</a:t>
            </a:r>
          </a:p>
        </p:txBody>
      </p:sp>
      <p:sp>
        <p:nvSpPr>
          <p:cNvPr id="74" name="TextBox 73"/>
          <p:cNvSpPr txBox="1"/>
          <p:nvPr/>
        </p:nvSpPr>
        <p:spPr>
          <a:xfrm>
            <a:off x="942975" y="8463111"/>
            <a:ext cx="2209389" cy="228600"/>
          </a:xfrm>
          <a:prstGeom prst="rect">
            <a:avLst/>
          </a:prstGeom>
          <a:noFill/>
        </p:spPr>
        <p:txBody>
          <a:bodyPr wrap="none" lIns="0" rIns="0" tIns="0" bIns="0" anchor="t">
            <a:spAutoFit/>
          </a:bodyPr>
          <a:lstStyle/>
          <a:p>
            <a:pPr algn="l">
              <a:lnSpc>
                <a:spcPct val="100000"/>
              </a:lnSpc>
            </a:pPr>
            <a:r>
              <a:rPr sz="1350" b="0" i="0">
                <a:solidFill>
                  <a:srgbClr val="9AB3CD"/>
                </a:solidFill>
                <a:latin typeface="Barlow"/>
              </a:rPr>
              <a:t>ponderación probabilística</a:t>
            </a:r>
          </a:p>
        </p:txBody>
      </p:sp>
      <p:sp>
        <p:nvSpPr>
          <p:cNvPr id="75" name="TextBox 74"/>
          <p:cNvSpPr txBox="1"/>
          <p:nvPr/>
        </p:nvSpPr>
        <p:spPr>
          <a:xfrm>
            <a:off x="7571631" y="8295471"/>
            <a:ext cx="271576"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a:t>
            </a:r>
          </a:p>
        </p:txBody>
      </p:sp>
      <p:sp>
        <p:nvSpPr>
          <p:cNvPr id="76" name="TextBox 75"/>
          <p:cNvSpPr txBox="1"/>
          <p:nvPr/>
        </p:nvSpPr>
        <p:spPr>
          <a:xfrm>
            <a:off x="13770173" y="8295471"/>
            <a:ext cx="893778" cy="316230"/>
          </a:xfrm>
          <a:prstGeom prst="rect">
            <a:avLst/>
          </a:prstGeom>
          <a:noFill/>
        </p:spPr>
        <p:txBody>
          <a:bodyPr wrap="none" lIns="0" rIns="0" tIns="0" bIns="0" anchor="t">
            <a:spAutoFit/>
          </a:bodyPr>
          <a:lstStyle/>
          <a:p>
            <a:pPr algn="l">
              <a:lnSpc>
                <a:spcPct val="100000"/>
              </a:lnSpc>
            </a:pPr>
            <a:r>
              <a:rPr sz="1950" b="1" i="0">
                <a:solidFill>
                  <a:srgbClr val="F3F7FC"/>
                </a:solidFill>
                <a:latin typeface="Barlow"/>
              </a:rPr>
              <a:t>0,6985</a:t>
            </a:r>
          </a:p>
        </p:txBody>
      </p:sp>
      <p:sp>
        <p:nvSpPr>
          <p:cNvPr id="77" name="TextBox 76"/>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Recall@1 en validación. La columna manda sobre la fila: enriquecer el texto con los códigos vale </a:t>
            </a:r>
            <a:r>
              <a:rPr sz="1725" b="1" i="0">
                <a:solidFill>
                  <a:srgbClr val="9AB3CD"/>
                </a:solidFill>
                <a:latin typeface="Barlow"/>
              </a:rPr>
              <a:t>+32 puntos</a:t>
            </a:r>
            <a:r>
              <a:rPr sz="1725" b="0" i="0">
                <a:solidFill>
                  <a:srgbClr val="9AB3CD"/>
                </a:solidFill>
                <a:latin typeface="Barlow"/>
              </a:rPr>
              <a:t>; elegir el mejor analizador dentro de una columna vale 5. La decisión de qué texto indexar pesó más que la de qué algoritmo usar.</a:t>
            </a:r>
          </a:p>
        </p:txBody>
      </p:sp>
      <p:sp>
        <p:nvSpPr>
          <p:cNvPr id="78" name="TextBox 77"/>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9" name="TextBox 78"/>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80" name="TextBox 79"/>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81" name="TextBox 80"/>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82" name="TextBox 81"/>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83" name="TextBox 82"/>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84" name="TextBox 83"/>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85" name="TextBox 84"/>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6" name="TextBox 85"/>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7" name="TextBox 86"/>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35</a:t>
            </a:r>
          </a:p>
        </p:txBody>
      </p:sp>
      <p:sp>
        <p:nvSpPr>
          <p:cNvPr id="88" name="TextBox 87"/>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9" name="TextBox 88"/>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90" name="TextBox 89"/>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3658344"/>
            <a:ext cx="5537150" cy="1992213"/>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65834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5641032"/>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3658344"/>
            <a:ext cx="76200" cy="1992213"/>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3658344"/>
            <a:ext cx="9525" cy="1992213"/>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4819799"/>
            <a:ext cx="2589312"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75350" y="3658344"/>
            <a:ext cx="5537150" cy="1992213"/>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75350" y="365834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5641032"/>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3658344"/>
            <a:ext cx="76200" cy="1992213"/>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902976" y="3658344"/>
            <a:ext cx="9525" cy="1992213"/>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684913" y="5121920"/>
            <a:ext cx="1177528" cy="342900"/>
          </a:xfrm>
          <a:prstGeom prst="rect">
            <a:avLst/>
          </a:prstGeom>
          <a:solidFill>
            <a:srgbClr val="07172D">
              <a:alpha val="80000"/>
            </a:srgbClr>
          </a:solidFill>
          <a:ln w="9525">
            <a:solidFill>
              <a:srgbClr val="6D8FB2">
                <a:alpha val="5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948166" y="5121920"/>
            <a:ext cx="2915096"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6924824"/>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967288" y="6924824"/>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205912" y="6924824"/>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3449300" y="6929586"/>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1587907"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2798326"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14004131"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4008894" y="9944100"/>
            <a:ext cx="11247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81075" y="1663750"/>
            <a:ext cx="400961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10 / 12</a:t>
            </a:r>
          </a:p>
        </p:txBody>
      </p:sp>
      <p:sp>
        <p:nvSpPr>
          <p:cNvPr id="49" name="TextBox 48"/>
          <p:cNvSpPr txBox="1"/>
          <p:nvPr/>
        </p:nvSpPr>
        <p:spPr>
          <a:xfrm>
            <a:off x="981075" y="1885652"/>
            <a:ext cx="1125487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Un mismo par, medido por las cinco funciones</a:t>
            </a:r>
          </a:p>
        </p:txBody>
      </p:sp>
      <p:sp>
        <p:nvSpPr>
          <p:cNvPr id="50" name="TextBox 49"/>
          <p:cNvSpPr txBox="1"/>
          <p:nvPr/>
        </p:nvSpPr>
        <p:spPr>
          <a:xfrm>
            <a:off x="1028700" y="3839319"/>
            <a:ext cx="4318706"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PUBLICACIÓN DEL RETAILER · UCRANIANO</a:t>
            </a:r>
          </a:p>
        </p:txBody>
      </p:sp>
      <p:sp>
        <p:nvSpPr>
          <p:cNvPr id="51" name="TextBox 50"/>
          <p:cNvSpPr txBox="1"/>
          <p:nvPr/>
        </p:nvSpPr>
        <p:spPr>
          <a:xfrm>
            <a:off x="1028700" y="4115544"/>
            <a:ext cx="5013275" cy="645021"/>
          </a:xfrm>
          <a:prstGeom prst="rect">
            <a:avLst/>
          </a:prstGeom>
          <a:noFill/>
        </p:spPr>
        <p:txBody>
          <a:bodyPr wrap="square" lIns="0" rIns="0" tIns="0" bIns="0" anchor="t">
            <a:spAutoFit/>
          </a:bodyPr>
          <a:lstStyle/>
          <a:p>
            <a:pPr algn="l">
              <a:lnSpc>
                <a:spcPct val="101700"/>
              </a:lnSpc>
            </a:pPr>
            <a:r>
              <a:rPr sz="1950" b="1" i="0">
                <a:solidFill>
                  <a:srgbClr val="F3F7FC"/>
                </a:solidFill>
                <a:latin typeface="Roboto Mono"/>
              </a:rPr>
              <a:t>пустушка avent ultra soft 6-18 міс. дизайн для дівчат 2 шт.</a:t>
            </a:r>
          </a:p>
        </p:txBody>
      </p:sp>
      <p:sp>
        <p:nvSpPr>
          <p:cNvPr id="52" name="TextBox 51"/>
          <p:cNvSpPr txBox="1"/>
          <p:nvPr/>
        </p:nvSpPr>
        <p:spPr>
          <a:xfrm>
            <a:off x="1133475" y="4872186"/>
            <a:ext cx="2675680"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código truncado: scf0…</a:t>
            </a:r>
          </a:p>
        </p:txBody>
      </p:sp>
      <p:sp>
        <p:nvSpPr>
          <p:cNvPr id="53" name="TextBox 52"/>
          <p:cNvSpPr txBox="1"/>
          <p:nvPr/>
        </p:nvSpPr>
        <p:spPr>
          <a:xfrm>
            <a:off x="6680150" y="3839319"/>
            <a:ext cx="3916710"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CANDIDATO DEL CATÁLOGO · ESPAÑOL</a:t>
            </a:r>
          </a:p>
        </p:txBody>
      </p:sp>
      <p:sp>
        <p:nvSpPr>
          <p:cNvPr id="54" name="TextBox 53"/>
          <p:cNvSpPr txBox="1"/>
          <p:nvPr/>
        </p:nvSpPr>
        <p:spPr>
          <a:xfrm>
            <a:off x="6680150" y="4115544"/>
            <a:ext cx="5013275" cy="947142"/>
          </a:xfrm>
          <a:prstGeom prst="rect">
            <a:avLst/>
          </a:prstGeom>
          <a:noFill/>
        </p:spPr>
        <p:txBody>
          <a:bodyPr wrap="square" lIns="0" rIns="0" tIns="0" bIns="0" anchor="t">
            <a:spAutoFit/>
          </a:bodyPr>
          <a:lstStyle/>
          <a:p>
            <a:pPr algn="l">
              <a:lnSpc>
                <a:spcPct val="101700"/>
              </a:lnSpc>
            </a:pPr>
            <a:r>
              <a:rPr sz="1950" b="1" i="0">
                <a:solidFill>
                  <a:srgbClr val="FFD21F"/>
                </a:solidFill>
                <a:latin typeface="Roboto Mono"/>
              </a:rPr>
              <a:t>philips chupete ultrasuave y flexible 6-18 meses ultra soft-fopspeen</a:t>
            </a:r>
          </a:p>
        </p:txBody>
      </p:sp>
      <p:sp>
        <p:nvSpPr>
          <p:cNvPr id="55" name="TextBox 54"/>
          <p:cNvSpPr txBox="1"/>
          <p:nvPr/>
        </p:nvSpPr>
        <p:spPr>
          <a:xfrm>
            <a:off x="6784925" y="5174307"/>
            <a:ext cx="1150953" cy="257175"/>
          </a:xfrm>
          <a:prstGeom prst="rect">
            <a:avLst/>
          </a:prstGeom>
          <a:noFill/>
        </p:spPr>
        <p:txBody>
          <a:bodyPr wrap="none" lIns="0" rIns="0" tIns="0" bIns="0" anchor="t">
            <a:spAutoFit/>
          </a:bodyPr>
          <a:lstStyle/>
          <a:p>
            <a:pPr algn="l">
              <a:lnSpc>
                <a:spcPct val="100000"/>
              </a:lnSpc>
            </a:pPr>
            <a:r>
              <a:rPr sz="1425" b="1" i="0">
                <a:solidFill>
                  <a:srgbClr val="9AB3CD"/>
                </a:solidFill>
                <a:latin typeface="Roboto Mono"/>
              </a:rPr>
              <a:t>SCF227/22</a:t>
            </a:r>
          </a:p>
        </p:txBody>
      </p:sp>
      <p:sp>
        <p:nvSpPr>
          <p:cNvPr id="56" name="TextBox 55"/>
          <p:cNvSpPr txBox="1"/>
          <p:nvPr/>
        </p:nvSpPr>
        <p:spPr>
          <a:xfrm>
            <a:off x="8048179" y="5174307"/>
            <a:ext cx="3027527"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el correcto era SCF091/18</a:t>
            </a:r>
          </a:p>
        </p:txBody>
      </p:sp>
      <p:sp>
        <p:nvSpPr>
          <p:cNvPr id="57" name="TextBox 56"/>
          <p:cNvSpPr txBox="1"/>
          <p:nvPr/>
        </p:nvSpPr>
        <p:spPr>
          <a:xfrm>
            <a:off x="2274243" y="7034361"/>
            <a:ext cx="1200781"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0,1643</a:t>
            </a:r>
          </a:p>
        </p:txBody>
      </p:sp>
      <p:sp>
        <p:nvSpPr>
          <p:cNvPr id="58" name="TextBox 57"/>
          <p:cNvSpPr txBox="1"/>
          <p:nvPr/>
        </p:nvSpPr>
        <p:spPr>
          <a:xfrm>
            <a:off x="2007263" y="7453461"/>
            <a:ext cx="1557451"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TF-IDF COSENO</a:t>
            </a:r>
          </a:p>
        </p:txBody>
      </p:sp>
      <p:sp>
        <p:nvSpPr>
          <p:cNvPr id="59" name="TextBox 58"/>
          <p:cNvSpPr txBox="1"/>
          <p:nvPr/>
        </p:nvSpPr>
        <p:spPr>
          <a:xfrm>
            <a:off x="6512868" y="7034361"/>
            <a:ext cx="1200781"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0,0870</a:t>
            </a:r>
          </a:p>
        </p:txBody>
      </p:sp>
      <p:sp>
        <p:nvSpPr>
          <p:cNvPr id="60" name="TextBox 59"/>
          <p:cNvSpPr txBox="1"/>
          <p:nvPr/>
        </p:nvSpPr>
        <p:spPr>
          <a:xfrm>
            <a:off x="6520898" y="7453461"/>
            <a:ext cx="1007578"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JACCARD</a:t>
            </a:r>
          </a:p>
        </p:txBody>
      </p:sp>
      <p:sp>
        <p:nvSpPr>
          <p:cNvPr id="61" name="TextBox 60"/>
          <p:cNvSpPr txBox="1"/>
          <p:nvPr/>
        </p:nvSpPr>
        <p:spPr>
          <a:xfrm>
            <a:off x="10751493" y="7034361"/>
            <a:ext cx="1200781"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0,4899</a:t>
            </a:r>
          </a:p>
        </p:txBody>
      </p:sp>
      <p:sp>
        <p:nvSpPr>
          <p:cNvPr id="62" name="TextBox 61"/>
          <p:cNvSpPr txBox="1"/>
          <p:nvPr/>
        </p:nvSpPr>
        <p:spPr>
          <a:xfrm>
            <a:off x="10592687" y="7453461"/>
            <a:ext cx="134110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EMBEDDINGS</a:t>
            </a:r>
          </a:p>
        </p:txBody>
      </p:sp>
      <p:sp>
        <p:nvSpPr>
          <p:cNvPr id="63" name="TextBox 62"/>
          <p:cNvSpPr txBox="1"/>
          <p:nvPr/>
        </p:nvSpPr>
        <p:spPr>
          <a:xfrm>
            <a:off x="14896802" y="7034361"/>
            <a:ext cx="1402181"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0,99927</a:t>
            </a:r>
          </a:p>
        </p:txBody>
      </p:sp>
      <p:sp>
        <p:nvSpPr>
          <p:cNvPr id="64" name="TextBox 63"/>
          <p:cNvSpPr txBox="1"/>
          <p:nvPr/>
        </p:nvSpPr>
        <p:spPr>
          <a:xfrm>
            <a:off x="14634728" y="7453461"/>
            <a:ext cx="1734419"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CROSS-ENCODER</a:t>
            </a:r>
          </a:p>
        </p:txBody>
      </p:sp>
      <p:sp>
        <p:nvSpPr>
          <p:cNvPr id="65" name="TextBox 64"/>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Las medidas de superficie ven dos textos casi ajenos — idiomas distintos, ningún token compartido. El cross-encoder entiende que hablan del mismo tipo de producto y se dispara a 0,99927. Pero se equivoca de referencia: acierta el concepto y falla el modelo exacto.</a:t>
            </a:r>
          </a:p>
        </p:txBody>
      </p:sp>
      <p:sp>
        <p:nvSpPr>
          <p:cNvPr id="66" name="TextBox 65"/>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67" name="TextBox 66"/>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68" name="TextBox 67"/>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69" name="TextBox 68"/>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0" name="TextBox 69"/>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1" name="TextBox 70"/>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2" name="TextBox 71"/>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73" name="TextBox 72"/>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74" name="TextBox 73"/>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75" name="TextBox 74"/>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76" name="TextBox 75"/>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36</a:t>
            </a:r>
          </a:p>
        </p:txBody>
      </p:sp>
      <p:sp>
        <p:nvSpPr>
          <p:cNvPr id="77" name="TextBox 76"/>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78" name="TextBox 77"/>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46762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53038" y="3186708"/>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257800" y="3191470"/>
            <a:ext cx="39886"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253038" y="4375993"/>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257800" y="4380756"/>
            <a:ext cx="159990"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53038" y="5701457"/>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57800" y="5706219"/>
            <a:ext cx="469999"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253038" y="6890742"/>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257800" y="6895505"/>
            <a:ext cx="500062"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253038" y="7943850"/>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57800" y="7948612"/>
            <a:ext cx="10001250"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87907"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2798326"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40088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5214550" y="9720262"/>
            <a:ext cx="1134219"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5219313" y="9944100"/>
            <a:ext cx="12270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6424970"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3750"/>
            <a:ext cx="396235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11 / 12</a:t>
            </a:r>
          </a:p>
        </p:txBody>
      </p:sp>
      <p:sp>
        <p:nvSpPr>
          <p:cNvPr id="44" name="TextBox 43"/>
          <p:cNvSpPr txBox="1"/>
          <p:nvPr/>
        </p:nvSpPr>
        <p:spPr>
          <a:xfrm>
            <a:off x="981075" y="1885652"/>
            <a:ext cx="1206546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El margen: la señal que delata la duda del modelo</a:t>
            </a:r>
          </a:p>
        </p:txBody>
      </p:sp>
      <p:sp>
        <p:nvSpPr>
          <p:cNvPr id="45" name="TextBox 44"/>
          <p:cNvSpPr txBox="1"/>
          <p:nvPr/>
        </p:nvSpPr>
        <p:spPr>
          <a:xfrm>
            <a:off x="981075" y="3102918"/>
            <a:ext cx="351262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SCF091/46 · eligió SCF227/22</a:t>
            </a:r>
          </a:p>
        </p:txBody>
      </p:sp>
      <p:sp>
        <p:nvSpPr>
          <p:cNvPr id="46" name="TextBox 45"/>
          <p:cNvSpPr txBox="1"/>
          <p:nvPr/>
        </p:nvSpPr>
        <p:spPr>
          <a:xfrm>
            <a:off x="981075" y="3384798"/>
            <a:ext cx="1298829"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score 0,99931</a:t>
            </a:r>
          </a:p>
        </p:txBody>
      </p:sp>
      <p:sp>
        <p:nvSpPr>
          <p:cNvPr id="47" name="TextBox 46"/>
          <p:cNvSpPr txBox="1"/>
          <p:nvPr/>
        </p:nvSpPr>
        <p:spPr>
          <a:xfrm>
            <a:off x="15549199" y="3162895"/>
            <a:ext cx="1757726"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0,0000000</a:t>
            </a:r>
          </a:p>
        </p:txBody>
      </p:sp>
      <p:sp>
        <p:nvSpPr>
          <p:cNvPr id="48" name="TextBox 47"/>
          <p:cNvSpPr txBox="1"/>
          <p:nvPr/>
        </p:nvSpPr>
        <p:spPr>
          <a:xfrm>
            <a:off x="981075" y="4156025"/>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27M2N3200S/00 · eligió 27M2N3200A/00</a:t>
            </a:r>
          </a:p>
        </p:txBody>
      </p:sp>
      <p:sp>
        <p:nvSpPr>
          <p:cNvPr id="49" name="TextBox 48"/>
          <p:cNvSpPr txBox="1"/>
          <p:nvPr/>
        </p:nvSpPr>
        <p:spPr>
          <a:xfrm>
            <a:off x="981075" y="4710261"/>
            <a:ext cx="1324868"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score 0,99973</a:t>
            </a:r>
          </a:p>
        </p:txBody>
      </p:sp>
      <p:sp>
        <p:nvSpPr>
          <p:cNvPr id="50" name="TextBox 49"/>
          <p:cNvSpPr txBox="1"/>
          <p:nvPr/>
        </p:nvSpPr>
        <p:spPr>
          <a:xfrm>
            <a:off x="15549199" y="4352181"/>
            <a:ext cx="1757726"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0,0000021</a:t>
            </a:r>
          </a:p>
        </p:txBody>
      </p:sp>
      <p:sp>
        <p:nvSpPr>
          <p:cNvPr id="51" name="TextBox 50"/>
          <p:cNvSpPr txBox="1"/>
          <p:nvPr/>
        </p:nvSpPr>
        <p:spPr>
          <a:xfrm>
            <a:off x="981075" y="5481489"/>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25M2N3200U/00 · eligió 25M2N3200W/00</a:t>
            </a:r>
          </a:p>
        </p:txBody>
      </p:sp>
      <p:sp>
        <p:nvSpPr>
          <p:cNvPr id="52" name="TextBox 51"/>
          <p:cNvSpPr txBox="1"/>
          <p:nvPr/>
        </p:nvSpPr>
        <p:spPr>
          <a:xfrm>
            <a:off x="981075" y="6035725"/>
            <a:ext cx="1335959"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score 0,99970</a:t>
            </a:r>
          </a:p>
        </p:txBody>
      </p:sp>
      <p:sp>
        <p:nvSpPr>
          <p:cNvPr id="53" name="TextBox 52"/>
          <p:cNvSpPr txBox="1"/>
          <p:nvPr/>
        </p:nvSpPr>
        <p:spPr>
          <a:xfrm>
            <a:off x="15549199" y="5677644"/>
            <a:ext cx="1757726"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0,0000070</a:t>
            </a:r>
          </a:p>
        </p:txBody>
      </p:sp>
      <p:sp>
        <p:nvSpPr>
          <p:cNvPr id="54" name="TextBox 53"/>
          <p:cNvSpPr txBox="1"/>
          <p:nvPr/>
        </p:nvSpPr>
        <p:spPr>
          <a:xfrm>
            <a:off x="981075" y="6806952"/>
            <a:ext cx="362658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SCF080/24 · eligió SCF080/08</a:t>
            </a:r>
          </a:p>
        </p:txBody>
      </p:sp>
      <p:sp>
        <p:nvSpPr>
          <p:cNvPr id="55" name="TextBox 54"/>
          <p:cNvSpPr txBox="1"/>
          <p:nvPr/>
        </p:nvSpPr>
        <p:spPr>
          <a:xfrm>
            <a:off x="981075" y="7088832"/>
            <a:ext cx="129770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score 0,99812</a:t>
            </a:r>
          </a:p>
        </p:txBody>
      </p:sp>
      <p:sp>
        <p:nvSpPr>
          <p:cNvPr id="56" name="TextBox 55"/>
          <p:cNvSpPr txBox="1"/>
          <p:nvPr/>
        </p:nvSpPr>
        <p:spPr>
          <a:xfrm>
            <a:off x="15549199" y="6866930"/>
            <a:ext cx="1757726"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0,0000074</a:t>
            </a:r>
          </a:p>
        </p:txBody>
      </p:sp>
      <p:sp>
        <p:nvSpPr>
          <p:cNvPr id="57" name="TextBox 56"/>
          <p:cNvSpPr txBox="1"/>
          <p:nvPr/>
        </p:nvSpPr>
        <p:spPr>
          <a:xfrm>
            <a:off x="981075" y="7860060"/>
            <a:ext cx="4073265"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Umbral de automatización exigido</a:t>
            </a:r>
          </a:p>
        </p:txBody>
      </p:sp>
      <p:sp>
        <p:nvSpPr>
          <p:cNvPr id="58" name="TextBox 57"/>
          <p:cNvSpPr txBox="1"/>
          <p:nvPr/>
        </p:nvSpPr>
        <p:spPr>
          <a:xfrm>
            <a:off x="981075" y="8141940"/>
            <a:ext cx="3618226"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margen mínimo para decidir sin humano</a:t>
            </a:r>
          </a:p>
        </p:txBody>
      </p:sp>
      <p:sp>
        <p:nvSpPr>
          <p:cNvPr id="59" name="TextBox 58"/>
          <p:cNvSpPr txBox="1"/>
          <p:nvPr/>
        </p:nvSpPr>
        <p:spPr>
          <a:xfrm>
            <a:off x="15549199" y="7920038"/>
            <a:ext cx="1757726"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0,0001500</a:t>
            </a:r>
          </a:p>
        </p:txBody>
      </p:sp>
      <p:sp>
        <p:nvSpPr>
          <p:cNvPr id="60" name="TextBox 59"/>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Los cuatro errores de ranking más graves tienen un margen entre el 1.º y el 2.º de cero a siete millonésimas. El score no avisa —todos pasan de 0,998— pero el margen sí: por eso la compuerta exige score </a:t>
            </a:r>
            <a:r>
              <a:rPr sz="1725" b="0" i="1">
                <a:solidFill>
                  <a:srgbClr val="9AB3CD"/>
                </a:solidFill>
                <a:latin typeface="Barlow"/>
              </a:rPr>
              <a:t>y</a:t>
            </a:r>
            <a:r>
              <a:rPr sz="1725" b="0" i="0">
                <a:solidFill>
                  <a:srgbClr val="9AB3CD"/>
                </a:solidFill>
                <a:latin typeface="Barlow"/>
              </a:rPr>
              <a:t> margen, y estos casos van a revisión en vez de automatizarse.</a:t>
            </a:r>
          </a:p>
        </p:txBody>
      </p:sp>
      <p:sp>
        <p:nvSpPr>
          <p:cNvPr id="61" name="TextBox 60"/>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62" name="TextBox 61"/>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63" name="TextBox 62"/>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64" name="TextBox 63"/>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65" name="TextBox 64"/>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66" name="TextBox 65"/>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67" name="TextBox 66"/>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68" name="TextBox 67"/>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69" name="TextBox 68"/>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70" name="TextBox 69"/>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71" name="TextBox 70"/>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72" name="TextBox 71"/>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37</a:t>
            </a:r>
          </a:p>
        </p:txBody>
      </p:sp>
      <p:sp>
        <p:nvSpPr>
          <p:cNvPr id="73" name="TextBox 72"/>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8362950" cy="31813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5674965"/>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76200" cy="31813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77325" y="2503140"/>
            <a:ext cx="9525" cy="318135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4410224"/>
            <a:ext cx="3458170"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01150" y="2503140"/>
            <a:ext cx="8362950" cy="31813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01150" y="2503140"/>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1150" y="5674965"/>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01150" y="2503140"/>
            <a:ext cx="76200" cy="31813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2503140"/>
            <a:ext cx="9525" cy="3181350"/>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510712" y="4259163"/>
            <a:ext cx="3195340"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5798790"/>
            <a:ext cx="8362950" cy="318149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5798790"/>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8970764"/>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5798790"/>
            <a:ext cx="76200" cy="3181499"/>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77325" y="5798790"/>
            <a:ext cx="9525" cy="318149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033462" y="7705874"/>
            <a:ext cx="4001244"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01150" y="5798790"/>
            <a:ext cx="8362950" cy="318149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01150" y="5798790"/>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201150" y="8970764"/>
            <a:ext cx="83629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01150" y="5798790"/>
            <a:ext cx="76200" cy="3181499"/>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5798790"/>
            <a:ext cx="9525" cy="318149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10712" y="7705874"/>
            <a:ext cx="4652814"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4320332"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43250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530751"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535513"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741319"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746081"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951738"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956500"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162157"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166920"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10372725"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0377488"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1583144"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1587907"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2793563" y="9720262"/>
            <a:ext cx="1134368"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2798326" y="9944100"/>
            <a:ext cx="1124843"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4004131"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008894"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15214550" y="9720262"/>
            <a:ext cx="1134219"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15219313" y="9944100"/>
            <a:ext cx="1124694"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6424970" y="9720262"/>
            <a:ext cx="1134368"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6429732" y="9944100"/>
            <a:ext cx="11248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81075" y="1663750"/>
            <a:ext cx="400736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MODELOS ALGORÍTMICOS · 12 / 12</a:t>
            </a:r>
          </a:p>
        </p:txBody>
      </p:sp>
      <p:sp>
        <p:nvSpPr>
          <p:cNvPr id="58" name="TextBox 57"/>
          <p:cNvSpPr txBox="1"/>
          <p:nvPr/>
        </p:nvSpPr>
        <p:spPr>
          <a:xfrm>
            <a:off x="981075" y="1885652"/>
            <a:ext cx="1589126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Los cuatro falsos positivos que sobreviven, con nombre y apellido</a:t>
            </a:r>
          </a:p>
        </p:txBody>
      </p:sp>
      <p:sp>
        <p:nvSpPr>
          <p:cNvPr id="59" name="TextBox 58"/>
          <p:cNvSpPr txBox="1"/>
          <p:nvPr/>
        </p:nvSpPr>
        <p:spPr>
          <a:xfrm>
            <a:off x="1028700" y="3429744"/>
            <a:ext cx="4278844"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CONFLICTO DE SUFIJO · SCORE 0,9990564</a:t>
            </a:r>
          </a:p>
        </p:txBody>
      </p:sp>
      <p:sp>
        <p:nvSpPr>
          <p:cNvPr id="60" name="TextBox 59"/>
          <p:cNvSpPr txBox="1"/>
          <p:nvPr/>
        </p:nvSpPr>
        <p:spPr>
          <a:xfrm>
            <a:off x="1028700" y="3705969"/>
            <a:ext cx="7839075" cy="645021"/>
          </a:xfrm>
          <a:prstGeom prst="rect">
            <a:avLst/>
          </a:prstGeom>
          <a:noFill/>
        </p:spPr>
        <p:txBody>
          <a:bodyPr wrap="square" lIns="0" rIns="0" tIns="0" bIns="0" anchor="t">
            <a:spAutoFit/>
          </a:bodyPr>
          <a:lstStyle/>
          <a:p>
            <a:pPr algn="l">
              <a:lnSpc>
                <a:spcPct val="101700"/>
              </a:lnSpc>
            </a:pPr>
            <a:r>
              <a:rPr sz="1950" b="1" i="0">
                <a:solidFill>
                  <a:srgbClr val="F3F7FC"/>
                </a:solidFill>
                <a:latin typeface="Roboto Mono"/>
              </a:rPr>
              <a:t>монітор philips 21.5" v-line 221v8/00 fhd va 75hz 221v8/00/01</a:t>
            </a:r>
          </a:p>
        </p:txBody>
      </p:sp>
      <p:sp>
        <p:nvSpPr>
          <p:cNvPr id="61" name="TextBox 60"/>
          <p:cNvSpPr txBox="1"/>
          <p:nvPr/>
        </p:nvSpPr>
        <p:spPr>
          <a:xfrm>
            <a:off x="1133475" y="4462611"/>
            <a:ext cx="3614047"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dos códigos en un mismo título</a:t>
            </a:r>
          </a:p>
        </p:txBody>
      </p:sp>
      <p:sp>
        <p:nvSpPr>
          <p:cNvPr id="62" name="TextBox 61"/>
          <p:cNvSpPr txBox="1"/>
          <p:nvPr/>
        </p:nvSpPr>
        <p:spPr>
          <a:xfrm>
            <a:off x="9505950" y="3580805"/>
            <a:ext cx="3697790"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SUFIJO DISTINTO · SCORE 0,9989917</a:t>
            </a:r>
          </a:p>
        </p:txBody>
      </p:sp>
      <p:sp>
        <p:nvSpPr>
          <p:cNvPr id="63" name="TextBox 62"/>
          <p:cNvSpPr txBox="1"/>
          <p:nvPr/>
        </p:nvSpPr>
        <p:spPr>
          <a:xfrm>
            <a:off x="9505950" y="3857030"/>
            <a:ext cx="7318010"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24b2n4200 4000 series 24b2n4200/00/rh</a:t>
            </a:r>
          </a:p>
        </p:txBody>
      </p:sp>
      <p:sp>
        <p:nvSpPr>
          <p:cNvPr id="64" name="TextBox 63"/>
          <p:cNvSpPr txBox="1"/>
          <p:nvPr/>
        </p:nvSpPr>
        <p:spPr>
          <a:xfrm>
            <a:off x="9610725" y="4311551"/>
            <a:ext cx="3330190"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sufijo </a:t>
            </a:r>
            <a:r>
              <a:rPr sz="1225" b="1" i="0">
                <a:solidFill>
                  <a:srgbClr val="FFD21F"/>
                </a:solidFill>
                <a:latin typeface="Roboto Mono"/>
              </a:rPr>
              <a:t>/RH</a:t>
            </a:r>
            <a:r>
              <a:rPr sz="1425" b="1" i="0">
                <a:solidFill>
                  <a:srgbClr val="E2758F"/>
                </a:solidFill>
                <a:latin typeface="Roboto Mono"/>
              </a:rPr>
              <a:t> = otra referencia</a:t>
            </a:r>
          </a:p>
        </p:txBody>
      </p:sp>
      <p:sp>
        <p:nvSpPr>
          <p:cNvPr id="65" name="TextBox 64"/>
          <p:cNvSpPr txBox="1"/>
          <p:nvPr/>
        </p:nvSpPr>
        <p:spPr>
          <a:xfrm>
            <a:off x="1028700" y="6725394"/>
            <a:ext cx="3915906"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REACONDICIONADO · SCORE 0,9989718</a:t>
            </a:r>
          </a:p>
        </p:txBody>
      </p:sp>
      <p:sp>
        <p:nvSpPr>
          <p:cNvPr id="66" name="TextBox 65"/>
          <p:cNvSpPr txBox="1"/>
          <p:nvPr/>
        </p:nvSpPr>
        <p:spPr>
          <a:xfrm>
            <a:off x="1028700" y="7001619"/>
            <a:ext cx="7839075" cy="645021"/>
          </a:xfrm>
          <a:prstGeom prst="rect">
            <a:avLst/>
          </a:prstGeom>
          <a:noFill/>
        </p:spPr>
        <p:txBody>
          <a:bodyPr wrap="square" lIns="0" rIns="0" tIns="0" bIns="0" anchor="t">
            <a:spAutoFit/>
          </a:bodyPr>
          <a:lstStyle/>
          <a:p>
            <a:pPr algn="l">
              <a:lnSpc>
                <a:spcPct val="101700"/>
              </a:lnSpc>
            </a:pPr>
            <a:r>
              <a:rPr sz="1950" b="1" i="0">
                <a:solidFill>
                  <a:srgbClr val="F3F7FC"/>
                </a:solidFill>
                <a:latin typeface="Roboto Mono"/>
              </a:rPr>
              <a:t>philips höyrysilitysrauta täydellinen hoito kompakti gc7844/20</a:t>
            </a:r>
          </a:p>
        </p:txBody>
      </p:sp>
      <p:sp>
        <p:nvSpPr>
          <p:cNvPr id="67" name="TextBox 66"/>
          <p:cNvSpPr txBox="1"/>
          <p:nvPr/>
        </p:nvSpPr>
        <p:spPr>
          <a:xfrm>
            <a:off x="1133475" y="7758261"/>
            <a:ext cx="4200567"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el original y el R1 comparten texto</a:t>
            </a:r>
          </a:p>
        </p:txBody>
      </p:sp>
      <p:sp>
        <p:nvSpPr>
          <p:cNvPr id="68" name="TextBox 67"/>
          <p:cNvSpPr txBox="1"/>
          <p:nvPr/>
        </p:nvSpPr>
        <p:spPr>
          <a:xfrm>
            <a:off x="9505950" y="6725394"/>
            <a:ext cx="3743599"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SUFIJO DISTINTO · SCORE 0,9990379</a:t>
            </a:r>
          </a:p>
        </p:txBody>
      </p:sp>
      <p:sp>
        <p:nvSpPr>
          <p:cNvPr id="69" name="TextBox 68"/>
          <p:cNvSpPr txBox="1"/>
          <p:nvPr/>
        </p:nvSpPr>
        <p:spPr>
          <a:xfrm>
            <a:off x="9505950" y="7001619"/>
            <a:ext cx="7839075" cy="645021"/>
          </a:xfrm>
          <a:prstGeom prst="rect">
            <a:avLst/>
          </a:prstGeom>
          <a:noFill/>
        </p:spPr>
        <p:txBody>
          <a:bodyPr wrap="square" lIns="0" rIns="0" tIns="0" bIns="0" anchor="t">
            <a:spAutoFit/>
          </a:bodyPr>
          <a:lstStyle/>
          <a:p>
            <a:pPr algn="l">
              <a:lnSpc>
                <a:spcPct val="101700"/>
              </a:lnSpc>
            </a:pPr>
            <a:r>
              <a:rPr sz="1950" b="1" i="0">
                <a:solidFill>
                  <a:srgbClr val="F3F7FC"/>
                </a:solidFill>
                <a:latin typeface="Roboto Mono"/>
              </a:rPr>
              <a:t>philips qled 85pus8510 85" 4k ambilight smart tv titan os barra de sonido tab4000</a:t>
            </a:r>
          </a:p>
        </p:txBody>
      </p:sp>
      <p:sp>
        <p:nvSpPr>
          <p:cNvPr id="70" name="TextBox 69"/>
          <p:cNvSpPr txBox="1"/>
          <p:nvPr/>
        </p:nvSpPr>
        <p:spPr>
          <a:xfrm>
            <a:off x="9610725" y="7758261"/>
            <a:ext cx="4904262"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televisor + barra de sonido en un paquete</a:t>
            </a:r>
          </a:p>
        </p:txBody>
      </p:sp>
      <p:sp>
        <p:nvSpPr>
          <p:cNvPr id="71" name="TextBox 70"/>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Cuatro de 113 negativos del test cruzan el umbral de 0,9988440. Ninguno es un error caprichoso: los cuatro son casos donde el texto publicado </a:t>
            </a:r>
            <a:r>
              <a:rPr sz="1725" b="0" i="1">
                <a:solidFill>
                  <a:srgbClr val="9AB3CD"/>
                </a:solidFill>
                <a:latin typeface="Barlow"/>
              </a:rPr>
              <a:t>sí</a:t>
            </a:r>
            <a:r>
              <a:rPr sz="1725" b="0" i="0">
                <a:solidFill>
                  <a:srgbClr val="9AB3CD"/>
                </a:solidFill>
                <a:latin typeface="Barlow"/>
              </a:rPr>
              <a:t> describe el producto, y lo que difiere es la referencia comercial exacta.</a:t>
            </a:r>
          </a:p>
        </p:txBody>
      </p:sp>
      <p:sp>
        <p:nvSpPr>
          <p:cNvPr id="72" name="TextBox 71"/>
          <p:cNvSpPr txBox="1"/>
          <p:nvPr/>
        </p:nvSpPr>
        <p:spPr>
          <a:xfrm>
            <a:off x="887611" y="9766935"/>
            <a:ext cx="2210354"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MODELOS ALGORÍTMICOS</a:t>
            </a:r>
          </a:p>
        </p:txBody>
      </p:sp>
      <p:sp>
        <p:nvSpPr>
          <p:cNvPr id="73" name="TextBox 72"/>
          <p:cNvSpPr txBox="1"/>
          <p:nvPr/>
        </p:nvSpPr>
        <p:spPr>
          <a:xfrm>
            <a:off x="359925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27</a:t>
            </a:r>
          </a:p>
        </p:txBody>
      </p:sp>
      <p:sp>
        <p:nvSpPr>
          <p:cNvPr id="74" name="TextBox 73"/>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28</a:t>
            </a:r>
          </a:p>
        </p:txBody>
      </p:sp>
      <p:sp>
        <p:nvSpPr>
          <p:cNvPr id="75" name="TextBox 74"/>
          <p:cNvSpPr txBox="1"/>
          <p:nvPr/>
        </p:nvSpPr>
        <p:spPr>
          <a:xfrm>
            <a:off x="602009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29</a:t>
            </a:r>
          </a:p>
        </p:txBody>
      </p:sp>
      <p:sp>
        <p:nvSpPr>
          <p:cNvPr id="76" name="TextBox 75"/>
          <p:cNvSpPr txBox="1"/>
          <p:nvPr/>
        </p:nvSpPr>
        <p:spPr>
          <a:xfrm>
            <a:off x="7230666"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30</a:t>
            </a:r>
          </a:p>
        </p:txBody>
      </p:sp>
      <p:sp>
        <p:nvSpPr>
          <p:cNvPr id="77" name="TextBox 76"/>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31</a:t>
            </a:r>
          </a:p>
        </p:txBody>
      </p:sp>
      <p:sp>
        <p:nvSpPr>
          <p:cNvPr id="78" name="TextBox 77"/>
          <p:cNvSpPr txBox="1"/>
          <p:nvPr/>
        </p:nvSpPr>
        <p:spPr>
          <a:xfrm>
            <a:off x="965150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32</a:t>
            </a:r>
          </a:p>
        </p:txBody>
      </p:sp>
      <p:sp>
        <p:nvSpPr>
          <p:cNvPr id="79" name="TextBox 78"/>
          <p:cNvSpPr txBox="1"/>
          <p:nvPr/>
        </p:nvSpPr>
        <p:spPr>
          <a:xfrm>
            <a:off x="10862072"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33</a:t>
            </a:r>
          </a:p>
        </p:txBody>
      </p:sp>
      <p:sp>
        <p:nvSpPr>
          <p:cNvPr id="80" name="TextBox 79"/>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34</a:t>
            </a:r>
          </a:p>
        </p:txBody>
      </p:sp>
      <p:sp>
        <p:nvSpPr>
          <p:cNvPr id="81" name="TextBox 80"/>
          <p:cNvSpPr txBox="1"/>
          <p:nvPr/>
        </p:nvSpPr>
        <p:spPr>
          <a:xfrm>
            <a:off x="1328291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35</a:t>
            </a:r>
          </a:p>
        </p:txBody>
      </p:sp>
      <p:sp>
        <p:nvSpPr>
          <p:cNvPr id="82" name="TextBox 81"/>
          <p:cNvSpPr txBox="1"/>
          <p:nvPr/>
        </p:nvSpPr>
        <p:spPr>
          <a:xfrm>
            <a:off x="1449347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36</a:t>
            </a:r>
          </a:p>
        </p:txBody>
      </p:sp>
      <p:sp>
        <p:nvSpPr>
          <p:cNvPr id="83" name="TextBox 82"/>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37</a:t>
            </a:r>
          </a:p>
        </p:txBody>
      </p:sp>
      <p:sp>
        <p:nvSpPr>
          <p:cNvPr id="84" name="TextBox 83"/>
          <p:cNvSpPr txBox="1"/>
          <p:nvPr/>
        </p:nvSpPr>
        <p:spPr>
          <a:xfrm>
            <a:off x="16914316"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73045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53038" y="3024336"/>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257800" y="3029099"/>
            <a:ext cx="9185077" cy="342900"/>
          </a:xfrm>
          <a:prstGeom prst="rect">
            <a:avLst/>
          </a:prstGeom>
          <a:solidFill>
            <a:srgbClr val="6D8FB2">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4428589" y="3029099"/>
            <a:ext cx="0" cy="342900"/>
          </a:xfrm>
          <a:prstGeom prst="line">
            <a:avLst/>
          </a:prstGeom>
          <a:ln w="28575">
            <a:solidFill>
              <a:srgbClr val="6D8FB2"/>
            </a:solidFill>
            <a:prstDash val="dash"/>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253038" y="3915073"/>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57800" y="3919835"/>
            <a:ext cx="8708082"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53038" y="4805809"/>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257800" y="4810571"/>
            <a:ext cx="864006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253038" y="5696545"/>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257800" y="5701308"/>
            <a:ext cx="8572054"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53038" y="6587282"/>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57800" y="6592044"/>
            <a:ext cx="8504039"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253038" y="7478018"/>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257800" y="7482780"/>
            <a:ext cx="8231981"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253038" y="8368754"/>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57800" y="8373517"/>
            <a:ext cx="884039"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0991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3114675" y="9944100"/>
            <a:ext cx="30759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81075" y="1663750"/>
            <a:ext cx="669854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01 / 03</a:t>
            </a:r>
          </a:p>
        </p:txBody>
      </p:sp>
      <p:sp>
        <p:nvSpPr>
          <p:cNvPr id="32" name="TextBox 31"/>
          <p:cNvSpPr txBox="1"/>
          <p:nvPr/>
        </p:nvSpPr>
        <p:spPr>
          <a:xfrm>
            <a:off x="981075" y="1885652"/>
            <a:ext cx="1253866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Recuperación · Recall@1 sobre 147 consultas de test</a:t>
            </a:r>
          </a:p>
        </p:txBody>
      </p:sp>
      <p:sp>
        <p:nvSpPr>
          <p:cNvPr id="33" name="TextBox 32"/>
          <p:cNvSpPr txBox="1"/>
          <p:nvPr/>
        </p:nvSpPr>
        <p:spPr>
          <a:xfrm>
            <a:off x="981075" y="2940546"/>
            <a:ext cx="3494782"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Techo del pool de candidatos</a:t>
            </a:r>
          </a:p>
        </p:txBody>
      </p:sp>
      <p:sp>
        <p:nvSpPr>
          <p:cNvPr id="34" name="TextBox 33"/>
          <p:cNvSpPr txBox="1"/>
          <p:nvPr/>
        </p:nvSpPr>
        <p:spPr>
          <a:xfrm>
            <a:off x="981075" y="3222427"/>
            <a:ext cx="4410325"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12 consultas sin la verdad entre los 20 candidatos</a:t>
            </a:r>
          </a:p>
        </p:txBody>
      </p:sp>
      <p:sp>
        <p:nvSpPr>
          <p:cNvPr id="35" name="TextBox 34"/>
          <p:cNvSpPr txBox="1"/>
          <p:nvPr/>
        </p:nvSpPr>
        <p:spPr>
          <a:xfrm>
            <a:off x="16035742" y="3000524"/>
            <a:ext cx="1271183" cy="419100"/>
          </a:xfrm>
          <a:prstGeom prst="rect">
            <a:avLst/>
          </a:prstGeom>
          <a:noFill/>
        </p:spPr>
        <p:txBody>
          <a:bodyPr wrap="none" lIns="0" rIns="0" tIns="0" bIns="0" anchor="t">
            <a:spAutoFit/>
          </a:bodyPr>
          <a:lstStyle/>
          <a:p>
            <a:pPr algn="r">
              <a:lnSpc>
                <a:spcPct val="100000"/>
              </a:lnSpc>
            </a:pPr>
            <a:r>
              <a:rPr sz="2625" b="1" i="0">
                <a:solidFill>
                  <a:srgbClr val="9AB3CD"/>
                </a:solidFill>
                <a:latin typeface="Barlow"/>
              </a:rPr>
              <a:t>91,84%</a:t>
            </a:r>
          </a:p>
        </p:txBody>
      </p:sp>
      <p:sp>
        <p:nvSpPr>
          <p:cNvPr id="36" name="TextBox 35"/>
          <p:cNvSpPr txBox="1"/>
          <p:nvPr/>
        </p:nvSpPr>
        <p:spPr>
          <a:xfrm>
            <a:off x="981075" y="3831282"/>
            <a:ext cx="3753886"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Cascada exacto → transformer</a:t>
            </a:r>
          </a:p>
        </p:txBody>
      </p:sp>
      <p:sp>
        <p:nvSpPr>
          <p:cNvPr id="37" name="TextBox 36"/>
          <p:cNvSpPr txBox="1"/>
          <p:nvPr/>
        </p:nvSpPr>
        <p:spPr>
          <a:xfrm>
            <a:off x="981075" y="4113163"/>
            <a:ext cx="210764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128 de 147 · MRR 0,8783</a:t>
            </a:r>
          </a:p>
        </p:txBody>
      </p:sp>
      <p:sp>
        <p:nvSpPr>
          <p:cNvPr id="38" name="TextBox 37"/>
          <p:cNvSpPr txBox="1"/>
          <p:nvPr/>
        </p:nvSpPr>
        <p:spPr>
          <a:xfrm>
            <a:off x="16035742" y="3891260"/>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87,07%</a:t>
            </a:r>
          </a:p>
        </p:txBody>
      </p:sp>
      <p:sp>
        <p:nvSpPr>
          <p:cNvPr id="39" name="TextBox 38"/>
          <p:cNvSpPr txBox="1"/>
          <p:nvPr/>
        </p:nvSpPr>
        <p:spPr>
          <a:xfrm>
            <a:off x="981075" y="4722019"/>
            <a:ext cx="3117378"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Cascada exacto → TF-IDF</a:t>
            </a:r>
          </a:p>
        </p:txBody>
      </p:sp>
      <p:sp>
        <p:nvSpPr>
          <p:cNvPr id="40" name="TextBox 39"/>
          <p:cNvSpPr txBox="1"/>
          <p:nvPr/>
        </p:nvSpPr>
        <p:spPr>
          <a:xfrm>
            <a:off x="981075" y="5003899"/>
            <a:ext cx="949392"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127 de 147</a:t>
            </a:r>
          </a:p>
        </p:txBody>
      </p:sp>
      <p:sp>
        <p:nvSpPr>
          <p:cNvPr id="41" name="TextBox 40"/>
          <p:cNvSpPr txBox="1"/>
          <p:nvPr/>
        </p:nvSpPr>
        <p:spPr>
          <a:xfrm>
            <a:off x="16035742" y="4781996"/>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86,39%</a:t>
            </a:r>
          </a:p>
        </p:txBody>
      </p:sp>
      <p:sp>
        <p:nvSpPr>
          <p:cNvPr id="42" name="TextBox 41"/>
          <p:cNvSpPr txBox="1"/>
          <p:nvPr/>
        </p:nvSpPr>
        <p:spPr>
          <a:xfrm>
            <a:off x="981075" y="5612755"/>
            <a:ext cx="899696" cy="314325"/>
          </a:xfrm>
          <a:prstGeom prst="rect">
            <a:avLst/>
          </a:prstGeom>
          <a:noFill/>
        </p:spPr>
        <p:txBody>
          <a:bodyPr wrap="none" lIns="0" rIns="0" tIns="0" bIns="0" anchor="t">
            <a:spAutoFit/>
          </a:bodyPr>
          <a:lstStyle/>
          <a:p>
            <a:pPr algn="l">
              <a:lnSpc>
                <a:spcPct val="99400"/>
              </a:lnSpc>
            </a:pPr>
            <a:r>
              <a:rPr sz="1950" b="1" i="0">
                <a:solidFill>
                  <a:srgbClr val="F3F7FC"/>
                </a:solidFill>
                <a:latin typeface="Barlow"/>
              </a:rPr>
              <a:t>TF-IDF</a:t>
            </a:r>
          </a:p>
        </p:txBody>
      </p:sp>
      <p:sp>
        <p:nvSpPr>
          <p:cNvPr id="43" name="TextBox 42"/>
          <p:cNvSpPr txBox="1"/>
          <p:nvPr/>
        </p:nvSpPr>
        <p:spPr>
          <a:xfrm>
            <a:off x="1757958" y="5641330"/>
            <a:ext cx="2379306" cy="295275"/>
          </a:xfrm>
          <a:prstGeom prst="rect">
            <a:avLst/>
          </a:prstGeom>
          <a:noFill/>
        </p:spPr>
        <p:txBody>
          <a:bodyPr wrap="none" lIns="0" rIns="0" tIns="0" bIns="0" anchor="t">
            <a:spAutoFit/>
          </a:bodyPr>
          <a:lstStyle/>
          <a:p>
            <a:pPr algn="l">
              <a:lnSpc>
                <a:spcPct val="108100"/>
              </a:lnSpc>
            </a:pPr>
            <a:r>
              <a:rPr sz="1677" b="1" i="0">
                <a:solidFill>
                  <a:srgbClr val="FFD21F"/>
                </a:solidFill>
                <a:latin typeface="Roboto Mono"/>
              </a:rPr>
              <a:t>char_4_6_enriched</a:t>
            </a:r>
          </a:p>
        </p:txBody>
      </p:sp>
      <p:sp>
        <p:nvSpPr>
          <p:cNvPr id="44" name="TextBox 43"/>
          <p:cNvSpPr txBox="1"/>
          <p:nvPr/>
        </p:nvSpPr>
        <p:spPr>
          <a:xfrm>
            <a:off x="981075" y="5894636"/>
            <a:ext cx="3580293"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Recall@10 91,16% · el mejor recuperador</a:t>
            </a:r>
          </a:p>
        </p:txBody>
      </p:sp>
      <p:sp>
        <p:nvSpPr>
          <p:cNvPr id="45" name="TextBox 44"/>
          <p:cNvSpPr txBox="1"/>
          <p:nvPr/>
        </p:nvSpPr>
        <p:spPr>
          <a:xfrm>
            <a:off x="16035742" y="5672733"/>
            <a:ext cx="1271183"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85,71%</a:t>
            </a:r>
          </a:p>
        </p:txBody>
      </p:sp>
      <p:sp>
        <p:nvSpPr>
          <p:cNvPr id="46" name="TextBox 45"/>
          <p:cNvSpPr txBox="1"/>
          <p:nvPr/>
        </p:nvSpPr>
        <p:spPr>
          <a:xfrm>
            <a:off x="981075" y="6503491"/>
            <a:ext cx="385177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Baseline de coincidencia exacta</a:t>
            </a:r>
          </a:p>
        </p:txBody>
      </p:sp>
      <p:sp>
        <p:nvSpPr>
          <p:cNvPr id="47" name="TextBox 46"/>
          <p:cNvSpPr txBox="1"/>
          <p:nvPr/>
        </p:nvSpPr>
        <p:spPr>
          <a:xfrm>
            <a:off x="981075" y="6785372"/>
            <a:ext cx="1944981"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solo reglas de código</a:t>
            </a:r>
          </a:p>
        </p:txBody>
      </p:sp>
      <p:sp>
        <p:nvSpPr>
          <p:cNvPr id="48" name="TextBox 47"/>
          <p:cNvSpPr txBox="1"/>
          <p:nvPr/>
        </p:nvSpPr>
        <p:spPr>
          <a:xfrm>
            <a:off x="16035742" y="6563469"/>
            <a:ext cx="1271183" cy="419100"/>
          </a:xfrm>
          <a:prstGeom prst="rect">
            <a:avLst/>
          </a:prstGeom>
          <a:noFill/>
        </p:spPr>
        <p:txBody>
          <a:bodyPr wrap="none" lIns="0" rIns="0" tIns="0" bIns="0" anchor="t">
            <a:spAutoFit/>
          </a:bodyPr>
          <a:lstStyle/>
          <a:p>
            <a:pPr algn="r">
              <a:lnSpc>
                <a:spcPct val="100000"/>
              </a:lnSpc>
            </a:pPr>
            <a:r>
              <a:rPr sz="2625" b="1" i="0">
                <a:solidFill>
                  <a:srgbClr val="9AB3CD"/>
                </a:solidFill>
                <a:latin typeface="Barlow"/>
              </a:rPr>
              <a:t>85,03%</a:t>
            </a:r>
          </a:p>
        </p:txBody>
      </p:sp>
      <p:sp>
        <p:nvSpPr>
          <p:cNvPr id="49" name="TextBox 48"/>
          <p:cNvSpPr txBox="1"/>
          <p:nvPr/>
        </p:nvSpPr>
        <p:spPr>
          <a:xfrm>
            <a:off x="981075" y="7394228"/>
            <a:ext cx="2103947"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Transformer solo</a:t>
            </a:r>
          </a:p>
        </p:txBody>
      </p:sp>
      <p:sp>
        <p:nvSpPr>
          <p:cNvPr id="50" name="TextBox 49"/>
          <p:cNvSpPr txBox="1"/>
          <p:nvPr/>
        </p:nvSpPr>
        <p:spPr>
          <a:xfrm>
            <a:off x="981075" y="7676108"/>
            <a:ext cx="208353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sin recuperador previo</a:t>
            </a:r>
          </a:p>
        </p:txBody>
      </p:sp>
      <p:sp>
        <p:nvSpPr>
          <p:cNvPr id="51" name="TextBox 50"/>
          <p:cNvSpPr txBox="1"/>
          <p:nvPr/>
        </p:nvSpPr>
        <p:spPr>
          <a:xfrm>
            <a:off x="16035742" y="7454205"/>
            <a:ext cx="1271183" cy="419100"/>
          </a:xfrm>
          <a:prstGeom prst="rect">
            <a:avLst/>
          </a:prstGeom>
          <a:noFill/>
        </p:spPr>
        <p:txBody>
          <a:bodyPr wrap="none" lIns="0" rIns="0" tIns="0" bIns="0" anchor="t">
            <a:spAutoFit/>
          </a:bodyPr>
          <a:lstStyle/>
          <a:p>
            <a:pPr algn="r">
              <a:lnSpc>
                <a:spcPct val="100000"/>
              </a:lnSpc>
            </a:pPr>
            <a:r>
              <a:rPr sz="2625" b="1" i="0">
                <a:solidFill>
                  <a:srgbClr val="9AB3CD"/>
                </a:solidFill>
                <a:latin typeface="Barlow"/>
              </a:rPr>
              <a:t>82,31%</a:t>
            </a:r>
          </a:p>
        </p:txBody>
      </p:sp>
      <p:sp>
        <p:nvSpPr>
          <p:cNvPr id="52" name="TextBox 51"/>
          <p:cNvSpPr txBox="1"/>
          <p:nvPr/>
        </p:nvSpPr>
        <p:spPr>
          <a:xfrm>
            <a:off x="981075" y="8284964"/>
            <a:ext cx="297207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Embeddings congelados</a:t>
            </a:r>
          </a:p>
        </p:txBody>
      </p:sp>
      <p:sp>
        <p:nvSpPr>
          <p:cNvPr id="53" name="TextBox 52"/>
          <p:cNvSpPr txBox="1"/>
          <p:nvPr/>
        </p:nvSpPr>
        <p:spPr>
          <a:xfrm>
            <a:off x="981075" y="8566845"/>
            <a:ext cx="1973592"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13 de 147 · MRR 0,1352</a:t>
            </a:r>
          </a:p>
        </p:txBody>
      </p:sp>
      <p:sp>
        <p:nvSpPr>
          <p:cNvPr id="54" name="TextBox 53"/>
          <p:cNvSpPr txBox="1"/>
          <p:nvPr/>
        </p:nvSpPr>
        <p:spPr>
          <a:xfrm>
            <a:off x="16231517" y="8344942"/>
            <a:ext cx="1075408"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8,84%</a:t>
            </a:r>
          </a:p>
        </p:txBody>
      </p:sp>
      <p:sp>
        <p:nvSpPr>
          <p:cNvPr id="55" name="TextBox 54"/>
          <p:cNvSpPr txBox="1"/>
          <p:nvPr/>
        </p:nvSpPr>
        <p:spPr>
          <a:xfrm>
            <a:off x="723900" y="9347895"/>
            <a:ext cx="17029902"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Las dos mejores cascadas difieren en 3 consultas. McNemar exacto: </a:t>
            </a:r>
            <a:r>
              <a:rPr sz="1725" b="0" i="0">
                <a:solidFill>
                  <a:srgbClr val="FFD21F"/>
                </a:solidFill>
                <a:latin typeface="Barlow"/>
              </a:rPr>
              <a:t>p = 1,0</a:t>
            </a:r>
            <a:r>
              <a:rPr sz="1725" b="0" i="0">
                <a:solidFill>
                  <a:srgbClr val="9AB3CD"/>
                </a:solidFill>
                <a:latin typeface="Barlow"/>
              </a:rPr>
              <a:t> — se reporta como el mejor resultado puntual observado, no como superioridad demostrada.</a:t>
            </a:r>
          </a:p>
        </p:txBody>
      </p:sp>
      <p:sp>
        <p:nvSpPr>
          <p:cNvPr id="56" name="TextBox 55"/>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57" name="TextBox 56"/>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39</a:t>
            </a:r>
          </a:p>
        </p:txBody>
      </p:sp>
      <p:sp>
        <p:nvSpPr>
          <p:cNvPr id="58" name="TextBox 57"/>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40</a:t>
            </a:r>
          </a:p>
        </p:txBody>
      </p:sp>
      <p:sp>
        <p:nvSpPr>
          <p:cNvPr id="59" name="TextBox 58"/>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41</a:t>
            </a:r>
          </a:p>
        </p:txBody>
      </p:sp>
      <p:sp>
        <p:nvSpPr>
          <p:cNvPr id="60" name="TextBox 59"/>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42</a:t>
            </a:r>
          </a:p>
        </p:txBody>
      </p:sp>
      <p:sp>
        <p:nvSpPr>
          <p:cNvPr id="61" name="TextBox 60"/>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23359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2975" y="3657749"/>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47738" y="4805511"/>
            <a:ext cx="5089475" cy="3108871"/>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2975" y="8271570"/>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2503140"/>
            <a:ext cx="5537150"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03140"/>
            <a:ext cx="5537150" cy="762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923359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75350"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902976"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594425" y="3657749"/>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599188" y="4805511"/>
            <a:ext cx="5089475" cy="3108871"/>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94425" y="8271570"/>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26801" y="2503140"/>
            <a:ext cx="5537150" cy="673997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26801"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26801" y="9233595"/>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26801"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426" y="2503140"/>
            <a:ext cx="9525" cy="673997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245876" y="3657749"/>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250638" y="4805511"/>
            <a:ext cx="5089475" cy="3108871"/>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245876" y="8271570"/>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015038"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019800" y="9944100"/>
            <a:ext cx="33832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81075" y="1663750"/>
            <a:ext cx="674756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02 / 03</a:t>
            </a:r>
          </a:p>
        </p:txBody>
      </p:sp>
      <p:sp>
        <p:nvSpPr>
          <p:cNvPr id="41" name="TextBox 40"/>
          <p:cNvSpPr txBox="1"/>
          <p:nvPr/>
        </p:nvSpPr>
        <p:spPr>
          <a:xfrm>
            <a:off x="981075" y="1885652"/>
            <a:ext cx="1176456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Clasificación de pares · el F1 sin la matriz engaña</a:t>
            </a:r>
          </a:p>
        </p:txBody>
      </p:sp>
      <p:sp>
        <p:nvSpPr>
          <p:cNvPr id="42" name="TextBox 41"/>
          <p:cNvSpPr txBox="1"/>
          <p:nvPr/>
        </p:nvSpPr>
        <p:spPr>
          <a:xfrm>
            <a:off x="942975" y="2722215"/>
            <a:ext cx="311920"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1</a:t>
            </a:r>
          </a:p>
        </p:txBody>
      </p:sp>
      <p:sp>
        <p:nvSpPr>
          <p:cNvPr id="43" name="TextBox 42"/>
          <p:cNvSpPr txBox="1"/>
          <p:nvPr/>
        </p:nvSpPr>
        <p:spPr>
          <a:xfrm>
            <a:off x="1257895" y="2912715"/>
            <a:ext cx="2233315"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TF-IDF</a:t>
            </a:r>
          </a:p>
          <a:p>
            <a:pPr algn="l">
              <a:lnSpc>
                <a:spcPct val="85000"/>
              </a:lnSpc>
            </a:pPr>
            <a:r>
              <a:rPr sz="2325" b="1" i="0">
                <a:solidFill>
                  <a:srgbClr val="F3F7FC"/>
                </a:solidFill>
                <a:latin typeface="Montserrat"/>
              </a:rPr>
              <a:t>umbral 0,5238</a:t>
            </a:r>
          </a:p>
        </p:txBody>
      </p:sp>
      <p:sp>
        <p:nvSpPr>
          <p:cNvPr id="44" name="TextBox 43"/>
          <p:cNvSpPr txBox="1"/>
          <p:nvPr/>
        </p:nvSpPr>
        <p:spPr>
          <a:xfrm>
            <a:off x="942975" y="3705374"/>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72,04%</a:t>
            </a:r>
          </a:p>
        </p:txBody>
      </p:sp>
      <p:sp>
        <p:nvSpPr>
          <p:cNvPr id="45" name="TextBox 44"/>
          <p:cNvSpPr txBox="1"/>
          <p:nvPr/>
        </p:nvSpPr>
        <p:spPr>
          <a:xfrm>
            <a:off x="942975" y="4209246"/>
            <a:ext cx="1406842"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F1 DE PARES</a:t>
            </a:r>
          </a:p>
        </p:txBody>
      </p:sp>
      <p:sp>
        <p:nvSpPr>
          <p:cNvPr id="46" name="TextBox 45"/>
          <p:cNvSpPr txBox="1"/>
          <p:nvPr/>
        </p:nvSpPr>
        <p:spPr>
          <a:xfrm>
            <a:off x="1123950" y="6210389"/>
            <a:ext cx="3838754"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Precisión 74,44% · Recall 69,79%</a:t>
            </a:r>
          </a:p>
        </p:txBody>
      </p:sp>
      <p:sp>
        <p:nvSpPr>
          <p:cNvPr id="47" name="TextBox 46"/>
          <p:cNvSpPr txBox="1"/>
          <p:nvPr/>
        </p:nvSpPr>
        <p:spPr>
          <a:xfrm>
            <a:off x="942975" y="8319195"/>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35,38%</a:t>
            </a:r>
          </a:p>
        </p:txBody>
      </p:sp>
      <p:sp>
        <p:nvSpPr>
          <p:cNvPr id="48" name="TextBox 47"/>
          <p:cNvSpPr txBox="1"/>
          <p:nvPr/>
        </p:nvSpPr>
        <p:spPr>
          <a:xfrm>
            <a:off x="942975" y="8823067"/>
            <a:ext cx="2096875"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FALSOS POSITIVOS</a:t>
            </a:r>
          </a:p>
        </p:txBody>
      </p:sp>
      <p:sp>
        <p:nvSpPr>
          <p:cNvPr id="49" name="TextBox 48"/>
          <p:cNvSpPr txBox="1"/>
          <p:nvPr/>
        </p:nvSpPr>
        <p:spPr>
          <a:xfrm>
            <a:off x="6594425" y="2722215"/>
            <a:ext cx="415754" cy="619125"/>
          </a:xfrm>
          <a:prstGeom prst="rect">
            <a:avLst/>
          </a:prstGeom>
          <a:noFill/>
        </p:spPr>
        <p:txBody>
          <a:bodyPr wrap="none" lIns="0" rIns="0" tIns="0" bIns="0" anchor="t">
            <a:spAutoFit/>
          </a:bodyPr>
          <a:lstStyle/>
          <a:p>
            <a:pPr algn="l">
              <a:lnSpc>
                <a:spcPct val="93300"/>
              </a:lnSpc>
            </a:pPr>
            <a:r>
              <a:rPr sz="3900" b="1" i="0">
                <a:solidFill>
                  <a:srgbClr val="E2758F"/>
                </a:solidFill>
                <a:latin typeface="Montserrat"/>
              </a:rPr>
              <a:t>2</a:t>
            </a:r>
          </a:p>
        </p:txBody>
      </p:sp>
      <p:sp>
        <p:nvSpPr>
          <p:cNvPr id="50" name="TextBox 49"/>
          <p:cNvSpPr txBox="1"/>
          <p:nvPr/>
        </p:nvSpPr>
        <p:spPr>
          <a:xfrm>
            <a:off x="7005489" y="2912715"/>
            <a:ext cx="2061567"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Embeddings</a:t>
            </a:r>
          </a:p>
          <a:p>
            <a:pPr algn="l">
              <a:lnSpc>
                <a:spcPct val="85000"/>
              </a:lnSpc>
            </a:pPr>
            <a:r>
              <a:rPr sz="2325" b="1" i="0">
                <a:solidFill>
                  <a:srgbClr val="F3F7FC"/>
                </a:solidFill>
                <a:latin typeface="Montserrat"/>
              </a:rPr>
              <a:t>umbral 0,378</a:t>
            </a:r>
          </a:p>
        </p:txBody>
      </p:sp>
      <p:sp>
        <p:nvSpPr>
          <p:cNvPr id="51" name="TextBox 50"/>
          <p:cNvSpPr txBox="1"/>
          <p:nvPr/>
        </p:nvSpPr>
        <p:spPr>
          <a:xfrm>
            <a:off x="6594425" y="3705374"/>
            <a:ext cx="1640872" cy="542925"/>
          </a:xfrm>
          <a:prstGeom prst="rect">
            <a:avLst/>
          </a:prstGeom>
          <a:noFill/>
        </p:spPr>
        <p:txBody>
          <a:bodyPr wrap="none" lIns="0" rIns="0" tIns="0" bIns="0" anchor="t">
            <a:spAutoFit/>
          </a:bodyPr>
          <a:lstStyle/>
          <a:p>
            <a:pPr algn="l">
              <a:lnSpc>
                <a:spcPct val="83300"/>
              </a:lnSpc>
            </a:pPr>
            <a:r>
              <a:rPr sz="3450" b="1" i="0">
                <a:solidFill>
                  <a:srgbClr val="E2758F"/>
                </a:solidFill>
                <a:latin typeface="Barlow"/>
              </a:rPr>
              <a:t>73,42%</a:t>
            </a:r>
          </a:p>
        </p:txBody>
      </p:sp>
      <p:sp>
        <p:nvSpPr>
          <p:cNvPr id="52" name="TextBox 51"/>
          <p:cNvSpPr txBox="1"/>
          <p:nvPr/>
        </p:nvSpPr>
        <p:spPr>
          <a:xfrm>
            <a:off x="6594425" y="4209246"/>
            <a:ext cx="1406842"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F1 DE PARES</a:t>
            </a:r>
          </a:p>
        </p:txBody>
      </p:sp>
      <p:sp>
        <p:nvSpPr>
          <p:cNvPr id="53" name="TextBox 52"/>
          <p:cNvSpPr txBox="1"/>
          <p:nvPr/>
        </p:nvSpPr>
        <p:spPr>
          <a:xfrm>
            <a:off x="6775400" y="6061859"/>
            <a:ext cx="2704478" cy="613410"/>
          </a:xfrm>
          <a:prstGeom prst="rect">
            <a:avLst/>
          </a:prstGeom>
          <a:noFill/>
        </p:spPr>
        <p:txBody>
          <a:bodyPr wrap="square" lIns="0" rIns="0" tIns="0" bIns="0" anchor="t">
            <a:spAutoFit/>
          </a:bodyPr>
          <a:lstStyle/>
          <a:p>
            <a:pPr algn="l">
              <a:lnSpc>
                <a:spcPct val="100000"/>
              </a:lnSpc>
            </a:pPr>
            <a:r>
              <a:rPr sz="1950" b="0" i="0">
                <a:solidFill>
                  <a:srgbClr val="F3F7FC"/>
                </a:solidFill>
                <a:latin typeface="Barlow"/>
              </a:rPr>
              <a:t>Precisión 61,70% · Recall 90,63% —</a:t>
            </a:r>
          </a:p>
        </p:txBody>
      </p:sp>
      <p:sp>
        <p:nvSpPr>
          <p:cNvPr id="54" name="TextBox 53"/>
          <p:cNvSpPr txBox="1"/>
          <p:nvPr/>
        </p:nvSpPr>
        <p:spPr>
          <a:xfrm>
            <a:off x="9937105" y="6061859"/>
            <a:ext cx="1594396" cy="613410"/>
          </a:xfrm>
          <a:prstGeom prst="rect">
            <a:avLst/>
          </a:prstGeom>
          <a:noFill/>
        </p:spPr>
        <p:txBody>
          <a:bodyPr wrap="square" lIns="0" rIns="0" tIns="0" bIns="0" anchor="t">
            <a:spAutoFit/>
          </a:bodyPr>
          <a:lstStyle/>
          <a:p>
            <a:pPr algn="l">
              <a:lnSpc>
                <a:spcPct val="100000"/>
              </a:lnSpc>
            </a:pPr>
            <a:r>
              <a:rPr sz="1950" b="1" i="0">
                <a:solidFill>
                  <a:srgbClr val="FFD21F"/>
                </a:solidFill>
                <a:latin typeface="Barlow"/>
              </a:rPr>
              <a:t>acepta casi todo</a:t>
            </a:r>
          </a:p>
        </p:txBody>
      </p:sp>
      <p:sp>
        <p:nvSpPr>
          <p:cNvPr id="55" name="TextBox 54"/>
          <p:cNvSpPr txBox="1"/>
          <p:nvPr/>
        </p:nvSpPr>
        <p:spPr>
          <a:xfrm>
            <a:off x="6594425" y="8319195"/>
            <a:ext cx="1640872" cy="542925"/>
          </a:xfrm>
          <a:prstGeom prst="rect">
            <a:avLst/>
          </a:prstGeom>
          <a:noFill/>
        </p:spPr>
        <p:txBody>
          <a:bodyPr wrap="none" lIns="0" rIns="0" tIns="0" bIns="0" anchor="t">
            <a:spAutoFit/>
          </a:bodyPr>
          <a:lstStyle/>
          <a:p>
            <a:pPr algn="l">
              <a:lnSpc>
                <a:spcPct val="83300"/>
              </a:lnSpc>
            </a:pPr>
            <a:r>
              <a:rPr sz="3450" b="1" i="0">
                <a:solidFill>
                  <a:srgbClr val="E2758F"/>
                </a:solidFill>
                <a:latin typeface="Barlow"/>
              </a:rPr>
              <a:t>83,08%</a:t>
            </a:r>
          </a:p>
        </p:txBody>
      </p:sp>
      <p:sp>
        <p:nvSpPr>
          <p:cNvPr id="56" name="TextBox 55"/>
          <p:cNvSpPr txBox="1"/>
          <p:nvPr/>
        </p:nvSpPr>
        <p:spPr>
          <a:xfrm>
            <a:off x="6594425" y="8823067"/>
            <a:ext cx="2096875"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FALSOS POSITIVOS</a:t>
            </a:r>
          </a:p>
        </p:txBody>
      </p:sp>
      <p:sp>
        <p:nvSpPr>
          <p:cNvPr id="57" name="TextBox 56"/>
          <p:cNvSpPr txBox="1"/>
          <p:nvPr/>
        </p:nvSpPr>
        <p:spPr>
          <a:xfrm>
            <a:off x="12245876" y="2722215"/>
            <a:ext cx="417844"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3</a:t>
            </a:r>
          </a:p>
        </p:txBody>
      </p:sp>
      <p:sp>
        <p:nvSpPr>
          <p:cNvPr id="58" name="TextBox 57"/>
          <p:cNvSpPr txBox="1"/>
          <p:nvPr/>
        </p:nvSpPr>
        <p:spPr>
          <a:xfrm>
            <a:off x="12658874" y="2912715"/>
            <a:ext cx="2694831" cy="682079"/>
          </a:xfrm>
          <a:prstGeom prst="rect">
            <a:avLst/>
          </a:prstGeom>
          <a:noFill/>
        </p:spPr>
        <p:txBody>
          <a:bodyPr wrap="square" lIns="0" rIns="0" tIns="0" bIns="0" anchor="t">
            <a:spAutoFit/>
          </a:bodyPr>
          <a:lstStyle/>
          <a:p>
            <a:pPr algn="l">
              <a:lnSpc>
                <a:spcPct val="85000"/>
              </a:lnSpc>
            </a:pPr>
            <a:r>
              <a:rPr sz="2325" b="1" i="0">
                <a:solidFill>
                  <a:srgbClr val="F3F7FC"/>
                </a:solidFill>
                <a:latin typeface="Montserrat"/>
              </a:rPr>
              <a:t>Cross-encoder</a:t>
            </a:r>
          </a:p>
          <a:p>
            <a:pPr algn="l">
              <a:lnSpc>
                <a:spcPct val="85000"/>
              </a:lnSpc>
            </a:pPr>
            <a:r>
              <a:rPr sz="2325" b="1" i="0">
                <a:solidFill>
                  <a:srgbClr val="F3F7FC"/>
                </a:solidFill>
                <a:latin typeface="Montserrat"/>
              </a:rPr>
              <a:t>umbral 0,998844</a:t>
            </a:r>
          </a:p>
        </p:txBody>
      </p:sp>
      <p:sp>
        <p:nvSpPr>
          <p:cNvPr id="59" name="TextBox 58"/>
          <p:cNvSpPr txBox="1"/>
          <p:nvPr/>
        </p:nvSpPr>
        <p:spPr>
          <a:xfrm>
            <a:off x="12245876" y="3705374"/>
            <a:ext cx="1640872"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97,41%</a:t>
            </a:r>
          </a:p>
        </p:txBody>
      </p:sp>
      <p:sp>
        <p:nvSpPr>
          <p:cNvPr id="60" name="TextBox 59"/>
          <p:cNvSpPr txBox="1"/>
          <p:nvPr/>
        </p:nvSpPr>
        <p:spPr>
          <a:xfrm>
            <a:off x="12245876" y="4209246"/>
            <a:ext cx="1406842"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F1 DE PARES</a:t>
            </a:r>
          </a:p>
        </p:txBody>
      </p:sp>
      <p:sp>
        <p:nvSpPr>
          <p:cNvPr id="61" name="TextBox 60"/>
          <p:cNvSpPr txBox="1"/>
          <p:nvPr/>
        </p:nvSpPr>
        <p:spPr>
          <a:xfrm>
            <a:off x="12426851" y="6210389"/>
            <a:ext cx="3779925"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Precisión 96,91% · Recall 97,92%</a:t>
            </a:r>
          </a:p>
        </p:txBody>
      </p:sp>
      <p:sp>
        <p:nvSpPr>
          <p:cNvPr id="62" name="TextBox 61"/>
          <p:cNvSpPr txBox="1"/>
          <p:nvPr/>
        </p:nvSpPr>
        <p:spPr>
          <a:xfrm>
            <a:off x="12245876" y="8319195"/>
            <a:ext cx="1383375"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4,62%</a:t>
            </a:r>
          </a:p>
        </p:txBody>
      </p:sp>
      <p:sp>
        <p:nvSpPr>
          <p:cNvPr id="63" name="TextBox 62"/>
          <p:cNvSpPr txBox="1"/>
          <p:nvPr/>
        </p:nvSpPr>
        <p:spPr>
          <a:xfrm>
            <a:off x="12245876" y="8823067"/>
            <a:ext cx="2096875"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FALSOS POSITIVOS</a:t>
            </a:r>
          </a:p>
        </p:txBody>
      </p:sp>
      <p:sp>
        <p:nvSpPr>
          <p:cNvPr id="64" name="TextBox 63"/>
          <p:cNvSpPr txBox="1"/>
          <p:nvPr/>
        </p:nvSpPr>
        <p:spPr>
          <a:xfrm>
            <a:off x="723900" y="9347895"/>
            <a:ext cx="16754725"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Los modelos 1 y 2 parecen equivalentes por F1 (72,04% y 73,42%) y sus matrices son opuestas. Aquí la superioridad del cross-encoder sí es contundente y no ambigua.</a:t>
            </a:r>
          </a:p>
        </p:txBody>
      </p:sp>
      <p:sp>
        <p:nvSpPr>
          <p:cNvPr id="65" name="TextBox 64"/>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66" name="TextBox 65"/>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39</a:t>
            </a:r>
          </a:p>
        </p:txBody>
      </p:sp>
      <p:sp>
        <p:nvSpPr>
          <p:cNvPr id="67" name="TextBox 66"/>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40</a:t>
            </a:r>
          </a:p>
        </p:txBody>
      </p:sp>
      <p:sp>
        <p:nvSpPr>
          <p:cNvPr id="68" name="TextBox 67"/>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41</a:t>
            </a:r>
          </a:p>
        </p:txBody>
      </p:sp>
      <p:sp>
        <p:nvSpPr>
          <p:cNvPr id="69" name="TextBox 68"/>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42</a:t>
            </a:r>
          </a:p>
        </p:txBody>
      </p:sp>
      <p:sp>
        <p:nvSpPr>
          <p:cNvPr id="70" name="TextBox 69"/>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73045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395788" y="3690193"/>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400550" y="3694956"/>
            <a:ext cx="9798695"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95788" y="4492675"/>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0550" y="4497437"/>
            <a:ext cx="3973116"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395788" y="5295156"/>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400550" y="5299918"/>
            <a:ext cx="529828"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95788" y="6810821"/>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00550" y="6815584"/>
            <a:ext cx="7690991"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95788" y="7613303"/>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400550" y="7618065"/>
            <a:ext cx="3619054"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395788" y="8415784"/>
            <a:ext cx="1086802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400550" y="8420546"/>
            <a:ext cx="452735"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92016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924925" y="9944100"/>
            <a:ext cx="33832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81075" y="1663750"/>
            <a:ext cx="674306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03 / 03</a:t>
            </a:r>
          </a:p>
        </p:txBody>
      </p:sp>
      <p:sp>
        <p:nvSpPr>
          <p:cNvPr id="31" name="TextBox 30"/>
          <p:cNvSpPr txBox="1"/>
          <p:nvPr/>
        </p:nvSpPr>
        <p:spPr>
          <a:xfrm>
            <a:off x="981075" y="1885652"/>
            <a:ext cx="12745367"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Los negativos difíciles · la cifra que cuenta la historia</a:t>
            </a:r>
          </a:p>
        </p:txBody>
      </p:sp>
      <p:sp>
        <p:nvSpPr>
          <p:cNvPr id="32" name="TextBox 31"/>
          <p:cNvSpPr txBox="1"/>
          <p:nvPr/>
        </p:nvSpPr>
        <p:spPr>
          <a:xfrm>
            <a:off x="981075" y="2915096"/>
            <a:ext cx="2995351" cy="390525"/>
          </a:xfrm>
          <a:prstGeom prst="rect">
            <a:avLst/>
          </a:prstGeom>
          <a:noFill/>
        </p:spPr>
        <p:txBody>
          <a:bodyPr wrap="none" lIns="0" rIns="0" tIns="0" bIns="0" anchor="t">
            <a:spAutoFit/>
          </a:bodyPr>
          <a:lstStyle/>
          <a:p>
            <a:pPr algn="l">
              <a:lnSpc>
                <a:spcPct val="101600"/>
              </a:lnSpc>
            </a:pPr>
            <a:r>
              <a:rPr sz="2400" b="1" i="0">
                <a:solidFill>
                  <a:srgbClr val="F3F7FC"/>
                </a:solidFill>
                <a:latin typeface="Montserrat"/>
              </a:rPr>
              <a:t>Sufijo distinto —</a:t>
            </a:r>
          </a:p>
        </p:txBody>
      </p:sp>
      <p:sp>
        <p:nvSpPr>
          <p:cNvPr id="33" name="TextBox 32"/>
          <p:cNvSpPr txBox="1"/>
          <p:nvPr/>
        </p:nvSpPr>
        <p:spPr>
          <a:xfrm>
            <a:off x="3734991" y="2934146"/>
            <a:ext cx="1743385" cy="361950"/>
          </a:xfrm>
          <a:prstGeom prst="rect">
            <a:avLst/>
          </a:prstGeom>
          <a:noFill/>
        </p:spPr>
        <p:txBody>
          <a:bodyPr wrap="none" lIns="0" rIns="0" tIns="0" bIns="0" anchor="t">
            <a:spAutoFit/>
          </a:bodyPr>
          <a:lstStyle/>
          <a:p>
            <a:pPr algn="l">
              <a:lnSpc>
                <a:spcPct val="109000"/>
              </a:lnSpc>
            </a:pPr>
            <a:r>
              <a:rPr sz="2064" b="1" i="0">
                <a:solidFill>
                  <a:srgbClr val="FFD21F"/>
                </a:solidFill>
                <a:latin typeface="Roboto Mono"/>
              </a:rPr>
              <a:t>NPX150/INT</a:t>
            </a:r>
          </a:p>
        </p:txBody>
      </p:sp>
      <p:sp>
        <p:nvSpPr>
          <p:cNvPr id="34" name="TextBox 33"/>
          <p:cNvSpPr txBox="1"/>
          <p:nvPr/>
        </p:nvSpPr>
        <p:spPr>
          <a:xfrm>
            <a:off x="5396359" y="2915096"/>
            <a:ext cx="1518422" cy="390525"/>
          </a:xfrm>
          <a:prstGeom prst="rect">
            <a:avLst/>
          </a:prstGeom>
          <a:noFill/>
        </p:spPr>
        <p:txBody>
          <a:bodyPr wrap="none" lIns="0" rIns="0" tIns="0" bIns="0" anchor="t">
            <a:spAutoFit/>
          </a:bodyPr>
          <a:lstStyle/>
          <a:p>
            <a:pPr algn="l">
              <a:lnSpc>
                <a:spcPct val="101600"/>
              </a:lnSpc>
            </a:pPr>
            <a:r>
              <a:rPr sz="2400" b="1" i="0">
                <a:solidFill>
                  <a:srgbClr val="F3F7FC"/>
                </a:solidFill>
                <a:latin typeface="Montserrat"/>
              </a:rPr>
              <a:t>frente a</a:t>
            </a:r>
          </a:p>
        </p:txBody>
      </p:sp>
      <p:sp>
        <p:nvSpPr>
          <p:cNvPr id="35" name="TextBox 34"/>
          <p:cNvSpPr txBox="1"/>
          <p:nvPr/>
        </p:nvSpPr>
        <p:spPr>
          <a:xfrm>
            <a:off x="6756946" y="2934146"/>
            <a:ext cx="1576635" cy="361950"/>
          </a:xfrm>
          <a:prstGeom prst="rect">
            <a:avLst/>
          </a:prstGeom>
          <a:noFill/>
        </p:spPr>
        <p:txBody>
          <a:bodyPr wrap="none" lIns="0" rIns="0" tIns="0" bIns="0" anchor="t">
            <a:spAutoFit/>
          </a:bodyPr>
          <a:lstStyle/>
          <a:p>
            <a:pPr algn="l">
              <a:lnSpc>
                <a:spcPct val="109000"/>
              </a:lnSpc>
            </a:pPr>
            <a:r>
              <a:rPr sz="2064" b="1" i="0">
                <a:solidFill>
                  <a:srgbClr val="FFD21F"/>
                </a:solidFill>
                <a:latin typeface="Roboto Mono"/>
              </a:rPr>
              <a:t>NPX150/90</a:t>
            </a:r>
          </a:p>
        </p:txBody>
      </p:sp>
      <p:sp>
        <p:nvSpPr>
          <p:cNvPr id="36" name="TextBox 35"/>
          <p:cNvSpPr txBox="1"/>
          <p:nvPr/>
        </p:nvSpPr>
        <p:spPr>
          <a:xfrm>
            <a:off x="8261003" y="2915096"/>
            <a:ext cx="1666399" cy="390525"/>
          </a:xfrm>
          <a:prstGeom prst="rect">
            <a:avLst/>
          </a:prstGeom>
          <a:noFill/>
        </p:spPr>
        <p:txBody>
          <a:bodyPr wrap="none" lIns="0" rIns="0" tIns="0" bIns="0" anchor="t">
            <a:spAutoFit/>
          </a:bodyPr>
          <a:lstStyle/>
          <a:p>
            <a:pPr algn="l">
              <a:lnSpc>
                <a:spcPct val="101600"/>
              </a:lnSpc>
            </a:pPr>
            <a:r>
              <a:rPr sz="2400" b="1" i="0">
                <a:solidFill>
                  <a:srgbClr val="F3F7FC"/>
                </a:solidFill>
                <a:latin typeface="Montserrat"/>
              </a:rPr>
              <a:t>· 41 pares</a:t>
            </a:r>
          </a:p>
        </p:txBody>
      </p:sp>
      <p:sp>
        <p:nvSpPr>
          <p:cNvPr id="37" name="TextBox 36"/>
          <p:cNvSpPr txBox="1"/>
          <p:nvPr/>
        </p:nvSpPr>
        <p:spPr>
          <a:xfrm>
            <a:off x="981075" y="3711178"/>
            <a:ext cx="1558576"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Embeddings</a:t>
            </a:r>
          </a:p>
        </p:txBody>
      </p:sp>
      <p:sp>
        <p:nvSpPr>
          <p:cNvPr id="38" name="TextBox 37"/>
          <p:cNvSpPr txBox="1"/>
          <p:nvPr/>
        </p:nvSpPr>
        <p:spPr>
          <a:xfrm>
            <a:off x="16035742" y="3666381"/>
            <a:ext cx="1271183"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90,24%</a:t>
            </a:r>
          </a:p>
        </p:txBody>
      </p:sp>
      <p:sp>
        <p:nvSpPr>
          <p:cNvPr id="39" name="TextBox 38"/>
          <p:cNvSpPr txBox="1"/>
          <p:nvPr/>
        </p:nvSpPr>
        <p:spPr>
          <a:xfrm>
            <a:off x="981075" y="4513659"/>
            <a:ext cx="880920"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TF-IDF</a:t>
            </a:r>
          </a:p>
        </p:txBody>
      </p:sp>
      <p:sp>
        <p:nvSpPr>
          <p:cNvPr id="40" name="TextBox 39"/>
          <p:cNvSpPr txBox="1"/>
          <p:nvPr/>
        </p:nvSpPr>
        <p:spPr>
          <a:xfrm>
            <a:off x="16035742" y="4468862"/>
            <a:ext cx="1271183"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36,59%</a:t>
            </a:r>
          </a:p>
        </p:txBody>
      </p:sp>
      <p:sp>
        <p:nvSpPr>
          <p:cNvPr id="41" name="TextBox 40"/>
          <p:cNvSpPr txBox="1"/>
          <p:nvPr/>
        </p:nvSpPr>
        <p:spPr>
          <a:xfrm>
            <a:off x="981075" y="5316141"/>
            <a:ext cx="184693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Cross-encoder</a:t>
            </a:r>
          </a:p>
        </p:txBody>
      </p:sp>
      <p:sp>
        <p:nvSpPr>
          <p:cNvPr id="42" name="TextBox 41"/>
          <p:cNvSpPr txBox="1"/>
          <p:nvPr/>
        </p:nvSpPr>
        <p:spPr>
          <a:xfrm>
            <a:off x="16231517" y="5271343"/>
            <a:ext cx="1075408"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4,88%</a:t>
            </a:r>
          </a:p>
        </p:txBody>
      </p:sp>
      <p:sp>
        <p:nvSpPr>
          <p:cNvPr id="43" name="TextBox 42"/>
          <p:cNvSpPr txBox="1"/>
          <p:nvPr/>
        </p:nvSpPr>
        <p:spPr>
          <a:xfrm>
            <a:off x="981075" y="6035725"/>
            <a:ext cx="4624673" cy="390525"/>
          </a:xfrm>
          <a:prstGeom prst="rect">
            <a:avLst/>
          </a:prstGeom>
          <a:noFill/>
        </p:spPr>
        <p:txBody>
          <a:bodyPr wrap="none" lIns="0" rIns="0" tIns="0" bIns="0" anchor="t">
            <a:spAutoFit/>
          </a:bodyPr>
          <a:lstStyle/>
          <a:p>
            <a:pPr algn="l">
              <a:lnSpc>
                <a:spcPct val="101600"/>
              </a:lnSpc>
            </a:pPr>
            <a:r>
              <a:rPr sz="2400" b="1" i="0">
                <a:solidFill>
                  <a:srgbClr val="F3F7FC"/>
                </a:solidFill>
                <a:latin typeface="Montserrat"/>
              </a:rPr>
              <a:t>Reacondicionado — sufijo</a:t>
            </a:r>
          </a:p>
        </p:txBody>
      </p:sp>
      <p:sp>
        <p:nvSpPr>
          <p:cNvPr id="44" name="TextBox 43"/>
          <p:cNvSpPr txBox="1"/>
          <p:nvPr/>
        </p:nvSpPr>
        <p:spPr>
          <a:xfrm>
            <a:off x="5272088" y="6054775"/>
            <a:ext cx="409700" cy="361950"/>
          </a:xfrm>
          <a:prstGeom prst="rect">
            <a:avLst/>
          </a:prstGeom>
          <a:noFill/>
        </p:spPr>
        <p:txBody>
          <a:bodyPr wrap="none" lIns="0" rIns="0" tIns="0" bIns="0" anchor="t">
            <a:spAutoFit/>
          </a:bodyPr>
          <a:lstStyle/>
          <a:p>
            <a:pPr algn="l">
              <a:lnSpc>
                <a:spcPct val="109000"/>
              </a:lnSpc>
            </a:pPr>
            <a:r>
              <a:rPr sz="2064" b="1" i="0">
                <a:solidFill>
                  <a:srgbClr val="FFD21F"/>
                </a:solidFill>
                <a:latin typeface="Roboto Mono"/>
              </a:rPr>
              <a:t>R1</a:t>
            </a:r>
          </a:p>
        </p:txBody>
      </p:sp>
      <p:sp>
        <p:nvSpPr>
          <p:cNvPr id="45" name="TextBox 44"/>
          <p:cNvSpPr txBox="1"/>
          <p:nvPr/>
        </p:nvSpPr>
        <p:spPr>
          <a:xfrm>
            <a:off x="5675263" y="6035725"/>
            <a:ext cx="1735497" cy="390525"/>
          </a:xfrm>
          <a:prstGeom prst="rect">
            <a:avLst/>
          </a:prstGeom>
          <a:noFill/>
        </p:spPr>
        <p:txBody>
          <a:bodyPr wrap="none" lIns="0" rIns="0" tIns="0" bIns="0" anchor="t">
            <a:spAutoFit/>
          </a:bodyPr>
          <a:lstStyle/>
          <a:p>
            <a:pPr algn="l">
              <a:lnSpc>
                <a:spcPct val="101600"/>
              </a:lnSpc>
            </a:pPr>
            <a:r>
              <a:rPr sz="2400" b="1" i="0">
                <a:solidFill>
                  <a:srgbClr val="F3F7FC"/>
                </a:solidFill>
                <a:latin typeface="Montserrat"/>
              </a:rPr>
              <a:t>· 24 pares</a:t>
            </a:r>
          </a:p>
        </p:txBody>
      </p:sp>
      <p:sp>
        <p:nvSpPr>
          <p:cNvPr id="46" name="TextBox 45"/>
          <p:cNvSpPr txBox="1"/>
          <p:nvPr/>
        </p:nvSpPr>
        <p:spPr>
          <a:xfrm>
            <a:off x="981075" y="6831806"/>
            <a:ext cx="1558576"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Embeddings</a:t>
            </a:r>
          </a:p>
        </p:txBody>
      </p:sp>
      <p:sp>
        <p:nvSpPr>
          <p:cNvPr id="47" name="TextBox 46"/>
          <p:cNvSpPr txBox="1"/>
          <p:nvPr/>
        </p:nvSpPr>
        <p:spPr>
          <a:xfrm>
            <a:off x="16035742" y="6787009"/>
            <a:ext cx="1271183"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70,83%</a:t>
            </a:r>
          </a:p>
        </p:txBody>
      </p:sp>
      <p:sp>
        <p:nvSpPr>
          <p:cNvPr id="48" name="TextBox 47"/>
          <p:cNvSpPr txBox="1"/>
          <p:nvPr/>
        </p:nvSpPr>
        <p:spPr>
          <a:xfrm>
            <a:off x="981075" y="7634288"/>
            <a:ext cx="880920"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TF-IDF</a:t>
            </a:r>
          </a:p>
        </p:txBody>
      </p:sp>
      <p:sp>
        <p:nvSpPr>
          <p:cNvPr id="49" name="TextBox 48"/>
          <p:cNvSpPr txBox="1"/>
          <p:nvPr/>
        </p:nvSpPr>
        <p:spPr>
          <a:xfrm>
            <a:off x="16035742" y="7589490"/>
            <a:ext cx="1271183"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33,33%</a:t>
            </a:r>
          </a:p>
        </p:txBody>
      </p:sp>
      <p:sp>
        <p:nvSpPr>
          <p:cNvPr id="50" name="TextBox 49"/>
          <p:cNvSpPr txBox="1"/>
          <p:nvPr/>
        </p:nvSpPr>
        <p:spPr>
          <a:xfrm>
            <a:off x="981075" y="8436769"/>
            <a:ext cx="184693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Cross-encoder</a:t>
            </a:r>
          </a:p>
        </p:txBody>
      </p:sp>
      <p:sp>
        <p:nvSpPr>
          <p:cNvPr id="51" name="TextBox 50"/>
          <p:cNvSpPr txBox="1"/>
          <p:nvPr/>
        </p:nvSpPr>
        <p:spPr>
          <a:xfrm>
            <a:off x="16231517" y="8391971"/>
            <a:ext cx="1075408"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4,17%</a:t>
            </a:r>
          </a:p>
        </p:txBody>
      </p:sp>
      <p:sp>
        <p:nvSpPr>
          <p:cNvPr id="52" name="TextBox 51"/>
          <p:cNvSpPr txBox="1"/>
          <p:nvPr/>
        </p:nvSpPr>
        <p:spPr>
          <a:xfrm>
            <a:off x="723900" y="9347895"/>
            <a:ext cx="17920853"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Tasa de falsos positivos. Esta es exactamente la variabilidad de criterio que el planteamiento del problema identifica: confundir dos variantes casi idénticas del mismo producto.</a:t>
            </a:r>
          </a:p>
        </p:txBody>
      </p:sp>
      <p:sp>
        <p:nvSpPr>
          <p:cNvPr id="53" name="TextBox 52"/>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54" name="TextBox 53"/>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39</a:t>
            </a:r>
          </a:p>
        </p:txBody>
      </p:sp>
      <p:sp>
        <p:nvSpPr>
          <p:cNvPr id="55" name="TextBox 54"/>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40</a:t>
            </a:r>
          </a:p>
        </p:txBody>
      </p:sp>
      <p:sp>
        <p:nvSpPr>
          <p:cNvPr id="56" name="TextBox 55"/>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41</a:t>
            </a:r>
          </a:p>
        </p:txBody>
      </p:sp>
      <p:sp>
        <p:nvSpPr>
          <p:cNvPr id="57" name="TextBox 56"/>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42</a:t>
            </a:r>
          </a:p>
        </p:txBody>
      </p:sp>
      <p:sp>
        <p:nvSpPr>
          <p:cNvPr id="58" name="TextBox 57"/>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2428875" y="2846040"/>
            <a:ext cx="7505700" cy="2168426"/>
          </a:xfrm>
          <a:prstGeom prst="rect">
            <a:avLst/>
          </a:prstGeom>
          <a:solidFill>
            <a:srgbClr val="FFD21F">
              <a:alpha val="14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0048875" y="2846040"/>
            <a:ext cx="7505700" cy="2168426"/>
          </a:xfrm>
          <a:prstGeom prst="rect">
            <a:avLst/>
          </a:prstGeom>
          <a:solidFill>
            <a:srgbClr val="8F3B52">
              <a:alpha val="18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428875" y="5128766"/>
            <a:ext cx="7505700" cy="2168426"/>
          </a:xfrm>
          <a:prstGeom prst="rect">
            <a:avLst/>
          </a:prstGeom>
          <a:solidFill>
            <a:srgbClr val="8F3B52">
              <a:alpha val="18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0048875" y="5128766"/>
            <a:ext cx="7505700" cy="2168426"/>
          </a:xfrm>
          <a:prstGeom prst="rect">
            <a:avLst/>
          </a:prstGeom>
          <a:solidFill>
            <a:srgbClr val="0B5EA8">
              <a:alpha val="20000"/>
            </a:srgbClr>
          </a:solidFill>
          <a:ln w="19050">
            <a:solidFill>
              <a:srgbClr val="0B5EA8">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33425" y="7430542"/>
            <a:ext cx="4105275" cy="1803053"/>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967288" y="7425779"/>
            <a:ext cx="4114800" cy="1812578"/>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05912" y="7425779"/>
            <a:ext cx="4114800" cy="1812578"/>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3444538" y="7425779"/>
            <a:ext cx="4114800" cy="1812578"/>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92492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825288"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830050" y="9944100"/>
            <a:ext cx="30759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47304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81075" y="1663750"/>
            <a:ext cx="6757529"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04 / 05</a:t>
            </a:r>
          </a:p>
        </p:txBody>
      </p:sp>
      <p:sp>
        <p:nvSpPr>
          <p:cNvPr id="27" name="TextBox 26"/>
          <p:cNvSpPr txBox="1"/>
          <p:nvPr/>
        </p:nvSpPr>
        <p:spPr>
          <a:xfrm>
            <a:off x="981075" y="1885652"/>
            <a:ext cx="13118271"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 matriz de confusión del cross-encoder sobre el test</a:t>
            </a:r>
          </a:p>
        </p:txBody>
      </p:sp>
      <p:sp>
        <p:nvSpPr>
          <p:cNvPr id="28" name="TextBox 27"/>
          <p:cNvSpPr txBox="1"/>
          <p:nvPr/>
        </p:nvSpPr>
        <p:spPr>
          <a:xfrm>
            <a:off x="4484805" y="2502188"/>
            <a:ext cx="3393841" cy="259080"/>
          </a:xfrm>
          <a:prstGeom prst="rect">
            <a:avLst/>
          </a:prstGeom>
          <a:noFill/>
        </p:spPr>
        <p:txBody>
          <a:bodyPr wrap="none" lIns="0" rIns="0" tIns="0" bIns="0" anchor="t">
            <a:spAutoFit/>
          </a:bodyPr>
          <a:lstStyle/>
          <a:p>
            <a:pPr algn="ctr">
              <a:lnSpc>
                <a:spcPct val="100000"/>
              </a:lnSpc>
            </a:pPr>
            <a:r>
              <a:rPr sz="1575" b="1" i="0" spc="78">
                <a:solidFill>
                  <a:srgbClr val="9AB3CD"/>
                </a:solidFill>
                <a:latin typeface="Barlow"/>
              </a:rPr>
              <a:t>PREDICHO: CORRESPONDENCIA</a:t>
            </a:r>
          </a:p>
        </p:txBody>
      </p:sp>
      <p:sp>
        <p:nvSpPr>
          <p:cNvPr id="29" name="TextBox 28"/>
          <p:cNvSpPr txBox="1"/>
          <p:nvPr/>
        </p:nvSpPr>
        <p:spPr>
          <a:xfrm>
            <a:off x="12188065" y="2502188"/>
            <a:ext cx="3227320" cy="259080"/>
          </a:xfrm>
          <a:prstGeom prst="rect">
            <a:avLst/>
          </a:prstGeom>
          <a:noFill/>
        </p:spPr>
        <p:txBody>
          <a:bodyPr wrap="none" lIns="0" rIns="0" tIns="0" bIns="0" anchor="t">
            <a:spAutoFit/>
          </a:bodyPr>
          <a:lstStyle/>
          <a:p>
            <a:pPr algn="ctr">
              <a:lnSpc>
                <a:spcPct val="100000"/>
              </a:lnSpc>
            </a:pPr>
            <a:r>
              <a:rPr sz="1575" b="1" i="0" spc="78">
                <a:solidFill>
                  <a:srgbClr val="9AB3CD"/>
                </a:solidFill>
                <a:latin typeface="Barlow"/>
              </a:rPr>
              <a:t>PREDICHO: NO CORRESPONDE</a:t>
            </a:r>
          </a:p>
        </p:txBody>
      </p:sp>
      <p:sp>
        <p:nvSpPr>
          <p:cNvPr id="30" name="TextBox 29"/>
          <p:cNvSpPr txBox="1"/>
          <p:nvPr/>
        </p:nvSpPr>
        <p:spPr>
          <a:xfrm>
            <a:off x="723900" y="3586401"/>
            <a:ext cx="1535006" cy="499110"/>
          </a:xfrm>
          <a:prstGeom prst="rect">
            <a:avLst/>
          </a:prstGeom>
          <a:noFill/>
        </p:spPr>
        <p:txBody>
          <a:bodyPr wrap="square" lIns="0" rIns="0" tIns="0" bIns="0" anchor="t">
            <a:spAutoFit/>
          </a:bodyPr>
          <a:lstStyle/>
          <a:p>
            <a:pPr algn="l">
              <a:lnSpc>
                <a:spcPct val="100000"/>
              </a:lnSpc>
            </a:pPr>
            <a:r>
              <a:rPr sz="1575" b="1" i="0" spc="78">
                <a:solidFill>
                  <a:srgbClr val="9AB3CD"/>
                </a:solidFill>
                <a:latin typeface="Barlow"/>
              </a:rPr>
              <a:t>REAL: CORRESPONDE</a:t>
            </a:r>
          </a:p>
        </p:txBody>
      </p:sp>
      <p:sp>
        <p:nvSpPr>
          <p:cNvPr id="31" name="TextBox 30"/>
          <p:cNvSpPr txBox="1"/>
          <p:nvPr/>
        </p:nvSpPr>
        <p:spPr>
          <a:xfrm>
            <a:off x="723900" y="4063603"/>
            <a:ext cx="832860" cy="228600"/>
          </a:xfrm>
          <a:prstGeom prst="rect">
            <a:avLst/>
          </a:prstGeom>
          <a:noFill/>
        </p:spPr>
        <p:txBody>
          <a:bodyPr wrap="none" lIns="0" rIns="0" tIns="0" bIns="0" anchor="t">
            <a:spAutoFit/>
          </a:bodyPr>
          <a:lstStyle/>
          <a:p>
            <a:pPr algn="l">
              <a:lnSpc>
                <a:spcPct val="100000"/>
              </a:lnSpc>
            </a:pPr>
            <a:r>
              <a:rPr sz="1350" b="0" i="0">
                <a:solidFill>
                  <a:srgbClr val="6D8FB2"/>
                </a:solidFill>
                <a:latin typeface="Barlow"/>
              </a:rPr>
              <a:t>231 pares</a:t>
            </a:r>
          </a:p>
        </p:txBody>
      </p:sp>
      <p:sp>
        <p:nvSpPr>
          <p:cNvPr id="32" name="TextBox 31"/>
          <p:cNvSpPr txBox="1"/>
          <p:nvPr/>
        </p:nvSpPr>
        <p:spPr>
          <a:xfrm>
            <a:off x="5699820" y="3434953"/>
            <a:ext cx="1136166" cy="723900"/>
          </a:xfrm>
          <a:prstGeom prst="rect">
            <a:avLst/>
          </a:prstGeom>
          <a:noFill/>
        </p:spPr>
        <p:txBody>
          <a:bodyPr wrap="none" lIns="0" rIns="0" tIns="0" bIns="0" anchor="t">
            <a:spAutoFit/>
          </a:bodyPr>
          <a:lstStyle/>
          <a:p>
            <a:pPr algn="l">
              <a:lnSpc>
                <a:spcPct val="83300"/>
              </a:lnSpc>
            </a:pPr>
            <a:r>
              <a:rPr sz="4650" b="1" i="0">
                <a:solidFill>
                  <a:srgbClr val="FFD21F"/>
                </a:solidFill>
                <a:latin typeface="Barlow"/>
              </a:rPr>
              <a:t>222</a:t>
            </a:r>
          </a:p>
        </p:txBody>
      </p:sp>
      <p:sp>
        <p:nvSpPr>
          <p:cNvPr id="33" name="TextBox 32"/>
          <p:cNvSpPr txBox="1"/>
          <p:nvPr/>
        </p:nvSpPr>
        <p:spPr>
          <a:xfrm>
            <a:off x="4896928" y="4139803"/>
            <a:ext cx="2569595" cy="247650"/>
          </a:xfrm>
          <a:prstGeom prst="rect">
            <a:avLst/>
          </a:prstGeom>
          <a:noFill/>
        </p:spPr>
        <p:txBody>
          <a:bodyPr wrap="none" lIns="0" rIns="0" tIns="0" bIns="0" anchor="t">
            <a:spAutoFit/>
          </a:bodyPr>
          <a:lstStyle/>
          <a:p>
            <a:pPr algn="ctr">
              <a:lnSpc>
                <a:spcPct val="100000"/>
              </a:lnSpc>
            </a:pPr>
            <a:r>
              <a:rPr sz="1500" b="1" i="0" spc="75">
                <a:solidFill>
                  <a:srgbClr val="9AB3CD"/>
                </a:solidFill>
                <a:latin typeface="Barlow"/>
              </a:rPr>
              <a:t>VERDADEROS POSITIVOS</a:t>
            </a:r>
          </a:p>
        </p:txBody>
      </p:sp>
      <p:sp>
        <p:nvSpPr>
          <p:cNvPr id="34" name="TextBox 33"/>
          <p:cNvSpPr txBox="1"/>
          <p:nvPr/>
        </p:nvSpPr>
        <p:spPr>
          <a:xfrm>
            <a:off x="13640991" y="3434953"/>
            <a:ext cx="442276" cy="723900"/>
          </a:xfrm>
          <a:prstGeom prst="rect">
            <a:avLst/>
          </a:prstGeom>
          <a:noFill/>
        </p:spPr>
        <p:txBody>
          <a:bodyPr wrap="none" lIns="0" rIns="0" tIns="0" bIns="0" anchor="t">
            <a:spAutoFit/>
          </a:bodyPr>
          <a:lstStyle/>
          <a:p>
            <a:pPr algn="l">
              <a:lnSpc>
                <a:spcPct val="83300"/>
              </a:lnSpc>
            </a:pPr>
            <a:r>
              <a:rPr sz="4650" b="1" i="0">
                <a:solidFill>
                  <a:srgbClr val="E2758F"/>
                </a:solidFill>
                <a:latin typeface="Barlow"/>
              </a:rPr>
              <a:t>9</a:t>
            </a:r>
          </a:p>
        </p:txBody>
      </p:sp>
      <p:sp>
        <p:nvSpPr>
          <p:cNvPr id="35" name="TextBox 34"/>
          <p:cNvSpPr txBox="1"/>
          <p:nvPr/>
        </p:nvSpPr>
        <p:spPr>
          <a:xfrm>
            <a:off x="12765107" y="4139803"/>
            <a:ext cx="2073086" cy="247650"/>
          </a:xfrm>
          <a:prstGeom prst="rect">
            <a:avLst/>
          </a:prstGeom>
          <a:noFill/>
        </p:spPr>
        <p:txBody>
          <a:bodyPr wrap="none" lIns="0" rIns="0" tIns="0" bIns="0" anchor="t">
            <a:spAutoFit/>
          </a:bodyPr>
          <a:lstStyle/>
          <a:p>
            <a:pPr algn="ctr">
              <a:lnSpc>
                <a:spcPct val="100000"/>
              </a:lnSpc>
            </a:pPr>
            <a:r>
              <a:rPr sz="1500" b="1" i="0" spc="75">
                <a:solidFill>
                  <a:srgbClr val="9AB3CD"/>
                </a:solidFill>
                <a:latin typeface="Barlow"/>
              </a:rPr>
              <a:t>FALSOS NEGATIVOS</a:t>
            </a:r>
          </a:p>
        </p:txBody>
      </p:sp>
      <p:sp>
        <p:nvSpPr>
          <p:cNvPr id="36" name="TextBox 35"/>
          <p:cNvSpPr txBox="1"/>
          <p:nvPr/>
        </p:nvSpPr>
        <p:spPr>
          <a:xfrm>
            <a:off x="723900" y="5869126"/>
            <a:ext cx="1535006" cy="499110"/>
          </a:xfrm>
          <a:prstGeom prst="rect">
            <a:avLst/>
          </a:prstGeom>
          <a:noFill/>
        </p:spPr>
        <p:txBody>
          <a:bodyPr wrap="square" lIns="0" rIns="0" tIns="0" bIns="0" anchor="t">
            <a:spAutoFit/>
          </a:bodyPr>
          <a:lstStyle/>
          <a:p>
            <a:pPr algn="l">
              <a:lnSpc>
                <a:spcPct val="100000"/>
              </a:lnSpc>
            </a:pPr>
            <a:r>
              <a:rPr sz="1575" b="1" i="0" spc="78">
                <a:solidFill>
                  <a:srgbClr val="9AB3CD"/>
                </a:solidFill>
                <a:latin typeface="Barlow"/>
              </a:rPr>
              <a:t>REAL: NO CORRESPONDE</a:t>
            </a:r>
          </a:p>
        </p:txBody>
      </p:sp>
      <p:sp>
        <p:nvSpPr>
          <p:cNvPr id="37" name="TextBox 36"/>
          <p:cNvSpPr txBox="1"/>
          <p:nvPr/>
        </p:nvSpPr>
        <p:spPr>
          <a:xfrm>
            <a:off x="723900" y="6346329"/>
            <a:ext cx="801999" cy="228600"/>
          </a:xfrm>
          <a:prstGeom prst="rect">
            <a:avLst/>
          </a:prstGeom>
          <a:noFill/>
        </p:spPr>
        <p:txBody>
          <a:bodyPr wrap="none" lIns="0" rIns="0" tIns="0" bIns="0" anchor="t">
            <a:spAutoFit/>
          </a:bodyPr>
          <a:lstStyle/>
          <a:p>
            <a:pPr algn="l">
              <a:lnSpc>
                <a:spcPct val="100000"/>
              </a:lnSpc>
            </a:pPr>
            <a:r>
              <a:rPr sz="1350" b="0" i="0">
                <a:solidFill>
                  <a:srgbClr val="6D8FB2"/>
                </a:solidFill>
                <a:latin typeface="Barlow"/>
              </a:rPr>
              <a:t>113 pares</a:t>
            </a:r>
          </a:p>
        </p:txBody>
      </p:sp>
      <p:sp>
        <p:nvSpPr>
          <p:cNvPr id="38" name="TextBox 37"/>
          <p:cNvSpPr txBox="1"/>
          <p:nvPr/>
        </p:nvSpPr>
        <p:spPr>
          <a:xfrm>
            <a:off x="6020991" y="5717679"/>
            <a:ext cx="442276" cy="723900"/>
          </a:xfrm>
          <a:prstGeom prst="rect">
            <a:avLst/>
          </a:prstGeom>
          <a:noFill/>
        </p:spPr>
        <p:txBody>
          <a:bodyPr wrap="none" lIns="0" rIns="0" tIns="0" bIns="0" anchor="t">
            <a:spAutoFit/>
          </a:bodyPr>
          <a:lstStyle/>
          <a:p>
            <a:pPr algn="l">
              <a:lnSpc>
                <a:spcPct val="83300"/>
              </a:lnSpc>
            </a:pPr>
            <a:r>
              <a:rPr sz="4650" b="1" i="0">
                <a:solidFill>
                  <a:srgbClr val="E2758F"/>
                </a:solidFill>
                <a:latin typeface="Barlow"/>
              </a:rPr>
              <a:t>4</a:t>
            </a:r>
          </a:p>
        </p:txBody>
      </p:sp>
      <p:sp>
        <p:nvSpPr>
          <p:cNvPr id="39" name="TextBox 38"/>
          <p:cNvSpPr txBox="1"/>
          <p:nvPr/>
        </p:nvSpPr>
        <p:spPr>
          <a:xfrm>
            <a:off x="5180945" y="6422529"/>
            <a:ext cx="2001560" cy="247650"/>
          </a:xfrm>
          <a:prstGeom prst="rect">
            <a:avLst/>
          </a:prstGeom>
          <a:noFill/>
        </p:spPr>
        <p:txBody>
          <a:bodyPr wrap="none" lIns="0" rIns="0" tIns="0" bIns="0" anchor="t">
            <a:spAutoFit/>
          </a:bodyPr>
          <a:lstStyle/>
          <a:p>
            <a:pPr algn="ctr">
              <a:lnSpc>
                <a:spcPct val="100000"/>
              </a:lnSpc>
            </a:pPr>
            <a:r>
              <a:rPr sz="1500" b="1" i="0" spc="75">
                <a:solidFill>
                  <a:srgbClr val="9AB3CD"/>
                </a:solidFill>
                <a:latin typeface="Barlow"/>
              </a:rPr>
              <a:t>FALSOS POSITIVOS</a:t>
            </a:r>
          </a:p>
        </p:txBody>
      </p:sp>
      <p:sp>
        <p:nvSpPr>
          <p:cNvPr id="40" name="TextBox 39"/>
          <p:cNvSpPr txBox="1"/>
          <p:nvPr/>
        </p:nvSpPr>
        <p:spPr>
          <a:xfrm>
            <a:off x="13319820" y="5717679"/>
            <a:ext cx="1136166" cy="723900"/>
          </a:xfrm>
          <a:prstGeom prst="rect">
            <a:avLst/>
          </a:prstGeom>
          <a:noFill/>
        </p:spPr>
        <p:txBody>
          <a:bodyPr wrap="none" lIns="0" rIns="0" tIns="0" bIns="0" anchor="t">
            <a:spAutoFit/>
          </a:bodyPr>
          <a:lstStyle/>
          <a:p>
            <a:pPr algn="l">
              <a:lnSpc>
                <a:spcPct val="83300"/>
              </a:lnSpc>
            </a:pPr>
            <a:r>
              <a:rPr sz="4650" b="1" i="0">
                <a:solidFill>
                  <a:srgbClr val="F3F7FC"/>
                </a:solidFill>
                <a:latin typeface="Barlow"/>
              </a:rPr>
              <a:t>109</a:t>
            </a:r>
          </a:p>
        </p:txBody>
      </p:sp>
      <p:sp>
        <p:nvSpPr>
          <p:cNvPr id="41" name="TextBox 40"/>
          <p:cNvSpPr txBox="1"/>
          <p:nvPr/>
        </p:nvSpPr>
        <p:spPr>
          <a:xfrm>
            <a:off x="12481090" y="6422529"/>
            <a:ext cx="2641122" cy="247650"/>
          </a:xfrm>
          <a:prstGeom prst="rect">
            <a:avLst/>
          </a:prstGeom>
          <a:noFill/>
        </p:spPr>
        <p:txBody>
          <a:bodyPr wrap="none" lIns="0" rIns="0" tIns="0" bIns="0" anchor="t">
            <a:spAutoFit/>
          </a:bodyPr>
          <a:lstStyle/>
          <a:p>
            <a:pPr algn="ctr">
              <a:lnSpc>
                <a:spcPct val="100000"/>
              </a:lnSpc>
            </a:pPr>
            <a:r>
              <a:rPr sz="1500" b="1" i="0" spc="75">
                <a:solidFill>
                  <a:srgbClr val="9AB3CD"/>
                </a:solidFill>
                <a:latin typeface="Barlow"/>
              </a:rPr>
              <a:t>VERDADEROS NEGATIVOS</a:t>
            </a:r>
          </a:p>
        </p:txBody>
      </p:sp>
      <p:sp>
        <p:nvSpPr>
          <p:cNvPr id="42" name="TextBox 41"/>
          <p:cNvSpPr txBox="1"/>
          <p:nvPr/>
        </p:nvSpPr>
        <p:spPr>
          <a:xfrm>
            <a:off x="2087612" y="7993856"/>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0,998844</a:t>
            </a:r>
          </a:p>
        </p:txBody>
      </p:sp>
      <p:sp>
        <p:nvSpPr>
          <p:cNvPr id="43" name="TextBox 42"/>
          <p:cNvSpPr txBox="1"/>
          <p:nvPr/>
        </p:nvSpPr>
        <p:spPr>
          <a:xfrm>
            <a:off x="1199727" y="8412956"/>
            <a:ext cx="3172670"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UMBRAL FIJADO EN VALIDACIÓN</a:t>
            </a:r>
          </a:p>
        </p:txBody>
      </p:sp>
      <p:sp>
        <p:nvSpPr>
          <p:cNvPr id="44" name="TextBox 43"/>
          <p:cNvSpPr txBox="1"/>
          <p:nvPr/>
        </p:nvSpPr>
        <p:spPr>
          <a:xfrm>
            <a:off x="6744742" y="7993856"/>
            <a:ext cx="69977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344</a:t>
            </a:r>
          </a:p>
        </p:txBody>
      </p:sp>
      <p:sp>
        <p:nvSpPr>
          <p:cNvPr id="45" name="TextBox 44"/>
          <p:cNvSpPr txBox="1"/>
          <p:nvPr/>
        </p:nvSpPr>
        <p:spPr>
          <a:xfrm>
            <a:off x="6234470" y="8412956"/>
            <a:ext cx="158043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PARES DE TEST</a:t>
            </a:r>
          </a:p>
        </p:txBody>
      </p:sp>
      <p:sp>
        <p:nvSpPr>
          <p:cNvPr id="46" name="TextBox 45"/>
          <p:cNvSpPr txBox="1"/>
          <p:nvPr/>
        </p:nvSpPr>
        <p:spPr>
          <a:xfrm>
            <a:off x="10855523" y="7993856"/>
            <a:ext cx="975914"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3,5 %</a:t>
            </a:r>
          </a:p>
        </p:txBody>
      </p:sp>
      <p:sp>
        <p:nvSpPr>
          <p:cNvPr id="47" name="TextBox 46"/>
          <p:cNvSpPr txBox="1"/>
          <p:nvPr/>
        </p:nvSpPr>
        <p:spPr>
          <a:xfrm>
            <a:off x="10004715" y="8412956"/>
            <a:ext cx="251719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TASA DE FALSO POSITIVO</a:t>
            </a:r>
          </a:p>
        </p:txBody>
      </p:sp>
      <p:sp>
        <p:nvSpPr>
          <p:cNvPr id="48" name="TextBox 47"/>
          <p:cNvSpPr txBox="1"/>
          <p:nvPr/>
        </p:nvSpPr>
        <p:spPr>
          <a:xfrm>
            <a:off x="15094148" y="7993856"/>
            <a:ext cx="975914"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3,9 %</a:t>
            </a:r>
          </a:p>
        </p:txBody>
      </p:sp>
      <p:sp>
        <p:nvSpPr>
          <p:cNvPr id="49" name="TextBox 48"/>
          <p:cNvSpPr txBox="1"/>
          <p:nvPr/>
        </p:nvSpPr>
        <p:spPr>
          <a:xfrm>
            <a:off x="14209270" y="8412956"/>
            <a:ext cx="258518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TASA DE FALSO NEGATIVO</a:t>
            </a:r>
          </a:p>
        </p:txBody>
      </p:sp>
      <p:sp>
        <p:nvSpPr>
          <p:cNvPr id="50" name="TextBox 49"/>
          <p:cNvSpPr txBox="1"/>
          <p:nvPr/>
        </p:nvSpPr>
        <p:spPr>
          <a:xfrm>
            <a:off x="723900" y="9347895"/>
            <a:ext cx="17871186" cy="285750"/>
          </a:xfrm>
          <a:prstGeom prst="rect">
            <a:avLst/>
          </a:prstGeom>
          <a:noFill/>
        </p:spPr>
        <p:txBody>
          <a:bodyPr wrap="none" lIns="0" rIns="0" tIns="0" bIns="0" anchor="t">
            <a:spAutoFit/>
          </a:bodyPr>
          <a:lstStyle/>
          <a:p>
            <a:pPr algn="l">
              <a:lnSpc>
                <a:spcPct val="100000"/>
              </a:lnSpc>
            </a:pPr>
            <a:r>
              <a:rPr sz="1725" b="0" i="0">
                <a:solidFill>
                  <a:srgbClr val="9AB3CD"/>
                </a:solidFill>
                <a:latin typeface="Barlow"/>
              </a:rPr>
              <a:t>El umbral se fijó sobre validación y se aplicó sin retocar al test — es la única forma de que la cifra signifique algo. Los 4 falsos positivos son los cuatro títulos de la lámina anterior.</a:t>
            </a:r>
          </a:p>
        </p:txBody>
      </p:sp>
      <p:sp>
        <p:nvSpPr>
          <p:cNvPr id="51" name="TextBox 50"/>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52" name="TextBox 51"/>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39</a:t>
            </a:r>
          </a:p>
        </p:txBody>
      </p:sp>
      <p:sp>
        <p:nvSpPr>
          <p:cNvPr id="53" name="TextBox 52"/>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40</a:t>
            </a:r>
          </a:p>
        </p:txBody>
      </p:sp>
      <p:sp>
        <p:nvSpPr>
          <p:cNvPr id="54" name="TextBox 5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41</a:t>
            </a:r>
          </a:p>
        </p:txBody>
      </p:sp>
      <p:sp>
        <p:nvSpPr>
          <p:cNvPr id="55" name="TextBox 54"/>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42</a:t>
            </a:r>
          </a:p>
        </p:txBody>
      </p:sp>
      <p:sp>
        <p:nvSpPr>
          <p:cNvPr id="56" name="TextBox 55"/>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467624"/>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53038" y="3141315"/>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257800" y="3146078"/>
            <a:ext cx="10001250"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253038" y="4285208"/>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5257800" y="4289971"/>
            <a:ext cx="9181058"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53038" y="5429101"/>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57800" y="5433864"/>
            <a:ext cx="8230939"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253038" y="6572994"/>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257800" y="6577757"/>
            <a:ext cx="8781008"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253038" y="7853065"/>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57800" y="7857827"/>
            <a:ext cx="820043"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310991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311467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01503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01980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920162"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24925"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825288" y="9720262"/>
            <a:ext cx="2828925"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830050" y="9944100"/>
            <a:ext cx="2819400"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4730412" y="9720262"/>
            <a:ext cx="2828925"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735175" y="9944100"/>
            <a:ext cx="307596"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81075" y="1663750"/>
            <a:ext cx="6742581"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EVALUACIÓN CON MÉTRICAS DE CLASIFICACIÓN · 05 / 05</a:t>
            </a:r>
          </a:p>
        </p:txBody>
      </p:sp>
      <p:sp>
        <p:nvSpPr>
          <p:cNvPr id="31" name="TextBox 30"/>
          <p:cNvSpPr txBox="1"/>
          <p:nvPr/>
        </p:nvSpPr>
        <p:spPr>
          <a:xfrm>
            <a:off x="981075" y="1885652"/>
            <a:ext cx="1171956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El techo que ningún reordenador puede superar</a:t>
            </a:r>
          </a:p>
        </p:txBody>
      </p:sp>
      <p:sp>
        <p:nvSpPr>
          <p:cNvPr id="32" name="TextBox 31"/>
          <p:cNvSpPr txBox="1"/>
          <p:nvPr/>
        </p:nvSpPr>
        <p:spPr>
          <a:xfrm>
            <a:off x="981075" y="3057525"/>
            <a:ext cx="2136577"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Consultas de test</a:t>
            </a:r>
          </a:p>
        </p:txBody>
      </p:sp>
      <p:sp>
        <p:nvSpPr>
          <p:cNvPr id="33" name="TextBox 32"/>
          <p:cNvSpPr txBox="1"/>
          <p:nvPr/>
        </p:nvSpPr>
        <p:spPr>
          <a:xfrm>
            <a:off x="981075" y="3339405"/>
            <a:ext cx="2220480"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publicaciones a resolver</a:t>
            </a:r>
          </a:p>
        </p:txBody>
      </p:sp>
      <p:sp>
        <p:nvSpPr>
          <p:cNvPr id="34" name="TextBox 33"/>
          <p:cNvSpPr txBox="1"/>
          <p:nvPr/>
        </p:nvSpPr>
        <p:spPr>
          <a:xfrm>
            <a:off x="16624030" y="3117503"/>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147</a:t>
            </a:r>
          </a:p>
        </p:txBody>
      </p:sp>
      <p:sp>
        <p:nvSpPr>
          <p:cNvPr id="35" name="TextBox 34"/>
          <p:cNvSpPr txBox="1"/>
          <p:nvPr/>
        </p:nvSpPr>
        <p:spPr>
          <a:xfrm>
            <a:off x="981075" y="4065240"/>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Con el producto correcto dentro del pool</a:t>
            </a:r>
          </a:p>
        </p:txBody>
      </p:sp>
      <p:sp>
        <p:nvSpPr>
          <p:cNvPr id="36" name="TextBox 35"/>
          <p:cNvSpPr txBox="1"/>
          <p:nvPr/>
        </p:nvSpPr>
        <p:spPr>
          <a:xfrm>
            <a:off x="981075" y="4619476"/>
            <a:ext cx="271827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techo del recuperador · 91,8 %</a:t>
            </a:r>
          </a:p>
        </p:txBody>
      </p:sp>
      <p:sp>
        <p:nvSpPr>
          <p:cNvPr id="37" name="TextBox 36"/>
          <p:cNvSpPr txBox="1"/>
          <p:nvPr/>
        </p:nvSpPr>
        <p:spPr>
          <a:xfrm>
            <a:off x="16624030" y="4261396"/>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135</a:t>
            </a:r>
          </a:p>
        </p:txBody>
      </p:sp>
      <p:sp>
        <p:nvSpPr>
          <p:cNvPr id="38" name="TextBox 37"/>
          <p:cNvSpPr txBox="1"/>
          <p:nvPr/>
        </p:nvSpPr>
        <p:spPr>
          <a:xfrm>
            <a:off x="981075" y="5345311"/>
            <a:ext cx="3687342"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Acertadas en primera posición</a:t>
            </a:r>
          </a:p>
        </p:txBody>
      </p:sp>
      <p:sp>
        <p:nvSpPr>
          <p:cNvPr id="39" name="TextBox 38"/>
          <p:cNvSpPr txBox="1"/>
          <p:nvPr/>
        </p:nvSpPr>
        <p:spPr>
          <a:xfrm>
            <a:off x="981075" y="5627191"/>
            <a:ext cx="1591044"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Recall@1 · 82,3 %</a:t>
            </a:r>
          </a:p>
        </p:txBody>
      </p:sp>
      <p:sp>
        <p:nvSpPr>
          <p:cNvPr id="40" name="TextBox 39"/>
          <p:cNvSpPr txBox="1"/>
          <p:nvPr/>
        </p:nvSpPr>
        <p:spPr>
          <a:xfrm>
            <a:off x="16624030" y="5405289"/>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121</a:t>
            </a:r>
          </a:p>
        </p:txBody>
      </p:sp>
      <p:sp>
        <p:nvSpPr>
          <p:cNvPr id="41" name="TextBox 40"/>
          <p:cNvSpPr txBox="1"/>
          <p:nvPr/>
        </p:nvSpPr>
        <p:spPr>
          <a:xfrm>
            <a:off x="981075" y="6353026"/>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Acertadas dentro de las cinco primeras</a:t>
            </a:r>
          </a:p>
        </p:txBody>
      </p:sp>
      <p:sp>
        <p:nvSpPr>
          <p:cNvPr id="42" name="TextBox 41"/>
          <p:cNvSpPr txBox="1"/>
          <p:nvPr/>
        </p:nvSpPr>
        <p:spPr>
          <a:xfrm>
            <a:off x="981075" y="6907262"/>
            <a:ext cx="1604385"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Recall@5 · 87,8 %</a:t>
            </a:r>
          </a:p>
        </p:txBody>
      </p:sp>
      <p:sp>
        <p:nvSpPr>
          <p:cNvPr id="43" name="TextBox 42"/>
          <p:cNvSpPr txBox="1"/>
          <p:nvPr/>
        </p:nvSpPr>
        <p:spPr>
          <a:xfrm>
            <a:off x="16624030" y="6549182"/>
            <a:ext cx="682895"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129</a:t>
            </a:r>
          </a:p>
        </p:txBody>
      </p:sp>
      <p:sp>
        <p:nvSpPr>
          <p:cNvPr id="44" name="TextBox 43"/>
          <p:cNvSpPr txBox="1"/>
          <p:nvPr/>
        </p:nvSpPr>
        <p:spPr>
          <a:xfrm>
            <a:off x="981075" y="7633097"/>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Imposibles: la verdad nunca entró al pool</a:t>
            </a:r>
          </a:p>
        </p:txBody>
      </p:sp>
      <p:sp>
        <p:nvSpPr>
          <p:cNvPr id="45" name="TextBox 44"/>
          <p:cNvSpPr txBox="1"/>
          <p:nvPr/>
        </p:nvSpPr>
        <p:spPr>
          <a:xfrm>
            <a:off x="981075" y="8187333"/>
            <a:ext cx="3403806"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el reordenador no puede recuperarlas</a:t>
            </a:r>
          </a:p>
        </p:txBody>
      </p:sp>
      <p:sp>
        <p:nvSpPr>
          <p:cNvPr id="46" name="TextBox 45"/>
          <p:cNvSpPr txBox="1"/>
          <p:nvPr/>
        </p:nvSpPr>
        <p:spPr>
          <a:xfrm>
            <a:off x="16819805" y="7829252"/>
            <a:ext cx="487120"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12</a:t>
            </a:r>
          </a:p>
        </p:txBody>
      </p:sp>
      <p:sp>
        <p:nvSpPr>
          <p:cNvPr id="47" name="TextBox 46"/>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De los 26 fallos de primera posición, 12 son irrecuperables: el candidato correcto nunca llegó a la lista. Mejorar el reordenador no los arregla — hay que ensanchar la recuperación. MRR 0,8515.</a:t>
            </a:r>
          </a:p>
        </p:txBody>
      </p:sp>
      <p:sp>
        <p:nvSpPr>
          <p:cNvPr id="48" name="TextBox 47"/>
          <p:cNvSpPr txBox="1"/>
          <p:nvPr/>
        </p:nvSpPr>
        <p:spPr>
          <a:xfrm>
            <a:off x="1366093" y="9766935"/>
            <a:ext cx="1176832"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EVALUACIÓN</a:t>
            </a:r>
          </a:p>
        </p:txBody>
      </p:sp>
      <p:sp>
        <p:nvSpPr>
          <p:cNvPr id="49" name="TextBox 48"/>
          <p:cNvSpPr txBox="1"/>
          <p:nvPr/>
        </p:nvSpPr>
        <p:spPr>
          <a:xfrm>
            <a:off x="444653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39</a:t>
            </a:r>
          </a:p>
        </p:txBody>
      </p:sp>
      <p:sp>
        <p:nvSpPr>
          <p:cNvPr id="50" name="TextBox 49"/>
          <p:cNvSpPr txBox="1"/>
          <p:nvPr/>
        </p:nvSpPr>
        <p:spPr>
          <a:xfrm>
            <a:off x="735166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40</a:t>
            </a:r>
          </a:p>
        </p:txBody>
      </p:sp>
      <p:sp>
        <p:nvSpPr>
          <p:cNvPr id="51" name="TextBox 50"/>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41</a:t>
            </a:r>
          </a:p>
        </p:txBody>
      </p:sp>
      <p:sp>
        <p:nvSpPr>
          <p:cNvPr id="52" name="TextBox 51"/>
          <p:cNvSpPr txBox="1"/>
          <p:nvPr/>
        </p:nvSpPr>
        <p:spPr>
          <a:xfrm>
            <a:off x="131619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42</a:t>
            </a:r>
          </a:p>
        </p:txBody>
      </p:sp>
      <p:sp>
        <p:nvSpPr>
          <p:cNvPr id="53" name="TextBox 52"/>
          <p:cNvSpPr txBox="1"/>
          <p:nvPr/>
        </p:nvSpPr>
        <p:spPr>
          <a:xfrm>
            <a:off x="1606703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897076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47738" y="4853732"/>
            <a:ext cx="5089475" cy="1797695"/>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42975" y="7008614"/>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47738" y="8127802"/>
            <a:ext cx="5089475" cy="44767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2503140"/>
            <a:ext cx="553715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2503140"/>
            <a:ext cx="5537150" cy="762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897076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75350"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902976"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599188" y="4853732"/>
            <a:ext cx="5089475" cy="1797695"/>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594425" y="7008614"/>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99188" y="8127802"/>
            <a:ext cx="5089475" cy="447675"/>
          </a:xfrm>
          <a:prstGeom prst="rect">
            <a:avLst/>
          </a:prstGeom>
          <a:no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26801" y="2503140"/>
            <a:ext cx="5537150" cy="6477149"/>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26801"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2026801" y="8970764"/>
            <a:ext cx="553715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26801"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7554426" y="2503140"/>
            <a:ext cx="9525" cy="6477149"/>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2250638" y="4853732"/>
            <a:ext cx="5089475" cy="1797695"/>
          </a:xfrm>
          <a:prstGeom prst="rect">
            <a:avLst/>
          </a:prstGeom>
          <a:solidFill>
            <a:srgbClr val="07172D">
              <a:alpha val="60000"/>
            </a:srgbClr>
          </a:solidFill>
          <a:ln w="9525">
            <a:solidFill>
              <a:srgbClr val="6D8FB2">
                <a:alpha val="60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2245876" y="7008614"/>
            <a:ext cx="5099000" cy="9525"/>
          </a:xfrm>
          <a:prstGeom prst="rect">
            <a:avLst/>
          </a:prstGeom>
          <a:solidFill>
            <a:srgbClr val="6D8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2250638" y="8127802"/>
            <a:ext cx="5089475" cy="447675"/>
          </a:xfrm>
          <a:prstGeom prst="rect">
            <a:avLst/>
          </a:prstGeom>
          <a:noFill/>
          <a:ln w="9525">
            <a:solidFill>
              <a:srgbClr val="FFD21F">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3109912" y="9720262"/>
            <a:ext cx="3555206"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3114675" y="9944100"/>
            <a:ext cx="38683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741319"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0372725"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4004131"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81075" y="1663750"/>
            <a:ext cx="492355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EVIDENCIA FUERA DEL DATASET · 01 / 04</a:t>
            </a:r>
          </a:p>
        </p:txBody>
      </p:sp>
      <p:sp>
        <p:nvSpPr>
          <p:cNvPr id="39" name="TextBox 38"/>
          <p:cNvSpPr txBox="1"/>
          <p:nvPr/>
        </p:nvSpPr>
        <p:spPr>
          <a:xfrm>
            <a:off x="981075" y="1885652"/>
            <a:ext cx="1470070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Gold externo: los tres modelos sobre datos que nunca vieron</a:t>
            </a:r>
          </a:p>
        </p:txBody>
      </p:sp>
      <p:sp>
        <p:nvSpPr>
          <p:cNvPr id="40" name="TextBox 39"/>
          <p:cNvSpPr txBox="1"/>
          <p:nvPr/>
        </p:nvSpPr>
        <p:spPr>
          <a:xfrm>
            <a:off x="942975" y="2722215"/>
            <a:ext cx="822252"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M1</a:t>
            </a:r>
          </a:p>
        </p:txBody>
      </p:sp>
      <p:sp>
        <p:nvSpPr>
          <p:cNvPr id="41" name="TextBox 40"/>
          <p:cNvSpPr txBox="1"/>
          <p:nvPr/>
        </p:nvSpPr>
        <p:spPr>
          <a:xfrm>
            <a:off x="942975" y="3764756"/>
            <a:ext cx="1202549" cy="381000"/>
          </a:xfrm>
          <a:prstGeom prst="rect">
            <a:avLst/>
          </a:prstGeom>
          <a:noFill/>
        </p:spPr>
        <p:txBody>
          <a:bodyPr wrap="none" lIns="0" rIns="0" tIns="0" bIns="0" anchor="t">
            <a:spAutoFit/>
          </a:bodyPr>
          <a:lstStyle/>
          <a:p>
            <a:pPr algn="l">
              <a:lnSpc>
                <a:spcPct val="85000"/>
              </a:lnSpc>
            </a:pPr>
            <a:r>
              <a:rPr sz="2325" b="1" i="0">
                <a:solidFill>
                  <a:srgbClr val="F3F7FC"/>
                </a:solidFill>
                <a:latin typeface="Montserrat"/>
              </a:rPr>
              <a:t>TF-IDF</a:t>
            </a:r>
          </a:p>
        </p:txBody>
      </p:sp>
      <p:sp>
        <p:nvSpPr>
          <p:cNvPr id="42" name="TextBox 41"/>
          <p:cNvSpPr txBox="1"/>
          <p:nvPr/>
        </p:nvSpPr>
        <p:spPr>
          <a:xfrm>
            <a:off x="1123950" y="5603022"/>
            <a:ext cx="4424148"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Recupera por n-gramas de caracteres</a:t>
            </a:r>
          </a:p>
        </p:txBody>
      </p:sp>
      <p:sp>
        <p:nvSpPr>
          <p:cNvPr id="43" name="TextBox 42"/>
          <p:cNvSpPr txBox="1"/>
          <p:nvPr/>
        </p:nvSpPr>
        <p:spPr>
          <a:xfrm>
            <a:off x="942975" y="7056239"/>
            <a:ext cx="1250448"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0,615</a:t>
            </a:r>
          </a:p>
        </p:txBody>
      </p:sp>
      <p:sp>
        <p:nvSpPr>
          <p:cNvPr id="44" name="TextBox 43"/>
          <p:cNvSpPr txBox="1"/>
          <p:nvPr/>
        </p:nvSpPr>
        <p:spPr>
          <a:xfrm>
            <a:off x="942975" y="7560112"/>
            <a:ext cx="1213961"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a:t>
            </a:r>
          </a:p>
        </p:txBody>
      </p:sp>
      <p:sp>
        <p:nvSpPr>
          <p:cNvPr id="45" name="TextBox 44"/>
          <p:cNvSpPr txBox="1"/>
          <p:nvPr/>
        </p:nvSpPr>
        <p:spPr>
          <a:xfrm>
            <a:off x="2118271" y="8218289"/>
            <a:ext cx="3063532" cy="285750"/>
          </a:xfrm>
          <a:prstGeom prst="rect">
            <a:avLst/>
          </a:prstGeom>
          <a:noFill/>
        </p:spPr>
        <p:txBody>
          <a:bodyPr wrap="none" lIns="0" rIns="0" tIns="0" bIns="0" anchor="t">
            <a:spAutoFit/>
          </a:bodyPr>
          <a:lstStyle/>
          <a:p>
            <a:pPr algn="l">
              <a:lnSpc>
                <a:spcPct val="100000"/>
              </a:lnSpc>
            </a:pPr>
            <a:r>
              <a:rPr sz="1725" b="1" i="0" spc="138">
                <a:solidFill>
                  <a:srgbClr val="FFD21F"/>
                </a:solidFill>
                <a:latin typeface="Barlow"/>
              </a:rPr>
              <a:t>R@5 0,8638 · MRR 0,7315</a:t>
            </a:r>
          </a:p>
        </p:txBody>
      </p:sp>
      <p:sp>
        <p:nvSpPr>
          <p:cNvPr id="46" name="TextBox 45"/>
          <p:cNvSpPr txBox="1"/>
          <p:nvPr/>
        </p:nvSpPr>
        <p:spPr>
          <a:xfrm>
            <a:off x="6594425" y="2722215"/>
            <a:ext cx="926086" cy="619125"/>
          </a:xfrm>
          <a:prstGeom prst="rect">
            <a:avLst/>
          </a:prstGeom>
          <a:noFill/>
        </p:spPr>
        <p:txBody>
          <a:bodyPr wrap="none" lIns="0" rIns="0" tIns="0" bIns="0" anchor="t">
            <a:spAutoFit/>
          </a:bodyPr>
          <a:lstStyle/>
          <a:p>
            <a:pPr algn="l">
              <a:lnSpc>
                <a:spcPct val="93300"/>
              </a:lnSpc>
            </a:pPr>
            <a:r>
              <a:rPr sz="3900" b="1" i="0">
                <a:solidFill>
                  <a:srgbClr val="E2758F"/>
                </a:solidFill>
                <a:latin typeface="Montserrat"/>
              </a:rPr>
              <a:t>M2</a:t>
            </a:r>
          </a:p>
        </p:txBody>
      </p:sp>
      <p:sp>
        <p:nvSpPr>
          <p:cNvPr id="47" name="TextBox 46"/>
          <p:cNvSpPr txBox="1"/>
          <p:nvPr/>
        </p:nvSpPr>
        <p:spPr>
          <a:xfrm>
            <a:off x="6594425" y="3764756"/>
            <a:ext cx="2237678" cy="381000"/>
          </a:xfrm>
          <a:prstGeom prst="rect">
            <a:avLst/>
          </a:prstGeom>
          <a:noFill/>
        </p:spPr>
        <p:txBody>
          <a:bodyPr wrap="none" lIns="0" rIns="0" tIns="0" bIns="0" anchor="t">
            <a:spAutoFit/>
          </a:bodyPr>
          <a:lstStyle/>
          <a:p>
            <a:pPr algn="l">
              <a:lnSpc>
                <a:spcPct val="85000"/>
              </a:lnSpc>
            </a:pPr>
            <a:r>
              <a:rPr sz="2325" b="1" i="0">
                <a:solidFill>
                  <a:srgbClr val="F3F7FC"/>
                </a:solidFill>
                <a:latin typeface="Montserrat"/>
              </a:rPr>
              <a:t>Embeddings</a:t>
            </a:r>
          </a:p>
        </p:txBody>
      </p:sp>
      <p:sp>
        <p:nvSpPr>
          <p:cNvPr id="48" name="TextBox 47"/>
          <p:cNvSpPr txBox="1"/>
          <p:nvPr/>
        </p:nvSpPr>
        <p:spPr>
          <a:xfrm>
            <a:off x="6775400" y="5603022"/>
            <a:ext cx="3754529"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Compara sentido, no caracteres</a:t>
            </a:r>
          </a:p>
        </p:txBody>
      </p:sp>
      <p:sp>
        <p:nvSpPr>
          <p:cNvPr id="49" name="TextBox 48"/>
          <p:cNvSpPr txBox="1"/>
          <p:nvPr/>
        </p:nvSpPr>
        <p:spPr>
          <a:xfrm>
            <a:off x="6594425" y="7056239"/>
            <a:ext cx="1250448" cy="542925"/>
          </a:xfrm>
          <a:prstGeom prst="rect">
            <a:avLst/>
          </a:prstGeom>
          <a:noFill/>
        </p:spPr>
        <p:txBody>
          <a:bodyPr wrap="none" lIns="0" rIns="0" tIns="0" bIns="0" anchor="t">
            <a:spAutoFit/>
          </a:bodyPr>
          <a:lstStyle/>
          <a:p>
            <a:pPr algn="l">
              <a:lnSpc>
                <a:spcPct val="83300"/>
              </a:lnSpc>
            </a:pPr>
            <a:r>
              <a:rPr sz="3450" b="1" i="0">
                <a:solidFill>
                  <a:srgbClr val="E2758F"/>
                </a:solidFill>
                <a:latin typeface="Barlow"/>
              </a:rPr>
              <a:t>0,183</a:t>
            </a:r>
          </a:p>
        </p:txBody>
      </p:sp>
      <p:sp>
        <p:nvSpPr>
          <p:cNvPr id="50" name="TextBox 49"/>
          <p:cNvSpPr txBox="1"/>
          <p:nvPr/>
        </p:nvSpPr>
        <p:spPr>
          <a:xfrm>
            <a:off x="6594425" y="7560112"/>
            <a:ext cx="1213961"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a:t>
            </a:r>
          </a:p>
        </p:txBody>
      </p:sp>
      <p:sp>
        <p:nvSpPr>
          <p:cNvPr id="51" name="TextBox 50"/>
          <p:cNvSpPr txBox="1"/>
          <p:nvPr/>
        </p:nvSpPr>
        <p:spPr>
          <a:xfrm>
            <a:off x="7739211" y="8218289"/>
            <a:ext cx="3129433" cy="285750"/>
          </a:xfrm>
          <a:prstGeom prst="rect">
            <a:avLst/>
          </a:prstGeom>
          <a:noFill/>
        </p:spPr>
        <p:txBody>
          <a:bodyPr wrap="none" lIns="0" rIns="0" tIns="0" bIns="0" anchor="t">
            <a:spAutoFit/>
          </a:bodyPr>
          <a:lstStyle/>
          <a:p>
            <a:pPr algn="l">
              <a:lnSpc>
                <a:spcPct val="100000"/>
              </a:lnSpc>
            </a:pPr>
            <a:r>
              <a:rPr sz="1725" b="1" i="0" spc="138">
                <a:solidFill>
                  <a:srgbClr val="E2758F"/>
                </a:solidFill>
                <a:latin typeface="Barlow"/>
              </a:rPr>
              <a:t>R@5 0,3380 · MRR 0,2566</a:t>
            </a:r>
          </a:p>
        </p:txBody>
      </p:sp>
      <p:sp>
        <p:nvSpPr>
          <p:cNvPr id="52" name="TextBox 51"/>
          <p:cNvSpPr txBox="1"/>
          <p:nvPr/>
        </p:nvSpPr>
        <p:spPr>
          <a:xfrm>
            <a:off x="12245876" y="2722215"/>
            <a:ext cx="928176" cy="619125"/>
          </a:xfrm>
          <a:prstGeom prst="rect">
            <a:avLst/>
          </a:prstGeom>
          <a:noFill/>
        </p:spPr>
        <p:txBody>
          <a:bodyPr wrap="none" lIns="0" rIns="0" tIns="0" bIns="0" anchor="t">
            <a:spAutoFit/>
          </a:bodyPr>
          <a:lstStyle/>
          <a:p>
            <a:pPr algn="l">
              <a:lnSpc>
                <a:spcPct val="93300"/>
              </a:lnSpc>
            </a:pPr>
            <a:r>
              <a:rPr sz="3900" b="1" i="0">
                <a:solidFill>
                  <a:srgbClr val="FFD21F"/>
                </a:solidFill>
                <a:latin typeface="Montserrat"/>
              </a:rPr>
              <a:t>M3</a:t>
            </a:r>
          </a:p>
        </p:txBody>
      </p:sp>
      <p:sp>
        <p:nvSpPr>
          <p:cNvPr id="53" name="TextBox 52"/>
          <p:cNvSpPr txBox="1"/>
          <p:nvPr/>
        </p:nvSpPr>
        <p:spPr>
          <a:xfrm>
            <a:off x="12245876" y="3764756"/>
            <a:ext cx="3605046" cy="381000"/>
          </a:xfrm>
          <a:prstGeom prst="rect">
            <a:avLst/>
          </a:prstGeom>
          <a:noFill/>
        </p:spPr>
        <p:txBody>
          <a:bodyPr wrap="none" lIns="0" rIns="0" tIns="0" bIns="0" anchor="t">
            <a:spAutoFit/>
          </a:bodyPr>
          <a:lstStyle/>
          <a:p>
            <a:pPr algn="l">
              <a:lnSpc>
                <a:spcPct val="85000"/>
              </a:lnSpc>
            </a:pPr>
            <a:r>
              <a:rPr sz="2325" b="1" i="0">
                <a:solidFill>
                  <a:srgbClr val="F3F7FC"/>
                </a:solidFill>
                <a:latin typeface="Montserrat"/>
              </a:rPr>
              <a:t>Unión + reordenador</a:t>
            </a:r>
          </a:p>
        </p:txBody>
      </p:sp>
      <p:sp>
        <p:nvSpPr>
          <p:cNvPr id="54" name="TextBox 53"/>
          <p:cNvSpPr txBox="1"/>
          <p:nvPr/>
        </p:nvSpPr>
        <p:spPr>
          <a:xfrm>
            <a:off x="12426851" y="5603022"/>
            <a:ext cx="2924818" cy="316230"/>
          </a:xfrm>
          <a:prstGeom prst="rect">
            <a:avLst/>
          </a:prstGeom>
          <a:noFill/>
        </p:spPr>
        <p:txBody>
          <a:bodyPr wrap="none" lIns="0" rIns="0" tIns="0" bIns="0" anchor="t">
            <a:spAutoFit/>
          </a:bodyPr>
          <a:lstStyle/>
          <a:p>
            <a:pPr algn="l">
              <a:lnSpc>
                <a:spcPct val="100000"/>
              </a:lnSpc>
            </a:pPr>
            <a:r>
              <a:rPr sz="1950" b="0" i="0">
                <a:solidFill>
                  <a:srgbClr val="F3F7FC"/>
                </a:solidFill>
                <a:latin typeface="Barlow"/>
              </a:rPr>
              <a:t>Lee los dos textos juntos</a:t>
            </a:r>
          </a:p>
        </p:txBody>
      </p:sp>
      <p:sp>
        <p:nvSpPr>
          <p:cNvPr id="55" name="TextBox 54"/>
          <p:cNvSpPr txBox="1"/>
          <p:nvPr/>
        </p:nvSpPr>
        <p:spPr>
          <a:xfrm>
            <a:off x="12245876" y="7056239"/>
            <a:ext cx="1250448" cy="542925"/>
          </a:xfrm>
          <a:prstGeom prst="rect">
            <a:avLst/>
          </a:prstGeom>
          <a:noFill/>
        </p:spPr>
        <p:txBody>
          <a:bodyPr wrap="none" lIns="0" rIns="0" tIns="0" bIns="0" anchor="t">
            <a:spAutoFit/>
          </a:bodyPr>
          <a:lstStyle/>
          <a:p>
            <a:pPr algn="l">
              <a:lnSpc>
                <a:spcPct val="83300"/>
              </a:lnSpc>
            </a:pPr>
            <a:r>
              <a:rPr sz="3450" b="1" i="0">
                <a:solidFill>
                  <a:srgbClr val="FFD21F"/>
                </a:solidFill>
                <a:latin typeface="Barlow"/>
              </a:rPr>
              <a:t>0,615</a:t>
            </a:r>
          </a:p>
        </p:txBody>
      </p:sp>
      <p:sp>
        <p:nvSpPr>
          <p:cNvPr id="56" name="TextBox 55"/>
          <p:cNvSpPr txBox="1"/>
          <p:nvPr/>
        </p:nvSpPr>
        <p:spPr>
          <a:xfrm>
            <a:off x="12245876" y="7560112"/>
            <a:ext cx="1213961" cy="259080"/>
          </a:xfrm>
          <a:prstGeom prst="rect">
            <a:avLst/>
          </a:prstGeom>
          <a:noFill/>
        </p:spPr>
        <p:txBody>
          <a:bodyPr wrap="none" lIns="0" rIns="0" tIns="0" bIns="0" anchor="t">
            <a:spAutoFit/>
          </a:bodyPr>
          <a:lstStyle/>
          <a:p>
            <a:pPr algn="l">
              <a:lnSpc>
                <a:spcPct val="100000"/>
              </a:lnSpc>
            </a:pPr>
            <a:r>
              <a:rPr sz="1575" b="1" i="0" spc="78">
                <a:solidFill>
                  <a:srgbClr val="9AB3CD"/>
                </a:solidFill>
                <a:latin typeface="Barlow"/>
              </a:rPr>
              <a:t>RECALL@1</a:t>
            </a:r>
          </a:p>
        </p:txBody>
      </p:sp>
      <p:sp>
        <p:nvSpPr>
          <p:cNvPr id="57" name="TextBox 56"/>
          <p:cNvSpPr txBox="1"/>
          <p:nvPr/>
        </p:nvSpPr>
        <p:spPr>
          <a:xfrm>
            <a:off x="13399740" y="8218289"/>
            <a:ext cx="3109823" cy="285750"/>
          </a:xfrm>
          <a:prstGeom prst="rect">
            <a:avLst/>
          </a:prstGeom>
          <a:noFill/>
        </p:spPr>
        <p:txBody>
          <a:bodyPr wrap="none" lIns="0" rIns="0" tIns="0" bIns="0" anchor="t">
            <a:spAutoFit/>
          </a:bodyPr>
          <a:lstStyle/>
          <a:p>
            <a:pPr algn="l">
              <a:lnSpc>
                <a:spcPct val="100000"/>
              </a:lnSpc>
            </a:pPr>
            <a:r>
              <a:rPr sz="1725" b="1" i="0" spc="138">
                <a:solidFill>
                  <a:srgbClr val="FFD21F"/>
                </a:solidFill>
                <a:latin typeface="Barlow"/>
              </a:rPr>
              <a:t>R@5 0,8357 · MRR 0,7025</a:t>
            </a:r>
          </a:p>
        </p:txBody>
      </p:sp>
      <p:sp>
        <p:nvSpPr>
          <p:cNvPr id="58" name="TextBox 57"/>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213 consultas anotadas a mano, fuera del entrenamiento. Bootstrap pareado de 10.000 muestras: la diferencia entre M1 y M3 en Recall@1 es </a:t>
            </a:r>
            <a:r>
              <a:rPr sz="1725" b="1" i="0">
                <a:solidFill>
                  <a:srgbClr val="9AB3CD"/>
                </a:solidFill>
                <a:latin typeface="Barlow"/>
              </a:rPr>
              <a:t>exactamente 0,0</a:t>
            </a:r>
            <a:r>
              <a:rPr sz="1725" b="0" i="0">
                <a:solidFill>
                  <a:srgbClr val="9AB3CD"/>
                </a:solidFill>
                <a:latin typeface="Barlow"/>
              </a:rPr>
              <a:t>, IC 95 % [−0,047; +0,047], p = 1,0. El reordenador no mejora la recuperación aquí; su aporte es decidir </a:t>
            </a:r>
            <a:r>
              <a:rPr sz="1725" b="0" i="1">
                <a:solidFill>
                  <a:srgbClr val="9AB3CD"/>
                </a:solidFill>
                <a:latin typeface="Barlow"/>
              </a:rPr>
              <a:t>cuándo</a:t>
            </a:r>
            <a:r>
              <a:rPr sz="1725" b="0" i="0">
                <a:solidFill>
                  <a:srgbClr val="9AB3CD"/>
                </a:solidFill>
                <a:latin typeface="Barlow"/>
              </a:rPr>
              <a:t> automatizar.</a:t>
            </a:r>
          </a:p>
        </p:txBody>
      </p:sp>
      <p:sp>
        <p:nvSpPr>
          <p:cNvPr id="59" name="TextBox 58"/>
          <p:cNvSpPr txBox="1"/>
          <p:nvPr/>
        </p:nvSpPr>
        <p:spPr>
          <a:xfrm>
            <a:off x="1045518" y="9766935"/>
            <a:ext cx="1869275"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EVIDENCIA EXTERNA</a:t>
            </a:r>
          </a:p>
        </p:txBody>
      </p:sp>
      <p:sp>
        <p:nvSpPr>
          <p:cNvPr id="60" name="TextBox 59"/>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44</a:t>
            </a:r>
          </a:p>
        </p:txBody>
      </p:sp>
      <p:sp>
        <p:nvSpPr>
          <p:cNvPr id="61" name="TextBox 60"/>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45</a:t>
            </a:r>
          </a:p>
        </p:txBody>
      </p:sp>
      <p:sp>
        <p:nvSpPr>
          <p:cNvPr id="62" name="TextBox 61"/>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46</a:t>
            </a:r>
          </a:p>
        </p:txBody>
      </p:sp>
      <p:sp>
        <p:nvSpPr>
          <p:cNvPr id="63" name="TextBox 62"/>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3095030"/>
            <a:ext cx="16840200" cy="959346"/>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3095030"/>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044851"/>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3095030"/>
            <a:ext cx="76200" cy="959346"/>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3095030"/>
            <a:ext cx="9525" cy="959346"/>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28662" y="419248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67288" y="419248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05912" y="419248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3449300" y="4197251"/>
            <a:ext cx="4105275" cy="8858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23900" y="6390680"/>
            <a:ext cx="16840200" cy="959346"/>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3900" y="6390680"/>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7340501"/>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6390680"/>
            <a:ext cx="76200" cy="959346"/>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7554575" y="6390680"/>
            <a:ext cx="9525" cy="959346"/>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8662" y="748813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967288" y="7488138"/>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10675" y="7492901"/>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3449300" y="7492901"/>
            <a:ext cx="4105275" cy="8858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109912"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14675"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741319" y="9720262"/>
            <a:ext cx="3555206"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746081" y="9944100"/>
            <a:ext cx="35456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0372725"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4004131"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81075" y="1663750"/>
            <a:ext cx="497257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EVIDENCIA FUERA DEL DATASET · 02 / 04</a:t>
            </a:r>
          </a:p>
        </p:txBody>
      </p:sp>
      <p:sp>
        <p:nvSpPr>
          <p:cNvPr id="34" name="TextBox 33"/>
          <p:cNvSpPr txBox="1"/>
          <p:nvPr/>
        </p:nvSpPr>
        <p:spPr>
          <a:xfrm>
            <a:off x="981075" y="1885652"/>
            <a:ext cx="13774710"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Bélgica: dos publicaciones reales y lo que el sistema hizo</a:t>
            </a:r>
          </a:p>
        </p:txBody>
      </p:sp>
      <p:sp>
        <p:nvSpPr>
          <p:cNvPr id="35" name="TextBox 34"/>
          <p:cNvSpPr txBox="1"/>
          <p:nvPr/>
        </p:nvSpPr>
        <p:spPr>
          <a:xfrm>
            <a:off x="1028700" y="3276005"/>
            <a:ext cx="3799695"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COOLBLUEBE · PUBLICADO TAL CUAL</a:t>
            </a:r>
          </a:p>
        </p:txBody>
      </p:sp>
      <p:sp>
        <p:nvSpPr>
          <p:cNvPr id="36" name="TextBox 35"/>
          <p:cNvSpPr txBox="1"/>
          <p:nvPr/>
        </p:nvSpPr>
        <p:spPr>
          <a:xfrm>
            <a:off x="1028700" y="3552230"/>
            <a:ext cx="6676037"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Ambilight 43" PUS8550 QLED (2025)</a:t>
            </a:r>
          </a:p>
        </p:txBody>
      </p:sp>
      <p:sp>
        <p:nvSpPr>
          <p:cNvPr id="37" name="TextBox 36"/>
          <p:cNvSpPr txBox="1"/>
          <p:nvPr/>
        </p:nvSpPr>
        <p:spPr>
          <a:xfrm>
            <a:off x="1646486" y="4302026"/>
            <a:ext cx="2556575"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43PUS8550/12</a:t>
            </a:r>
          </a:p>
        </p:txBody>
      </p:sp>
      <p:sp>
        <p:nvSpPr>
          <p:cNvPr id="38" name="TextBox 37"/>
          <p:cNvSpPr txBox="1"/>
          <p:nvPr/>
        </p:nvSpPr>
        <p:spPr>
          <a:xfrm>
            <a:off x="1756350" y="4721126"/>
            <a:ext cx="2059424"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CANDIDATO ELEGIDO</a:t>
            </a:r>
          </a:p>
        </p:txBody>
      </p:sp>
      <p:sp>
        <p:nvSpPr>
          <p:cNvPr id="39" name="TextBox 38"/>
          <p:cNvSpPr txBox="1"/>
          <p:nvPr/>
        </p:nvSpPr>
        <p:spPr>
          <a:xfrm>
            <a:off x="6326237" y="4302026"/>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0,994589</a:t>
            </a:r>
          </a:p>
        </p:txBody>
      </p:sp>
      <p:sp>
        <p:nvSpPr>
          <p:cNvPr id="40" name="TextBox 39"/>
          <p:cNvSpPr txBox="1"/>
          <p:nvPr/>
        </p:nvSpPr>
        <p:spPr>
          <a:xfrm>
            <a:off x="6657207" y="4721126"/>
            <a:ext cx="73481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SCORE</a:t>
            </a:r>
          </a:p>
        </p:txBody>
      </p:sp>
      <p:sp>
        <p:nvSpPr>
          <p:cNvPr id="41" name="TextBox 40"/>
          <p:cNvSpPr txBox="1"/>
          <p:nvPr/>
        </p:nvSpPr>
        <p:spPr>
          <a:xfrm>
            <a:off x="10564862" y="4302026"/>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0,010567</a:t>
            </a:r>
          </a:p>
        </p:txBody>
      </p:sp>
      <p:sp>
        <p:nvSpPr>
          <p:cNvPr id="42" name="TextBox 41"/>
          <p:cNvSpPr txBox="1"/>
          <p:nvPr/>
        </p:nvSpPr>
        <p:spPr>
          <a:xfrm>
            <a:off x="10809030" y="4721126"/>
            <a:ext cx="90856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MARGEN</a:t>
            </a:r>
          </a:p>
        </p:txBody>
      </p:sp>
      <p:sp>
        <p:nvSpPr>
          <p:cNvPr id="43" name="TextBox 42"/>
          <p:cNvSpPr txBox="1"/>
          <p:nvPr/>
        </p:nvSpPr>
        <p:spPr>
          <a:xfrm>
            <a:off x="14858405" y="4302026"/>
            <a:ext cx="1485120"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Revisión</a:t>
            </a:r>
          </a:p>
        </p:txBody>
      </p:sp>
      <p:sp>
        <p:nvSpPr>
          <p:cNvPr id="44" name="TextBox 43"/>
          <p:cNvSpPr txBox="1"/>
          <p:nvPr/>
        </p:nvSpPr>
        <p:spPr>
          <a:xfrm>
            <a:off x="14372892" y="4721126"/>
            <a:ext cx="225809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CANDIDATO CORRECTO</a:t>
            </a:r>
          </a:p>
        </p:txBody>
      </p:sp>
      <p:sp>
        <p:nvSpPr>
          <p:cNvPr id="45" name="TextBox 44"/>
          <p:cNvSpPr txBox="1"/>
          <p:nvPr/>
        </p:nvSpPr>
        <p:spPr>
          <a:xfrm>
            <a:off x="1028700" y="6571655"/>
            <a:ext cx="4238821"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COOLBLUEBE · PUBLICACIÓN COMPUESTA</a:t>
            </a:r>
          </a:p>
        </p:txBody>
      </p:sp>
      <p:sp>
        <p:nvSpPr>
          <p:cNvPr id="46" name="TextBox 45"/>
          <p:cNvSpPr txBox="1"/>
          <p:nvPr/>
        </p:nvSpPr>
        <p:spPr>
          <a:xfrm>
            <a:off x="1028700" y="6847880"/>
            <a:ext cx="8441543"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55" PUS7800 QLED 4K (2025) + Philips TAB5309</a:t>
            </a:r>
          </a:p>
        </p:txBody>
      </p:sp>
      <p:sp>
        <p:nvSpPr>
          <p:cNvPr id="47" name="TextBox 46"/>
          <p:cNvSpPr txBox="1"/>
          <p:nvPr/>
        </p:nvSpPr>
        <p:spPr>
          <a:xfrm>
            <a:off x="1834604" y="7597676"/>
            <a:ext cx="2150239"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TAB5309/10</a:t>
            </a:r>
          </a:p>
        </p:txBody>
      </p:sp>
      <p:sp>
        <p:nvSpPr>
          <p:cNvPr id="48" name="TextBox 47"/>
          <p:cNvSpPr txBox="1"/>
          <p:nvPr/>
        </p:nvSpPr>
        <p:spPr>
          <a:xfrm>
            <a:off x="1756350" y="8016776"/>
            <a:ext cx="2059424"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CANDIDATO ELEGIDO</a:t>
            </a:r>
          </a:p>
        </p:txBody>
      </p:sp>
      <p:sp>
        <p:nvSpPr>
          <p:cNvPr id="49" name="TextBox 48"/>
          <p:cNvSpPr txBox="1"/>
          <p:nvPr/>
        </p:nvSpPr>
        <p:spPr>
          <a:xfrm>
            <a:off x="6326237" y="7597676"/>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0,996685</a:t>
            </a:r>
          </a:p>
        </p:txBody>
      </p:sp>
      <p:sp>
        <p:nvSpPr>
          <p:cNvPr id="50" name="TextBox 49"/>
          <p:cNvSpPr txBox="1"/>
          <p:nvPr/>
        </p:nvSpPr>
        <p:spPr>
          <a:xfrm>
            <a:off x="6657207" y="8016776"/>
            <a:ext cx="73481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SCORE</a:t>
            </a:r>
          </a:p>
        </p:txBody>
      </p:sp>
      <p:sp>
        <p:nvSpPr>
          <p:cNvPr id="51" name="TextBox 50"/>
          <p:cNvSpPr txBox="1"/>
          <p:nvPr/>
        </p:nvSpPr>
        <p:spPr>
          <a:xfrm>
            <a:off x="10564862" y="7597676"/>
            <a:ext cx="1603742"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0,002209</a:t>
            </a:r>
          </a:p>
        </p:txBody>
      </p:sp>
      <p:sp>
        <p:nvSpPr>
          <p:cNvPr id="52" name="TextBox 51"/>
          <p:cNvSpPr txBox="1"/>
          <p:nvPr/>
        </p:nvSpPr>
        <p:spPr>
          <a:xfrm>
            <a:off x="10809030" y="8016776"/>
            <a:ext cx="908566"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MARGEN</a:t>
            </a:r>
          </a:p>
        </p:txBody>
      </p:sp>
      <p:sp>
        <p:nvSpPr>
          <p:cNvPr id="53" name="TextBox 52"/>
          <p:cNvSpPr txBox="1"/>
          <p:nvPr/>
        </p:nvSpPr>
        <p:spPr>
          <a:xfrm>
            <a:off x="14858405" y="7597676"/>
            <a:ext cx="1485120"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Revisión</a:t>
            </a:r>
          </a:p>
        </p:txBody>
      </p:sp>
      <p:sp>
        <p:nvSpPr>
          <p:cNvPr id="54" name="TextBox 53"/>
          <p:cNvSpPr txBox="1"/>
          <p:nvPr/>
        </p:nvSpPr>
        <p:spPr>
          <a:xfrm>
            <a:off x="14968252" y="8016776"/>
            <a:ext cx="106737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GOLD: NIC</a:t>
            </a:r>
          </a:p>
        </p:txBody>
      </p:sp>
      <p:sp>
        <p:nvSpPr>
          <p:cNvPr id="55" name="TextBox 54"/>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La segunda publicación vende un televisor </a:t>
            </a:r>
            <a:r>
              <a:rPr sz="1725" b="0" i="1">
                <a:solidFill>
                  <a:srgbClr val="9AB3CD"/>
                </a:solidFill>
                <a:latin typeface="Barlow"/>
              </a:rPr>
              <a:t>y</a:t>
            </a:r>
            <a:r>
              <a:rPr sz="1725" b="0" i="0">
                <a:solidFill>
                  <a:srgbClr val="9AB3CD"/>
                </a:solidFill>
                <a:latin typeface="Barlow"/>
              </a:rPr>
              <a:t> una barra de sonido: no corresponde a un solo producto del catálogo. El score es altísimo, pero el margen de 0,0022 delata la ambigüedad y el sistema se abstiene. Se abstiene por la razón correcta.</a:t>
            </a:r>
          </a:p>
        </p:txBody>
      </p:sp>
      <p:sp>
        <p:nvSpPr>
          <p:cNvPr id="56" name="TextBox 55"/>
          <p:cNvSpPr txBox="1"/>
          <p:nvPr/>
        </p:nvSpPr>
        <p:spPr>
          <a:xfrm>
            <a:off x="1045518" y="9766935"/>
            <a:ext cx="1869275"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EVIDENCIA EXTERNA</a:t>
            </a:r>
          </a:p>
        </p:txBody>
      </p:sp>
      <p:sp>
        <p:nvSpPr>
          <p:cNvPr id="57" name="TextBox 56"/>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44</a:t>
            </a:r>
          </a:p>
        </p:txBody>
      </p:sp>
      <p:sp>
        <p:nvSpPr>
          <p:cNvPr id="58" name="TextBox 57"/>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45</a:t>
            </a:r>
          </a:p>
        </p:txBody>
      </p:sp>
      <p:sp>
        <p:nvSpPr>
          <p:cNvPr id="59" name="TextBox 58"/>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46</a:t>
            </a:r>
          </a:p>
        </p:txBody>
      </p:sp>
      <p:sp>
        <p:nvSpPr>
          <p:cNvPr id="60" name="TextBox 59"/>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967288" y="2507903"/>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210675" y="2512665"/>
            <a:ext cx="4105275" cy="8858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3449300" y="2512665"/>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8662" y="3527078"/>
            <a:ext cx="16830675" cy="5448449"/>
          </a:xfrm>
          <a:prstGeom prst="rect">
            <a:avLst/>
          </a:prstGeom>
          <a:solidFill>
            <a:srgbClr val="0D2748">
              <a:alpha val="84000"/>
            </a:srgbClr>
          </a:solidFill>
          <a:ln w="9525">
            <a:solidFill>
              <a:srgbClr val="6D8FB2">
                <a:alpha val="6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53038" y="4094113"/>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57800" y="4098875"/>
            <a:ext cx="10001250"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253038" y="5016401"/>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257800" y="5021163"/>
            <a:ext cx="9811196" cy="3429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253038" y="5938689"/>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57800" y="5943451"/>
            <a:ext cx="9621143" cy="3429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53038" y="6997154"/>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257800" y="7001917"/>
            <a:ext cx="8761065"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253038" y="8055620"/>
            <a:ext cx="10010775" cy="352425"/>
          </a:xfrm>
          <a:prstGeom prst="rect">
            <a:avLst/>
          </a:prstGeom>
          <a:solidFill>
            <a:srgbClr val="07172D">
              <a:alpha val="72000"/>
            </a:srgbClr>
          </a:solidFill>
          <a:ln w="9525">
            <a:solidFill>
              <a:srgbClr val="6D8FB2">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257800" y="8060382"/>
            <a:ext cx="8090892" cy="342900"/>
          </a:xfrm>
          <a:prstGeom prst="rect">
            <a:avLst/>
          </a:prstGeom>
          <a:solidFill>
            <a:srgbClr val="8F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109912"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3114675"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741319"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746081"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0372725" y="9720262"/>
            <a:ext cx="3555206"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0377488" y="9944100"/>
            <a:ext cx="35456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004131"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81075" y="1663750"/>
            <a:ext cx="496807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EVIDENCIA FUERA DEL DATASET · 03 / 04</a:t>
            </a:r>
          </a:p>
        </p:txBody>
      </p:sp>
      <p:sp>
        <p:nvSpPr>
          <p:cNvPr id="32" name="TextBox 31"/>
          <p:cNvSpPr txBox="1"/>
          <p:nvPr/>
        </p:nvSpPr>
        <p:spPr>
          <a:xfrm>
            <a:off x="981075" y="1885652"/>
            <a:ext cx="1372263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Benchmark multipaís v7.5: 2.365 publicaciones, 19 países</a:t>
            </a:r>
          </a:p>
        </p:txBody>
      </p:sp>
      <p:sp>
        <p:nvSpPr>
          <p:cNvPr id="33" name="TextBox 32"/>
          <p:cNvSpPr txBox="1"/>
          <p:nvPr/>
        </p:nvSpPr>
        <p:spPr>
          <a:xfrm>
            <a:off x="2366665" y="2617440"/>
            <a:ext cx="1001149"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2.365</a:t>
            </a:r>
          </a:p>
        </p:txBody>
      </p:sp>
      <p:sp>
        <p:nvSpPr>
          <p:cNvPr id="34" name="TextBox 33"/>
          <p:cNvSpPr txBox="1"/>
          <p:nvPr/>
        </p:nvSpPr>
        <p:spPr>
          <a:xfrm>
            <a:off x="1366254" y="3036540"/>
            <a:ext cx="2839468"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PUBLICACIONES EVALUADAS</a:t>
            </a:r>
          </a:p>
        </p:txBody>
      </p:sp>
      <p:sp>
        <p:nvSpPr>
          <p:cNvPr id="35" name="TextBox 34"/>
          <p:cNvSpPr txBox="1"/>
          <p:nvPr/>
        </p:nvSpPr>
        <p:spPr>
          <a:xfrm>
            <a:off x="6523583" y="2617440"/>
            <a:ext cx="1177475"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54,2 %</a:t>
            </a:r>
          </a:p>
        </p:txBody>
      </p:sp>
      <p:sp>
        <p:nvSpPr>
          <p:cNvPr id="36" name="TextBox 35"/>
          <p:cNvSpPr txBox="1"/>
          <p:nvPr/>
        </p:nvSpPr>
        <p:spPr>
          <a:xfrm>
            <a:off x="5842123" y="3036540"/>
            <a:ext cx="2364980"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AUTOMATIZADAS · 1.282</a:t>
            </a:r>
          </a:p>
        </p:txBody>
      </p:sp>
      <p:sp>
        <p:nvSpPr>
          <p:cNvPr id="37" name="TextBox 36"/>
          <p:cNvSpPr txBox="1"/>
          <p:nvPr/>
        </p:nvSpPr>
        <p:spPr>
          <a:xfrm>
            <a:off x="10762208" y="2617440"/>
            <a:ext cx="1177475"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94,5 %</a:t>
            </a:r>
          </a:p>
        </p:txBody>
      </p:sp>
      <p:sp>
        <p:nvSpPr>
          <p:cNvPr id="38" name="TextBox 37"/>
          <p:cNvSpPr txBox="1"/>
          <p:nvPr/>
        </p:nvSpPr>
        <p:spPr>
          <a:xfrm>
            <a:off x="9925479" y="3036540"/>
            <a:ext cx="2675519"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PRECISIÓN AUTOMATIZADA</a:t>
            </a:r>
          </a:p>
        </p:txBody>
      </p:sp>
      <p:sp>
        <p:nvSpPr>
          <p:cNvPr id="39" name="TextBox 38"/>
          <p:cNvSpPr txBox="1"/>
          <p:nvPr/>
        </p:nvSpPr>
        <p:spPr>
          <a:xfrm>
            <a:off x="15315307" y="2617440"/>
            <a:ext cx="498211"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70</a:t>
            </a:r>
          </a:p>
        </p:txBody>
      </p:sp>
      <p:sp>
        <p:nvSpPr>
          <p:cNvPr id="40" name="TextBox 39"/>
          <p:cNvSpPr txBox="1"/>
          <p:nvPr/>
        </p:nvSpPr>
        <p:spPr>
          <a:xfrm>
            <a:off x="14203960" y="3036540"/>
            <a:ext cx="2595955"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DESACUERDOS EXTERNOS</a:t>
            </a:r>
          </a:p>
        </p:txBody>
      </p:sp>
      <p:sp>
        <p:nvSpPr>
          <p:cNvPr id="41" name="TextBox 40"/>
          <p:cNvSpPr txBox="1"/>
          <p:nvPr/>
        </p:nvSpPr>
        <p:spPr>
          <a:xfrm>
            <a:off x="981075" y="4010323"/>
            <a:ext cx="1688128"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Kuwait · Xcite</a:t>
            </a:r>
          </a:p>
        </p:txBody>
      </p:sp>
      <p:sp>
        <p:nvSpPr>
          <p:cNvPr id="42" name="TextBox 41"/>
          <p:cNvSpPr txBox="1"/>
          <p:nvPr/>
        </p:nvSpPr>
        <p:spPr>
          <a:xfrm>
            <a:off x="981075" y="4292203"/>
            <a:ext cx="3305115"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173 consultas · 67,6 % automatizadas</a:t>
            </a:r>
          </a:p>
        </p:txBody>
      </p:sp>
      <p:sp>
        <p:nvSpPr>
          <p:cNvPr id="43" name="TextBox 42"/>
          <p:cNvSpPr txBox="1"/>
          <p:nvPr/>
        </p:nvSpPr>
        <p:spPr>
          <a:xfrm>
            <a:off x="15963733" y="4070300"/>
            <a:ext cx="1343192"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100,0 %</a:t>
            </a:r>
          </a:p>
        </p:txBody>
      </p:sp>
      <p:sp>
        <p:nvSpPr>
          <p:cNvPr id="44" name="TextBox 43"/>
          <p:cNvSpPr txBox="1"/>
          <p:nvPr/>
        </p:nvSpPr>
        <p:spPr>
          <a:xfrm>
            <a:off x="981075" y="4932611"/>
            <a:ext cx="2122753"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Sudáfrica · Makro</a:t>
            </a:r>
          </a:p>
        </p:txBody>
      </p:sp>
      <p:sp>
        <p:nvSpPr>
          <p:cNvPr id="45" name="TextBox 44"/>
          <p:cNvSpPr txBox="1"/>
          <p:nvPr/>
        </p:nvSpPr>
        <p:spPr>
          <a:xfrm>
            <a:off x="981075" y="5214491"/>
            <a:ext cx="3368606"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353 consultas · 45,3 % automatizadas</a:t>
            </a:r>
          </a:p>
        </p:txBody>
      </p:sp>
      <p:sp>
        <p:nvSpPr>
          <p:cNvPr id="46" name="TextBox 45"/>
          <p:cNvSpPr txBox="1"/>
          <p:nvPr/>
        </p:nvSpPr>
        <p:spPr>
          <a:xfrm>
            <a:off x="16159508" y="4992588"/>
            <a:ext cx="1147417"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98,1 %</a:t>
            </a:r>
          </a:p>
        </p:txBody>
      </p:sp>
      <p:sp>
        <p:nvSpPr>
          <p:cNvPr id="47" name="TextBox 46"/>
          <p:cNvSpPr txBox="1"/>
          <p:nvPr/>
        </p:nvSpPr>
        <p:spPr>
          <a:xfrm>
            <a:off x="981075" y="5854898"/>
            <a:ext cx="3893564"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Vietnam · ShopeeVN + LazadaVN</a:t>
            </a:r>
          </a:p>
        </p:txBody>
      </p:sp>
      <p:sp>
        <p:nvSpPr>
          <p:cNvPr id="48" name="TextBox 47"/>
          <p:cNvSpPr txBox="1"/>
          <p:nvPr/>
        </p:nvSpPr>
        <p:spPr>
          <a:xfrm>
            <a:off x="981075" y="6136779"/>
            <a:ext cx="3341120"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293 consultas · 62,1 % automatizadas</a:t>
            </a:r>
          </a:p>
        </p:txBody>
      </p:sp>
      <p:sp>
        <p:nvSpPr>
          <p:cNvPr id="49" name="TextBox 48"/>
          <p:cNvSpPr txBox="1"/>
          <p:nvPr/>
        </p:nvSpPr>
        <p:spPr>
          <a:xfrm>
            <a:off x="16159508" y="5914876"/>
            <a:ext cx="1147417" cy="419100"/>
          </a:xfrm>
          <a:prstGeom prst="rect">
            <a:avLst/>
          </a:prstGeom>
          <a:noFill/>
        </p:spPr>
        <p:txBody>
          <a:bodyPr wrap="none" lIns="0" rIns="0" tIns="0" bIns="0" anchor="t">
            <a:spAutoFit/>
          </a:bodyPr>
          <a:lstStyle/>
          <a:p>
            <a:pPr algn="r">
              <a:lnSpc>
                <a:spcPct val="100000"/>
              </a:lnSpc>
            </a:pPr>
            <a:r>
              <a:rPr sz="2625" b="1" i="0">
                <a:solidFill>
                  <a:srgbClr val="FFD21F"/>
                </a:solidFill>
                <a:latin typeface="Barlow"/>
              </a:rPr>
              <a:t>96,2 %</a:t>
            </a:r>
          </a:p>
        </p:txBody>
      </p:sp>
      <p:sp>
        <p:nvSpPr>
          <p:cNvPr id="50" name="TextBox 49"/>
          <p:cNvSpPr txBox="1"/>
          <p:nvPr/>
        </p:nvSpPr>
        <p:spPr>
          <a:xfrm>
            <a:off x="981075" y="6777186"/>
            <a:ext cx="4114800" cy="586680"/>
          </a:xfrm>
          <a:prstGeom prst="rect">
            <a:avLst/>
          </a:prstGeom>
          <a:noFill/>
        </p:spPr>
        <p:txBody>
          <a:bodyPr wrap="square" lIns="0" rIns="0" tIns="0" bIns="0" anchor="t">
            <a:spAutoFit/>
          </a:bodyPr>
          <a:lstStyle/>
          <a:p>
            <a:pPr algn="l">
              <a:lnSpc>
                <a:spcPct val="91700"/>
              </a:lnSpc>
            </a:pPr>
            <a:r>
              <a:rPr sz="1950" b="1" i="0">
                <a:solidFill>
                  <a:srgbClr val="F3F7FC"/>
                </a:solidFill>
                <a:latin typeface="Barlow"/>
              </a:rPr>
              <a:t>Alemania · AmazonDE + MediamarktDE</a:t>
            </a:r>
          </a:p>
        </p:txBody>
      </p:sp>
      <p:sp>
        <p:nvSpPr>
          <p:cNvPr id="51" name="TextBox 50"/>
          <p:cNvSpPr txBox="1"/>
          <p:nvPr/>
        </p:nvSpPr>
        <p:spPr>
          <a:xfrm>
            <a:off x="981075" y="7331422"/>
            <a:ext cx="2343281"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360 consultas · 23 errores</a:t>
            </a:r>
          </a:p>
        </p:txBody>
      </p:sp>
      <p:sp>
        <p:nvSpPr>
          <p:cNvPr id="52" name="TextBox 51"/>
          <p:cNvSpPr txBox="1"/>
          <p:nvPr/>
        </p:nvSpPr>
        <p:spPr>
          <a:xfrm>
            <a:off x="16159508" y="6973342"/>
            <a:ext cx="1147417"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87,6 %</a:t>
            </a:r>
          </a:p>
        </p:txBody>
      </p:sp>
      <p:sp>
        <p:nvSpPr>
          <p:cNvPr id="53" name="TextBox 52"/>
          <p:cNvSpPr txBox="1"/>
          <p:nvPr/>
        </p:nvSpPr>
        <p:spPr>
          <a:xfrm>
            <a:off x="981075" y="7971830"/>
            <a:ext cx="3368606" cy="314325"/>
          </a:xfrm>
          <a:prstGeom prst="rect">
            <a:avLst/>
          </a:prstGeom>
          <a:noFill/>
        </p:spPr>
        <p:txBody>
          <a:bodyPr wrap="none" lIns="0" rIns="0" tIns="0" bIns="0" anchor="t">
            <a:spAutoFit/>
          </a:bodyPr>
          <a:lstStyle/>
          <a:p>
            <a:pPr algn="l">
              <a:lnSpc>
                <a:spcPct val="91700"/>
              </a:lnSpc>
            </a:pPr>
            <a:r>
              <a:rPr sz="1950" b="1" i="0">
                <a:solidFill>
                  <a:srgbClr val="F3F7FC"/>
                </a:solidFill>
                <a:latin typeface="Barlow"/>
              </a:rPr>
              <a:t>Estados Unidos · AmazonUS</a:t>
            </a:r>
          </a:p>
        </p:txBody>
      </p:sp>
      <p:sp>
        <p:nvSpPr>
          <p:cNvPr id="54" name="TextBox 53"/>
          <p:cNvSpPr txBox="1"/>
          <p:nvPr/>
        </p:nvSpPr>
        <p:spPr>
          <a:xfrm>
            <a:off x="981075" y="8253710"/>
            <a:ext cx="2274487" cy="247650"/>
          </a:xfrm>
          <a:prstGeom prst="rect">
            <a:avLst/>
          </a:prstGeom>
          <a:noFill/>
        </p:spPr>
        <p:txBody>
          <a:bodyPr wrap="none" lIns="0" rIns="0" tIns="0" bIns="0" anchor="t">
            <a:spAutoFit/>
          </a:bodyPr>
          <a:lstStyle/>
          <a:p>
            <a:pPr algn="l">
              <a:lnSpc>
                <a:spcPct val="91700"/>
              </a:lnSpc>
            </a:pPr>
            <a:r>
              <a:rPr sz="1500" b="0" i="0">
                <a:solidFill>
                  <a:srgbClr val="9AB3CD"/>
                </a:solidFill>
                <a:latin typeface="Barlow"/>
              </a:rPr>
              <a:t>124 consultas · 18 errores</a:t>
            </a:r>
          </a:p>
        </p:txBody>
      </p:sp>
      <p:sp>
        <p:nvSpPr>
          <p:cNvPr id="55" name="TextBox 54"/>
          <p:cNvSpPr txBox="1"/>
          <p:nvPr/>
        </p:nvSpPr>
        <p:spPr>
          <a:xfrm>
            <a:off x="16159508" y="8031807"/>
            <a:ext cx="1147417" cy="419100"/>
          </a:xfrm>
          <a:prstGeom prst="rect">
            <a:avLst/>
          </a:prstGeom>
          <a:noFill/>
        </p:spPr>
        <p:txBody>
          <a:bodyPr wrap="none" lIns="0" rIns="0" tIns="0" bIns="0" anchor="t">
            <a:spAutoFit/>
          </a:bodyPr>
          <a:lstStyle/>
          <a:p>
            <a:pPr algn="r">
              <a:lnSpc>
                <a:spcPct val="100000"/>
              </a:lnSpc>
            </a:pPr>
            <a:r>
              <a:rPr sz="2625" b="1" i="0">
                <a:solidFill>
                  <a:srgbClr val="E2758F"/>
                </a:solidFill>
                <a:latin typeface="Barlow"/>
              </a:rPr>
              <a:t>80,9 %</a:t>
            </a:r>
          </a:p>
        </p:txBody>
      </p:sp>
      <p:sp>
        <p:nvSpPr>
          <p:cNvPr id="56" name="TextBox 55"/>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Ningún retailer de esta prueba estuvo en el entrenamiento. Los dos peores son los dos marketplaces más grandes: títulos escritos por vendedores terceros, sin código y con la marca repetida. La degradación tiene una causa identificable, no es ruido.</a:t>
            </a:r>
          </a:p>
        </p:txBody>
      </p:sp>
      <p:sp>
        <p:nvSpPr>
          <p:cNvPr id="57" name="TextBox 56"/>
          <p:cNvSpPr txBox="1"/>
          <p:nvPr/>
        </p:nvSpPr>
        <p:spPr>
          <a:xfrm>
            <a:off x="1045518" y="9766935"/>
            <a:ext cx="1869275"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EVIDENCIA EXTERNA</a:t>
            </a:r>
          </a:p>
        </p:txBody>
      </p:sp>
      <p:sp>
        <p:nvSpPr>
          <p:cNvPr id="58" name="TextBox 57"/>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44</a:t>
            </a:r>
          </a:p>
        </p:txBody>
      </p:sp>
      <p:sp>
        <p:nvSpPr>
          <p:cNvPr id="59" name="TextBox 58"/>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45</a:t>
            </a:r>
          </a:p>
        </p:txBody>
      </p:sp>
      <p:sp>
        <p:nvSpPr>
          <p:cNvPr id="60" name="TextBox 59"/>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46</a:t>
            </a:r>
          </a:p>
        </p:txBody>
      </p:sp>
      <p:sp>
        <p:nvSpPr>
          <p:cNvPr id="61" name="TextBox 60"/>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880717"/>
            <a:ext cx="16840200" cy="1387971"/>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880717"/>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259163"/>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880717"/>
            <a:ext cx="76200" cy="138797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7554575" y="2880717"/>
            <a:ext cx="9525" cy="1387971"/>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033462" y="3740051"/>
            <a:ext cx="3892600" cy="342900"/>
          </a:xfrm>
          <a:prstGeom prst="rect">
            <a:avLst/>
          </a:prstGeom>
          <a:solidFill>
            <a:srgbClr val="07172D">
              <a:alpha val="80000"/>
            </a:srgbClr>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28662" y="440680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967288" y="440680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5912" y="440680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3449300" y="4411563"/>
            <a:ext cx="4105275" cy="8858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23900" y="6176367"/>
            <a:ext cx="16840200" cy="1387971"/>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900" y="6176367"/>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7554813"/>
            <a:ext cx="16840200" cy="9525"/>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6176367"/>
            <a:ext cx="76200" cy="1387971"/>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7554575" y="6176367"/>
            <a:ext cx="9525" cy="1387971"/>
          </a:xfrm>
          <a:prstGeom prst="rect">
            <a:avLst/>
          </a:prstGeom>
          <a:solidFill>
            <a:srgbClr val="6D8FB2">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033462" y="7035701"/>
            <a:ext cx="4761458" cy="342900"/>
          </a:xfrm>
          <a:prstGeom prst="rect">
            <a:avLst/>
          </a:prstGeom>
          <a:solidFill>
            <a:srgbClr val="07172D">
              <a:alpha val="80000"/>
            </a:srgbClr>
          </a:solidFill>
          <a:ln w="9525">
            <a:solidFill>
              <a:srgbClr val="E2758F">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28662" y="770245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967288" y="7702451"/>
            <a:ext cx="4114800" cy="895350"/>
          </a:xfrm>
          <a:prstGeom prst="rect">
            <a:avLst/>
          </a:prstGeom>
          <a:solidFill>
            <a:srgbClr val="0D2748">
              <a:alpha val="84000"/>
            </a:srgbClr>
          </a:solidFill>
          <a:ln w="9525">
            <a:solidFill>
              <a:srgbClr val="6D8FB2">
                <a:alpha val="6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10675" y="7707213"/>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3449300" y="7707213"/>
            <a:ext cx="4105275" cy="885825"/>
          </a:xfrm>
          <a:prstGeom prst="rect">
            <a:avLst/>
          </a:prstGeom>
          <a:solidFill>
            <a:srgbClr val="8F3B52">
              <a:alpha val="16000"/>
            </a:srgbClr>
          </a:solidFill>
          <a:ln w="19050">
            <a:solidFill>
              <a:srgbClr val="8F3B5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09912"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14675"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741319"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746081"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10372725" y="9720262"/>
            <a:ext cx="3555206"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0377488" y="9944100"/>
            <a:ext cx="3545681"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4004131" y="9720262"/>
            <a:ext cx="3555206"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4008894" y="9944100"/>
            <a:ext cx="35456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81075" y="1663750"/>
            <a:ext cx="4982861"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EVIDENCIA FUERA DEL DATASET · 04 / 04</a:t>
            </a:r>
          </a:p>
        </p:txBody>
      </p:sp>
      <p:sp>
        <p:nvSpPr>
          <p:cNvPr id="38" name="TextBox 37"/>
          <p:cNvSpPr txBox="1"/>
          <p:nvPr/>
        </p:nvSpPr>
        <p:spPr>
          <a:xfrm>
            <a:off x="981075" y="1885652"/>
            <a:ext cx="14245018"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Con código y sin código: el mismo sistema, dos desenlaces</a:t>
            </a:r>
          </a:p>
        </p:txBody>
      </p:sp>
      <p:sp>
        <p:nvSpPr>
          <p:cNvPr id="39" name="TextBox 38"/>
          <p:cNvSpPr txBox="1"/>
          <p:nvPr/>
        </p:nvSpPr>
        <p:spPr>
          <a:xfrm>
            <a:off x="1028700" y="3061692"/>
            <a:ext cx="4603528"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AMAZONDE · ALEMANIA · RETAILER NO VISTO</a:t>
            </a:r>
          </a:p>
        </p:txBody>
      </p:sp>
      <p:sp>
        <p:nvSpPr>
          <p:cNvPr id="40" name="TextBox 39"/>
          <p:cNvSpPr txBox="1"/>
          <p:nvPr/>
        </p:nvSpPr>
        <p:spPr>
          <a:xfrm>
            <a:off x="1028700" y="3337917"/>
            <a:ext cx="13898636"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TV Philips 32PFS5603/12 80 cm (32 Zoll) Full-HD Fernseher (Triple Tuner), Weiß</a:t>
            </a:r>
          </a:p>
        </p:txBody>
      </p:sp>
      <p:sp>
        <p:nvSpPr>
          <p:cNvPr id="41" name="TextBox 40"/>
          <p:cNvSpPr txBox="1"/>
          <p:nvPr/>
        </p:nvSpPr>
        <p:spPr>
          <a:xfrm>
            <a:off x="1133475" y="3792438"/>
            <a:ext cx="4083231" cy="257175"/>
          </a:xfrm>
          <a:prstGeom prst="rect">
            <a:avLst/>
          </a:prstGeom>
          <a:noFill/>
        </p:spPr>
        <p:txBody>
          <a:bodyPr wrap="none" lIns="0" rIns="0" tIns="0" bIns="0" anchor="t">
            <a:spAutoFit/>
          </a:bodyPr>
          <a:lstStyle/>
          <a:p>
            <a:pPr algn="l">
              <a:lnSpc>
                <a:spcPct val="100000"/>
              </a:lnSpc>
            </a:pPr>
            <a:r>
              <a:rPr sz="1425" b="1" i="0">
                <a:solidFill>
                  <a:srgbClr val="FFD21F"/>
                </a:solidFill>
                <a:latin typeface="Roboto Mono"/>
              </a:rPr>
              <a:t>el título lleva el código completo</a:t>
            </a:r>
          </a:p>
        </p:txBody>
      </p:sp>
      <p:sp>
        <p:nvSpPr>
          <p:cNvPr id="42" name="TextBox 41"/>
          <p:cNvSpPr txBox="1"/>
          <p:nvPr/>
        </p:nvSpPr>
        <p:spPr>
          <a:xfrm>
            <a:off x="1658392" y="4516338"/>
            <a:ext cx="2531019"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32PFS5603/12</a:t>
            </a:r>
          </a:p>
        </p:txBody>
      </p:sp>
      <p:sp>
        <p:nvSpPr>
          <p:cNvPr id="43" name="TextBox 42"/>
          <p:cNvSpPr txBox="1"/>
          <p:nvPr/>
        </p:nvSpPr>
        <p:spPr>
          <a:xfrm>
            <a:off x="2327606" y="4935438"/>
            <a:ext cx="91676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ELEGIDO</a:t>
            </a:r>
          </a:p>
        </p:txBody>
      </p:sp>
      <p:sp>
        <p:nvSpPr>
          <p:cNvPr id="44" name="TextBox 43"/>
          <p:cNvSpPr txBox="1"/>
          <p:nvPr/>
        </p:nvSpPr>
        <p:spPr>
          <a:xfrm>
            <a:off x="6326237" y="4516338"/>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0,999573</a:t>
            </a:r>
          </a:p>
        </p:txBody>
      </p:sp>
      <p:sp>
        <p:nvSpPr>
          <p:cNvPr id="45" name="TextBox 44"/>
          <p:cNvSpPr txBox="1"/>
          <p:nvPr/>
        </p:nvSpPr>
        <p:spPr>
          <a:xfrm>
            <a:off x="6657207" y="4935438"/>
            <a:ext cx="73481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SCORE</a:t>
            </a:r>
          </a:p>
        </p:txBody>
      </p:sp>
      <p:sp>
        <p:nvSpPr>
          <p:cNvPr id="46" name="TextBox 45"/>
          <p:cNvSpPr txBox="1"/>
          <p:nvPr/>
        </p:nvSpPr>
        <p:spPr>
          <a:xfrm>
            <a:off x="10135642" y="4516338"/>
            <a:ext cx="2531019"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32PFS5603/12</a:t>
            </a:r>
          </a:p>
        </p:txBody>
      </p:sp>
      <p:sp>
        <p:nvSpPr>
          <p:cNvPr id="47" name="TextBox 46"/>
          <p:cNvSpPr txBox="1"/>
          <p:nvPr/>
        </p:nvSpPr>
        <p:spPr>
          <a:xfrm>
            <a:off x="10959316" y="4935438"/>
            <a:ext cx="60799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GOLD</a:t>
            </a:r>
          </a:p>
        </p:txBody>
      </p:sp>
      <p:sp>
        <p:nvSpPr>
          <p:cNvPr id="48" name="TextBox 47"/>
          <p:cNvSpPr txBox="1"/>
          <p:nvPr/>
        </p:nvSpPr>
        <p:spPr>
          <a:xfrm>
            <a:off x="15040868" y="4516338"/>
            <a:ext cx="1091160"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Match</a:t>
            </a:r>
          </a:p>
        </p:txBody>
      </p:sp>
      <p:sp>
        <p:nvSpPr>
          <p:cNvPr id="49" name="TextBox 48"/>
          <p:cNvSpPr txBox="1"/>
          <p:nvPr/>
        </p:nvSpPr>
        <p:spPr>
          <a:xfrm>
            <a:off x="14079873" y="4935438"/>
            <a:ext cx="2844129"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AUTOMATIZADO Y CORRECTO</a:t>
            </a:r>
          </a:p>
        </p:txBody>
      </p:sp>
      <p:sp>
        <p:nvSpPr>
          <p:cNvPr id="50" name="TextBox 49"/>
          <p:cNvSpPr txBox="1"/>
          <p:nvPr/>
        </p:nvSpPr>
        <p:spPr>
          <a:xfrm>
            <a:off x="1028700" y="6357342"/>
            <a:ext cx="4280130" cy="238125"/>
          </a:xfrm>
          <a:prstGeom prst="rect">
            <a:avLst/>
          </a:prstGeom>
          <a:noFill/>
        </p:spPr>
        <p:txBody>
          <a:bodyPr wrap="none" lIns="0" rIns="0" tIns="0" bIns="0" anchor="t">
            <a:spAutoFit/>
          </a:bodyPr>
          <a:lstStyle/>
          <a:p>
            <a:pPr algn="l">
              <a:lnSpc>
                <a:spcPct val="100000"/>
              </a:lnSpc>
            </a:pPr>
            <a:r>
              <a:rPr sz="1425" b="1" i="0" spc="114">
                <a:solidFill>
                  <a:srgbClr val="9AB3CD"/>
                </a:solidFill>
                <a:latin typeface="Barlow"/>
              </a:rPr>
              <a:t>MAKRO · SUDÁFRICA · RETAILER NO VISTO</a:t>
            </a:r>
          </a:p>
        </p:txBody>
      </p:sp>
      <p:sp>
        <p:nvSpPr>
          <p:cNvPr id="51" name="TextBox 50"/>
          <p:cNvSpPr txBox="1"/>
          <p:nvPr/>
        </p:nvSpPr>
        <p:spPr>
          <a:xfrm>
            <a:off x="1028700" y="6633567"/>
            <a:ext cx="4107984" cy="342900"/>
          </a:xfrm>
          <a:prstGeom prst="rect">
            <a:avLst/>
          </a:prstGeom>
          <a:noFill/>
        </p:spPr>
        <p:txBody>
          <a:bodyPr wrap="none" lIns="0" rIns="0" tIns="0" bIns="0" anchor="t">
            <a:spAutoFit/>
          </a:bodyPr>
          <a:lstStyle/>
          <a:p>
            <a:pPr algn="l">
              <a:lnSpc>
                <a:spcPct val="101700"/>
              </a:lnSpc>
            </a:pPr>
            <a:r>
              <a:rPr sz="1950" b="1" i="0">
                <a:solidFill>
                  <a:srgbClr val="F3F7FC"/>
                </a:solidFill>
                <a:latin typeface="Roboto Mono"/>
              </a:rPr>
              <a:t>Philips Air Fryer (7.2 L)</a:t>
            </a:r>
          </a:p>
        </p:txBody>
      </p:sp>
      <p:sp>
        <p:nvSpPr>
          <p:cNvPr id="52" name="TextBox 51"/>
          <p:cNvSpPr txBox="1"/>
          <p:nvPr/>
        </p:nvSpPr>
        <p:spPr>
          <a:xfrm>
            <a:off x="1133475" y="7088088"/>
            <a:ext cx="5021598" cy="257175"/>
          </a:xfrm>
          <a:prstGeom prst="rect">
            <a:avLst/>
          </a:prstGeom>
          <a:noFill/>
        </p:spPr>
        <p:txBody>
          <a:bodyPr wrap="none" lIns="0" rIns="0" tIns="0" bIns="0" anchor="t">
            <a:spAutoFit/>
          </a:bodyPr>
          <a:lstStyle/>
          <a:p>
            <a:pPr algn="l">
              <a:lnSpc>
                <a:spcPct val="100000"/>
              </a:lnSpc>
            </a:pPr>
            <a:r>
              <a:rPr sz="1425" b="1" i="0">
                <a:solidFill>
                  <a:srgbClr val="E2758F"/>
                </a:solidFill>
                <a:latin typeface="Roboto Mono"/>
              </a:rPr>
              <a:t>ningún código · solo categoría y capacidad</a:t>
            </a:r>
          </a:p>
        </p:txBody>
      </p:sp>
      <p:sp>
        <p:nvSpPr>
          <p:cNvPr id="53" name="TextBox 52"/>
          <p:cNvSpPr txBox="1"/>
          <p:nvPr/>
        </p:nvSpPr>
        <p:spPr>
          <a:xfrm>
            <a:off x="2009477" y="7811988"/>
            <a:ext cx="1772513"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NA341/00</a:t>
            </a:r>
          </a:p>
        </p:txBody>
      </p:sp>
      <p:sp>
        <p:nvSpPr>
          <p:cNvPr id="54" name="TextBox 53"/>
          <p:cNvSpPr txBox="1"/>
          <p:nvPr/>
        </p:nvSpPr>
        <p:spPr>
          <a:xfrm>
            <a:off x="2327606" y="8231088"/>
            <a:ext cx="91676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ELEGIDO</a:t>
            </a:r>
          </a:p>
        </p:txBody>
      </p:sp>
      <p:sp>
        <p:nvSpPr>
          <p:cNvPr id="55" name="TextBox 54"/>
          <p:cNvSpPr txBox="1"/>
          <p:nvPr/>
        </p:nvSpPr>
        <p:spPr>
          <a:xfrm>
            <a:off x="6326237" y="7811988"/>
            <a:ext cx="1603742" cy="428625"/>
          </a:xfrm>
          <a:prstGeom prst="rect">
            <a:avLst/>
          </a:prstGeom>
          <a:noFill/>
        </p:spPr>
        <p:txBody>
          <a:bodyPr wrap="none" lIns="0" rIns="0" tIns="0" bIns="0" anchor="t">
            <a:spAutoFit/>
          </a:bodyPr>
          <a:lstStyle/>
          <a:p>
            <a:pPr algn="l">
              <a:lnSpc>
                <a:spcPct val="83300"/>
              </a:lnSpc>
            </a:pPr>
            <a:r>
              <a:rPr sz="2700" b="1" i="0">
                <a:solidFill>
                  <a:srgbClr val="FFD21F"/>
                </a:solidFill>
                <a:latin typeface="Barlow"/>
              </a:rPr>
              <a:t>0,999650</a:t>
            </a:r>
          </a:p>
        </p:txBody>
      </p:sp>
      <p:sp>
        <p:nvSpPr>
          <p:cNvPr id="56" name="TextBox 55"/>
          <p:cNvSpPr txBox="1"/>
          <p:nvPr/>
        </p:nvSpPr>
        <p:spPr>
          <a:xfrm>
            <a:off x="6657207" y="8231088"/>
            <a:ext cx="734812"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SCORE</a:t>
            </a:r>
          </a:p>
        </p:txBody>
      </p:sp>
      <p:sp>
        <p:nvSpPr>
          <p:cNvPr id="57" name="TextBox 56"/>
          <p:cNvSpPr txBox="1"/>
          <p:nvPr/>
        </p:nvSpPr>
        <p:spPr>
          <a:xfrm>
            <a:off x="10408890" y="7811988"/>
            <a:ext cx="1940641"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HD9285/90</a:t>
            </a:r>
          </a:p>
        </p:txBody>
      </p:sp>
      <p:sp>
        <p:nvSpPr>
          <p:cNvPr id="58" name="TextBox 57"/>
          <p:cNvSpPr txBox="1"/>
          <p:nvPr/>
        </p:nvSpPr>
        <p:spPr>
          <a:xfrm>
            <a:off x="10959316" y="8231088"/>
            <a:ext cx="60799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GOLD</a:t>
            </a:r>
          </a:p>
        </p:txBody>
      </p:sp>
      <p:sp>
        <p:nvSpPr>
          <p:cNvPr id="59" name="TextBox 58"/>
          <p:cNvSpPr txBox="1"/>
          <p:nvPr/>
        </p:nvSpPr>
        <p:spPr>
          <a:xfrm>
            <a:off x="15040868" y="7811988"/>
            <a:ext cx="1091160" cy="428625"/>
          </a:xfrm>
          <a:prstGeom prst="rect">
            <a:avLst/>
          </a:prstGeom>
          <a:noFill/>
        </p:spPr>
        <p:txBody>
          <a:bodyPr wrap="none" lIns="0" rIns="0" tIns="0" bIns="0" anchor="t">
            <a:spAutoFit/>
          </a:bodyPr>
          <a:lstStyle/>
          <a:p>
            <a:pPr algn="l">
              <a:lnSpc>
                <a:spcPct val="83300"/>
              </a:lnSpc>
            </a:pPr>
            <a:r>
              <a:rPr sz="2700" b="1" i="0">
                <a:solidFill>
                  <a:srgbClr val="E2758F"/>
                </a:solidFill>
                <a:latin typeface="Barlow"/>
              </a:rPr>
              <a:t>Match</a:t>
            </a:r>
          </a:p>
        </p:txBody>
      </p:sp>
      <p:sp>
        <p:nvSpPr>
          <p:cNvPr id="60" name="TextBox 59"/>
          <p:cNvSpPr txBox="1"/>
          <p:nvPr/>
        </p:nvSpPr>
        <p:spPr>
          <a:xfrm>
            <a:off x="14195441" y="8231088"/>
            <a:ext cx="2612993" cy="238125"/>
          </a:xfrm>
          <a:prstGeom prst="rect">
            <a:avLst/>
          </a:prstGeom>
          <a:noFill/>
        </p:spPr>
        <p:txBody>
          <a:bodyPr wrap="none" lIns="0" rIns="0" tIns="0" bIns="0" anchor="t">
            <a:spAutoFit/>
          </a:bodyPr>
          <a:lstStyle/>
          <a:p>
            <a:pPr algn="ctr">
              <a:lnSpc>
                <a:spcPct val="100000"/>
              </a:lnSpc>
            </a:pPr>
            <a:r>
              <a:rPr sz="1425" b="1" i="0" spc="71">
                <a:solidFill>
                  <a:srgbClr val="9AB3CD"/>
                </a:solidFill>
                <a:latin typeface="Barlow"/>
              </a:rPr>
              <a:t>AUTOMATIZADO Y ERRADO</a:t>
            </a:r>
          </a:p>
        </p:txBody>
      </p:sp>
      <p:sp>
        <p:nvSpPr>
          <p:cNvPr id="61" name="TextBox 60"/>
          <p:cNvSpPr txBox="1"/>
          <p:nvPr/>
        </p:nvSpPr>
        <p:spPr>
          <a:xfrm>
            <a:off x="723900" y="9085064"/>
            <a:ext cx="16859250" cy="548580"/>
          </a:xfrm>
          <a:prstGeom prst="rect">
            <a:avLst/>
          </a:prstGeom>
          <a:noFill/>
        </p:spPr>
        <p:txBody>
          <a:bodyPr wrap="square" lIns="0" rIns="0" tIns="0" bIns="0" anchor="t">
            <a:spAutoFit/>
          </a:bodyPr>
          <a:lstStyle/>
          <a:p>
            <a:pPr algn="l">
              <a:lnSpc>
                <a:spcPct val="100000"/>
              </a:lnSpc>
            </a:pPr>
            <a:r>
              <a:rPr sz="1725" b="0" i="0">
                <a:solidFill>
                  <a:srgbClr val="9AB3CD"/>
                </a:solidFill>
                <a:latin typeface="Barlow"/>
              </a:rPr>
              <a:t>Mismo umbral, misma compuerta, scores casi idénticos — y uno acierta y el otro no. Sin código en el título, «Philips Air Fryer (7,2 L)» describe varias freidoras del catálogo: el modelo elige una plausible con total confianza. Es el límite del método, y es el que marca dónde sigue haciendo falta el operador.</a:t>
            </a:r>
          </a:p>
        </p:txBody>
      </p:sp>
      <p:sp>
        <p:nvSpPr>
          <p:cNvPr id="62" name="TextBox 61"/>
          <p:cNvSpPr txBox="1"/>
          <p:nvPr/>
        </p:nvSpPr>
        <p:spPr>
          <a:xfrm>
            <a:off x="1045518" y="9766935"/>
            <a:ext cx="1869275"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EVIDENCIA EXTERNA</a:t>
            </a:r>
          </a:p>
        </p:txBody>
      </p:sp>
      <p:sp>
        <p:nvSpPr>
          <p:cNvPr id="63" name="TextBox 62"/>
          <p:cNvSpPr txBox="1"/>
          <p:nvPr/>
        </p:nvSpPr>
        <p:spPr>
          <a:xfrm>
            <a:off x="4809679"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44</a:t>
            </a:r>
          </a:p>
        </p:txBody>
      </p:sp>
      <p:sp>
        <p:nvSpPr>
          <p:cNvPr id="64" name="TextBox 63"/>
          <p:cNvSpPr txBox="1"/>
          <p:nvPr/>
        </p:nvSpPr>
        <p:spPr>
          <a:xfrm>
            <a:off x="844108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45</a:t>
            </a:r>
          </a:p>
        </p:txBody>
      </p:sp>
      <p:sp>
        <p:nvSpPr>
          <p:cNvPr id="65" name="TextBox 64"/>
          <p:cNvSpPr txBox="1"/>
          <p:nvPr/>
        </p:nvSpPr>
        <p:spPr>
          <a:xfrm>
            <a:off x="1207249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46</a:t>
            </a:r>
          </a:p>
        </p:txBody>
      </p:sp>
      <p:sp>
        <p:nvSpPr>
          <p:cNvPr id="66" name="TextBox 65"/>
          <p:cNvSpPr txBox="1"/>
          <p:nvPr/>
        </p:nvSpPr>
        <p:spPr>
          <a:xfrm>
            <a:off x="15703897"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583710"/>
          </a:xfrm>
          <a:prstGeom prst="rect">
            <a:avLst/>
          </a:prstGeom>
          <a:solidFill>
            <a:srgbClr val="0D2748">
              <a:alpha val="84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42950" y="2522190"/>
            <a:ext cx="419338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945856" y="2522190"/>
            <a:ext cx="419338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9148762" y="2522190"/>
            <a:ext cx="419338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3351669" y="2522190"/>
            <a:ext cx="419338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42950" y="3046065"/>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45856" y="3046065"/>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148762" y="3046065"/>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3351669" y="3046065"/>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42950" y="5049292"/>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945856" y="5049292"/>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148762" y="5049292"/>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3351669" y="5049292"/>
            <a:ext cx="4193381" cy="1993702"/>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8188" y="7047756"/>
            <a:ext cx="16811625" cy="2034332"/>
          </a:xfrm>
          <a:prstGeom prst="rect">
            <a:avLst/>
          </a:prstGeom>
          <a:solidFill>
            <a:srgbClr val="0B5EA8">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42950" y="7052518"/>
            <a:ext cx="4193381" cy="202480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945856" y="7052518"/>
            <a:ext cx="4193381" cy="202480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148762" y="7052518"/>
            <a:ext cx="4193381" cy="202480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3351669" y="7052518"/>
            <a:ext cx="4193381" cy="202480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3900" y="9210675"/>
            <a:ext cx="16840200" cy="409575"/>
          </a:xfrm>
          <a:prstGeom prst="rect">
            <a:avLst/>
          </a:prstGeom>
          <a:solidFill>
            <a:srgbClr val="07172D">
              <a:alpha val="6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3900" y="9210675"/>
            <a:ext cx="57150" cy="4095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109912"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14675" y="9944100"/>
            <a:ext cx="18338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81075" y="1663750"/>
            <a:ext cx="6344763"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CONTRASTE CON EL PROCESO MANUAL · 01 / 09</a:t>
            </a:r>
          </a:p>
        </p:txBody>
      </p:sp>
      <p:sp>
        <p:nvSpPr>
          <p:cNvPr id="40" name="TextBox 39"/>
          <p:cNvSpPr txBox="1"/>
          <p:nvPr/>
        </p:nvSpPr>
        <p:spPr>
          <a:xfrm>
            <a:off x="981075" y="1885652"/>
            <a:ext cx="7263842"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Línea base manual observada</a:t>
            </a:r>
          </a:p>
        </p:txBody>
      </p:sp>
      <p:sp>
        <p:nvSpPr>
          <p:cNvPr id="41" name="TextBox 40"/>
          <p:cNvSpPr txBox="1"/>
          <p:nvPr/>
        </p:nvSpPr>
        <p:spPr>
          <a:xfrm>
            <a:off x="914400" y="2665065"/>
            <a:ext cx="980414" cy="247650"/>
          </a:xfrm>
          <a:prstGeom prst="rect">
            <a:avLst/>
          </a:prstGeom>
          <a:noFill/>
        </p:spPr>
        <p:txBody>
          <a:bodyPr wrap="none" lIns="0" rIns="0" tIns="0" bIns="0" anchor="t">
            <a:spAutoFit/>
          </a:bodyPr>
          <a:lstStyle/>
          <a:p>
            <a:pPr algn="l">
              <a:lnSpc>
                <a:spcPct val="100000"/>
              </a:lnSpc>
            </a:pPr>
            <a:r>
              <a:rPr sz="1500" b="1" i="0" spc="82">
                <a:solidFill>
                  <a:srgbClr val="9AB3CD"/>
                </a:solidFill>
                <a:latin typeface="Barlow"/>
              </a:rPr>
              <a:t>PERIODO</a:t>
            </a:r>
          </a:p>
        </p:txBody>
      </p:sp>
      <p:sp>
        <p:nvSpPr>
          <p:cNvPr id="42" name="TextBox 41"/>
          <p:cNvSpPr txBox="1"/>
          <p:nvPr/>
        </p:nvSpPr>
        <p:spPr>
          <a:xfrm>
            <a:off x="7311325" y="2665065"/>
            <a:ext cx="165646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TIEMPO ACTIVO</a:t>
            </a:r>
          </a:p>
        </p:txBody>
      </p:sp>
      <p:sp>
        <p:nvSpPr>
          <p:cNvPr id="43" name="TextBox 42"/>
          <p:cNvSpPr txBox="1"/>
          <p:nvPr/>
        </p:nvSpPr>
        <p:spPr>
          <a:xfrm>
            <a:off x="10470100" y="2665065"/>
            <a:ext cx="270059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PUBLICACIONES-SEMANA</a:t>
            </a:r>
          </a:p>
        </p:txBody>
      </p:sp>
      <p:sp>
        <p:nvSpPr>
          <p:cNvPr id="44" name="TextBox 43"/>
          <p:cNvSpPr txBox="1"/>
          <p:nvPr/>
        </p:nvSpPr>
        <p:spPr>
          <a:xfrm>
            <a:off x="16234541" y="2665065"/>
            <a:ext cx="1139059"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PROMEDIO</a:t>
            </a:r>
          </a:p>
        </p:txBody>
      </p:sp>
      <p:sp>
        <p:nvSpPr>
          <p:cNvPr id="45" name="TextBox 44"/>
          <p:cNvSpPr txBox="1"/>
          <p:nvPr/>
        </p:nvSpPr>
        <p:spPr>
          <a:xfrm>
            <a:off x="914400" y="3880991"/>
            <a:ext cx="1818644"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24–27 AGO</a:t>
            </a:r>
          </a:p>
        </p:txBody>
      </p:sp>
      <p:sp>
        <p:nvSpPr>
          <p:cNvPr id="46" name="TextBox 45"/>
          <p:cNvSpPr txBox="1"/>
          <p:nvPr/>
        </p:nvSpPr>
        <p:spPr>
          <a:xfrm>
            <a:off x="8036879" y="3917186"/>
            <a:ext cx="930908"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27.120 s</a:t>
            </a:r>
          </a:p>
        </p:txBody>
      </p:sp>
      <p:sp>
        <p:nvSpPr>
          <p:cNvPr id="47" name="TextBox 46"/>
          <p:cNvSpPr txBox="1"/>
          <p:nvPr/>
        </p:nvSpPr>
        <p:spPr>
          <a:xfrm>
            <a:off x="12521875" y="3917186"/>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1.826</a:t>
            </a:r>
          </a:p>
        </p:txBody>
      </p:sp>
      <p:sp>
        <p:nvSpPr>
          <p:cNvPr id="48" name="TextBox 47"/>
          <p:cNvSpPr txBox="1"/>
          <p:nvPr/>
        </p:nvSpPr>
        <p:spPr>
          <a:xfrm>
            <a:off x="16443817" y="3917186"/>
            <a:ext cx="929783"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14,852 s</a:t>
            </a:r>
          </a:p>
        </p:txBody>
      </p:sp>
      <p:sp>
        <p:nvSpPr>
          <p:cNvPr id="49" name="TextBox 48"/>
          <p:cNvSpPr txBox="1"/>
          <p:nvPr/>
        </p:nvSpPr>
        <p:spPr>
          <a:xfrm>
            <a:off x="914400" y="5884218"/>
            <a:ext cx="2293614"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31 AGO–3 SEP</a:t>
            </a:r>
          </a:p>
        </p:txBody>
      </p:sp>
      <p:sp>
        <p:nvSpPr>
          <p:cNvPr id="50" name="TextBox 49"/>
          <p:cNvSpPr txBox="1"/>
          <p:nvPr/>
        </p:nvSpPr>
        <p:spPr>
          <a:xfrm>
            <a:off x="8036879" y="5920413"/>
            <a:ext cx="930908"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35.460 s</a:t>
            </a:r>
          </a:p>
        </p:txBody>
      </p:sp>
      <p:sp>
        <p:nvSpPr>
          <p:cNvPr id="51" name="TextBox 50"/>
          <p:cNvSpPr txBox="1"/>
          <p:nvPr/>
        </p:nvSpPr>
        <p:spPr>
          <a:xfrm>
            <a:off x="12521875" y="5920413"/>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1.942</a:t>
            </a:r>
          </a:p>
        </p:txBody>
      </p:sp>
      <p:sp>
        <p:nvSpPr>
          <p:cNvPr id="52" name="TextBox 51"/>
          <p:cNvSpPr txBox="1"/>
          <p:nvPr/>
        </p:nvSpPr>
        <p:spPr>
          <a:xfrm>
            <a:off x="16443817" y="5920413"/>
            <a:ext cx="929783"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18,260 s</a:t>
            </a:r>
          </a:p>
        </p:txBody>
      </p:sp>
      <p:sp>
        <p:nvSpPr>
          <p:cNvPr id="53" name="TextBox 52"/>
          <p:cNvSpPr txBox="1"/>
          <p:nvPr/>
        </p:nvSpPr>
        <p:spPr>
          <a:xfrm>
            <a:off x="914400" y="7902922"/>
            <a:ext cx="1860113"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Combinado</a:t>
            </a:r>
          </a:p>
        </p:txBody>
      </p:sp>
      <p:sp>
        <p:nvSpPr>
          <p:cNvPr id="54" name="TextBox 53"/>
          <p:cNvSpPr txBox="1"/>
          <p:nvPr/>
        </p:nvSpPr>
        <p:spPr>
          <a:xfrm>
            <a:off x="8036879" y="7939117"/>
            <a:ext cx="930908"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62.580 s</a:t>
            </a:r>
          </a:p>
        </p:txBody>
      </p:sp>
      <p:sp>
        <p:nvSpPr>
          <p:cNvPr id="55" name="TextBox 54"/>
          <p:cNvSpPr txBox="1"/>
          <p:nvPr/>
        </p:nvSpPr>
        <p:spPr>
          <a:xfrm>
            <a:off x="12521875" y="7939117"/>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3.768</a:t>
            </a:r>
          </a:p>
        </p:txBody>
      </p:sp>
      <p:sp>
        <p:nvSpPr>
          <p:cNvPr id="56" name="TextBox 55"/>
          <p:cNvSpPr txBox="1"/>
          <p:nvPr/>
        </p:nvSpPr>
        <p:spPr>
          <a:xfrm>
            <a:off x="16178284" y="7898160"/>
            <a:ext cx="1195316" cy="352425"/>
          </a:xfrm>
          <a:prstGeom prst="rect">
            <a:avLst/>
          </a:prstGeom>
          <a:noFill/>
        </p:spPr>
        <p:txBody>
          <a:bodyPr wrap="none" lIns="0" rIns="0" tIns="0" bIns="0" anchor="t">
            <a:spAutoFit/>
          </a:bodyPr>
          <a:lstStyle/>
          <a:p>
            <a:pPr algn="r">
              <a:lnSpc>
                <a:spcPct val="100000"/>
              </a:lnSpc>
            </a:pPr>
            <a:r>
              <a:rPr sz="2175" b="1" i="0">
                <a:solidFill>
                  <a:srgbClr val="FFD21F"/>
                </a:solidFill>
                <a:latin typeface="Barlow"/>
              </a:rPr>
              <a:t>16,608 s</a:t>
            </a:r>
          </a:p>
        </p:txBody>
      </p:sp>
      <p:sp>
        <p:nvSpPr>
          <p:cNvPr id="57" name="TextBox 56"/>
          <p:cNvSpPr txBox="1"/>
          <p:nvPr/>
        </p:nvSpPr>
        <p:spPr>
          <a:xfrm>
            <a:off x="923925" y="9305925"/>
            <a:ext cx="3596045" cy="238125"/>
          </a:xfrm>
          <a:prstGeom prst="rect">
            <a:avLst/>
          </a:prstGeom>
          <a:noFill/>
        </p:spPr>
        <p:txBody>
          <a:bodyPr wrap="none" lIns="0" rIns="0" tIns="0" bIns="0" anchor="t">
            <a:spAutoFit/>
          </a:bodyPr>
          <a:lstStyle/>
          <a:p>
            <a:pPr algn="l">
              <a:lnSpc>
                <a:spcPct val="100000"/>
              </a:lnSpc>
            </a:pPr>
            <a:r>
              <a:rPr sz="1425" b="1" i="0" spc="49">
                <a:solidFill>
                  <a:srgbClr val="9AB3CD"/>
                </a:solidFill>
                <a:latin typeface="Barlow"/>
              </a:rPr>
              <a:t>REGISTROS OPERATIVOS · 2 SEMANAS</a:t>
            </a:r>
          </a:p>
        </p:txBody>
      </p:sp>
      <p:sp>
        <p:nvSpPr>
          <p:cNvPr id="58" name="TextBox 57"/>
          <p:cNvSpPr txBox="1"/>
          <p:nvPr/>
        </p:nvSpPr>
        <p:spPr>
          <a:xfrm>
            <a:off x="14654064" y="9305925"/>
            <a:ext cx="3083784" cy="238125"/>
          </a:xfrm>
          <a:prstGeom prst="rect">
            <a:avLst/>
          </a:prstGeom>
          <a:noFill/>
        </p:spPr>
        <p:txBody>
          <a:bodyPr wrap="none" lIns="0" rIns="0" tIns="0" bIns="0" anchor="t">
            <a:spAutoFit/>
          </a:bodyPr>
          <a:lstStyle/>
          <a:p>
            <a:pPr algn="l">
              <a:lnSpc>
                <a:spcPct val="100000"/>
              </a:lnSpc>
            </a:pPr>
            <a:r>
              <a:rPr sz="1425" b="1" i="0" spc="49">
                <a:solidFill>
                  <a:srgbClr val="FFD21F"/>
                </a:solidFill>
                <a:latin typeface="Barlow"/>
              </a:rPr>
              <a:t>UNIDAD: PUBLICACIÓN-SEMANA</a:t>
            </a:r>
          </a:p>
        </p:txBody>
      </p:sp>
      <p:sp>
        <p:nvSpPr>
          <p:cNvPr id="59" name="TextBox 58"/>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60" name="TextBox 59"/>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48</a:t>
            </a:r>
          </a:p>
        </p:txBody>
      </p:sp>
      <p:sp>
        <p:nvSpPr>
          <p:cNvPr id="61" name="TextBox 60"/>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62" name="TextBox 61"/>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63" name="TextBox 62"/>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64" name="TextBox 6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65" name="TextBox 64"/>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66" name="TextBox 65"/>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67" name="TextBox 66"/>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68" name="TextBox 67"/>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8853488"/>
            <a:ext cx="16830675" cy="762000"/>
          </a:xfrm>
          <a:prstGeom prst="rect">
            <a:avLst/>
          </a:prstGeom>
          <a:solidFill>
            <a:srgbClr val="07172D">
              <a:alpha val="72000"/>
            </a:srgbClr>
          </a:solidFill>
          <a:ln w="9525">
            <a:solidFill>
              <a:srgbClr val="6D8FB2">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4929188" y="8858250"/>
            <a:ext cx="9525" cy="7524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9134475" y="8858250"/>
            <a:ext cx="9525" cy="7524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3339762" y="8858250"/>
            <a:ext cx="9525" cy="7524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723805"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728567" y="9944100"/>
            <a:ext cx="18338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81075" y="1663750"/>
            <a:ext cx="639394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CONTRASTE CON EL PROCESO MANUAL · 02 / 09</a:t>
            </a:r>
          </a:p>
        </p:txBody>
      </p:sp>
      <p:sp>
        <p:nvSpPr>
          <p:cNvPr id="25" name="TextBox 24"/>
          <p:cNvSpPr txBox="1"/>
          <p:nvPr/>
        </p:nvSpPr>
        <p:spPr>
          <a:xfrm>
            <a:off x="981075" y="1885652"/>
            <a:ext cx="611780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Latencia del sistema v7.5</a:t>
            </a:r>
          </a:p>
        </p:txBody>
      </p:sp>
      <p:sp>
        <p:nvSpPr>
          <p:cNvPr id="26" name="TextBox 25"/>
          <p:cNvSpPr txBox="1"/>
          <p:nvPr/>
        </p:nvSpPr>
        <p:spPr>
          <a:xfrm>
            <a:off x="8137910" y="5085308"/>
            <a:ext cx="2012329" cy="571500"/>
          </a:xfrm>
          <a:prstGeom prst="rect">
            <a:avLst/>
          </a:prstGeom>
          <a:noFill/>
        </p:spPr>
        <p:txBody>
          <a:bodyPr wrap="none" lIns="0" rIns="0" tIns="0" bIns="0" anchor="t">
            <a:spAutoFit/>
          </a:bodyPr>
          <a:lstStyle/>
          <a:p>
            <a:pPr algn="ctr">
              <a:lnSpc>
                <a:spcPct val="83300"/>
              </a:lnSpc>
            </a:pPr>
            <a:r>
              <a:rPr sz="3600" b="1" i="0" spc="85">
                <a:solidFill>
                  <a:srgbClr val="FFD21F"/>
                </a:solidFill>
                <a:latin typeface="Barlow"/>
              </a:rPr>
              <a:t>−60,76%</a:t>
            </a:r>
          </a:p>
        </p:txBody>
      </p:sp>
      <p:sp>
        <p:nvSpPr>
          <p:cNvPr id="27" name="TextBox 26"/>
          <p:cNvSpPr txBox="1"/>
          <p:nvPr/>
        </p:nvSpPr>
        <p:spPr>
          <a:xfrm>
            <a:off x="8334375" y="5666333"/>
            <a:ext cx="1638300" cy="457200"/>
          </a:xfrm>
          <a:prstGeom prst="rect">
            <a:avLst/>
          </a:prstGeom>
          <a:noFill/>
        </p:spPr>
        <p:txBody>
          <a:bodyPr wrap="square" lIns="0" rIns="0" tIns="0" bIns="0" anchor="t">
            <a:spAutoFit/>
          </a:bodyPr>
          <a:lstStyle/>
          <a:p>
            <a:pPr algn="ctr">
              <a:lnSpc>
                <a:spcPct val="100000"/>
              </a:lnSpc>
            </a:pPr>
            <a:r>
              <a:rPr sz="1425" b="1" i="0" spc="85">
                <a:solidFill>
                  <a:srgbClr val="9AB3CD"/>
                </a:solidFill>
                <a:latin typeface="Barlow"/>
              </a:rPr>
              <a:t>COMPARACIÓN UNITARIA</a:t>
            </a:r>
          </a:p>
        </p:txBody>
      </p:sp>
      <p:sp>
        <p:nvSpPr>
          <p:cNvPr id="28" name="TextBox 27"/>
          <p:cNvSpPr txBox="1"/>
          <p:nvPr/>
        </p:nvSpPr>
        <p:spPr>
          <a:xfrm>
            <a:off x="2481709" y="8943975"/>
            <a:ext cx="850219" cy="361950"/>
          </a:xfrm>
          <a:prstGeom prst="rect">
            <a:avLst/>
          </a:prstGeom>
          <a:noFill/>
        </p:spPr>
        <p:txBody>
          <a:bodyPr wrap="none" lIns="0" rIns="0" tIns="0" bIns="0" anchor="t">
            <a:spAutoFit/>
          </a:bodyPr>
          <a:lstStyle/>
          <a:p>
            <a:pPr algn="l">
              <a:lnSpc>
                <a:spcPct val="83300"/>
              </a:lnSpc>
            </a:pPr>
            <a:r>
              <a:rPr sz="2250" b="1" i="0">
                <a:solidFill>
                  <a:srgbClr val="FFD21F"/>
                </a:solidFill>
                <a:latin typeface="Barlow"/>
              </a:rPr>
              <a:t>2.365</a:t>
            </a:r>
          </a:p>
        </p:txBody>
      </p:sp>
      <p:sp>
        <p:nvSpPr>
          <p:cNvPr id="29" name="TextBox 28"/>
          <p:cNvSpPr txBox="1"/>
          <p:nvPr/>
        </p:nvSpPr>
        <p:spPr>
          <a:xfrm>
            <a:off x="2372618" y="9286875"/>
            <a:ext cx="1086017" cy="228600"/>
          </a:xfrm>
          <a:prstGeom prst="rect">
            <a:avLst/>
          </a:prstGeom>
          <a:noFill/>
        </p:spPr>
        <p:txBody>
          <a:bodyPr wrap="none" lIns="0" rIns="0" tIns="0" bIns="0" anchor="t">
            <a:spAutoFit/>
          </a:bodyPr>
          <a:lstStyle/>
          <a:p>
            <a:pPr algn="l">
              <a:lnSpc>
                <a:spcPct val="100000"/>
              </a:lnSpc>
            </a:pPr>
            <a:r>
              <a:rPr sz="1350" b="1" i="0">
                <a:solidFill>
                  <a:srgbClr val="9AB3CD"/>
                </a:solidFill>
                <a:latin typeface="Barlow"/>
              </a:rPr>
              <a:t>CONSULTAS</a:t>
            </a:r>
          </a:p>
        </p:txBody>
      </p:sp>
      <p:sp>
        <p:nvSpPr>
          <p:cNvPr id="30" name="TextBox 29"/>
          <p:cNvSpPr txBox="1"/>
          <p:nvPr/>
        </p:nvSpPr>
        <p:spPr>
          <a:xfrm>
            <a:off x="6479977" y="8943975"/>
            <a:ext cx="1297382" cy="361950"/>
          </a:xfrm>
          <a:prstGeom prst="rect">
            <a:avLst/>
          </a:prstGeom>
          <a:noFill/>
        </p:spPr>
        <p:txBody>
          <a:bodyPr wrap="none" lIns="0" rIns="0" tIns="0" bIns="0" anchor="t">
            <a:spAutoFit/>
          </a:bodyPr>
          <a:lstStyle/>
          <a:p>
            <a:pPr algn="l">
              <a:lnSpc>
                <a:spcPct val="83300"/>
              </a:lnSpc>
            </a:pPr>
            <a:r>
              <a:rPr sz="2250" b="1" i="0">
                <a:solidFill>
                  <a:srgbClr val="FFD21F"/>
                </a:solidFill>
                <a:latin typeface="Barlow"/>
              </a:rPr>
              <a:t>15.411,8 s</a:t>
            </a:r>
          </a:p>
        </p:txBody>
      </p:sp>
      <p:sp>
        <p:nvSpPr>
          <p:cNvPr id="31" name="TextBox 30"/>
          <p:cNvSpPr txBox="1"/>
          <p:nvPr/>
        </p:nvSpPr>
        <p:spPr>
          <a:xfrm>
            <a:off x="6595914" y="9286875"/>
            <a:ext cx="1046958" cy="228600"/>
          </a:xfrm>
          <a:prstGeom prst="rect">
            <a:avLst/>
          </a:prstGeom>
          <a:noFill/>
        </p:spPr>
        <p:txBody>
          <a:bodyPr wrap="none" lIns="0" rIns="0" tIns="0" bIns="0" anchor="t">
            <a:spAutoFit/>
          </a:bodyPr>
          <a:lstStyle/>
          <a:p>
            <a:pPr algn="l">
              <a:lnSpc>
                <a:spcPct val="100000"/>
              </a:lnSpc>
            </a:pPr>
            <a:r>
              <a:rPr sz="1350" b="1" i="0">
                <a:solidFill>
                  <a:srgbClr val="9AB3CD"/>
                </a:solidFill>
                <a:latin typeface="Barlow"/>
              </a:rPr>
              <a:t>EJECUCIÓN</a:t>
            </a:r>
          </a:p>
        </p:txBody>
      </p:sp>
      <p:sp>
        <p:nvSpPr>
          <p:cNvPr id="32" name="TextBox 31"/>
          <p:cNvSpPr txBox="1"/>
          <p:nvPr/>
        </p:nvSpPr>
        <p:spPr>
          <a:xfrm>
            <a:off x="10853440" y="8943975"/>
            <a:ext cx="934123" cy="361950"/>
          </a:xfrm>
          <a:prstGeom prst="rect">
            <a:avLst/>
          </a:prstGeom>
          <a:noFill/>
        </p:spPr>
        <p:txBody>
          <a:bodyPr wrap="none" lIns="0" rIns="0" tIns="0" bIns="0" anchor="t">
            <a:spAutoFit/>
          </a:bodyPr>
          <a:lstStyle/>
          <a:p>
            <a:pPr algn="l">
              <a:lnSpc>
                <a:spcPct val="83300"/>
              </a:lnSpc>
            </a:pPr>
            <a:r>
              <a:rPr sz="2250" b="1" i="0">
                <a:solidFill>
                  <a:srgbClr val="FFD21F"/>
                </a:solidFill>
                <a:latin typeface="Barlow"/>
              </a:rPr>
              <a:t>4,28 h</a:t>
            </a:r>
          </a:p>
        </p:txBody>
      </p:sp>
      <p:sp>
        <p:nvSpPr>
          <p:cNvPr id="33" name="TextBox 32"/>
          <p:cNvSpPr txBox="1"/>
          <p:nvPr/>
        </p:nvSpPr>
        <p:spPr>
          <a:xfrm>
            <a:off x="10882908" y="9286875"/>
            <a:ext cx="870472" cy="228600"/>
          </a:xfrm>
          <a:prstGeom prst="rect">
            <a:avLst/>
          </a:prstGeom>
          <a:noFill/>
        </p:spPr>
        <p:txBody>
          <a:bodyPr wrap="none" lIns="0" rIns="0" tIns="0" bIns="0" anchor="t">
            <a:spAutoFit/>
          </a:bodyPr>
          <a:lstStyle/>
          <a:p>
            <a:pPr algn="l">
              <a:lnSpc>
                <a:spcPct val="100000"/>
              </a:lnSpc>
            </a:pPr>
            <a:r>
              <a:rPr sz="1350" b="1" i="0">
                <a:solidFill>
                  <a:srgbClr val="9AB3CD"/>
                </a:solidFill>
                <a:latin typeface="Barlow"/>
              </a:rPr>
              <a:t>MÁQUINA</a:t>
            </a:r>
          </a:p>
        </p:txBody>
      </p:sp>
      <p:sp>
        <p:nvSpPr>
          <p:cNvPr id="34" name="TextBox 33"/>
          <p:cNvSpPr txBox="1"/>
          <p:nvPr/>
        </p:nvSpPr>
        <p:spPr>
          <a:xfrm>
            <a:off x="14878645" y="8943975"/>
            <a:ext cx="1333548" cy="361950"/>
          </a:xfrm>
          <a:prstGeom prst="rect">
            <a:avLst/>
          </a:prstGeom>
          <a:noFill/>
        </p:spPr>
        <p:txBody>
          <a:bodyPr wrap="none" lIns="0" rIns="0" tIns="0" bIns="0" anchor="t">
            <a:spAutoFit/>
          </a:bodyPr>
          <a:lstStyle/>
          <a:p>
            <a:pPr algn="l">
              <a:lnSpc>
                <a:spcPct val="83300"/>
              </a:lnSpc>
            </a:pPr>
            <a:r>
              <a:rPr sz="2250" b="1" i="0">
                <a:solidFill>
                  <a:srgbClr val="FFD21F"/>
                </a:solidFill>
                <a:latin typeface="Barlow"/>
              </a:rPr>
              <a:t>−10,092 s</a:t>
            </a:r>
          </a:p>
        </p:txBody>
      </p:sp>
      <p:sp>
        <p:nvSpPr>
          <p:cNvPr id="35" name="TextBox 34"/>
          <p:cNvSpPr txBox="1"/>
          <p:nvPr/>
        </p:nvSpPr>
        <p:spPr>
          <a:xfrm>
            <a:off x="14600932" y="9286875"/>
            <a:ext cx="1933408" cy="228600"/>
          </a:xfrm>
          <a:prstGeom prst="rect">
            <a:avLst/>
          </a:prstGeom>
          <a:noFill/>
        </p:spPr>
        <p:txBody>
          <a:bodyPr wrap="none" lIns="0" rIns="0" tIns="0" bIns="0" anchor="t">
            <a:spAutoFit/>
          </a:bodyPr>
          <a:lstStyle/>
          <a:p>
            <a:pPr algn="l">
              <a:lnSpc>
                <a:spcPct val="100000"/>
              </a:lnSpc>
            </a:pPr>
            <a:r>
              <a:rPr sz="1350" b="1" i="0">
                <a:solidFill>
                  <a:srgbClr val="9AB3CD"/>
                </a:solidFill>
                <a:latin typeface="Barlow"/>
              </a:rPr>
              <a:t>DIFERENCIA UNITARIA</a:t>
            </a:r>
          </a:p>
        </p:txBody>
      </p:sp>
      <p:sp>
        <p:nvSpPr>
          <p:cNvPr id="36" name="TextBox 35"/>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37" name="TextBox 36"/>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38" name="TextBox 37"/>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49</a:t>
            </a:r>
          </a:p>
        </p:txBody>
      </p:sp>
      <p:sp>
        <p:nvSpPr>
          <p:cNvPr id="39" name="TextBox 38"/>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40" name="TextBox 39"/>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41" name="TextBox 40"/>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42" name="TextBox 41"/>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43" name="TextBox 42"/>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44" name="TextBox 43"/>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45" name="TextBox 44"/>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288435"/>
          </a:xfrm>
          <a:prstGeom prst="rect">
            <a:avLst/>
          </a:prstGeom>
          <a:solidFill>
            <a:srgbClr val="0D2748">
              <a:alpha val="84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42950"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05275"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467600"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0829925"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4192250" y="2522190"/>
            <a:ext cx="335280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42950"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105275"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467600"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0829925"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4192250" y="3046065"/>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38188" y="4956423"/>
            <a:ext cx="16811625" cy="1915120"/>
          </a:xfrm>
          <a:prstGeom prst="rect">
            <a:avLst/>
          </a:prstGeom>
          <a:solidFill>
            <a:srgbClr val="0B5EA8">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42950"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105275"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467600"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0829925"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192250" y="4961186"/>
            <a:ext cx="3352800" cy="190559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8188" y="6871543"/>
            <a:ext cx="16811625" cy="1915269"/>
          </a:xfrm>
          <a:prstGeom prst="rect">
            <a:avLst/>
          </a:prstGeom>
          <a:solidFill>
            <a:srgbClr val="FFD21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42950"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105275"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7467600"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0829925"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192250" y="6876306"/>
            <a:ext cx="3352800" cy="1905744"/>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723900" y="8915400"/>
            <a:ext cx="5537150" cy="7048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3900" y="8915400"/>
            <a:ext cx="57150" cy="7048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5350" y="8915400"/>
            <a:ext cx="5537150" cy="7048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375350" y="8915400"/>
            <a:ext cx="57150" cy="7048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2026801" y="8915400"/>
            <a:ext cx="5537150" cy="70485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2026801" y="8915400"/>
            <a:ext cx="57150" cy="70485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337697" y="9720262"/>
            <a:ext cx="1537841"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342459" y="9944100"/>
            <a:ext cx="18339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981075" y="1663750"/>
            <a:ext cx="6389287"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CONTRASTE CON EL PROCESO MANUAL · 03 / 09</a:t>
            </a:r>
          </a:p>
        </p:txBody>
      </p:sp>
      <p:sp>
        <p:nvSpPr>
          <p:cNvPr id="51" name="TextBox 50"/>
          <p:cNvSpPr txBox="1"/>
          <p:nvPr/>
        </p:nvSpPr>
        <p:spPr>
          <a:xfrm>
            <a:off x="981075" y="1885652"/>
            <a:ext cx="11989754"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Escenario operativo asistido · 2.365 publicaciones</a:t>
            </a:r>
          </a:p>
        </p:txBody>
      </p:sp>
      <p:sp>
        <p:nvSpPr>
          <p:cNvPr id="52" name="TextBox 51"/>
          <p:cNvSpPr txBox="1"/>
          <p:nvPr/>
        </p:nvSpPr>
        <p:spPr>
          <a:xfrm>
            <a:off x="914400" y="2665065"/>
            <a:ext cx="1267968" cy="247650"/>
          </a:xfrm>
          <a:prstGeom prst="rect">
            <a:avLst/>
          </a:prstGeom>
          <a:noFill/>
        </p:spPr>
        <p:txBody>
          <a:bodyPr wrap="none" lIns="0" rIns="0" tIns="0" bIns="0" anchor="t">
            <a:spAutoFit/>
          </a:bodyPr>
          <a:lstStyle/>
          <a:p>
            <a:pPr algn="l">
              <a:lnSpc>
                <a:spcPct val="100000"/>
              </a:lnSpc>
            </a:pPr>
            <a:r>
              <a:rPr sz="1500" b="1" i="0" spc="82">
                <a:solidFill>
                  <a:srgbClr val="9AB3CD"/>
                </a:solidFill>
                <a:latin typeface="Barlow"/>
              </a:rPr>
              <a:t>ESCENARIO</a:t>
            </a:r>
          </a:p>
        </p:txBody>
      </p:sp>
      <p:sp>
        <p:nvSpPr>
          <p:cNvPr id="53" name="TextBox 52"/>
          <p:cNvSpPr txBox="1"/>
          <p:nvPr/>
        </p:nvSpPr>
        <p:spPr>
          <a:xfrm>
            <a:off x="5448854" y="2665065"/>
            <a:ext cx="1837771"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CASOS HUMANOS</a:t>
            </a:r>
          </a:p>
        </p:txBody>
      </p:sp>
      <p:sp>
        <p:nvSpPr>
          <p:cNvPr id="54" name="TextBox 53"/>
          <p:cNvSpPr txBox="1"/>
          <p:nvPr/>
        </p:nvSpPr>
        <p:spPr>
          <a:xfrm>
            <a:off x="8795587" y="2665065"/>
            <a:ext cx="185336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HORAS HUMANAS</a:t>
            </a:r>
          </a:p>
        </p:txBody>
      </p:sp>
      <p:sp>
        <p:nvSpPr>
          <p:cNvPr id="55" name="TextBox 54"/>
          <p:cNvSpPr txBox="1"/>
          <p:nvPr/>
        </p:nvSpPr>
        <p:spPr>
          <a:xfrm>
            <a:off x="11906202" y="2665065"/>
            <a:ext cx="210507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HORAS DE MÁQUINA</a:t>
            </a:r>
          </a:p>
        </p:txBody>
      </p:sp>
      <p:sp>
        <p:nvSpPr>
          <p:cNvPr id="56" name="TextBox 55"/>
          <p:cNvSpPr txBox="1"/>
          <p:nvPr/>
        </p:nvSpPr>
        <p:spPr>
          <a:xfrm>
            <a:off x="15163407" y="2665065"/>
            <a:ext cx="2210193"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TIEMPO SECUENCIAL</a:t>
            </a:r>
          </a:p>
        </p:txBody>
      </p:sp>
      <p:sp>
        <p:nvSpPr>
          <p:cNvPr id="57" name="TextBox 56"/>
          <p:cNvSpPr txBox="1"/>
          <p:nvPr/>
        </p:nvSpPr>
        <p:spPr>
          <a:xfrm>
            <a:off x="914400" y="3836938"/>
            <a:ext cx="1221837"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Manual</a:t>
            </a:r>
          </a:p>
        </p:txBody>
      </p:sp>
      <p:sp>
        <p:nvSpPr>
          <p:cNvPr id="58" name="TextBox 57"/>
          <p:cNvSpPr txBox="1"/>
          <p:nvPr/>
        </p:nvSpPr>
        <p:spPr>
          <a:xfrm>
            <a:off x="6637806" y="3873133"/>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2.365</a:t>
            </a:r>
          </a:p>
        </p:txBody>
      </p:sp>
      <p:sp>
        <p:nvSpPr>
          <p:cNvPr id="59" name="TextBox 58"/>
          <p:cNvSpPr txBox="1"/>
          <p:nvPr/>
        </p:nvSpPr>
        <p:spPr>
          <a:xfrm>
            <a:off x="9832163" y="3873133"/>
            <a:ext cx="816787"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10,91 h</a:t>
            </a:r>
          </a:p>
        </p:txBody>
      </p:sp>
      <p:sp>
        <p:nvSpPr>
          <p:cNvPr id="60" name="TextBox 59"/>
          <p:cNvSpPr txBox="1"/>
          <p:nvPr/>
        </p:nvSpPr>
        <p:spPr>
          <a:xfrm>
            <a:off x="13766864" y="3873133"/>
            <a:ext cx="244412"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a:t>
            </a:r>
          </a:p>
        </p:txBody>
      </p:sp>
      <p:sp>
        <p:nvSpPr>
          <p:cNvPr id="61" name="TextBox 60"/>
          <p:cNvSpPr txBox="1"/>
          <p:nvPr/>
        </p:nvSpPr>
        <p:spPr>
          <a:xfrm>
            <a:off x="16556813" y="3873133"/>
            <a:ext cx="816787"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10,91 h</a:t>
            </a:r>
          </a:p>
        </p:txBody>
      </p:sp>
      <p:sp>
        <p:nvSpPr>
          <p:cNvPr id="62" name="TextBox 61"/>
          <p:cNvSpPr txBox="1"/>
          <p:nvPr/>
        </p:nvSpPr>
        <p:spPr>
          <a:xfrm>
            <a:off x="914400" y="5752058"/>
            <a:ext cx="133740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Asistido</a:t>
            </a:r>
          </a:p>
        </p:txBody>
      </p:sp>
      <p:sp>
        <p:nvSpPr>
          <p:cNvPr id="63" name="TextBox 62"/>
          <p:cNvSpPr txBox="1"/>
          <p:nvPr/>
        </p:nvSpPr>
        <p:spPr>
          <a:xfrm>
            <a:off x="6637806" y="5788253"/>
            <a:ext cx="648819"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1.083</a:t>
            </a:r>
          </a:p>
        </p:txBody>
      </p:sp>
      <p:sp>
        <p:nvSpPr>
          <p:cNvPr id="64" name="TextBox 63"/>
          <p:cNvSpPr txBox="1"/>
          <p:nvPr/>
        </p:nvSpPr>
        <p:spPr>
          <a:xfrm>
            <a:off x="9955286" y="5788253"/>
            <a:ext cx="693664"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5,00 h</a:t>
            </a:r>
          </a:p>
        </p:txBody>
      </p:sp>
      <p:sp>
        <p:nvSpPr>
          <p:cNvPr id="65" name="TextBox 64"/>
          <p:cNvSpPr txBox="1"/>
          <p:nvPr/>
        </p:nvSpPr>
        <p:spPr>
          <a:xfrm>
            <a:off x="13317611" y="5788253"/>
            <a:ext cx="693664"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4,28 h</a:t>
            </a:r>
          </a:p>
        </p:txBody>
      </p:sp>
      <p:sp>
        <p:nvSpPr>
          <p:cNvPr id="66" name="TextBox 65"/>
          <p:cNvSpPr txBox="1"/>
          <p:nvPr/>
        </p:nvSpPr>
        <p:spPr>
          <a:xfrm>
            <a:off x="16679936" y="5788253"/>
            <a:ext cx="693664"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9,28 h</a:t>
            </a:r>
          </a:p>
        </p:txBody>
      </p:sp>
      <p:sp>
        <p:nvSpPr>
          <p:cNvPr id="67" name="TextBox 66"/>
          <p:cNvSpPr txBox="1"/>
          <p:nvPr/>
        </p:nvSpPr>
        <p:spPr>
          <a:xfrm>
            <a:off x="914400" y="7667179"/>
            <a:ext cx="1680734" cy="342900"/>
          </a:xfrm>
          <a:prstGeom prst="rect">
            <a:avLst/>
          </a:prstGeom>
          <a:noFill/>
        </p:spPr>
        <p:txBody>
          <a:bodyPr wrap="none" lIns="0" rIns="0" tIns="0" bIns="0" anchor="t">
            <a:spAutoFit/>
          </a:bodyPr>
          <a:lstStyle/>
          <a:p>
            <a:pPr algn="l">
              <a:lnSpc>
                <a:spcPct val="100000"/>
              </a:lnSpc>
            </a:pPr>
            <a:r>
              <a:rPr sz="2100" b="1" i="0">
                <a:solidFill>
                  <a:srgbClr val="FFD21F"/>
                </a:solidFill>
                <a:latin typeface="Montserrat"/>
              </a:rPr>
              <a:t>Diferencia</a:t>
            </a:r>
          </a:p>
        </p:txBody>
      </p:sp>
      <p:sp>
        <p:nvSpPr>
          <p:cNvPr id="68" name="TextBox 67"/>
          <p:cNvSpPr txBox="1"/>
          <p:nvPr/>
        </p:nvSpPr>
        <p:spPr>
          <a:xfrm>
            <a:off x="6527703" y="7703374"/>
            <a:ext cx="758922" cy="270510"/>
          </a:xfrm>
          <a:prstGeom prst="rect">
            <a:avLst/>
          </a:prstGeom>
          <a:noFill/>
        </p:spPr>
        <p:txBody>
          <a:bodyPr wrap="none" lIns="0" rIns="0" tIns="0" bIns="0" anchor="t">
            <a:spAutoFit/>
          </a:bodyPr>
          <a:lstStyle/>
          <a:p>
            <a:pPr algn="r">
              <a:lnSpc>
                <a:spcPct val="100000"/>
              </a:lnSpc>
            </a:pPr>
            <a:r>
              <a:rPr sz="1650" b="1" i="0">
                <a:solidFill>
                  <a:srgbClr val="FFD21F"/>
                </a:solidFill>
                <a:latin typeface="Barlow"/>
              </a:rPr>
              <a:t>−1.282</a:t>
            </a:r>
          </a:p>
        </p:txBody>
      </p:sp>
      <p:sp>
        <p:nvSpPr>
          <p:cNvPr id="69" name="TextBox 68"/>
          <p:cNvSpPr txBox="1"/>
          <p:nvPr/>
        </p:nvSpPr>
        <p:spPr>
          <a:xfrm>
            <a:off x="9845183" y="7703374"/>
            <a:ext cx="803767" cy="270510"/>
          </a:xfrm>
          <a:prstGeom prst="rect">
            <a:avLst/>
          </a:prstGeom>
          <a:noFill/>
        </p:spPr>
        <p:txBody>
          <a:bodyPr wrap="none" lIns="0" rIns="0" tIns="0" bIns="0" anchor="t">
            <a:spAutoFit/>
          </a:bodyPr>
          <a:lstStyle/>
          <a:p>
            <a:pPr algn="r">
              <a:lnSpc>
                <a:spcPct val="100000"/>
              </a:lnSpc>
            </a:pPr>
            <a:r>
              <a:rPr sz="1650" b="1" i="0">
                <a:solidFill>
                  <a:srgbClr val="FFD21F"/>
                </a:solidFill>
                <a:latin typeface="Barlow"/>
              </a:rPr>
              <a:t>−5,91 h</a:t>
            </a:r>
          </a:p>
        </p:txBody>
      </p:sp>
      <p:sp>
        <p:nvSpPr>
          <p:cNvPr id="70" name="TextBox 69"/>
          <p:cNvSpPr txBox="1"/>
          <p:nvPr/>
        </p:nvSpPr>
        <p:spPr>
          <a:xfrm>
            <a:off x="13207508" y="7703374"/>
            <a:ext cx="803767" cy="270510"/>
          </a:xfrm>
          <a:prstGeom prst="rect">
            <a:avLst/>
          </a:prstGeom>
          <a:noFill/>
        </p:spPr>
        <p:txBody>
          <a:bodyPr wrap="none" lIns="0" rIns="0" tIns="0" bIns="0" anchor="t">
            <a:spAutoFit/>
          </a:bodyPr>
          <a:lstStyle/>
          <a:p>
            <a:pPr algn="r">
              <a:lnSpc>
                <a:spcPct val="100000"/>
              </a:lnSpc>
            </a:pPr>
            <a:r>
              <a:rPr sz="1650" b="1" i="0">
                <a:solidFill>
                  <a:srgbClr val="FFD21F"/>
                </a:solidFill>
                <a:latin typeface="Barlow"/>
              </a:rPr>
              <a:t>+4,28 h</a:t>
            </a:r>
          </a:p>
        </p:txBody>
      </p:sp>
      <p:sp>
        <p:nvSpPr>
          <p:cNvPr id="71" name="TextBox 70"/>
          <p:cNvSpPr txBox="1"/>
          <p:nvPr/>
        </p:nvSpPr>
        <p:spPr>
          <a:xfrm>
            <a:off x="16569833" y="7703374"/>
            <a:ext cx="803767" cy="270510"/>
          </a:xfrm>
          <a:prstGeom prst="rect">
            <a:avLst/>
          </a:prstGeom>
          <a:noFill/>
        </p:spPr>
        <p:txBody>
          <a:bodyPr wrap="none" lIns="0" rIns="0" tIns="0" bIns="0" anchor="t">
            <a:spAutoFit/>
          </a:bodyPr>
          <a:lstStyle/>
          <a:p>
            <a:pPr algn="r">
              <a:lnSpc>
                <a:spcPct val="100000"/>
              </a:lnSpc>
            </a:pPr>
            <a:r>
              <a:rPr sz="1650" b="1" i="0">
                <a:solidFill>
                  <a:srgbClr val="FFD21F"/>
                </a:solidFill>
                <a:latin typeface="Barlow"/>
              </a:rPr>
              <a:t>−1,63 h</a:t>
            </a:r>
          </a:p>
        </p:txBody>
      </p:sp>
      <p:sp>
        <p:nvSpPr>
          <p:cNvPr id="72" name="TextBox 71"/>
          <p:cNvSpPr txBox="1"/>
          <p:nvPr/>
        </p:nvSpPr>
        <p:spPr>
          <a:xfrm>
            <a:off x="952500" y="9048750"/>
            <a:ext cx="1561951"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−54,21%</a:t>
            </a:r>
          </a:p>
        </p:txBody>
      </p:sp>
      <p:sp>
        <p:nvSpPr>
          <p:cNvPr id="73" name="TextBox 72"/>
          <p:cNvSpPr txBox="1"/>
          <p:nvPr/>
        </p:nvSpPr>
        <p:spPr>
          <a:xfrm>
            <a:off x="4463838" y="9229725"/>
            <a:ext cx="1625763" cy="238125"/>
          </a:xfrm>
          <a:prstGeom prst="rect">
            <a:avLst/>
          </a:prstGeom>
          <a:noFill/>
        </p:spPr>
        <p:txBody>
          <a:bodyPr wrap="none" lIns="0" rIns="0" tIns="0" bIns="0" anchor="t">
            <a:spAutoFit/>
          </a:bodyPr>
          <a:lstStyle/>
          <a:p>
            <a:pPr algn="r">
              <a:lnSpc>
                <a:spcPct val="100000"/>
              </a:lnSpc>
            </a:pPr>
            <a:r>
              <a:rPr sz="1425" b="1" i="0">
                <a:solidFill>
                  <a:srgbClr val="F3F7FC"/>
                </a:solidFill>
                <a:latin typeface="Barlow"/>
              </a:rPr>
              <a:t>HORAS HUMANAS</a:t>
            </a:r>
          </a:p>
        </p:txBody>
      </p:sp>
      <p:sp>
        <p:nvSpPr>
          <p:cNvPr id="74" name="TextBox 73"/>
          <p:cNvSpPr txBox="1"/>
          <p:nvPr/>
        </p:nvSpPr>
        <p:spPr>
          <a:xfrm>
            <a:off x="6603950" y="9048750"/>
            <a:ext cx="1561951"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−14,97%</a:t>
            </a:r>
          </a:p>
        </p:txBody>
      </p:sp>
      <p:sp>
        <p:nvSpPr>
          <p:cNvPr id="75" name="TextBox 74"/>
          <p:cNvSpPr txBox="1"/>
          <p:nvPr/>
        </p:nvSpPr>
        <p:spPr>
          <a:xfrm>
            <a:off x="9819376" y="9229725"/>
            <a:ext cx="1921675" cy="238125"/>
          </a:xfrm>
          <a:prstGeom prst="rect">
            <a:avLst/>
          </a:prstGeom>
          <a:noFill/>
        </p:spPr>
        <p:txBody>
          <a:bodyPr wrap="none" lIns="0" rIns="0" tIns="0" bIns="0" anchor="t">
            <a:spAutoFit/>
          </a:bodyPr>
          <a:lstStyle/>
          <a:p>
            <a:pPr algn="r">
              <a:lnSpc>
                <a:spcPct val="100000"/>
              </a:lnSpc>
            </a:pPr>
            <a:r>
              <a:rPr sz="1425" b="1" i="0">
                <a:solidFill>
                  <a:srgbClr val="F3F7FC"/>
                </a:solidFill>
                <a:latin typeface="Barlow"/>
              </a:rPr>
              <a:t>TIEMPO SECUENCIAL</a:t>
            </a:r>
          </a:p>
        </p:txBody>
      </p:sp>
      <p:sp>
        <p:nvSpPr>
          <p:cNvPr id="76" name="TextBox 75"/>
          <p:cNvSpPr txBox="1"/>
          <p:nvPr/>
        </p:nvSpPr>
        <p:spPr>
          <a:xfrm>
            <a:off x="12255401" y="9048750"/>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54,21%</a:t>
            </a:r>
          </a:p>
        </p:txBody>
      </p:sp>
      <p:sp>
        <p:nvSpPr>
          <p:cNvPr id="77" name="TextBox 76"/>
          <p:cNvSpPr txBox="1"/>
          <p:nvPr/>
        </p:nvSpPr>
        <p:spPr>
          <a:xfrm>
            <a:off x="15023020" y="9229725"/>
            <a:ext cx="2369481" cy="238125"/>
          </a:xfrm>
          <a:prstGeom prst="rect">
            <a:avLst/>
          </a:prstGeom>
          <a:noFill/>
        </p:spPr>
        <p:txBody>
          <a:bodyPr wrap="none" lIns="0" rIns="0" tIns="0" bIns="0" anchor="t">
            <a:spAutoFit/>
          </a:bodyPr>
          <a:lstStyle/>
          <a:p>
            <a:pPr algn="r">
              <a:lnSpc>
                <a:spcPct val="100000"/>
              </a:lnSpc>
            </a:pPr>
            <a:r>
              <a:rPr sz="1425" b="1" i="0">
                <a:solidFill>
                  <a:srgbClr val="F3F7FC"/>
                </a:solidFill>
                <a:latin typeface="Barlow"/>
              </a:rPr>
              <a:t>COBERTURA AUTOMÁTICA</a:t>
            </a:r>
          </a:p>
        </p:txBody>
      </p:sp>
      <p:sp>
        <p:nvSpPr>
          <p:cNvPr id="78" name="TextBox 77"/>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79" name="TextBox 78"/>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80" name="TextBox 79"/>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81" name="TextBox 80"/>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50</a:t>
            </a:r>
          </a:p>
        </p:txBody>
      </p:sp>
      <p:sp>
        <p:nvSpPr>
          <p:cNvPr id="82" name="TextBox 81"/>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83" name="TextBox 82"/>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84" name="TextBox 83"/>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85" name="TextBox 84"/>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86" name="TextBox 85"/>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87" name="TextBox 86"/>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553715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9610725"/>
            <a:ext cx="5537150" cy="9525"/>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51525"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33425" y="3236565"/>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33425" y="6423571"/>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375350"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375350" y="2503140"/>
            <a:ext cx="5537150" cy="7620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5350" y="9610725"/>
            <a:ext cx="5537150" cy="9525"/>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375350"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902976"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84875" y="3236565"/>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84875" y="6423571"/>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026801" y="2503140"/>
            <a:ext cx="5537150" cy="7117110"/>
          </a:xfrm>
          <a:prstGeom prst="rect">
            <a:avLst/>
          </a:prstGeom>
          <a:solidFill>
            <a:srgbClr val="0D2748">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2026801" y="2503140"/>
            <a:ext cx="5537150" cy="7620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2026801" y="9610725"/>
            <a:ext cx="5537150" cy="9525"/>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2026801"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7554426" y="2503140"/>
            <a:ext cx="9525" cy="7117110"/>
          </a:xfrm>
          <a:prstGeom prst="rect">
            <a:avLst/>
          </a:prstGeom>
          <a:solidFill>
            <a:srgbClr val="6D8FB2">
              <a:alpha val="6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036326" y="3236565"/>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036326" y="6423571"/>
            <a:ext cx="5518100" cy="952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951738"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956500" y="9944100"/>
            <a:ext cx="18338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3750"/>
            <a:ext cx="6404074"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CONTRASTE CON EL PROCESO MANUAL · 04 / 09</a:t>
            </a:r>
          </a:p>
        </p:txBody>
      </p:sp>
      <p:sp>
        <p:nvSpPr>
          <p:cNvPr id="44" name="TextBox 43"/>
          <p:cNvSpPr txBox="1"/>
          <p:nvPr/>
        </p:nvSpPr>
        <p:spPr>
          <a:xfrm>
            <a:off x="981075" y="1885652"/>
            <a:ext cx="1044043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Consistencia durante la evaluación y el uso</a:t>
            </a:r>
          </a:p>
        </p:txBody>
      </p:sp>
      <p:sp>
        <p:nvSpPr>
          <p:cNvPr id="45" name="TextBox 44"/>
          <p:cNvSpPr txBox="1"/>
          <p:nvPr/>
        </p:nvSpPr>
        <p:spPr>
          <a:xfrm>
            <a:off x="1104638" y="2741265"/>
            <a:ext cx="4775674" cy="352425"/>
          </a:xfrm>
          <a:prstGeom prst="rect">
            <a:avLst/>
          </a:prstGeom>
          <a:noFill/>
        </p:spPr>
        <p:txBody>
          <a:bodyPr wrap="none" lIns="0" rIns="0" tIns="0" bIns="0" anchor="t">
            <a:spAutoFit/>
          </a:bodyPr>
          <a:lstStyle/>
          <a:p>
            <a:pPr algn="ctr">
              <a:lnSpc>
                <a:spcPct val="100000"/>
              </a:lnSpc>
            </a:pPr>
            <a:r>
              <a:rPr sz="2175" b="1" i="0">
                <a:solidFill>
                  <a:srgbClr val="F3F7FC"/>
                </a:solidFill>
                <a:latin typeface="Montserrat"/>
              </a:rPr>
              <a:t>Evaluación interna · Modelo 3</a:t>
            </a:r>
          </a:p>
        </p:txBody>
      </p:sp>
      <p:sp>
        <p:nvSpPr>
          <p:cNvPr id="46" name="TextBox 45"/>
          <p:cNvSpPr txBox="1"/>
          <p:nvPr/>
        </p:nvSpPr>
        <p:spPr>
          <a:xfrm>
            <a:off x="2638371" y="4423916"/>
            <a:ext cx="1708059"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96,89%</a:t>
            </a:r>
          </a:p>
        </p:txBody>
      </p:sp>
      <p:sp>
        <p:nvSpPr>
          <p:cNvPr id="47" name="TextBox 46"/>
          <p:cNvSpPr txBox="1"/>
          <p:nvPr/>
        </p:nvSpPr>
        <p:spPr>
          <a:xfrm>
            <a:off x="2445651" y="4985891"/>
            <a:ext cx="2093500"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EXACTITUD · 161 PARES</a:t>
            </a:r>
          </a:p>
        </p:txBody>
      </p:sp>
      <p:sp>
        <p:nvSpPr>
          <p:cNvPr id="48" name="TextBox 47"/>
          <p:cNvSpPr txBox="1"/>
          <p:nvPr/>
        </p:nvSpPr>
        <p:spPr>
          <a:xfrm>
            <a:off x="2638371" y="7611070"/>
            <a:ext cx="1708059"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97,41%</a:t>
            </a:r>
          </a:p>
        </p:txBody>
      </p:sp>
      <p:sp>
        <p:nvSpPr>
          <p:cNvPr id="49" name="TextBox 48"/>
          <p:cNvSpPr txBox="1"/>
          <p:nvPr/>
        </p:nvSpPr>
        <p:spPr>
          <a:xfrm>
            <a:off x="3020116" y="8173045"/>
            <a:ext cx="944570"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F1-SCORE</a:t>
            </a:r>
          </a:p>
        </p:txBody>
      </p:sp>
      <p:sp>
        <p:nvSpPr>
          <p:cNvPr id="50" name="TextBox 49"/>
          <p:cNvSpPr txBox="1"/>
          <p:nvPr/>
        </p:nvSpPr>
        <p:spPr>
          <a:xfrm>
            <a:off x="7062127" y="2741265"/>
            <a:ext cx="4163598" cy="352425"/>
          </a:xfrm>
          <a:prstGeom prst="rect">
            <a:avLst/>
          </a:prstGeom>
          <a:noFill/>
        </p:spPr>
        <p:txBody>
          <a:bodyPr wrap="none" lIns="0" rIns="0" tIns="0" bIns="0" anchor="t">
            <a:spAutoFit/>
          </a:bodyPr>
          <a:lstStyle/>
          <a:p>
            <a:pPr algn="ctr">
              <a:lnSpc>
                <a:spcPct val="100000"/>
              </a:lnSpc>
            </a:pPr>
            <a:r>
              <a:rPr sz="2175" b="1" i="0">
                <a:solidFill>
                  <a:srgbClr val="F3F7FC"/>
                </a:solidFill>
                <a:latin typeface="Montserrat"/>
              </a:rPr>
              <a:t>Benchmark externo · v7.5</a:t>
            </a:r>
          </a:p>
        </p:txBody>
      </p:sp>
      <p:sp>
        <p:nvSpPr>
          <p:cNvPr id="51" name="TextBox 50"/>
          <p:cNvSpPr txBox="1"/>
          <p:nvPr/>
        </p:nvSpPr>
        <p:spPr>
          <a:xfrm>
            <a:off x="8289822" y="4423916"/>
            <a:ext cx="1708059"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94,54%</a:t>
            </a:r>
          </a:p>
        </p:txBody>
      </p:sp>
      <p:sp>
        <p:nvSpPr>
          <p:cNvPr id="52" name="TextBox 51"/>
          <p:cNvSpPr txBox="1"/>
          <p:nvPr/>
        </p:nvSpPr>
        <p:spPr>
          <a:xfrm>
            <a:off x="7961436" y="4985891"/>
            <a:ext cx="2364980"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COINCIDENCIA SELECTIVA</a:t>
            </a:r>
          </a:p>
        </p:txBody>
      </p:sp>
      <p:sp>
        <p:nvSpPr>
          <p:cNvPr id="53" name="TextBox 52"/>
          <p:cNvSpPr txBox="1"/>
          <p:nvPr/>
        </p:nvSpPr>
        <p:spPr>
          <a:xfrm>
            <a:off x="8008209" y="7611070"/>
            <a:ext cx="2271433"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70 / 1.282</a:t>
            </a:r>
          </a:p>
        </p:txBody>
      </p:sp>
      <p:sp>
        <p:nvSpPr>
          <p:cNvPr id="54" name="TextBox 53"/>
          <p:cNvSpPr txBox="1"/>
          <p:nvPr/>
        </p:nvSpPr>
        <p:spPr>
          <a:xfrm>
            <a:off x="7670512" y="8173045"/>
            <a:ext cx="2946678"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DESACUERDOS AUTOMATIZADOS</a:t>
            </a:r>
          </a:p>
        </p:txBody>
      </p:sp>
      <p:sp>
        <p:nvSpPr>
          <p:cNvPr id="55" name="TextBox 54"/>
          <p:cNvSpPr txBox="1"/>
          <p:nvPr/>
        </p:nvSpPr>
        <p:spPr>
          <a:xfrm>
            <a:off x="13537984" y="2741265"/>
            <a:ext cx="2514785" cy="352425"/>
          </a:xfrm>
          <a:prstGeom prst="rect">
            <a:avLst/>
          </a:prstGeom>
          <a:noFill/>
        </p:spPr>
        <p:txBody>
          <a:bodyPr wrap="none" lIns="0" rIns="0" tIns="0" bIns="0" anchor="t">
            <a:spAutoFit/>
          </a:bodyPr>
          <a:lstStyle/>
          <a:p>
            <a:pPr algn="ctr">
              <a:lnSpc>
                <a:spcPct val="100000"/>
              </a:lnSpc>
            </a:pPr>
            <a:r>
              <a:rPr sz="2175" b="1" i="0">
                <a:solidFill>
                  <a:srgbClr val="F3F7FC"/>
                </a:solidFill>
                <a:latin typeface="Montserrat"/>
              </a:rPr>
              <a:t>Uso controlado</a:t>
            </a:r>
          </a:p>
        </p:txBody>
      </p:sp>
      <p:sp>
        <p:nvSpPr>
          <p:cNvPr id="56" name="TextBox 55"/>
          <p:cNvSpPr txBox="1"/>
          <p:nvPr/>
        </p:nvSpPr>
        <p:spPr>
          <a:xfrm>
            <a:off x="14512677" y="4214366"/>
            <a:ext cx="565398" cy="981075"/>
          </a:xfrm>
          <a:prstGeom prst="rect">
            <a:avLst/>
          </a:prstGeom>
          <a:noFill/>
        </p:spPr>
        <p:txBody>
          <a:bodyPr wrap="none" lIns="0" rIns="0" tIns="0" bIns="0" anchor="t">
            <a:spAutoFit/>
          </a:bodyPr>
          <a:lstStyle/>
          <a:p>
            <a:pPr algn="ctr">
              <a:lnSpc>
                <a:spcPct val="83300"/>
              </a:lnSpc>
            </a:pPr>
            <a:r>
              <a:rPr sz="6300" b="1" i="0">
                <a:solidFill>
                  <a:srgbClr val="FFD21F"/>
                </a:solidFill>
                <a:latin typeface="Barlow"/>
              </a:rPr>
              <a:t>0</a:t>
            </a:r>
          </a:p>
        </p:txBody>
      </p:sp>
      <p:sp>
        <p:nvSpPr>
          <p:cNvPr id="57" name="TextBox 56"/>
          <p:cNvSpPr txBox="1"/>
          <p:nvPr/>
        </p:nvSpPr>
        <p:spPr>
          <a:xfrm>
            <a:off x="13691812" y="5157341"/>
            <a:ext cx="2206978"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ERRORES REGISTRADOS</a:t>
            </a:r>
          </a:p>
        </p:txBody>
      </p:sp>
      <p:sp>
        <p:nvSpPr>
          <p:cNvPr id="58" name="TextBox 57"/>
          <p:cNvSpPr txBox="1"/>
          <p:nvPr/>
        </p:nvSpPr>
        <p:spPr>
          <a:xfrm>
            <a:off x="13678632" y="7611070"/>
            <a:ext cx="2233339" cy="571500"/>
          </a:xfrm>
          <a:prstGeom prst="rect">
            <a:avLst/>
          </a:prstGeom>
          <a:noFill/>
        </p:spPr>
        <p:txBody>
          <a:bodyPr wrap="none" lIns="0" rIns="0" tIns="0" bIns="0" anchor="t">
            <a:spAutoFit/>
          </a:bodyPr>
          <a:lstStyle/>
          <a:p>
            <a:pPr algn="ctr">
              <a:lnSpc>
                <a:spcPct val="83300"/>
              </a:lnSpc>
            </a:pPr>
            <a:r>
              <a:rPr sz="3600" b="1" i="0">
                <a:solidFill>
                  <a:srgbClr val="FFD21F"/>
                </a:solidFill>
                <a:latin typeface="Barlow"/>
              </a:rPr>
              <a:t>Aceptado</a:t>
            </a:r>
          </a:p>
        </p:txBody>
      </p:sp>
      <p:sp>
        <p:nvSpPr>
          <p:cNvPr id="59" name="TextBox 58"/>
          <p:cNvSpPr txBox="1"/>
          <p:nvPr/>
        </p:nvSpPr>
        <p:spPr>
          <a:xfrm>
            <a:off x="13972937" y="8173045"/>
            <a:ext cx="1644729" cy="238125"/>
          </a:xfrm>
          <a:prstGeom prst="rect">
            <a:avLst/>
          </a:prstGeom>
          <a:noFill/>
        </p:spPr>
        <p:txBody>
          <a:bodyPr wrap="none" lIns="0" rIns="0" tIns="0" bIns="0" anchor="t">
            <a:spAutoFit/>
          </a:bodyPr>
          <a:lstStyle/>
          <a:p>
            <a:pPr algn="ctr">
              <a:lnSpc>
                <a:spcPct val="93300"/>
              </a:lnSpc>
            </a:pPr>
            <a:r>
              <a:rPr sz="1425" b="1" i="0">
                <a:solidFill>
                  <a:srgbClr val="9AB3CD"/>
                </a:solidFill>
                <a:latin typeface="Barlow"/>
              </a:rPr>
              <a:t>REGISTRO DE USO</a:t>
            </a:r>
          </a:p>
        </p:txBody>
      </p:sp>
      <p:sp>
        <p:nvSpPr>
          <p:cNvPr id="60" name="TextBox 59"/>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61" name="TextBox 60"/>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62" name="TextBox 61"/>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63" name="TextBox 62"/>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64" name="TextBox 63"/>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51</a:t>
            </a:r>
          </a:p>
        </p:txBody>
      </p:sp>
      <p:sp>
        <p:nvSpPr>
          <p:cNvPr id="65" name="TextBox 64"/>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66" name="TextBox 65"/>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67" name="TextBox 66"/>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68" name="TextBox 67"/>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69" name="TextBox 68"/>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836295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529435"/>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66675" cy="20358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77325" y="250314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555456" y="3511451"/>
            <a:ext cx="1002357"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01150" y="2503140"/>
            <a:ext cx="836295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01150" y="250314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1150" y="4529435"/>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01150" y="2503140"/>
            <a:ext cx="66675" cy="20358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250314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393763" y="3511451"/>
            <a:ext cx="838200"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4653260"/>
            <a:ext cx="836295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465326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6679555"/>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4653260"/>
            <a:ext cx="66675" cy="20358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77325" y="465326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700564" y="5661571"/>
            <a:ext cx="857250"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01150" y="4653260"/>
            <a:ext cx="836295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01150" y="465326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201150" y="6679555"/>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01150" y="4653260"/>
            <a:ext cx="66675" cy="20358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465326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4178260" y="5661571"/>
            <a:ext cx="856804"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3900" y="6803380"/>
            <a:ext cx="16840200" cy="20358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23900" y="6803380"/>
            <a:ext cx="168402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23900" y="8829675"/>
            <a:ext cx="1684020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3900" y="6803380"/>
            <a:ext cx="66675" cy="20358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17554575" y="6803380"/>
            <a:ext cx="9525" cy="20358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4191357" y="7811691"/>
            <a:ext cx="1621185"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3425" y="8963025"/>
            <a:ext cx="16821150" cy="647700"/>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9565630" y="9720262"/>
            <a:ext cx="1537841"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9570393" y="9944100"/>
            <a:ext cx="14671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981075" y="1663750"/>
            <a:ext cx="5884420"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CONTRASTACIÓN DE LA HIPÓTESIS · 05 / 09</a:t>
            </a:r>
          </a:p>
        </p:txBody>
      </p:sp>
      <p:sp>
        <p:nvSpPr>
          <p:cNvPr id="55" name="TextBox 54"/>
          <p:cNvSpPr txBox="1"/>
          <p:nvPr/>
        </p:nvSpPr>
        <p:spPr>
          <a:xfrm>
            <a:off x="981075" y="1885652"/>
            <a:ext cx="10370838"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Resultados de la consistencia de la calidad</a:t>
            </a:r>
          </a:p>
        </p:txBody>
      </p:sp>
      <p:sp>
        <p:nvSpPr>
          <p:cNvPr id="56" name="TextBox 55"/>
          <p:cNvSpPr txBox="1"/>
          <p:nvPr/>
        </p:nvSpPr>
        <p:spPr>
          <a:xfrm>
            <a:off x="1000125" y="3244751"/>
            <a:ext cx="1517910"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Accuracy</a:t>
            </a:r>
          </a:p>
        </p:txBody>
      </p:sp>
      <p:sp>
        <p:nvSpPr>
          <p:cNvPr id="57" name="TextBox 56"/>
          <p:cNvSpPr txBox="1"/>
          <p:nvPr/>
        </p:nvSpPr>
        <p:spPr>
          <a:xfrm>
            <a:off x="1000125" y="3604796"/>
            <a:ext cx="1073801"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EXACTITUD</a:t>
            </a:r>
          </a:p>
        </p:txBody>
      </p:sp>
      <p:sp>
        <p:nvSpPr>
          <p:cNvPr id="58" name="TextBox 57"/>
          <p:cNvSpPr txBox="1"/>
          <p:nvPr/>
        </p:nvSpPr>
        <p:spPr>
          <a:xfrm>
            <a:off x="5550033" y="3211711"/>
            <a:ext cx="1013204"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 + 62</a:t>
            </a:r>
          </a:p>
        </p:txBody>
      </p:sp>
      <p:sp>
        <p:nvSpPr>
          <p:cNvPr id="59" name="TextBox 58"/>
          <p:cNvSpPr txBox="1"/>
          <p:nvPr/>
        </p:nvSpPr>
        <p:spPr>
          <a:xfrm>
            <a:off x="5833568" y="3540026"/>
            <a:ext cx="446133"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161</a:t>
            </a:r>
          </a:p>
        </p:txBody>
      </p:sp>
      <p:sp>
        <p:nvSpPr>
          <p:cNvPr id="60" name="TextBox 59"/>
          <p:cNvSpPr txBox="1"/>
          <p:nvPr/>
        </p:nvSpPr>
        <p:spPr>
          <a:xfrm>
            <a:off x="6653064" y="3359051"/>
            <a:ext cx="110755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 100 =</a:t>
            </a:r>
          </a:p>
        </p:txBody>
      </p:sp>
      <p:sp>
        <p:nvSpPr>
          <p:cNvPr id="61" name="TextBox 60"/>
          <p:cNvSpPr txBox="1"/>
          <p:nvPr/>
        </p:nvSpPr>
        <p:spPr>
          <a:xfrm>
            <a:off x="7685633" y="3301901"/>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96,89%</a:t>
            </a:r>
          </a:p>
        </p:txBody>
      </p:sp>
      <p:sp>
        <p:nvSpPr>
          <p:cNvPr id="62" name="TextBox 61"/>
          <p:cNvSpPr txBox="1"/>
          <p:nvPr/>
        </p:nvSpPr>
        <p:spPr>
          <a:xfrm>
            <a:off x="9477375" y="3149501"/>
            <a:ext cx="86098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Error</a:t>
            </a:r>
          </a:p>
        </p:txBody>
      </p:sp>
      <p:sp>
        <p:nvSpPr>
          <p:cNvPr id="63" name="TextBox 62"/>
          <p:cNvSpPr txBox="1"/>
          <p:nvPr/>
        </p:nvSpPr>
        <p:spPr>
          <a:xfrm>
            <a:off x="9477375" y="3509546"/>
            <a:ext cx="1543050" cy="407670"/>
          </a:xfrm>
          <a:prstGeom prst="rect">
            <a:avLst/>
          </a:prstGeom>
          <a:noFill/>
        </p:spPr>
        <p:txBody>
          <a:bodyPr wrap="square" lIns="0" rIns="0" tIns="0" bIns="0" anchor="t">
            <a:spAutoFit/>
          </a:bodyPr>
          <a:lstStyle/>
          <a:p>
            <a:pPr algn="l">
              <a:lnSpc>
                <a:spcPct val="100000"/>
              </a:lnSpc>
            </a:pPr>
            <a:r>
              <a:rPr sz="1275" b="1" i="0" spc="63">
                <a:solidFill>
                  <a:srgbClr val="9AB3CD"/>
                </a:solidFill>
                <a:latin typeface="Barlow"/>
              </a:rPr>
              <a:t>TASA ALGORÍTMICA</a:t>
            </a:r>
          </a:p>
        </p:txBody>
      </p:sp>
      <p:sp>
        <p:nvSpPr>
          <p:cNvPr id="64" name="TextBox 63"/>
          <p:cNvSpPr txBox="1"/>
          <p:nvPr/>
        </p:nvSpPr>
        <p:spPr>
          <a:xfrm>
            <a:off x="14475440" y="3211711"/>
            <a:ext cx="674697"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3 + 2</a:t>
            </a:r>
          </a:p>
        </p:txBody>
      </p:sp>
      <p:sp>
        <p:nvSpPr>
          <p:cNvPr id="65" name="TextBox 64"/>
          <p:cNvSpPr txBox="1"/>
          <p:nvPr/>
        </p:nvSpPr>
        <p:spPr>
          <a:xfrm>
            <a:off x="14589722" y="3540026"/>
            <a:ext cx="446133"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161</a:t>
            </a:r>
          </a:p>
        </p:txBody>
      </p:sp>
      <p:sp>
        <p:nvSpPr>
          <p:cNvPr id="66" name="TextBox 65"/>
          <p:cNvSpPr txBox="1"/>
          <p:nvPr/>
        </p:nvSpPr>
        <p:spPr>
          <a:xfrm>
            <a:off x="15327213" y="3359051"/>
            <a:ext cx="110755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 100 =</a:t>
            </a:r>
          </a:p>
        </p:txBody>
      </p:sp>
      <p:sp>
        <p:nvSpPr>
          <p:cNvPr id="67" name="TextBox 66"/>
          <p:cNvSpPr txBox="1"/>
          <p:nvPr/>
        </p:nvSpPr>
        <p:spPr>
          <a:xfrm>
            <a:off x="16359783" y="3301901"/>
            <a:ext cx="1159312"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3,11%</a:t>
            </a:r>
          </a:p>
        </p:txBody>
      </p:sp>
      <p:sp>
        <p:nvSpPr>
          <p:cNvPr id="68" name="TextBox 67"/>
          <p:cNvSpPr txBox="1"/>
          <p:nvPr/>
        </p:nvSpPr>
        <p:spPr>
          <a:xfrm>
            <a:off x="1000125" y="5299621"/>
            <a:ext cx="151999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Precisión</a:t>
            </a:r>
          </a:p>
        </p:txBody>
      </p:sp>
      <p:sp>
        <p:nvSpPr>
          <p:cNvPr id="69" name="TextBox 68"/>
          <p:cNvSpPr txBox="1"/>
          <p:nvPr/>
        </p:nvSpPr>
        <p:spPr>
          <a:xfrm>
            <a:off x="1000125" y="5659666"/>
            <a:ext cx="1543050" cy="407670"/>
          </a:xfrm>
          <a:prstGeom prst="rect">
            <a:avLst/>
          </a:prstGeom>
          <a:noFill/>
        </p:spPr>
        <p:txBody>
          <a:bodyPr wrap="square" lIns="0" rIns="0" tIns="0" bIns="0" anchor="t">
            <a:spAutoFit/>
          </a:bodyPr>
          <a:lstStyle/>
          <a:p>
            <a:pPr algn="l">
              <a:lnSpc>
                <a:spcPct val="100000"/>
              </a:lnSpc>
            </a:pPr>
            <a:r>
              <a:rPr sz="1275" b="1" i="0" spc="63">
                <a:solidFill>
                  <a:srgbClr val="9AB3CD"/>
                </a:solidFill>
                <a:latin typeface="Barlow"/>
              </a:rPr>
              <a:t>VERDADEROS POSITIVOS</a:t>
            </a:r>
          </a:p>
        </p:txBody>
      </p:sp>
      <p:sp>
        <p:nvSpPr>
          <p:cNvPr id="70" name="TextBox 69"/>
          <p:cNvSpPr txBox="1"/>
          <p:nvPr/>
        </p:nvSpPr>
        <p:spPr>
          <a:xfrm>
            <a:off x="5917781" y="5361831"/>
            <a:ext cx="422666"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a:t>
            </a:r>
          </a:p>
        </p:txBody>
      </p:sp>
      <p:sp>
        <p:nvSpPr>
          <p:cNvPr id="71" name="TextBox 70"/>
          <p:cNvSpPr txBox="1"/>
          <p:nvPr/>
        </p:nvSpPr>
        <p:spPr>
          <a:xfrm>
            <a:off x="5700945" y="5690146"/>
            <a:ext cx="856488"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 + 3</a:t>
            </a:r>
          </a:p>
        </p:txBody>
      </p:sp>
      <p:sp>
        <p:nvSpPr>
          <p:cNvPr id="72" name="TextBox 71"/>
          <p:cNvSpPr txBox="1"/>
          <p:nvPr/>
        </p:nvSpPr>
        <p:spPr>
          <a:xfrm>
            <a:off x="6653064" y="5509171"/>
            <a:ext cx="110755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 100 =</a:t>
            </a:r>
          </a:p>
        </p:txBody>
      </p:sp>
      <p:sp>
        <p:nvSpPr>
          <p:cNvPr id="73" name="TextBox 72"/>
          <p:cNvSpPr txBox="1"/>
          <p:nvPr/>
        </p:nvSpPr>
        <p:spPr>
          <a:xfrm>
            <a:off x="7685633" y="5452021"/>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96,91%</a:t>
            </a:r>
          </a:p>
        </p:txBody>
      </p:sp>
      <p:sp>
        <p:nvSpPr>
          <p:cNvPr id="74" name="TextBox 73"/>
          <p:cNvSpPr txBox="1"/>
          <p:nvPr/>
        </p:nvSpPr>
        <p:spPr>
          <a:xfrm>
            <a:off x="9477375" y="5394871"/>
            <a:ext cx="1028313"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Recall</a:t>
            </a:r>
          </a:p>
        </p:txBody>
      </p:sp>
      <p:sp>
        <p:nvSpPr>
          <p:cNvPr id="75" name="TextBox 74"/>
          <p:cNvSpPr txBox="1"/>
          <p:nvPr/>
        </p:nvSpPr>
        <p:spPr>
          <a:xfrm>
            <a:off x="9477375" y="5754916"/>
            <a:ext cx="1300115"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SENSIBILIDAD</a:t>
            </a:r>
          </a:p>
        </p:txBody>
      </p:sp>
      <p:sp>
        <p:nvSpPr>
          <p:cNvPr id="76" name="TextBox 75"/>
          <p:cNvSpPr txBox="1"/>
          <p:nvPr/>
        </p:nvSpPr>
        <p:spPr>
          <a:xfrm>
            <a:off x="14395329" y="5361831"/>
            <a:ext cx="422666"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a:t>
            </a:r>
          </a:p>
        </p:txBody>
      </p:sp>
      <p:sp>
        <p:nvSpPr>
          <p:cNvPr id="77" name="TextBox 76"/>
          <p:cNvSpPr txBox="1"/>
          <p:nvPr/>
        </p:nvSpPr>
        <p:spPr>
          <a:xfrm>
            <a:off x="14178659" y="5690146"/>
            <a:ext cx="856006"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94 + 2</a:t>
            </a:r>
          </a:p>
        </p:txBody>
      </p:sp>
      <p:sp>
        <p:nvSpPr>
          <p:cNvPr id="78" name="TextBox 77"/>
          <p:cNvSpPr txBox="1"/>
          <p:nvPr/>
        </p:nvSpPr>
        <p:spPr>
          <a:xfrm>
            <a:off x="15130314" y="5509171"/>
            <a:ext cx="1107555"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 100 =</a:t>
            </a:r>
          </a:p>
        </p:txBody>
      </p:sp>
      <p:sp>
        <p:nvSpPr>
          <p:cNvPr id="79" name="TextBox 78"/>
          <p:cNvSpPr txBox="1"/>
          <p:nvPr/>
        </p:nvSpPr>
        <p:spPr>
          <a:xfrm>
            <a:off x="16162883" y="5452021"/>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97,92%</a:t>
            </a:r>
          </a:p>
        </p:txBody>
      </p:sp>
      <p:sp>
        <p:nvSpPr>
          <p:cNvPr id="80" name="TextBox 79"/>
          <p:cNvSpPr txBox="1"/>
          <p:nvPr/>
        </p:nvSpPr>
        <p:spPr>
          <a:xfrm>
            <a:off x="1000125" y="7544991"/>
            <a:ext cx="134479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F1-score</a:t>
            </a:r>
          </a:p>
        </p:txBody>
      </p:sp>
      <p:sp>
        <p:nvSpPr>
          <p:cNvPr id="81" name="TextBox 80"/>
          <p:cNvSpPr txBox="1"/>
          <p:nvPr/>
        </p:nvSpPr>
        <p:spPr>
          <a:xfrm>
            <a:off x="1000125" y="7905036"/>
            <a:ext cx="1592812"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MEDIA ARMÓNICA</a:t>
            </a:r>
          </a:p>
        </p:txBody>
      </p:sp>
      <p:sp>
        <p:nvSpPr>
          <p:cNvPr id="82" name="TextBox 81"/>
          <p:cNvSpPr txBox="1"/>
          <p:nvPr/>
        </p:nvSpPr>
        <p:spPr>
          <a:xfrm>
            <a:off x="13703498" y="7659291"/>
            <a:ext cx="519267"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2 ×</a:t>
            </a:r>
          </a:p>
        </p:txBody>
      </p:sp>
      <p:sp>
        <p:nvSpPr>
          <p:cNvPr id="83" name="TextBox 82"/>
          <p:cNvSpPr txBox="1"/>
          <p:nvPr/>
        </p:nvSpPr>
        <p:spPr>
          <a:xfrm>
            <a:off x="14161181" y="7511951"/>
            <a:ext cx="1681538"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96,91 × 97,92</a:t>
            </a:r>
          </a:p>
        </p:txBody>
      </p:sp>
      <p:sp>
        <p:nvSpPr>
          <p:cNvPr id="84" name="TextBox 83"/>
          <p:cNvSpPr txBox="1"/>
          <p:nvPr/>
        </p:nvSpPr>
        <p:spPr>
          <a:xfrm>
            <a:off x="14161181" y="7840266"/>
            <a:ext cx="1681538" cy="295275"/>
          </a:xfrm>
          <a:prstGeom prst="rect">
            <a:avLst/>
          </a:prstGeom>
          <a:noFill/>
        </p:spPr>
        <p:txBody>
          <a:bodyPr wrap="none" lIns="0" rIns="0" tIns="0" bIns="0" anchor="t">
            <a:spAutoFit/>
          </a:bodyPr>
          <a:lstStyle/>
          <a:p>
            <a:pPr algn="ctr">
              <a:lnSpc>
                <a:spcPct val="85000"/>
              </a:lnSpc>
            </a:pPr>
            <a:r>
              <a:rPr sz="1800" b="1" i="0">
                <a:solidFill>
                  <a:srgbClr val="F3F7FC"/>
                </a:solidFill>
                <a:latin typeface="Montserrat"/>
              </a:rPr>
              <a:t>96,91 + 97,92</a:t>
            </a:r>
          </a:p>
        </p:txBody>
      </p:sp>
      <p:sp>
        <p:nvSpPr>
          <p:cNvPr id="85" name="TextBox 84"/>
          <p:cNvSpPr txBox="1"/>
          <p:nvPr/>
        </p:nvSpPr>
        <p:spPr>
          <a:xfrm>
            <a:off x="15907792" y="7659291"/>
            <a:ext cx="26787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a:t>
            </a:r>
          </a:p>
        </p:txBody>
      </p:sp>
      <p:sp>
        <p:nvSpPr>
          <p:cNvPr id="86" name="TextBox 85"/>
          <p:cNvSpPr txBox="1"/>
          <p:nvPr/>
        </p:nvSpPr>
        <p:spPr>
          <a:xfrm>
            <a:off x="16162883" y="7602141"/>
            <a:ext cx="1371963" cy="457200"/>
          </a:xfrm>
          <a:prstGeom prst="rect">
            <a:avLst/>
          </a:prstGeom>
          <a:noFill/>
        </p:spPr>
        <p:txBody>
          <a:bodyPr wrap="none" lIns="0" rIns="0" tIns="0" bIns="0" anchor="t">
            <a:spAutoFit/>
          </a:bodyPr>
          <a:lstStyle/>
          <a:p>
            <a:pPr algn="l">
              <a:lnSpc>
                <a:spcPct val="100000"/>
              </a:lnSpc>
            </a:pPr>
            <a:r>
              <a:rPr sz="2850" b="1" i="0">
                <a:solidFill>
                  <a:srgbClr val="FFD21F"/>
                </a:solidFill>
                <a:latin typeface="Barlow"/>
              </a:rPr>
              <a:t>97,41%</a:t>
            </a:r>
          </a:p>
        </p:txBody>
      </p:sp>
      <p:sp>
        <p:nvSpPr>
          <p:cNvPr id="87" name="TextBox 86"/>
          <p:cNvSpPr txBox="1"/>
          <p:nvPr/>
        </p:nvSpPr>
        <p:spPr>
          <a:xfrm>
            <a:off x="933450" y="9166860"/>
            <a:ext cx="2015222" cy="259080"/>
          </a:xfrm>
          <a:prstGeom prst="rect">
            <a:avLst/>
          </a:prstGeom>
          <a:noFill/>
        </p:spPr>
        <p:txBody>
          <a:bodyPr wrap="none" lIns="0" rIns="0" tIns="0" bIns="0" anchor="t">
            <a:spAutoFit/>
          </a:bodyPr>
          <a:lstStyle/>
          <a:p>
            <a:pPr algn="l">
              <a:lnSpc>
                <a:spcPct val="100000"/>
              </a:lnSpc>
            </a:pPr>
            <a:r>
              <a:rPr sz="1575" b="1" i="0" spc="70">
                <a:solidFill>
                  <a:srgbClr val="F3F7FC"/>
                </a:solidFill>
                <a:latin typeface="Barlow"/>
              </a:rPr>
              <a:t>USO CONTROLADO</a:t>
            </a:r>
          </a:p>
        </p:txBody>
      </p:sp>
      <p:sp>
        <p:nvSpPr>
          <p:cNvPr id="88" name="TextBox 87"/>
          <p:cNvSpPr txBox="1"/>
          <p:nvPr/>
        </p:nvSpPr>
        <p:spPr>
          <a:xfrm>
            <a:off x="13418493" y="9103995"/>
            <a:ext cx="4346192" cy="384810"/>
          </a:xfrm>
          <a:prstGeom prst="rect">
            <a:avLst/>
          </a:prstGeom>
          <a:noFill/>
        </p:spPr>
        <p:txBody>
          <a:bodyPr wrap="none" lIns="0" rIns="0" tIns="0" bIns="0" anchor="t">
            <a:spAutoFit/>
          </a:bodyPr>
          <a:lstStyle/>
          <a:p>
            <a:pPr algn="l">
              <a:lnSpc>
                <a:spcPct val="100000"/>
              </a:lnSpc>
            </a:pPr>
            <a:r>
              <a:rPr sz="2400" b="1" i="0" spc="70">
                <a:solidFill>
                  <a:srgbClr val="FFD21F"/>
                </a:solidFill>
                <a:latin typeface="Barlow"/>
              </a:rPr>
              <a:t>ERRORES REGISTRADOS = 0</a:t>
            </a:r>
          </a:p>
        </p:txBody>
      </p:sp>
      <p:sp>
        <p:nvSpPr>
          <p:cNvPr id="89" name="TextBox 88"/>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90" name="TextBox 89"/>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91" name="TextBox 90"/>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92" name="TextBox 91"/>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93" name="TextBox 92"/>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94" name="TextBox 93"/>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52</a:t>
            </a:r>
          </a:p>
        </p:txBody>
      </p:sp>
      <p:sp>
        <p:nvSpPr>
          <p:cNvPr id="95" name="TextBox 94"/>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96" name="TextBox 95"/>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97" name="TextBox 96"/>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98" name="TextBox 97"/>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3900" y="2503140"/>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23900" y="250314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23900" y="478973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2503140"/>
            <a:ext cx="66675" cy="22961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77325" y="2503140"/>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52492" y="3641675"/>
            <a:ext cx="1688009"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9201150" y="2503140"/>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9201150" y="2503140"/>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1150" y="478973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201150" y="2503140"/>
            <a:ext cx="66675" cy="22961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7554575" y="2503140"/>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939367" y="3641675"/>
            <a:ext cx="878384"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3900" y="4913561"/>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23900" y="4913561"/>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900" y="720015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23900" y="4913561"/>
            <a:ext cx="66675" cy="229612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077325" y="4913561"/>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5110162" y="6052096"/>
            <a:ext cx="1672530"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9201150" y="4913561"/>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201150" y="4913561"/>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201150" y="720015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201150" y="4913561"/>
            <a:ext cx="66675" cy="22961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7554575" y="4913561"/>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3489484" y="6052096"/>
            <a:ext cx="1770459"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23900" y="7323981"/>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23900" y="7323981"/>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23900" y="961057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23900" y="7323981"/>
            <a:ext cx="66675" cy="22961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077325" y="7323981"/>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037981" y="8462516"/>
            <a:ext cx="1744712"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9201150" y="7323981"/>
            <a:ext cx="8362950" cy="2296120"/>
          </a:xfrm>
          <a:prstGeom prst="rect">
            <a:avLst/>
          </a:prstGeom>
          <a:solidFill>
            <a:srgbClr val="0D2748">
              <a:alpha val="8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9201150" y="7323981"/>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9201150" y="9610576"/>
            <a:ext cx="8362950" cy="9525"/>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9201150" y="7323981"/>
            <a:ext cx="66675" cy="2296120"/>
          </a:xfrm>
          <a:prstGeom prst="rect">
            <a:avLst/>
          </a:prstGeom>
          <a:solidFill>
            <a:srgbClr val="0B5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7554575" y="7323981"/>
            <a:ext cx="9525" cy="2296120"/>
          </a:xfrm>
          <a:prstGeom prst="rect">
            <a:avLst/>
          </a:prstGeom>
          <a:solidFill>
            <a:srgbClr val="6D8FB2">
              <a:alpha val="5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5114240" y="8462516"/>
            <a:ext cx="1041202" cy="19050"/>
          </a:xfrm>
          <a:prstGeom prst="rect">
            <a:avLst/>
          </a:prstGeom>
          <a:solidFill>
            <a:srgbClr val="F3F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ectangle 49"/>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9570393"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Rectangle 54"/>
          <p:cNvSpPr/>
          <p:nvPr/>
        </p:nvSpPr>
        <p:spPr>
          <a:xfrm>
            <a:off x="11179671"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ectangle 55"/>
          <p:cNvSpPr/>
          <p:nvPr/>
        </p:nvSpPr>
        <p:spPr>
          <a:xfrm>
            <a:off x="11184434" y="9944100"/>
            <a:ext cx="146704"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81075" y="1663750"/>
            <a:ext cx="5883938"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CONTRASTACIÓN DE LA HIPÓTESIS · 06 / 09</a:t>
            </a:r>
          </a:p>
        </p:txBody>
      </p:sp>
      <p:sp>
        <p:nvSpPr>
          <p:cNvPr id="61" name="TextBox 60"/>
          <p:cNvSpPr txBox="1"/>
          <p:nvPr/>
        </p:nvSpPr>
        <p:spPr>
          <a:xfrm>
            <a:off x="981075" y="1885652"/>
            <a:ext cx="8831645"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Resultados del tiempo de validación</a:t>
            </a:r>
          </a:p>
        </p:txBody>
      </p:sp>
      <p:sp>
        <p:nvSpPr>
          <p:cNvPr id="62" name="TextBox 61"/>
          <p:cNvSpPr txBox="1"/>
          <p:nvPr/>
        </p:nvSpPr>
        <p:spPr>
          <a:xfrm>
            <a:off x="1000125" y="3117800"/>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Promedio manual</a:t>
            </a:r>
          </a:p>
        </p:txBody>
      </p:sp>
      <p:sp>
        <p:nvSpPr>
          <p:cNvPr id="63" name="TextBox 62"/>
          <p:cNvSpPr txBox="1"/>
          <p:nvPr/>
        </p:nvSpPr>
        <p:spPr>
          <a:xfrm>
            <a:off x="1000125" y="3801695"/>
            <a:ext cx="1828800" cy="407670"/>
          </a:xfrm>
          <a:prstGeom prst="rect">
            <a:avLst/>
          </a:prstGeom>
          <a:noFill/>
        </p:spPr>
        <p:txBody>
          <a:bodyPr wrap="square" lIns="0" rIns="0" tIns="0" bIns="0" anchor="t">
            <a:spAutoFit/>
          </a:bodyPr>
          <a:lstStyle/>
          <a:p>
            <a:pPr algn="l">
              <a:lnSpc>
                <a:spcPct val="100000"/>
              </a:lnSpc>
            </a:pPr>
            <a:r>
              <a:rPr sz="1275" b="1" i="0" spc="63">
                <a:solidFill>
                  <a:srgbClr val="9AB3CD"/>
                </a:solidFill>
                <a:latin typeface="Barlow"/>
              </a:rPr>
              <a:t>PUBLICACIÓN-SEMANA</a:t>
            </a:r>
          </a:p>
        </p:txBody>
      </p:sp>
      <p:sp>
        <p:nvSpPr>
          <p:cNvPr id="64" name="TextBox 63"/>
          <p:cNvSpPr txBox="1"/>
          <p:nvPr/>
        </p:nvSpPr>
        <p:spPr>
          <a:xfrm>
            <a:off x="5619643" y="3380631"/>
            <a:ext cx="1753707"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27.120 + 35.460</a:t>
            </a:r>
          </a:p>
        </p:txBody>
      </p:sp>
      <p:sp>
        <p:nvSpPr>
          <p:cNvPr id="65" name="TextBox 64"/>
          <p:cNvSpPr txBox="1"/>
          <p:nvPr/>
        </p:nvSpPr>
        <p:spPr>
          <a:xfrm>
            <a:off x="5769775" y="3679775"/>
            <a:ext cx="1453295"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1.826 + 1.942</a:t>
            </a:r>
          </a:p>
        </p:txBody>
      </p:sp>
      <p:sp>
        <p:nvSpPr>
          <p:cNvPr id="66" name="TextBox 65"/>
          <p:cNvSpPr txBox="1"/>
          <p:nvPr/>
        </p:nvSpPr>
        <p:spPr>
          <a:xfrm>
            <a:off x="7435751" y="3508325"/>
            <a:ext cx="249394"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a:t>
            </a:r>
          </a:p>
        </p:txBody>
      </p:sp>
      <p:sp>
        <p:nvSpPr>
          <p:cNvPr id="67" name="TextBox 66"/>
          <p:cNvSpPr txBox="1"/>
          <p:nvPr/>
        </p:nvSpPr>
        <p:spPr>
          <a:xfrm>
            <a:off x="7673727" y="3455938"/>
            <a:ext cx="1384822"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16,608 s</a:t>
            </a:r>
          </a:p>
        </p:txBody>
      </p:sp>
      <p:sp>
        <p:nvSpPr>
          <p:cNvPr id="68" name="TextBox 67"/>
          <p:cNvSpPr txBox="1"/>
          <p:nvPr/>
        </p:nvSpPr>
        <p:spPr>
          <a:xfrm>
            <a:off x="9477375" y="3213050"/>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Latencia v7.5</a:t>
            </a:r>
          </a:p>
        </p:txBody>
      </p:sp>
      <p:sp>
        <p:nvSpPr>
          <p:cNvPr id="69" name="TextBox 68"/>
          <p:cNvSpPr txBox="1"/>
          <p:nvPr/>
        </p:nvSpPr>
        <p:spPr>
          <a:xfrm>
            <a:off x="9477375" y="3896945"/>
            <a:ext cx="1394787"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POR CONSULTA</a:t>
            </a:r>
          </a:p>
        </p:txBody>
      </p:sp>
      <p:sp>
        <p:nvSpPr>
          <p:cNvPr id="70" name="TextBox 69"/>
          <p:cNvSpPr txBox="1"/>
          <p:nvPr/>
        </p:nvSpPr>
        <p:spPr>
          <a:xfrm>
            <a:off x="14938903" y="3380631"/>
            <a:ext cx="879312"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15.411,8</a:t>
            </a:r>
          </a:p>
        </p:txBody>
      </p:sp>
      <p:sp>
        <p:nvSpPr>
          <p:cNvPr id="71" name="TextBox 70"/>
          <p:cNvSpPr txBox="1"/>
          <p:nvPr/>
        </p:nvSpPr>
        <p:spPr>
          <a:xfrm>
            <a:off x="15039683" y="3679775"/>
            <a:ext cx="677751"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2.365</a:t>
            </a:r>
          </a:p>
        </p:txBody>
      </p:sp>
      <p:sp>
        <p:nvSpPr>
          <p:cNvPr id="72" name="TextBox 71"/>
          <p:cNvSpPr txBox="1"/>
          <p:nvPr/>
        </p:nvSpPr>
        <p:spPr>
          <a:xfrm>
            <a:off x="15913001" y="3508325"/>
            <a:ext cx="249394"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a:t>
            </a:r>
          </a:p>
        </p:txBody>
      </p:sp>
      <p:sp>
        <p:nvSpPr>
          <p:cNvPr id="73" name="TextBox 72"/>
          <p:cNvSpPr txBox="1"/>
          <p:nvPr/>
        </p:nvSpPr>
        <p:spPr>
          <a:xfrm>
            <a:off x="16150977" y="3455938"/>
            <a:ext cx="1384822"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6,5166 s</a:t>
            </a:r>
          </a:p>
        </p:txBody>
      </p:sp>
      <p:sp>
        <p:nvSpPr>
          <p:cNvPr id="74" name="TextBox 73"/>
          <p:cNvSpPr txBox="1"/>
          <p:nvPr/>
        </p:nvSpPr>
        <p:spPr>
          <a:xfrm>
            <a:off x="1000125" y="5528221"/>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Reducción unitaria</a:t>
            </a:r>
          </a:p>
        </p:txBody>
      </p:sp>
      <p:sp>
        <p:nvSpPr>
          <p:cNvPr id="75" name="TextBox 74"/>
          <p:cNvSpPr txBox="1"/>
          <p:nvPr/>
        </p:nvSpPr>
        <p:spPr>
          <a:xfrm>
            <a:off x="1000125" y="6212116"/>
            <a:ext cx="1828800" cy="407670"/>
          </a:xfrm>
          <a:prstGeom prst="rect">
            <a:avLst/>
          </a:prstGeom>
          <a:noFill/>
        </p:spPr>
        <p:txBody>
          <a:bodyPr wrap="square" lIns="0" rIns="0" tIns="0" bIns="0" anchor="t">
            <a:spAutoFit/>
          </a:bodyPr>
          <a:lstStyle/>
          <a:p>
            <a:pPr algn="l">
              <a:lnSpc>
                <a:spcPct val="100000"/>
              </a:lnSpc>
            </a:pPr>
            <a:r>
              <a:rPr sz="1275" b="1" i="0" spc="63">
                <a:solidFill>
                  <a:srgbClr val="9AB3CD"/>
                </a:solidFill>
                <a:latin typeface="Barlow"/>
              </a:rPr>
              <a:t>MANUAL FRENTE A MODELO</a:t>
            </a:r>
          </a:p>
        </p:txBody>
      </p:sp>
      <p:sp>
        <p:nvSpPr>
          <p:cNvPr id="76" name="TextBox 75"/>
          <p:cNvSpPr txBox="1"/>
          <p:nvPr/>
        </p:nvSpPr>
        <p:spPr>
          <a:xfrm>
            <a:off x="5077932" y="5791051"/>
            <a:ext cx="1736991"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16,608 − 6,5166</a:t>
            </a:r>
          </a:p>
        </p:txBody>
      </p:sp>
      <p:sp>
        <p:nvSpPr>
          <p:cNvPr id="77" name="TextBox 76"/>
          <p:cNvSpPr txBox="1"/>
          <p:nvPr/>
        </p:nvSpPr>
        <p:spPr>
          <a:xfrm>
            <a:off x="5546157" y="6090196"/>
            <a:ext cx="800392"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16,608</a:t>
            </a:r>
          </a:p>
        </p:txBody>
      </p:sp>
      <p:sp>
        <p:nvSpPr>
          <p:cNvPr id="78" name="TextBox 77"/>
          <p:cNvSpPr txBox="1"/>
          <p:nvPr/>
        </p:nvSpPr>
        <p:spPr>
          <a:xfrm>
            <a:off x="6877943" y="5918746"/>
            <a:ext cx="999059"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 100 =</a:t>
            </a:r>
          </a:p>
        </p:txBody>
      </p:sp>
      <p:sp>
        <p:nvSpPr>
          <p:cNvPr id="79" name="TextBox 78"/>
          <p:cNvSpPr txBox="1"/>
          <p:nvPr/>
        </p:nvSpPr>
        <p:spPr>
          <a:xfrm>
            <a:off x="7810054" y="5866358"/>
            <a:ext cx="1237589"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60,76%</a:t>
            </a:r>
          </a:p>
        </p:txBody>
      </p:sp>
      <p:sp>
        <p:nvSpPr>
          <p:cNvPr id="80" name="TextBox 79"/>
          <p:cNvSpPr txBox="1"/>
          <p:nvPr/>
        </p:nvSpPr>
        <p:spPr>
          <a:xfrm>
            <a:off x="9477375" y="5623471"/>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Reducción humana</a:t>
            </a:r>
          </a:p>
        </p:txBody>
      </p:sp>
      <p:sp>
        <p:nvSpPr>
          <p:cNvPr id="81" name="TextBox 80"/>
          <p:cNvSpPr txBox="1"/>
          <p:nvPr/>
        </p:nvSpPr>
        <p:spPr>
          <a:xfrm>
            <a:off x="9477375" y="6307366"/>
            <a:ext cx="1925050"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ESCENARIO ASISTIDO</a:t>
            </a:r>
          </a:p>
        </p:txBody>
      </p:sp>
      <p:sp>
        <p:nvSpPr>
          <p:cNvPr id="82" name="TextBox 81"/>
          <p:cNvSpPr txBox="1"/>
          <p:nvPr/>
        </p:nvSpPr>
        <p:spPr>
          <a:xfrm>
            <a:off x="13453336" y="5791051"/>
            <a:ext cx="1842754"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10,9114 − 4,9967</a:t>
            </a:r>
          </a:p>
        </p:txBody>
      </p:sp>
      <p:sp>
        <p:nvSpPr>
          <p:cNvPr id="83" name="TextBox 82"/>
          <p:cNvSpPr txBox="1"/>
          <p:nvPr/>
        </p:nvSpPr>
        <p:spPr>
          <a:xfrm>
            <a:off x="13956923" y="6090196"/>
            <a:ext cx="835432"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10,9114</a:t>
            </a:r>
          </a:p>
        </p:txBody>
      </p:sp>
      <p:sp>
        <p:nvSpPr>
          <p:cNvPr id="84" name="TextBox 83"/>
          <p:cNvSpPr txBox="1"/>
          <p:nvPr/>
        </p:nvSpPr>
        <p:spPr>
          <a:xfrm>
            <a:off x="15355193" y="5918746"/>
            <a:ext cx="999059"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 100 =</a:t>
            </a:r>
          </a:p>
        </p:txBody>
      </p:sp>
      <p:sp>
        <p:nvSpPr>
          <p:cNvPr id="85" name="TextBox 84"/>
          <p:cNvSpPr txBox="1"/>
          <p:nvPr/>
        </p:nvSpPr>
        <p:spPr>
          <a:xfrm>
            <a:off x="16287304" y="5866358"/>
            <a:ext cx="1237589"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54,21%</a:t>
            </a:r>
          </a:p>
        </p:txBody>
      </p:sp>
      <p:sp>
        <p:nvSpPr>
          <p:cNvPr id="86" name="TextBox 85"/>
          <p:cNvSpPr txBox="1"/>
          <p:nvPr/>
        </p:nvSpPr>
        <p:spPr>
          <a:xfrm>
            <a:off x="1000125" y="8033891"/>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Reducción total</a:t>
            </a:r>
          </a:p>
        </p:txBody>
      </p:sp>
      <p:sp>
        <p:nvSpPr>
          <p:cNvPr id="87" name="TextBox 86"/>
          <p:cNvSpPr txBox="1"/>
          <p:nvPr/>
        </p:nvSpPr>
        <p:spPr>
          <a:xfrm>
            <a:off x="1000125" y="8717786"/>
            <a:ext cx="1878116"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TIEMPO SECUENCIAL</a:t>
            </a:r>
          </a:p>
        </p:txBody>
      </p:sp>
      <p:sp>
        <p:nvSpPr>
          <p:cNvPr id="88" name="TextBox 87"/>
          <p:cNvSpPr txBox="1"/>
          <p:nvPr/>
        </p:nvSpPr>
        <p:spPr>
          <a:xfrm>
            <a:off x="5002863" y="8201471"/>
            <a:ext cx="1814947"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10,9114 − 9,2778</a:t>
            </a:r>
          </a:p>
        </p:txBody>
      </p:sp>
      <p:sp>
        <p:nvSpPr>
          <p:cNvPr id="89" name="TextBox 88"/>
          <p:cNvSpPr txBox="1"/>
          <p:nvPr/>
        </p:nvSpPr>
        <p:spPr>
          <a:xfrm>
            <a:off x="5492621" y="8500616"/>
            <a:ext cx="835432"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10,9114</a:t>
            </a:r>
          </a:p>
        </p:txBody>
      </p:sp>
      <p:sp>
        <p:nvSpPr>
          <p:cNvPr id="90" name="TextBox 89"/>
          <p:cNvSpPr txBox="1"/>
          <p:nvPr/>
        </p:nvSpPr>
        <p:spPr>
          <a:xfrm>
            <a:off x="6877943" y="8329166"/>
            <a:ext cx="999059"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 100 =</a:t>
            </a:r>
          </a:p>
        </p:txBody>
      </p:sp>
      <p:sp>
        <p:nvSpPr>
          <p:cNvPr id="91" name="TextBox 90"/>
          <p:cNvSpPr txBox="1"/>
          <p:nvPr/>
        </p:nvSpPr>
        <p:spPr>
          <a:xfrm>
            <a:off x="7810054" y="8276779"/>
            <a:ext cx="1237589"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14,97%</a:t>
            </a:r>
          </a:p>
        </p:txBody>
      </p:sp>
      <p:sp>
        <p:nvSpPr>
          <p:cNvPr id="92" name="TextBox 91"/>
          <p:cNvSpPr txBox="1"/>
          <p:nvPr/>
        </p:nvSpPr>
        <p:spPr>
          <a:xfrm>
            <a:off x="9477375" y="8033891"/>
            <a:ext cx="1828800" cy="666750"/>
          </a:xfrm>
          <a:prstGeom prst="rect">
            <a:avLst/>
          </a:prstGeom>
          <a:noFill/>
        </p:spPr>
        <p:txBody>
          <a:bodyPr wrap="square" lIns="0" rIns="0" tIns="0" bIns="0" anchor="t">
            <a:spAutoFit/>
          </a:bodyPr>
          <a:lstStyle/>
          <a:p>
            <a:pPr algn="l">
              <a:lnSpc>
                <a:spcPct val="100000"/>
              </a:lnSpc>
            </a:pPr>
            <a:r>
              <a:rPr sz="2100" b="1" i="0">
                <a:solidFill>
                  <a:srgbClr val="F3F7FC"/>
                </a:solidFill>
                <a:latin typeface="Montserrat"/>
              </a:rPr>
              <a:t>Tiempo de máquina</a:t>
            </a:r>
          </a:p>
        </p:txBody>
      </p:sp>
      <p:sp>
        <p:nvSpPr>
          <p:cNvPr id="93" name="TextBox 92"/>
          <p:cNvSpPr txBox="1"/>
          <p:nvPr/>
        </p:nvSpPr>
        <p:spPr>
          <a:xfrm>
            <a:off x="9477375" y="8717786"/>
            <a:ext cx="2041422" cy="213360"/>
          </a:xfrm>
          <a:prstGeom prst="rect">
            <a:avLst/>
          </a:prstGeom>
          <a:noFill/>
        </p:spPr>
        <p:txBody>
          <a:bodyPr wrap="none" lIns="0" rIns="0" tIns="0" bIns="0" anchor="t">
            <a:spAutoFit/>
          </a:bodyPr>
          <a:lstStyle/>
          <a:p>
            <a:pPr algn="l">
              <a:lnSpc>
                <a:spcPct val="100000"/>
              </a:lnSpc>
            </a:pPr>
            <a:r>
              <a:rPr sz="1275" b="1" i="0" spc="63">
                <a:solidFill>
                  <a:srgbClr val="9AB3CD"/>
                </a:solidFill>
                <a:latin typeface="Barlow"/>
              </a:rPr>
              <a:t>EJECUCIÓN COMPLETA</a:t>
            </a:r>
          </a:p>
        </p:txBody>
      </p:sp>
      <p:sp>
        <p:nvSpPr>
          <p:cNvPr id="94" name="TextBox 93"/>
          <p:cNvSpPr txBox="1"/>
          <p:nvPr/>
        </p:nvSpPr>
        <p:spPr>
          <a:xfrm>
            <a:off x="15107263" y="8201471"/>
            <a:ext cx="1055156"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15.411,8 s</a:t>
            </a:r>
          </a:p>
        </p:txBody>
      </p:sp>
      <p:sp>
        <p:nvSpPr>
          <p:cNvPr id="95" name="TextBox 94"/>
          <p:cNvSpPr txBox="1"/>
          <p:nvPr/>
        </p:nvSpPr>
        <p:spPr>
          <a:xfrm>
            <a:off x="15280856" y="8500616"/>
            <a:ext cx="707969" cy="257175"/>
          </a:xfrm>
          <a:prstGeom prst="rect">
            <a:avLst/>
          </a:prstGeom>
          <a:noFill/>
        </p:spPr>
        <p:txBody>
          <a:bodyPr wrap="none" lIns="0" rIns="0" tIns="0" bIns="0" anchor="t">
            <a:spAutoFit/>
          </a:bodyPr>
          <a:lstStyle/>
          <a:p>
            <a:pPr algn="ctr">
              <a:lnSpc>
                <a:spcPct val="85000"/>
              </a:lnSpc>
            </a:pPr>
            <a:r>
              <a:rPr sz="1575" b="1" i="0">
                <a:solidFill>
                  <a:srgbClr val="F3F7FC"/>
                </a:solidFill>
                <a:latin typeface="Montserrat"/>
              </a:rPr>
              <a:t>3.600</a:t>
            </a:r>
          </a:p>
        </p:txBody>
      </p:sp>
      <p:sp>
        <p:nvSpPr>
          <p:cNvPr id="96" name="TextBox 95"/>
          <p:cNvSpPr txBox="1"/>
          <p:nvPr/>
        </p:nvSpPr>
        <p:spPr>
          <a:xfrm>
            <a:off x="16250692" y="8329166"/>
            <a:ext cx="249394" cy="304800"/>
          </a:xfrm>
          <a:prstGeom prst="rect">
            <a:avLst/>
          </a:prstGeom>
          <a:noFill/>
        </p:spPr>
        <p:txBody>
          <a:bodyPr wrap="none" lIns="0" rIns="0" tIns="0" bIns="0" anchor="t">
            <a:spAutoFit/>
          </a:bodyPr>
          <a:lstStyle/>
          <a:p>
            <a:pPr algn="l">
              <a:lnSpc>
                <a:spcPct val="100000"/>
              </a:lnSpc>
            </a:pPr>
            <a:r>
              <a:rPr sz="1875" b="1" i="0">
                <a:solidFill>
                  <a:srgbClr val="F3F7FC"/>
                </a:solidFill>
                <a:latin typeface="Montserrat"/>
              </a:rPr>
              <a:t>=</a:t>
            </a:r>
          </a:p>
        </p:txBody>
      </p:sp>
      <p:sp>
        <p:nvSpPr>
          <p:cNvPr id="97" name="TextBox 96"/>
          <p:cNvSpPr txBox="1"/>
          <p:nvPr/>
        </p:nvSpPr>
        <p:spPr>
          <a:xfrm>
            <a:off x="16488668" y="8276779"/>
            <a:ext cx="1020116" cy="409575"/>
          </a:xfrm>
          <a:prstGeom prst="rect">
            <a:avLst/>
          </a:prstGeom>
          <a:noFill/>
        </p:spPr>
        <p:txBody>
          <a:bodyPr wrap="none" lIns="0" rIns="0" tIns="0" bIns="0" anchor="t">
            <a:spAutoFit/>
          </a:bodyPr>
          <a:lstStyle/>
          <a:p>
            <a:pPr algn="l">
              <a:lnSpc>
                <a:spcPct val="100000"/>
              </a:lnSpc>
            </a:pPr>
            <a:r>
              <a:rPr sz="2550" b="1" i="0">
                <a:solidFill>
                  <a:srgbClr val="FFD21F"/>
                </a:solidFill>
                <a:latin typeface="Barlow"/>
              </a:rPr>
              <a:t>4,28 h</a:t>
            </a:r>
          </a:p>
        </p:txBody>
      </p:sp>
      <p:sp>
        <p:nvSpPr>
          <p:cNvPr id="98" name="TextBox 97"/>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99" name="TextBox 98"/>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100" name="TextBox 99"/>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101" name="TextBox 100"/>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102" name="TextBox 101"/>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103" name="TextBox 102"/>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104" name="TextBox 103"/>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53</a:t>
            </a:r>
          </a:p>
        </p:txBody>
      </p:sp>
      <p:sp>
        <p:nvSpPr>
          <p:cNvPr id="105" name="TextBox 104"/>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106" name="TextBox 105"/>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107" name="TextBox 106"/>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6164610"/>
          </a:xfrm>
          <a:prstGeom prst="rect">
            <a:avLst/>
          </a:prstGeom>
          <a:solidFill>
            <a:srgbClr val="0D2748">
              <a:alpha val="84000"/>
            </a:srgbClr>
          </a:solidFill>
          <a:ln w="9525">
            <a:solidFill>
              <a:srgbClr val="6D8FB2">
                <a:alpha val="6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42950" y="2522190"/>
            <a:ext cx="3857030"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609505" y="2522190"/>
            <a:ext cx="9573071"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4192101" y="2522190"/>
            <a:ext cx="3352949" cy="514350"/>
          </a:xfrm>
          <a:prstGeom prst="rect">
            <a:avLst/>
          </a:prstGeom>
          <a:solidFill>
            <a:srgbClr val="07172D">
              <a:alpha val="72000"/>
            </a:srgbClr>
          </a:solid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42950" y="3046065"/>
            <a:ext cx="3857030" cy="1850678"/>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609505" y="3046065"/>
            <a:ext cx="9573071" cy="1850678"/>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4192101" y="3046065"/>
            <a:ext cx="3352949" cy="1850678"/>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6163925" y="3766542"/>
            <a:ext cx="1200150" cy="4095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38188" y="4901505"/>
            <a:ext cx="16811625" cy="1880592"/>
          </a:xfrm>
          <a:prstGeom prst="rect">
            <a:avLst/>
          </a:prstGeom>
          <a:solidFill>
            <a:srgbClr val="0B5EA8">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42950" y="4906268"/>
            <a:ext cx="3857030" cy="187106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609505" y="4906268"/>
            <a:ext cx="9573071" cy="187106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4192101" y="4906268"/>
            <a:ext cx="3352949" cy="1871067"/>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6163925" y="5637014"/>
            <a:ext cx="1200150" cy="4095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42950" y="6786860"/>
            <a:ext cx="3857030" cy="187136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609505" y="6786860"/>
            <a:ext cx="9573071" cy="187136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4192101" y="6786860"/>
            <a:ext cx="3352949" cy="1871365"/>
          </a:xfrm>
          <a:prstGeom prst="rect">
            <a:avLst/>
          </a:prstGeom>
          <a:noFill/>
          <a:ln w="9525">
            <a:solidFill>
              <a:srgbClr val="6D8FB2">
                <a:alpha val="4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6163925" y="7517755"/>
            <a:ext cx="1200150" cy="409575"/>
          </a:xfrm>
          <a:prstGeom prst="rect">
            <a:avLst/>
          </a:prstGeom>
          <a:no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3425" y="8801100"/>
            <a:ext cx="16821150" cy="809625"/>
          </a:xfrm>
          <a:prstGeom prst="rect">
            <a:avLst/>
          </a:prstGeom>
          <a:solidFill>
            <a:srgbClr val="FFD21F">
              <a:alpha val="10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570393"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1184434"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2793563" y="9720262"/>
            <a:ext cx="1537841"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2798326" y="9944100"/>
            <a:ext cx="183398"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81075" y="1663750"/>
            <a:ext cx="5874776"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CONTRASTACIÓN DE LA HIPÓTESIS · 07 / 09</a:t>
            </a:r>
          </a:p>
        </p:txBody>
      </p:sp>
      <p:sp>
        <p:nvSpPr>
          <p:cNvPr id="44" name="TextBox 43"/>
          <p:cNvSpPr txBox="1"/>
          <p:nvPr/>
        </p:nvSpPr>
        <p:spPr>
          <a:xfrm>
            <a:off x="981075" y="1885652"/>
            <a:ext cx="9379589"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Matriz de contrastación de la hipótesis</a:t>
            </a:r>
          </a:p>
        </p:txBody>
      </p:sp>
      <p:sp>
        <p:nvSpPr>
          <p:cNvPr id="45" name="TextBox 44"/>
          <p:cNvSpPr txBox="1"/>
          <p:nvPr/>
        </p:nvSpPr>
        <p:spPr>
          <a:xfrm>
            <a:off x="914400" y="2665065"/>
            <a:ext cx="1114949" cy="247650"/>
          </a:xfrm>
          <a:prstGeom prst="rect">
            <a:avLst/>
          </a:prstGeom>
          <a:noFill/>
        </p:spPr>
        <p:txBody>
          <a:bodyPr wrap="none" lIns="0" rIns="0" tIns="0" bIns="0" anchor="t">
            <a:spAutoFit/>
          </a:bodyPr>
          <a:lstStyle/>
          <a:p>
            <a:pPr algn="l">
              <a:lnSpc>
                <a:spcPct val="100000"/>
              </a:lnSpc>
            </a:pPr>
            <a:r>
              <a:rPr sz="1500" b="1" i="0" spc="82">
                <a:solidFill>
                  <a:srgbClr val="9AB3CD"/>
                </a:solidFill>
                <a:latin typeface="Barlow"/>
              </a:rPr>
              <a:t>VARIABLE</a:t>
            </a:r>
          </a:p>
        </p:txBody>
      </p:sp>
      <p:sp>
        <p:nvSpPr>
          <p:cNvPr id="46" name="TextBox 45"/>
          <p:cNvSpPr txBox="1"/>
          <p:nvPr/>
        </p:nvSpPr>
        <p:spPr>
          <a:xfrm>
            <a:off x="12809059" y="2665065"/>
            <a:ext cx="1202067"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EVIDENCIA</a:t>
            </a:r>
          </a:p>
        </p:txBody>
      </p:sp>
      <p:sp>
        <p:nvSpPr>
          <p:cNvPr id="47" name="TextBox 46"/>
          <p:cNvSpPr txBox="1"/>
          <p:nvPr/>
        </p:nvSpPr>
        <p:spPr>
          <a:xfrm>
            <a:off x="16077503" y="2665065"/>
            <a:ext cx="1296097" cy="247650"/>
          </a:xfrm>
          <a:prstGeom prst="rect">
            <a:avLst/>
          </a:prstGeom>
          <a:noFill/>
        </p:spPr>
        <p:txBody>
          <a:bodyPr wrap="none" lIns="0" rIns="0" tIns="0" bIns="0" anchor="t">
            <a:spAutoFit/>
          </a:bodyPr>
          <a:lstStyle/>
          <a:p>
            <a:pPr algn="r">
              <a:lnSpc>
                <a:spcPct val="100000"/>
              </a:lnSpc>
            </a:pPr>
            <a:r>
              <a:rPr sz="1500" b="1" i="0" spc="82">
                <a:solidFill>
                  <a:srgbClr val="9AB3CD"/>
                </a:solidFill>
                <a:latin typeface="Barlow"/>
              </a:rPr>
              <a:t>RESULTADO</a:t>
            </a:r>
          </a:p>
        </p:txBody>
      </p:sp>
      <p:sp>
        <p:nvSpPr>
          <p:cNvPr id="48" name="TextBox 47"/>
          <p:cNvSpPr txBox="1"/>
          <p:nvPr/>
        </p:nvSpPr>
        <p:spPr>
          <a:xfrm>
            <a:off x="914400" y="3933230"/>
            <a:ext cx="2400824"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Modelo de PLN</a:t>
            </a:r>
          </a:p>
        </p:txBody>
      </p:sp>
      <p:sp>
        <p:nvSpPr>
          <p:cNvPr id="49" name="TextBox 48"/>
          <p:cNvSpPr txBox="1"/>
          <p:nvPr/>
        </p:nvSpPr>
        <p:spPr>
          <a:xfrm>
            <a:off x="914400" y="3685580"/>
            <a:ext cx="288774" cy="228600"/>
          </a:xfrm>
          <a:prstGeom prst="rect">
            <a:avLst/>
          </a:prstGeom>
          <a:noFill/>
        </p:spPr>
        <p:txBody>
          <a:bodyPr wrap="none" lIns="0" rIns="0" tIns="0" bIns="0" anchor="t">
            <a:spAutoFit/>
          </a:bodyPr>
          <a:lstStyle/>
          <a:p>
            <a:pPr algn="l">
              <a:lnSpc>
                <a:spcPct val="100000"/>
              </a:lnSpc>
            </a:pPr>
            <a:r>
              <a:rPr sz="1350" b="1" i="0" spc="108">
                <a:solidFill>
                  <a:srgbClr val="FFD21F"/>
                </a:solidFill>
                <a:latin typeface="Barlow"/>
              </a:rPr>
              <a:t>VI</a:t>
            </a:r>
          </a:p>
        </p:txBody>
      </p:sp>
      <p:sp>
        <p:nvSpPr>
          <p:cNvPr id="50" name="TextBox 49"/>
          <p:cNvSpPr txBox="1"/>
          <p:nvPr/>
        </p:nvSpPr>
        <p:spPr>
          <a:xfrm>
            <a:off x="4780955" y="3845600"/>
            <a:ext cx="3048905" cy="270510"/>
          </a:xfrm>
          <a:prstGeom prst="rect">
            <a:avLst/>
          </a:prstGeom>
          <a:noFill/>
        </p:spPr>
        <p:txBody>
          <a:bodyPr wrap="none" lIns="0" rIns="0" tIns="0" bIns="0" anchor="t">
            <a:spAutoFit/>
          </a:bodyPr>
          <a:lstStyle/>
          <a:p>
            <a:pPr algn="l">
              <a:lnSpc>
                <a:spcPct val="100000"/>
              </a:lnSpc>
            </a:pPr>
            <a:r>
              <a:rPr sz="1650" b="1" i="0">
                <a:solidFill>
                  <a:srgbClr val="F3F7FC"/>
                </a:solidFill>
                <a:latin typeface="Barlow"/>
              </a:rPr>
              <a:t>Modelo 3 · cascada v7.5 · HITL</a:t>
            </a:r>
          </a:p>
        </p:txBody>
      </p:sp>
      <p:sp>
        <p:nvSpPr>
          <p:cNvPr id="51" name="TextBox 50"/>
          <p:cNvSpPr txBox="1"/>
          <p:nvPr/>
        </p:nvSpPr>
        <p:spPr>
          <a:xfrm>
            <a:off x="16134957" y="3861792"/>
            <a:ext cx="1089071" cy="238125"/>
          </a:xfrm>
          <a:prstGeom prst="rect">
            <a:avLst/>
          </a:prstGeom>
          <a:noFill/>
        </p:spPr>
        <p:txBody>
          <a:bodyPr wrap="none" lIns="0" rIns="0" tIns="0" bIns="0" anchor="t">
            <a:spAutoFit/>
          </a:bodyPr>
          <a:lstStyle/>
          <a:p>
            <a:pPr algn="r">
              <a:lnSpc>
                <a:spcPct val="100000"/>
              </a:lnSpc>
            </a:pPr>
            <a:r>
              <a:rPr sz="1425" b="1" i="0" spc="85">
                <a:solidFill>
                  <a:srgbClr val="FFD21F"/>
                </a:solidFill>
                <a:latin typeface="Barlow"/>
              </a:rPr>
              <a:t>APLICADO</a:t>
            </a:r>
          </a:p>
        </p:txBody>
      </p:sp>
      <p:sp>
        <p:nvSpPr>
          <p:cNvPr id="52" name="TextBox 51"/>
          <p:cNvSpPr txBox="1"/>
          <p:nvPr/>
        </p:nvSpPr>
        <p:spPr>
          <a:xfrm>
            <a:off x="914400" y="5808464"/>
            <a:ext cx="205395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Consistencia</a:t>
            </a:r>
          </a:p>
        </p:txBody>
      </p:sp>
      <p:sp>
        <p:nvSpPr>
          <p:cNvPr id="53" name="TextBox 52"/>
          <p:cNvSpPr txBox="1"/>
          <p:nvPr/>
        </p:nvSpPr>
        <p:spPr>
          <a:xfrm>
            <a:off x="914400" y="5551289"/>
            <a:ext cx="444847" cy="228600"/>
          </a:xfrm>
          <a:prstGeom prst="rect">
            <a:avLst/>
          </a:prstGeom>
          <a:noFill/>
        </p:spPr>
        <p:txBody>
          <a:bodyPr wrap="none" lIns="0" rIns="0" tIns="0" bIns="0" anchor="t">
            <a:spAutoFit/>
          </a:bodyPr>
          <a:lstStyle/>
          <a:p>
            <a:pPr algn="l">
              <a:lnSpc>
                <a:spcPct val="100000"/>
              </a:lnSpc>
            </a:pPr>
            <a:r>
              <a:rPr sz="1350" b="1" i="0" spc="108">
                <a:solidFill>
                  <a:srgbClr val="FFD21F"/>
                </a:solidFill>
                <a:latin typeface="Barlow"/>
              </a:rPr>
              <a:t>VD₁</a:t>
            </a:r>
          </a:p>
        </p:txBody>
      </p:sp>
      <p:sp>
        <p:nvSpPr>
          <p:cNvPr id="54" name="TextBox 53"/>
          <p:cNvSpPr txBox="1"/>
          <p:nvPr/>
        </p:nvSpPr>
        <p:spPr>
          <a:xfrm>
            <a:off x="4780955" y="5675114"/>
            <a:ext cx="6641961" cy="352425"/>
          </a:xfrm>
          <a:prstGeom prst="rect">
            <a:avLst/>
          </a:prstGeom>
          <a:noFill/>
        </p:spPr>
        <p:txBody>
          <a:bodyPr wrap="none" lIns="0" rIns="0" tIns="0" bIns="0" anchor="t">
            <a:spAutoFit/>
          </a:bodyPr>
          <a:lstStyle/>
          <a:p>
            <a:pPr algn="l">
              <a:lnSpc>
                <a:spcPct val="100000"/>
              </a:lnSpc>
            </a:pPr>
            <a:r>
              <a:rPr sz="2175" b="1" i="0">
                <a:solidFill>
                  <a:srgbClr val="FFD21F"/>
                </a:solidFill>
                <a:latin typeface="Barlow"/>
              </a:rPr>
              <a:t>96,89% interna · 94,54% externa · 0 errores de uso</a:t>
            </a:r>
          </a:p>
        </p:txBody>
      </p:sp>
      <p:sp>
        <p:nvSpPr>
          <p:cNvPr id="55" name="TextBox 54"/>
          <p:cNvSpPr txBox="1"/>
          <p:nvPr/>
        </p:nvSpPr>
        <p:spPr>
          <a:xfrm>
            <a:off x="16232326" y="5732264"/>
            <a:ext cx="907762" cy="238125"/>
          </a:xfrm>
          <a:prstGeom prst="rect">
            <a:avLst/>
          </a:prstGeom>
          <a:noFill/>
        </p:spPr>
        <p:txBody>
          <a:bodyPr wrap="none" lIns="0" rIns="0" tIns="0" bIns="0" anchor="t">
            <a:spAutoFit/>
          </a:bodyPr>
          <a:lstStyle/>
          <a:p>
            <a:pPr algn="r">
              <a:lnSpc>
                <a:spcPct val="100000"/>
              </a:lnSpc>
            </a:pPr>
            <a:r>
              <a:rPr sz="1425" b="1" i="0" spc="85">
                <a:solidFill>
                  <a:srgbClr val="FFD21F"/>
                </a:solidFill>
                <a:latin typeface="Barlow"/>
              </a:rPr>
              <a:t>MEJORA</a:t>
            </a:r>
          </a:p>
        </p:txBody>
      </p:sp>
      <p:sp>
        <p:nvSpPr>
          <p:cNvPr id="56" name="TextBox 55"/>
          <p:cNvSpPr txBox="1"/>
          <p:nvPr/>
        </p:nvSpPr>
        <p:spPr>
          <a:xfrm>
            <a:off x="914400" y="7689205"/>
            <a:ext cx="1246269" cy="342900"/>
          </a:xfrm>
          <a:prstGeom prst="rect">
            <a:avLst/>
          </a:prstGeom>
          <a:noFill/>
        </p:spPr>
        <p:txBody>
          <a:bodyPr wrap="none" lIns="0" rIns="0" tIns="0" bIns="0" anchor="t">
            <a:spAutoFit/>
          </a:bodyPr>
          <a:lstStyle/>
          <a:p>
            <a:pPr algn="l">
              <a:lnSpc>
                <a:spcPct val="100000"/>
              </a:lnSpc>
            </a:pPr>
            <a:r>
              <a:rPr sz="2100" b="1" i="0">
                <a:solidFill>
                  <a:srgbClr val="F3F7FC"/>
                </a:solidFill>
                <a:latin typeface="Montserrat"/>
              </a:rPr>
              <a:t>Tiempo</a:t>
            </a:r>
          </a:p>
        </p:txBody>
      </p:sp>
      <p:sp>
        <p:nvSpPr>
          <p:cNvPr id="57" name="TextBox 56"/>
          <p:cNvSpPr txBox="1"/>
          <p:nvPr/>
        </p:nvSpPr>
        <p:spPr>
          <a:xfrm>
            <a:off x="914400" y="7432030"/>
            <a:ext cx="450473" cy="228600"/>
          </a:xfrm>
          <a:prstGeom prst="rect">
            <a:avLst/>
          </a:prstGeom>
          <a:noFill/>
        </p:spPr>
        <p:txBody>
          <a:bodyPr wrap="none" lIns="0" rIns="0" tIns="0" bIns="0" anchor="t">
            <a:spAutoFit/>
          </a:bodyPr>
          <a:lstStyle/>
          <a:p>
            <a:pPr algn="l">
              <a:lnSpc>
                <a:spcPct val="100000"/>
              </a:lnSpc>
            </a:pPr>
            <a:r>
              <a:rPr sz="1350" b="1" i="0" spc="108">
                <a:solidFill>
                  <a:srgbClr val="FFD21F"/>
                </a:solidFill>
                <a:latin typeface="Barlow"/>
              </a:rPr>
              <a:t>VD₂</a:t>
            </a:r>
          </a:p>
        </p:txBody>
      </p:sp>
      <p:sp>
        <p:nvSpPr>
          <p:cNvPr id="58" name="TextBox 57"/>
          <p:cNvSpPr txBox="1"/>
          <p:nvPr/>
        </p:nvSpPr>
        <p:spPr>
          <a:xfrm>
            <a:off x="4780955" y="7555855"/>
            <a:ext cx="6872615" cy="352425"/>
          </a:xfrm>
          <a:prstGeom prst="rect">
            <a:avLst/>
          </a:prstGeom>
          <a:noFill/>
        </p:spPr>
        <p:txBody>
          <a:bodyPr wrap="none" lIns="0" rIns="0" tIns="0" bIns="0" anchor="t">
            <a:spAutoFit/>
          </a:bodyPr>
          <a:lstStyle/>
          <a:p>
            <a:pPr algn="l">
              <a:lnSpc>
                <a:spcPct val="100000"/>
              </a:lnSpc>
            </a:pPr>
            <a:r>
              <a:rPr sz="2175" b="1" i="0">
                <a:solidFill>
                  <a:srgbClr val="FFD21F"/>
                </a:solidFill>
                <a:latin typeface="Barlow"/>
              </a:rPr>
              <a:t>6,5166 s/consulta · −54,21% humano · −14,97% total</a:t>
            </a:r>
          </a:p>
        </p:txBody>
      </p:sp>
      <p:sp>
        <p:nvSpPr>
          <p:cNvPr id="59" name="TextBox 58"/>
          <p:cNvSpPr txBox="1"/>
          <p:nvPr/>
        </p:nvSpPr>
        <p:spPr>
          <a:xfrm>
            <a:off x="16249751" y="7613005"/>
            <a:ext cx="875455" cy="238125"/>
          </a:xfrm>
          <a:prstGeom prst="rect">
            <a:avLst/>
          </a:prstGeom>
          <a:noFill/>
        </p:spPr>
        <p:txBody>
          <a:bodyPr wrap="none" lIns="0" rIns="0" tIns="0" bIns="0" anchor="t">
            <a:spAutoFit/>
          </a:bodyPr>
          <a:lstStyle/>
          <a:p>
            <a:pPr algn="r">
              <a:lnSpc>
                <a:spcPct val="100000"/>
              </a:lnSpc>
            </a:pPr>
            <a:r>
              <a:rPr sz="1425" b="1" i="0" spc="85">
                <a:solidFill>
                  <a:srgbClr val="FFD21F"/>
                </a:solidFill>
                <a:latin typeface="Barlow"/>
              </a:rPr>
              <a:t>REDUCE</a:t>
            </a:r>
          </a:p>
        </p:txBody>
      </p:sp>
      <p:sp>
        <p:nvSpPr>
          <p:cNvPr id="60" name="TextBox 59"/>
          <p:cNvSpPr txBox="1"/>
          <p:nvPr/>
        </p:nvSpPr>
        <p:spPr>
          <a:xfrm>
            <a:off x="971550" y="8982075"/>
            <a:ext cx="4086927" cy="466725"/>
          </a:xfrm>
          <a:prstGeom prst="rect">
            <a:avLst/>
          </a:prstGeom>
          <a:noFill/>
        </p:spPr>
        <p:txBody>
          <a:bodyPr wrap="none" lIns="0" rIns="0" tIns="0" bIns="0" anchor="t">
            <a:spAutoFit/>
          </a:bodyPr>
          <a:lstStyle/>
          <a:p>
            <a:pPr algn="l">
              <a:lnSpc>
                <a:spcPct val="100000"/>
              </a:lnSpc>
            </a:pPr>
            <a:r>
              <a:rPr sz="2850" b="1" i="0">
                <a:solidFill>
                  <a:srgbClr val="FFD21F"/>
                </a:solidFill>
                <a:latin typeface="Montserrat"/>
              </a:rPr>
              <a:t>Hipótesis aceptada</a:t>
            </a:r>
          </a:p>
        </p:txBody>
      </p:sp>
      <p:sp>
        <p:nvSpPr>
          <p:cNvPr id="61" name="TextBox 60"/>
          <p:cNvSpPr txBox="1"/>
          <p:nvPr/>
        </p:nvSpPr>
        <p:spPr>
          <a:xfrm>
            <a:off x="11478804" y="9080182"/>
            <a:ext cx="5837646" cy="270510"/>
          </a:xfrm>
          <a:prstGeom prst="rect">
            <a:avLst/>
          </a:prstGeom>
          <a:noFill/>
        </p:spPr>
        <p:txBody>
          <a:bodyPr wrap="none" lIns="0" rIns="0" tIns="0" bIns="0" anchor="t">
            <a:spAutoFit/>
          </a:bodyPr>
          <a:lstStyle/>
          <a:p>
            <a:pPr algn="r">
              <a:lnSpc>
                <a:spcPct val="100000"/>
              </a:lnSpc>
            </a:pPr>
            <a:r>
              <a:rPr sz="1650" b="1" i="0">
                <a:solidFill>
                  <a:srgbClr val="F3F7FC"/>
                </a:solidFill>
                <a:latin typeface="Barlow"/>
              </a:rPr>
              <a:t>CONSISTENCIA DE LA CALIDAD + REDUCCIÓN DEL TIEMPO</a:t>
            </a:r>
          </a:p>
        </p:txBody>
      </p:sp>
      <p:sp>
        <p:nvSpPr>
          <p:cNvPr id="62" name="TextBox 61"/>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63" name="TextBox 62"/>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64" name="TextBox 63"/>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65" name="TextBox 64"/>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66" name="TextBox 65"/>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67" name="TextBox 66"/>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68" name="TextBox 67"/>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69" name="TextBox 68"/>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54</a:t>
            </a:r>
          </a:p>
        </p:txBody>
      </p:sp>
      <p:sp>
        <p:nvSpPr>
          <p:cNvPr id="70" name="TextBox 69"/>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71" name="TextBox 70"/>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23900" y="1673275"/>
            <a:ext cx="66675" cy="715566"/>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2507903"/>
            <a:ext cx="16830675" cy="533400"/>
          </a:xfrm>
          <a:prstGeom prst="rect">
            <a:avLst/>
          </a:prstGeom>
          <a:solidFill>
            <a:srgbClr val="0D2748">
              <a:alpha val="84000"/>
            </a:srgbClr>
          </a:solidFill>
          <a:ln w="9525">
            <a:solidFill>
              <a:srgbClr val="6D8FB2">
                <a:alpha val="5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031831" y="2512665"/>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2288441" y="2512665"/>
            <a:ext cx="9525" cy="523875"/>
          </a:xfrm>
          <a:prstGeom prst="rect">
            <a:avLst/>
          </a:prstGeom>
          <a:solidFill>
            <a:srgbClr val="6D8FB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3900" y="3160365"/>
            <a:ext cx="16840200" cy="5697885"/>
          </a:xfrm>
          <a:prstGeom prst="rect">
            <a:avLst/>
          </a:prstGeom>
          <a:solidFill>
            <a:srgbClr val="0B5EA8">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23900" y="3160365"/>
            <a:ext cx="85725" cy="569788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33425" y="8982075"/>
            <a:ext cx="16821150" cy="628650"/>
          </a:xfrm>
          <a:prstGeom prst="rect">
            <a:avLst/>
          </a:prstGeom>
          <a:solidFill>
            <a:srgbClr val="FFD21F">
              <a:alpha val="12000"/>
            </a:srgbClr>
          </a:solidFill>
          <a:ln w="19050">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570393"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184434"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2798326"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14407604"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4412367" y="9944100"/>
            <a:ext cx="183380"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6021496"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81075" y="1663750"/>
            <a:ext cx="3978592" cy="266700"/>
          </a:xfrm>
          <a:prstGeom prst="rect">
            <a:avLst/>
          </a:prstGeom>
          <a:noFill/>
        </p:spPr>
        <p:txBody>
          <a:bodyPr wrap="none" lIns="0" rIns="0" tIns="0" bIns="0" anchor="t">
            <a:spAutoFit/>
          </a:bodyPr>
          <a:lstStyle/>
          <a:p>
            <a:pPr algn="l">
              <a:lnSpc>
                <a:spcPct val="95800"/>
              </a:lnSpc>
            </a:pPr>
            <a:r>
              <a:rPr sz="1650" b="1" i="0" spc="148">
                <a:solidFill>
                  <a:srgbClr val="6D8FB2"/>
                </a:solidFill>
                <a:latin typeface="Barlow"/>
              </a:rPr>
              <a:t>OE6 · RESULTADO FINAL · 08 / 09</a:t>
            </a:r>
          </a:p>
        </p:txBody>
      </p:sp>
      <p:sp>
        <p:nvSpPr>
          <p:cNvPr id="33" name="TextBox 32"/>
          <p:cNvSpPr txBox="1"/>
          <p:nvPr/>
        </p:nvSpPr>
        <p:spPr>
          <a:xfrm>
            <a:off x="981075" y="1885652"/>
            <a:ext cx="7063246" cy="561975"/>
          </a:xfrm>
          <a:prstGeom prst="rect">
            <a:avLst/>
          </a:prstGeom>
          <a:noFill/>
        </p:spPr>
        <p:txBody>
          <a:bodyPr wrap="none" lIns="0" rIns="0" tIns="0" bIns="0" anchor="t">
            <a:spAutoFit/>
          </a:bodyPr>
          <a:lstStyle/>
          <a:p>
            <a:pPr algn="l">
              <a:lnSpc>
                <a:spcPct val="86700"/>
              </a:lnSpc>
            </a:pPr>
            <a:r>
              <a:rPr sz="3450" b="1" i="0" spc="-86">
                <a:solidFill>
                  <a:srgbClr val="F3F7FC"/>
                </a:solidFill>
                <a:latin typeface="Montserrat"/>
              </a:rPr>
              <a:t>Contrastación de la hipótesis</a:t>
            </a:r>
          </a:p>
        </p:txBody>
      </p:sp>
      <p:sp>
        <p:nvSpPr>
          <p:cNvPr id="34" name="TextBox 33"/>
          <p:cNvSpPr txBox="1"/>
          <p:nvPr/>
        </p:nvSpPr>
        <p:spPr>
          <a:xfrm>
            <a:off x="904875" y="2641253"/>
            <a:ext cx="304687" cy="285750"/>
          </a:xfrm>
          <a:prstGeom prst="rect">
            <a:avLst/>
          </a:prstGeom>
          <a:noFill/>
        </p:spPr>
        <p:txBody>
          <a:bodyPr wrap="none" lIns="0" rIns="0" tIns="0" bIns="0" anchor="t">
            <a:spAutoFit/>
          </a:bodyPr>
          <a:lstStyle/>
          <a:p>
            <a:pPr algn="l">
              <a:lnSpc>
                <a:spcPct val="100000"/>
              </a:lnSpc>
            </a:pPr>
            <a:r>
              <a:rPr sz="1725" b="1" i="0">
                <a:solidFill>
                  <a:srgbClr val="FFD21F"/>
                </a:solidFill>
                <a:latin typeface="Barlow"/>
              </a:rPr>
              <a:t>VI</a:t>
            </a:r>
          </a:p>
        </p:txBody>
      </p:sp>
      <p:sp>
        <p:nvSpPr>
          <p:cNvPr id="35" name="TextBox 34"/>
          <p:cNvSpPr txBox="1"/>
          <p:nvPr/>
        </p:nvSpPr>
        <p:spPr>
          <a:xfrm>
            <a:off x="1213098" y="2660303"/>
            <a:ext cx="1438989"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Modelo de PLN</a:t>
            </a:r>
          </a:p>
        </p:txBody>
      </p:sp>
      <p:sp>
        <p:nvSpPr>
          <p:cNvPr id="36" name="TextBox 35"/>
          <p:cNvSpPr txBox="1"/>
          <p:nvPr/>
        </p:nvSpPr>
        <p:spPr>
          <a:xfrm>
            <a:off x="7212806" y="2636490"/>
            <a:ext cx="485192" cy="285750"/>
          </a:xfrm>
          <a:prstGeom prst="rect">
            <a:avLst/>
          </a:prstGeom>
          <a:noFill/>
        </p:spPr>
        <p:txBody>
          <a:bodyPr wrap="none" lIns="0" rIns="0" tIns="0" bIns="0" anchor="t">
            <a:spAutoFit/>
          </a:bodyPr>
          <a:lstStyle/>
          <a:p>
            <a:pPr algn="l">
              <a:lnSpc>
                <a:spcPct val="100000"/>
              </a:lnSpc>
            </a:pPr>
            <a:r>
              <a:rPr sz="1725" b="1" i="0">
                <a:solidFill>
                  <a:srgbClr val="FFD21F"/>
                </a:solidFill>
                <a:latin typeface="Barlow"/>
              </a:rPr>
              <a:t>VD₁</a:t>
            </a:r>
          </a:p>
        </p:txBody>
      </p:sp>
      <p:sp>
        <p:nvSpPr>
          <p:cNvPr id="37" name="TextBox 36"/>
          <p:cNvSpPr txBox="1"/>
          <p:nvPr/>
        </p:nvSpPr>
        <p:spPr>
          <a:xfrm>
            <a:off x="7688163" y="2660303"/>
            <a:ext cx="1278737"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Consistencia</a:t>
            </a:r>
          </a:p>
        </p:txBody>
      </p:sp>
      <p:sp>
        <p:nvSpPr>
          <p:cNvPr id="38" name="TextBox 37"/>
          <p:cNvSpPr txBox="1"/>
          <p:nvPr/>
        </p:nvSpPr>
        <p:spPr>
          <a:xfrm>
            <a:off x="12469416" y="2636490"/>
            <a:ext cx="492425" cy="285750"/>
          </a:xfrm>
          <a:prstGeom prst="rect">
            <a:avLst/>
          </a:prstGeom>
          <a:noFill/>
        </p:spPr>
        <p:txBody>
          <a:bodyPr wrap="none" lIns="0" rIns="0" tIns="0" bIns="0" anchor="t">
            <a:spAutoFit/>
          </a:bodyPr>
          <a:lstStyle/>
          <a:p>
            <a:pPr algn="l">
              <a:lnSpc>
                <a:spcPct val="100000"/>
              </a:lnSpc>
            </a:pPr>
            <a:r>
              <a:rPr sz="1725" b="1" i="0">
                <a:solidFill>
                  <a:srgbClr val="FFD21F"/>
                </a:solidFill>
                <a:latin typeface="Barlow"/>
              </a:rPr>
              <a:t>VD₂</a:t>
            </a:r>
          </a:p>
        </p:txBody>
      </p:sp>
      <p:sp>
        <p:nvSpPr>
          <p:cNvPr id="39" name="TextBox 38"/>
          <p:cNvSpPr txBox="1"/>
          <p:nvPr/>
        </p:nvSpPr>
        <p:spPr>
          <a:xfrm>
            <a:off x="12951470" y="2660303"/>
            <a:ext cx="2019240" cy="247650"/>
          </a:xfrm>
          <a:prstGeom prst="rect">
            <a:avLst/>
          </a:prstGeom>
          <a:noFill/>
        </p:spPr>
        <p:txBody>
          <a:bodyPr wrap="none" lIns="0" rIns="0" tIns="0" bIns="0" anchor="t">
            <a:spAutoFit/>
          </a:bodyPr>
          <a:lstStyle/>
          <a:p>
            <a:pPr algn="l">
              <a:lnSpc>
                <a:spcPct val="100000"/>
              </a:lnSpc>
            </a:pPr>
            <a:r>
              <a:rPr sz="1500" b="1" i="0">
                <a:solidFill>
                  <a:srgbClr val="F3F7FC"/>
                </a:solidFill>
                <a:latin typeface="Barlow"/>
              </a:rPr>
              <a:t>Tiempo de validación</a:t>
            </a:r>
          </a:p>
        </p:txBody>
      </p:sp>
      <p:sp>
        <p:nvSpPr>
          <p:cNvPr id="40" name="TextBox 39"/>
          <p:cNvSpPr txBox="1"/>
          <p:nvPr/>
        </p:nvSpPr>
        <p:spPr>
          <a:xfrm>
            <a:off x="1589468" y="5020717"/>
            <a:ext cx="15194789" cy="1982837"/>
          </a:xfrm>
          <a:prstGeom prst="rect">
            <a:avLst/>
          </a:prstGeom>
          <a:noFill/>
        </p:spPr>
        <p:txBody>
          <a:bodyPr wrap="square" lIns="0" rIns="0" tIns="0" bIns="0" anchor="t">
            <a:spAutoFit/>
          </a:bodyPr>
          <a:lstStyle/>
          <a:p>
            <a:pPr algn="ctr">
              <a:lnSpc>
                <a:spcPct val="93300"/>
              </a:lnSpc>
            </a:pPr>
            <a:r>
              <a:rPr sz="3375" b="1" i="0">
                <a:solidFill>
                  <a:srgbClr val="F3F7FC"/>
                </a:solidFill>
                <a:latin typeface="Montserrat"/>
              </a:rPr>
              <a:t>El modelo de Procesamiento de Lenguaje Natural mejora la consistencia de la calidad del matching y reduce el tiempo de validación, en comparación con el proceso manual, en el área de operaciones de Agilsoft SRL.</a:t>
            </a:r>
          </a:p>
        </p:txBody>
      </p:sp>
      <p:sp>
        <p:nvSpPr>
          <p:cNvPr id="41" name="TextBox 40"/>
          <p:cNvSpPr txBox="1"/>
          <p:nvPr/>
        </p:nvSpPr>
        <p:spPr>
          <a:xfrm>
            <a:off x="7651700" y="9142095"/>
            <a:ext cx="3318617" cy="327660"/>
          </a:xfrm>
          <a:prstGeom prst="rect">
            <a:avLst/>
          </a:prstGeom>
          <a:noFill/>
        </p:spPr>
        <p:txBody>
          <a:bodyPr wrap="none" lIns="0" rIns="0" tIns="0" bIns="0" anchor="t">
            <a:spAutoFit/>
          </a:bodyPr>
          <a:lstStyle/>
          <a:p>
            <a:pPr algn="l">
              <a:lnSpc>
                <a:spcPct val="100000"/>
              </a:lnSpc>
            </a:pPr>
            <a:r>
              <a:rPr sz="2025" b="1" i="0" spc="202">
                <a:solidFill>
                  <a:srgbClr val="FFD21F"/>
                </a:solidFill>
                <a:latin typeface="Barlow"/>
              </a:rPr>
              <a:t>HIPÓTESIS ACEPTADA</a:t>
            </a:r>
          </a:p>
        </p:txBody>
      </p:sp>
      <p:sp>
        <p:nvSpPr>
          <p:cNvPr id="42" name="TextBox 41"/>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43" name="TextBox 42"/>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44" name="TextBox 43"/>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45" name="TextBox 44"/>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46" name="TextBox 45"/>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47" name="TextBox 46"/>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48" name="TextBox 47"/>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49" name="TextBox 48"/>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50" name="TextBox 49"/>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55</a:t>
            </a:r>
          </a:p>
        </p:txBody>
      </p:sp>
      <p:sp>
        <p:nvSpPr>
          <p:cNvPr id="51" name="TextBox 50"/>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7172D"/>
        </a:solidFill>
        <a:effectLst/>
      </p:bgPr>
    </p:bg>
    <p:spTree>
      <p:nvGrpSpPr>
        <p:cNvPr id="1" name=""/>
        <p:cNvGrpSpPr/>
        <p:nvPr/>
      </p:nvGrpSpPr>
      <p:grpSpPr/>
      <p:pic>
        <p:nvPicPr>
          <p:cNvPr id="2" name="Fondo" descr="fondo.png"/>
          <p:cNvPicPr>
            <a:picLocks noChangeAspect="1"/>
          </p:cNvPicPr>
          <p:nvPr/>
        </p:nvPicPr>
        <p:blipFill>
          <a:blip r:embed="rId2"/>
          <a:stretch>
            <a:fillRect/>
          </a:stretch>
        </p:blipFill>
        <p:spPr>
          <a:xfrm>
            <a:off x="0" y="0"/>
            <a:ext cx="18288000" cy="10287000"/>
          </a:xfrm>
          <a:prstGeom prst="rect">
            <a:avLst/>
          </a:prstGeom>
        </p:spPr>
      </p:pic>
      <p:sp>
        <p:nvSpPr>
          <p:cNvPr id="3" name="Marca titulo"/>
          <p:cNvSpPr/>
          <p:nvPr/>
        </p:nvSpPr>
        <p:spPr>
          <a:xfrm>
            <a:off x="914400" y="762000"/>
            <a:ext cx="171450" cy="171450"/>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itulo"/>
          <p:cNvSpPr txBox="1"/>
          <p:nvPr/>
        </p:nvSpPr>
        <p:spPr>
          <a:xfrm>
            <a:off x="1238250" y="590550"/>
            <a:ext cx="12668250" cy="533400"/>
          </a:xfrm>
          <a:prstGeom prst="rect">
            <a:avLst/>
          </a:prstGeom>
          <a:noFill/>
        </p:spPr>
        <p:txBody>
          <a:bodyPr wrap="square" lIns="0" rIns="0" tIns="0" bIns="0" anchor="ctr">
            <a:spAutoFit/>
          </a:bodyPr>
          <a:lstStyle/>
          <a:p>
            <a:pPr algn="l">
              <a:lnSpc>
                <a:spcPct val="100000"/>
              </a:lnSpc>
            </a:pPr>
            <a:r>
              <a:rPr sz="3300" b="1" i="0">
                <a:solidFill>
                  <a:srgbClr val="F3F7FC"/>
                </a:solidFill>
                <a:latin typeface="Montserrat"/>
              </a:rPr>
              <a:t>MARCO PRÁCTICO</a:t>
            </a:r>
          </a:p>
        </p:txBody>
      </p:sp>
      <p:sp>
        <p:nvSpPr>
          <p:cNvPr id="5" name="Filete"/>
          <p:cNvSpPr/>
          <p:nvPr/>
        </p:nvSpPr>
        <p:spPr>
          <a:xfrm>
            <a:off x="914400" y="1333500"/>
            <a:ext cx="16459200" cy="19050"/>
          </a:xfrm>
          <a:prstGeom prst="rect">
            <a:avLst/>
          </a:prstGeom>
          <a:solidFill>
            <a:srgbClr val="2F7BFF">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Logo carrera" descr="logo_carrera_sistemas_blanco.png"/>
          <p:cNvPicPr>
            <a:picLocks noChangeAspect="1"/>
          </p:cNvPicPr>
          <p:nvPr/>
        </p:nvPicPr>
        <p:blipFill>
          <a:blip r:embed="rId3"/>
          <a:stretch>
            <a:fillRect/>
          </a:stretch>
        </p:blipFill>
        <p:spPr>
          <a:xfrm>
            <a:off x="15280096" y="552450"/>
            <a:ext cx="1996257" cy="666750"/>
          </a:xfrm>
          <a:prstGeom prst="rect">
            <a:avLst/>
          </a:prstGeom>
        </p:spPr>
      </p:pic>
      <p:sp>
        <p:nvSpPr>
          <p:cNvPr id="7" name="Rectangle 6"/>
          <p:cNvSpPr/>
          <p:nvPr/>
        </p:nvSpPr>
        <p:spPr>
          <a:xfrm>
            <a:off x="7524750" y="5807422"/>
            <a:ext cx="3238500" cy="6667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28662" y="9720262"/>
            <a:ext cx="2276475" cy="276225"/>
          </a:xfrm>
          <a:prstGeom prst="rect">
            <a:avLst/>
          </a:prstGeom>
          <a:solidFill>
            <a:srgbClr val="07172D"/>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3109912"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114675"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723805"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7285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37697"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42459"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951738"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7956500"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565630"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9570393"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179671"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11184434"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12793563" y="9720262"/>
            <a:ext cx="1537841"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2798326" y="9944100"/>
            <a:ext cx="1528316"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4407604" y="9720262"/>
            <a:ext cx="1537692" cy="276225"/>
          </a:xfrm>
          <a:prstGeom prst="rect">
            <a:avLst/>
          </a:prstGeom>
          <a:solidFill>
            <a:srgbClr val="0D2748">
              <a:alpha val="46000"/>
            </a:srgbClr>
          </a:solidFill>
          <a:ln w="9525">
            <a:solidFill>
              <a:srgbClr val="6D8FB2">
                <a:alpha val="2116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4412367" y="9944100"/>
            <a:ext cx="1528167" cy="47625"/>
          </a:xfrm>
          <a:prstGeom prst="rect">
            <a:avLst/>
          </a:prstGeom>
          <a:solidFill>
            <a:srgbClr val="FFD21F">
              <a:alpha val="4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16021496" y="9720262"/>
            <a:ext cx="1537692" cy="276225"/>
          </a:xfrm>
          <a:prstGeom prst="rect">
            <a:avLst/>
          </a:prstGeom>
          <a:solidFill>
            <a:srgbClr val="0D2748"/>
          </a:solidFill>
          <a:ln w="9525">
            <a:solidFill>
              <a:srgbClr val="FFD2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6026259" y="9944100"/>
            <a:ext cx="244507" cy="47625"/>
          </a:xfrm>
          <a:prstGeom prst="rect">
            <a:avLst/>
          </a:prstGeom>
          <a:solidFill>
            <a:srgbClr val="FFD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8111" y="4097536"/>
            <a:ext cx="5851630" cy="1828800"/>
          </a:xfrm>
          <a:prstGeom prst="rect">
            <a:avLst/>
          </a:prstGeom>
          <a:noFill/>
        </p:spPr>
        <p:txBody>
          <a:bodyPr wrap="none" lIns="0" rIns="0" tIns="0" bIns="0" anchor="t">
            <a:spAutoFit/>
          </a:bodyPr>
          <a:lstStyle/>
          <a:p>
            <a:pPr algn="ctr">
              <a:lnSpc>
                <a:spcPct val="76700"/>
              </a:lnSpc>
            </a:pPr>
            <a:r>
              <a:rPr sz="11700" b="1" i="0" spc="-526">
                <a:solidFill>
                  <a:srgbClr val="FFD21F"/>
                </a:solidFill>
                <a:latin typeface="Montserrat"/>
              </a:rPr>
              <a:t>Gracias</a:t>
            </a:r>
          </a:p>
        </p:txBody>
      </p:sp>
      <p:sp>
        <p:nvSpPr>
          <p:cNvPr id="28" name="TextBox 27"/>
          <p:cNvSpPr txBox="1"/>
          <p:nvPr/>
        </p:nvSpPr>
        <p:spPr>
          <a:xfrm>
            <a:off x="3619500" y="5986492"/>
            <a:ext cx="11068050" cy="636270"/>
          </a:xfrm>
          <a:prstGeom prst="rect">
            <a:avLst/>
          </a:prstGeom>
          <a:noFill/>
        </p:spPr>
        <p:txBody>
          <a:bodyPr wrap="square" lIns="0" rIns="0" tIns="0" bIns="0" anchor="t">
            <a:spAutoFit/>
          </a:bodyPr>
          <a:lstStyle/>
          <a:p>
            <a:pPr algn="ctr">
              <a:lnSpc>
                <a:spcPct val="100000"/>
              </a:lnSpc>
            </a:pPr>
            <a:r>
              <a:rPr sz="2025" b="1" i="0">
                <a:solidFill>
                  <a:srgbClr val="F3F7FC"/>
                </a:solidFill>
                <a:latin typeface="Barlow"/>
              </a:rPr>
              <a:t>MODELO DE PROCESAMIENTO DE LENGUAJE NATURAL EN LA VALIDACIÓN DE CORRESPONDENCIA DE PRODUCTOS DEL ECOSISTEMA PHILIPS</a:t>
            </a:r>
          </a:p>
        </p:txBody>
      </p:sp>
      <p:sp>
        <p:nvSpPr>
          <p:cNvPr id="29" name="TextBox 28"/>
          <p:cNvSpPr txBox="1"/>
          <p:nvPr/>
        </p:nvSpPr>
        <p:spPr>
          <a:xfrm>
            <a:off x="7279273" y="6717834"/>
            <a:ext cx="3729454" cy="270510"/>
          </a:xfrm>
          <a:prstGeom prst="rect">
            <a:avLst/>
          </a:prstGeom>
          <a:noFill/>
        </p:spPr>
        <p:txBody>
          <a:bodyPr wrap="none" lIns="0" rIns="0" tIns="0" bIns="0" anchor="t">
            <a:spAutoFit/>
          </a:bodyPr>
          <a:lstStyle/>
          <a:p>
            <a:pPr algn="ctr">
              <a:lnSpc>
                <a:spcPct val="100000"/>
              </a:lnSpc>
            </a:pPr>
            <a:r>
              <a:rPr sz="1650" b="1" i="0" spc="132">
                <a:solidFill>
                  <a:srgbClr val="9AB3CD"/>
                </a:solidFill>
                <a:latin typeface="Barlow"/>
              </a:rPr>
              <a:t>PABLO ENRIQUE CAÑEZ LARICO</a:t>
            </a:r>
          </a:p>
        </p:txBody>
      </p:sp>
      <p:sp>
        <p:nvSpPr>
          <p:cNvPr id="30" name="TextBox 29"/>
          <p:cNvSpPr txBox="1"/>
          <p:nvPr/>
        </p:nvSpPr>
        <p:spPr>
          <a:xfrm>
            <a:off x="930771" y="9766935"/>
            <a:ext cx="2117288" cy="201930"/>
          </a:xfrm>
          <a:prstGeom prst="rect">
            <a:avLst/>
          </a:prstGeom>
          <a:noFill/>
        </p:spPr>
        <p:txBody>
          <a:bodyPr wrap="none" lIns="0" rIns="0" tIns="0" bIns="0" anchor="t">
            <a:spAutoFit/>
          </a:bodyPr>
          <a:lstStyle/>
          <a:p>
            <a:pPr algn="l">
              <a:lnSpc>
                <a:spcPct val="100000"/>
              </a:lnSpc>
            </a:pPr>
            <a:r>
              <a:rPr sz="1200" b="1" i="0" spc="96">
                <a:solidFill>
                  <a:srgbClr val="FFD21F"/>
                </a:solidFill>
                <a:latin typeface="Barlow"/>
              </a:rPr>
              <a:t>CONTRASTE OPERATIVO</a:t>
            </a:r>
          </a:p>
        </p:txBody>
      </p:sp>
      <p:sp>
        <p:nvSpPr>
          <p:cNvPr id="31" name="TextBox 30"/>
          <p:cNvSpPr txBox="1"/>
          <p:nvPr/>
        </p:nvSpPr>
        <p:spPr>
          <a:xfrm>
            <a:off x="38009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48</a:t>
            </a:r>
          </a:p>
        </p:txBody>
      </p:sp>
      <p:sp>
        <p:nvSpPr>
          <p:cNvPr id="32" name="TextBox 31"/>
          <p:cNvSpPr txBox="1"/>
          <p:nvPr/>
        </p:nvSpPr>
        <p:spPr>
          <a:xfrm>
            <a:off x="5414814"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49</a:t>
            </a:r>
          </a:p>
        </p:txBody>
      </p:sp>
      <p:sp>
        <p:nvSpPr>
          <p:cNvPr id="33" name="TextBox 32"/>
          <p:cNvSpPr txBox="1"/>
          <p:nvPr/>
        </p:nvSpPr>
        <p:spPr>
          <a:xfrm>
            <a:off x="7028855"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50</a:t>
            </a:r>
          </a:p>
        </p:txBody>
      </p:sp>
      <p:sp>
        <p:nvSpPr>
          <p:cNvPr id="34" name="TextBox 33"/>
          <p:cNvSpPr txBox="1"/>
          <p:nvPr/>
        </p:nvSpPr>
        <p:spPr>
          <a:xfrm>
            <a:off x="8642747"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51</a:t>
            </a:r>
          </a:p>
        </p:txBody>
      </p:sp>
      <p:sp>
        <p:nvSpPr>
          <p:cNvPr id="35" name="TextBox 34"/>
          <p:cNvSpPr txBox="1"/>
          <p:nvPr/>
        </p:nvSpPr>
        <p:spPr>
          <a:xfrm>
            <a:off x="10256788"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52</a:t>
            </a:r>
          </a:p>
        </p:txBody>
      </p:sp>
      <p:sp>
        <p:nvSpPr>
          <p:cNvPr id="36" name="TextBox 35"/>
          <p:cNvSpPr txBox="1"/>
          <p:nvPr/>
        </p:nvSpPr>
        <p:spPr>
          <a:xfrm>
            <a:off x="11870680"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53</a:t>
            </a:r>
          </a:p>
        </p:txBody>
      </p:sp>
      <p:sp>
        <p:nvSpPr>
          <p:cNvPr id="37" name="TextBox 36"/>
          <p:cNvSpPr txBox="1"/>
          <p:nvPr/>
        </p:nvSpPr>
        <p:spPr>
          <a:xfrm>
            <a:off x="13484721"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54</a:t>
            </a:r>
          </a:p>
        </p:txBody>
      </p:sp>
      <p:sp>
        <p:nvSpPr>
          <p:cNvPr id="38" name="TextBox 37"/>
          <p:cNvSpPr txBox="1"/>
          <p:nvPr/>
        </p:nvSpPr>
        <p:spPr>
          <a:xfrm>
            <a:off x="15098613" y="9772650"/>
            <a:ext cx="263217" cy="190500"/>
          </a:xfrm>
          <a:prstGeom prst="rect">
            <a:avLst/>
          </a:prstGeom>
          <a:noFill/>
        </p:spPr>
        <p:txBody>
          <a:bodyPr wrap="none" lIns="0" rIns="0" tIns="0" bIns="0" anchor="t">
            <a:spAutoFit/>
          </a:bodyPr>
          <a:lstStyle/>
          <a:p>
            <a:pPr algn="l">
              <a:lnSpc>
                <a:spcPct val="100000"/>
              </a:lnSpc>
            </a:pPr>
            <a:r>
              <a:rPr sz="1125" b="1" i="0">
                <a:solidFill>
                  <a:srgbClr val="F3F7FC">
                    <a:alpha val="46000"/>
                  </a:srgbClr>
                </a:solidFill>
                <a:latin typeface="Barlow"/>
              </a:rPr>
              <a:t>55</a:t>
            </a:r>
          </a:p>
        </p:txBody>
      </p:sp>
      <p:sp>
        <p:nvSpPr>
          <p:cNvPr id="39" name="TextBox 38"/>
          <p:cNvSpPr txBox="1"/>
          <p:nvPr/>
        </p:nvSpPr>
        <p:spPr>
          <a:xfrm>
            <a:off x="16712505" y="9772650"/>
            <a:ext cx="263217" cy="190500"/>
          </a:xfrm>
          <a:prstGeom prst="rect">
            <a:avLst/>
          </a:prstGeom>
          <a:noFill/>
        </p:spPr>
        <p:txBody>
          <a:bodyPr wrap="none" lIns="0" rIns="0" tIns="0" bIns="0" anchor="t">
            <a:spAutoFit/>
          </a:bodyPr>
          <a:lstStyle/>
          <a:p>
            <a:pPr algn="l">
              <a:lnSpc>
                <a:spcPct val="100000"/>
              </a:lnSpc>
            </a:pPr>
            <a:r>
              <a:rPr sz="1125" b="1" i="0">
                <a:solidFill>
                  <a:srgbClr val="FFD21F"/>
                </a:solidFill>
                <a:latin typeface="Barlow"/>
              </a:rPr>
              <a:t>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trabajo de grado</dc:title>
  <dc:subject/>
  <dc:creator>Pablo Enrique Cañez Larico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