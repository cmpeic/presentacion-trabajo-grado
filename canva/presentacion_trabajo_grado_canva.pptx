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Soy Pablo Enrique Cañez Larico. Presento el trabajo de grado «Modelo de Procesamiento de Lenguaje Natural en la validación de correspondencia de productos del ecosistema Philips», desarrollado en el área de operaciones de la empresa Agilsoft. Mi tutor es el ingeniero Víctor Rodríguez Estévez.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comercio electrónico publica el mismo producto en miles de tiendas, y cada tienda lo describe a su manera.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Philips necesita saber qué está publicado de su marca en cada país. Eso exige cruzar millones de publicaciones contra un catálogo oficial.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 cruce es un problema de lenguaje natural: dos textos que hablan del mismo objeto sin escribirlo igual.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ese cruce lo resuelve una persona, publicación por publicación. Ahí empieza este trabajo.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Mosaico de antecedentes: vista general de los seis antecedentes antes del detalle.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Agilsoft opera para Philips el monitoreo de sus productos en comercios de decenas de países.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equipo de web scraping extrae automáticamente las publicaciones de cada retailer: título, precio, imagen y enlace.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la extracción no resuelve es la correspondencia. Un analista abre la publicación y el catálogo, y decide si son el mismo producto.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lote diario se reparte entre los analistas del turno. Cada uno arrastra su propio criterio.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decisión no es binaria: el analista clasifica en Match, NIC, Hidden o Delete, según qué encontró y qué faltaba.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área de Quality Assurance revisa una muestra y corrige. Es el único control que existe sobre la consistencia del criterio.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cuatro causas y cada una produce un efecto medible.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Criterio no formalizado produce decisiones inconsistentes. Dos analistas pueden clasificar el mismo par de manera opuesta.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volumen de publicaciones crece continuamente y el tiempo de respuesta aumenta.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inspección es puramente visual: fatiga del operador y riesgo de error humano.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Ausencia de trazabilidad en la decisión: no queda registro de por qué se aceptó o rechazó un par.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qué manera la aplicación de un modelo de Procesamiento de Lenguaje Natural incide en la consistencia de la calidad del matching y en el tiempo de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Diseñar e implementar un modelo basado en Procesamiento de Lenguaje Natural para validar la correspondencia de productos entre publicaciones de comercios electrónicos y los catálogos oficiales de Philips.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aplicación de un modelo de Procesamiento de Lenguaje Natural mejora la consistencia de la calidad del matching y reduce el tiempo de validación respecto al proceso manual actual.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contrastar esta hipótesis se definen tres variables: Como variable independiente, el Modelo de Procesamiento de Lenguaje Natural aplicado a la correspondencia de productos. Y como variables dependientes, los dos efectos medibles del problema: la consistencia de la calidad del matching y el tiempo de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operacionalización descompone cada variable en dimensiones e indicadores concretos. La variable independiente se evalúa mediante la arquitectura algorítmica y su capacidad frente al ruido textual. La consistencia de la calidad se mide a través del rendimiento predictivo —con métricas de Accuracy, Precisión, Recall y F1-score— y la estabilidad operativa frente a la tasa de error humano. Y el tiempo de validación se cuantifica mediante la eficiencia temporal en segundos, comparando la latencia del modelo frente al promedio manual y evaluando el porcentaje de reducción alcanzado.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marco teórico se organiza en doce temas. Metodologías de desarrollo 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notación de modelado de procesos, que sostienen el método.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Fundamentos computacionales 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minería de texto y procesamiento de lenguaje natural, que son el núcleo.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Modelos de representación de texto,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correspondencia de entidades 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modelos de clasificación, que definen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Métricas de similitud,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evaluación de modelos 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medición de eficiencia, que permiten contrastar la hipótesis. Y por último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sistemas de apoyo a la decisión 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web, para la entrega.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 elección metodológica de este trabajo se decidió con la misma escala de uno a cinco, definida antes de comparar. Esto evita justificar a posteriori la opción que ya se prefería.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cinco criterios, CRISP-DM obtiene 23 puntos frente a 14 de KDD y 14 de SEMMA. Gana por dos razones concretas: comprensión del negocio e iteratividad, que es exactamente lo que exigía un problema definido por criterios operativos.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gestión, Kanban obtiene 30 puntos frente a 21 de Scrum y 21 de XP. Pesó el seguimiento continuo sin sprints obligatorios y el bajo requerimiento de roles formales: el desarrollo lo ejecuta una sola persona.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actores. El equipo de web scraping entrega registros estructurados. Los analistas de Product Matching validan a mano contra el catálogo y producen la clasificación operativa. Quality Assurance supervisa y corrige.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criterio que hoy vive en la cabeza del analista, formalizado por primera vez. Nótese que la decisión no es «¿corresponde o no?»: es una cadena de preguntas que termina en Match, NIC, Hidden o Delete.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proceso AS-IS. Todo el trabajo de decisión ocurre en un solo carril: el del analista. No hay ningún punto donde el sistema aporte evidencia.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proceso propuesto. Aparece un carril de sistema automático que resuelve lo evidente y prioriza lo dudoso. El analista no desaparece: recibe menos casos y mejor preparados.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línea base, medida. Un caso fácil toma 15 a 30 segundos; uno difícil, 60 a 120. El promedio operativo es de 65 segundos por producto, con una cuota de 440 productos diarios por analista y 10 operadores por turno: 4.400 productos por día. Contra esta cifra se contrastará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dataset principal trae 36 columnas. Agrupadas por rol se ve la estructura real: trazabilidad del snapshot, lado fabricante, lado retailer, geografía y calidad del match. Solo dos de esos grupos contienen el texto que el modelo va a leer.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la asimetría del problema. El nombre del fabricante promedia 42 caracteres; el del retailer, 61, y el 90,19% contiene un token con forma de código. El identificador del retailer no es confiable: 8.528 casos aparecen reutilizados entre comercios distintos. Tres banderas sirven de filtro: Invalid, IsDeleted y MatchConfidence. La cuarta, LinkIsValid, parece un filtro y no lo es: describe el estado del enlace, no la validez de la correspondencia. Usarla habría descartado datos buenos.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aporta 15.355 filas con solo cuatro columnas. Su contrato es de una sola clase: el pipeline se detiene si aparece un estado distinto de Hidden. Un contrato verificable vale más que una comprobación manual. NIC aporta 47.333 filas y es la fuente más compleja: cinco columnas de contrato base más ocho de etiquetado heurístico. El 83% queda como unknown_review. Por eso NIC no entra como verdad fuerte, sino con peso reducido — una decisión metodológica, no una limitación técnica. El catálogo oficial es la referencia contra la que se compara todo. Ucrania y Bélgica comparten contrato de 11 columnas. La llave real es el ProductId con barra, como BAR700/00. Los dos campos de precio están en cero en todo el snapshot: por eso no se usan. Es la única fuente que llega ya en forma de par etiquetado: 896 filas con los dos textos y su etiqueta. Y trae el tipo de negativo — sufijo distinto y reacondicionado —, que es justamente lo que después va a costar más. Esta fuente no tiene archivo físico hoy. Aun así el contrato es verificable, porque el código que lo consume lo declara y lo valida antes de leer. Es la diferencia entre documentar un supuesto y hacerlo comprobable. Siete fuentes, muy desiguales. Match aporta 127.093 pares; el catálogo, apenas 4.316 productos. Esa desproporción es la que obliga a una arquitectura de recuperación y no de comparación exhaustiva.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las 36 columnas originales se seleccionan siete campos textuales: cinco del fabricante y dos del retailer. Estos campos forman dos vistas comparables: manufacturer text y retailer text. Hidden y NIC aportan un único campo de texto, sin mezclarlo con nada. El catálogo compone marca, nombre y descripción, y extrae los códigos aparte. Cada regla está verificada en su módulo de preparación. El lote de prueba reutiliza el mismo compositor de texto que Match — esto es deliberado: evita que el modelo vea en producción un texto formado de otra manera que en entrenamiento. Los pares negativos llegan ya compuestos.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volcado trae 129.507 filas. El filtro base conserva 127.093, el 98,14%: el dataset ya venía limpio a nivel de banderas. El trabajo real fue definir la identidad — la unidad canónica de publicación — y llegar a 110.706 publicaciones y 17.416 productos oficiales. Hay tres cosas que parecen duplicados y no lo son. Duplicado exacto: 8 filas, se eliminan. Repetición histórica del mismo par entre meses: 20,92%, no se borra, se colapsa. Y co-ocurrencia por usar la llave equivocada, que no es duplicado en absoluto. Lo ambiguo se marca con su severidad.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hallazgos que cambian el diseño. Uno: una fila no es un producto, así que la división train/test se hace por par, nunca por fila. Dos: el código vive dentro del texto libre, en el 90,19% de los títulos. Tres: lo que parece ruido es sintaxis — la barra y las comillas significan algo.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preparadores distintos, un solo pipeline de 19 pasos. Lo único propio de cada fuente es qué columnas leer; de ahí en adelante son las mismas funciones. Eso elimina el training-serving skew: el texto de producción se forma exactamente igual que el de entrenamiento. Un título real. Del crudo con entidades y mayúsculas, a la normalización Unicode, a las diez reglas técnicas de dominio, y finalmente los códigos separados del texto. La barra, las comillas y el alfabeto se conservan: son sintaxis, no ruido. La normalización es idempotente, verificado sobre 254.186 textos.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575 entidades HTML eliminadas: eso sí era ruido. 30.919 filas en alfabeto no latino conservadas íntegras: cero pérdidas, porque una limpieza estándar habría borrado mercados enteros. Y separar los códigos del texto sube el Recall@1 de 51 a 83 por ciento: 32 puntos.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que ordena los tres modelos es qué puede mirar cada uno. TF-IDF no mira nada: es geometría de vectores. Los embeddings miran cada texto por separado. El cross-encoder mira los dos textos juntos en una sola secuencia. Esa diferencia explica todos los resultados que siguen. Al leer los dos textos juntos aparecen dos cuadrantes de atención que ningún otro modelo tiene: cada token del catálogo consulta el título del retailer y viceversa. Ahí es donde el sufijo /90 se confronta con /INT. El falso positivo por sufijo distinto cae de 36 y 90 por ciento a 4,88%.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protocolo se fijó antes de mirar resultados. Entrenamiento hasta octubre, validación en noviembre con 428 consultas, y test en diciembre con 147, que se abre una sola vez, al cerrar. Veintitrés configuraciones declaradas de antemano. Las diecisiete configuraciones del recuperador. Lean por columnas, no por filas: pasar de texto básico a texto enriquecido con los códigos vale 32 puntos de Recall@1. Elegir el mejor analizador dentro de una columna vale cinco. La decisión de qué texto indexar pesó más que la de qué algoritmo usar.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Siete medidas de similitud, pero con funciones distintas. Solo una decide: el coseno sobre TF-IDF. Una contrasta: BM25. Y cinco explican — sirven para auditar un par, nunca para decidir solas. Distinguir esto evita el error de promediar métricas que miden cosas diferentes.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es una cascada. El catálogo tiene 4.316 productos por consulta; TF-IDF los reduce a 20 candidatos, con la verdad dentro el 91,84% de las veces. Sobre esos veinte, el cross-encoder decide. Ninguno de los dos puede hacer el trabajo del otro. Y el sistema completo es una escalera. Las capas cero a tres son reglas deterministas y resuelven 1.274 de las 1.282 decisiones automáticas — el 99,4%, sin GPU. El modelo interviene en la capa cuatro. Y la capa cinco es la abstención: 1.083 publicaciones que llegan al revisor ya ordenadas.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caso real. La consulta es una publicación ucraniana de un monitor. El catálogo está en inglés. Aun así el producto correcto queda primero, con 0,69, el doble que el segundo. Los n-gramas de caracteres cruzan el idioma porque el código es la parte que ambos textos comparten. Y aquí el límite. Misma clase de consulta, pero los dos primeros candidatos son el mismo texto: solo cambia /00 por /01. La separación es de cinco centésimas. Una bolsa de n-gramas no puede resolver esto, y por eso hace falta un segundo modelo que lea los dos textos juntos.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par, medido por las cinco funciones. Un título en ucraniano y uno en español, sin un solo token compartido: TF-IDF da 0,16, Jaccard 0,09. El cross-encoder da 0,99927 — entiende que hablan del mismo tipo de producto. Pero se equivoca de referencia: acierta el concepto y falla el modelo exacto. Y esa duda es detectable. En los cuatro errores de ranking más graves, la distancia entre el primer y el segundo candidato va de cero a siete millonésimas. El score no avisa: todos pasan de 0,998. El margen sí. Por eso la compuerta exige score y margen, y estos casos van a revisión. Los cuatro falsos positivos que sobreviven, con su título real. Un título con dos códigos; un sufijo /RH que designa otra referencia; un producto reacondicionado que comparte texto con el original; y un paquete de televisor más barra de sonido. Ninguno es caprichoso: en los cuatro, el texto sí describe el producto.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Recuperación sobre el test. La mejor cascada acierta en primera posición el 87,07%. Pero las dos mejores difieren en tres consultas y el test de McNemar da p igual a 1. Por eso se reporta como el mejor resultado observado, no como superioridad demostrada.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Clasificación de pares. Los modelos uno y dos parecen equivalentes por F1 — 72% contra 73% — y sus matrices son opuestas: uno rechaza de más, el otro acepta casi todo. El cross-encoder llega a 97,41% con 4,62% de falsos positivos. Aquí la superioridad sí es contundente. Y esta es la cifra que cuenta la historia. Sobre variantes casi idénticas del mismo producto, los embeddings fallan el 90% de las veces y TF-IDF el 36%. El cross-encoder, el 4,88%. Esto es exactamente la variabilidad de criterio que el planteamiento del problema identificaba.</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completa sobre los 344 pares de test: 222 aciertos positivos, 109 negativos correctos, 4 falsos positivos y 9 falsos negativos. El umbral se fijó en validación y se aplicó al test sin retocarlo — es la única forma de que la cifra signifique algo. Y una limitación que conviene decir antes de que la pregunten. De los 26 fallos de primera posición, 12 son irrecuperables: el candidato correcto nunca entró al pool. Mejorar el reordenador no los arregla; hay que ensanchar la recuperación.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213 consultas anotadas a mano, fuera del entrenamiento. Y aquí el resultado es honesto: modelo uno y modelo tres empatan en Recall@1. El bootstrap de diez mil muestras da una diferencia de exactamente cero. El aporte del reordenador no es recuperar mejor: es decidir cuándo automatizar. La prueba de generalización: 2.365 publicaciones, 19 países, ningún retailer visto en el entrenamiento. 54,2% automatizado con 94,5% de precisión. Los dos peores resultados son los dos marketplaces más grandes, donde el título lo escribe un vendedor tercero. La degradación tiene una causa identificable.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publicaciones belgas reales. La primera se resuelve bien. La segunda vende un televisor y una barra de sonido: no corresponde a un solo producto del catálogo. El score es altísimo, pero el margen de 0,0022 delata la ambigüedad y el sistema se abstiene. Se abstiene por la razón correcta. Y esta lámina explica por qué. Dos publicaciones, mismo umbral, scores casi idénticos. La primera lleva el código en el título y acierta. La segunda dice solo «Philips Air Fryer, 7,2 litros» — que describe varias freidoras del catálogo — y el modelo elige una plausible con total confianza. Es el límite del método.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línea base reúne dos semanas operativas. Se registraron 62.580 segundos para 3.768 publicaciones-semana. El promedio combinado es 16,608 segundos por publicación-semana. La corrida v7.5 procesó 2.365 consultas en 15.411,8 segundos. La latencia promedio fue 6,5166 segundos por consulta, equivalente a una reducción unitaria del 60,76% frente a la línea base manual. La diferencia unitaria de 10,092 segundos se calculó con los promedios sin redondear. La línea base manual resulta de dividir 62.580 segundos entre 3.768 publicaciones-semana: 16,608 segundos. La latencia del modelo es 15.411,8 entre 2.365: 6,5166 segundos.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mismo lote, el proceso manual proyecta 10,91 horas humanas. Con el modelo, el operador revisa 1.083 casos y utiliza 5,00 horas humanas. La reducción del trabajo humano es 54,21%; si máquina y persona se consideran secuenciales, la reducción total es 14,97%. La reducción unitaria es 60,76%, la reducción de horas humanas 54,21% y la reducción secuencial total 14,97%.</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evaluación interna del Modelo 3 alcanza 96,89% de exactitud y 97,41% de F1. En el benchmark externo, la coincidencia selectiva es 94,54%. Los 70 casos son desacuerdos externos; durante el uso controlado se registraron cero errores. Con 94 verdaderos positivos, 62 verdaderos negativos, 3 falsos positivos y 2 falsos negativos, la exactitud es 96,89%, la precisión 96,91%, el recall 97,92%, el F1 97,41% y la tasa de error 3,11%. En el uso controlado, la tasa de error observada es cero.</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contrastar estadísticamente la calidad del matching se aplicó la prueba exacta de McNemar, bilateral, sobre los 161 pares comunes. La hipótesis nula dice que TF-IDF y el Transformer tienen la misma probabilidad de acierto. Lo que decide son las 53 discordancias: en 50 acierta solo el Transformer y en 3 solo TF-IDF. El estadístico exacto es T igual a 3 y el valor p bilateral es 5,52 por diez a la menos doce, muy por debajo de 0,05. Se rechaza la hipótesis nula: la diferencia favorece al Transformer, que sube la exactitud de 67,70 % a 96,89 %, una mejora de 29,19 puntos porcentuales.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variable independiente se materializa en el Modelo 3, la cascada v7.5 y el esquema Human in the Loop. Para la primera variable dependiente, la evidencia interna, externa y de uso muestra mejora de consistencia. Para la segunda, la latencia y las horas humanas demuestran reducción del tiempo. Por tanto, el modelo de Procesamiento de Lenguaje Natural mejora la consistencia de la calidad del matching y reduce el tiempo de validación, en comparación con el proceso manual, en el área de operaciones de Agilsoft SRL. Se acepta la hipótesis dentro del alcance del estudio.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Quedo atento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3.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4.png"/><Relationship Id="rId1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9.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Tarjeta logo EMI"/>
          <p:cNvSpPr/>
          <p:nvPr/>
        </p:nvSpPr>
        <p:spPr>
          <a:xfrm>
            <a:off x="914400" y="723900"/>
            <a:ext cx="3848100" cy="1866900"/>
          </a:xfrm>
          <a:prstGeom prst="roundRect">
            <a:avLst>
              <a:gd name="adj" fmla="val 91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Logo EMI" descr="logo_universidad_2e81de3fa5.png"/>
          <p:cNvPicPr>
            <a:picLocks noChangeAspect="1"/>
          </p:cNvPicPr>
          <p:nvPr/>
        </p:nvPicPr>
        <p:blipFill>
          <a:blip r:embed="rId3"/>
          <a:stretch>
            <a:fillRect/>
          </a:stretch>
        </p:blipFill>
        <p:spPr>
          <a:xfrm>
            <a:off x="1099102" y="857250"/>
            <a:ext cx="3478696" cy="1600200"/>
          </a:xfrm>
          <a:prstGeom prst="rect">
            <a:avLst/>
          </a:prstGeom>
        </p:spPr>
      </p:pic>
      <p:pic>
        <p:nvPicPr>
          <p:cNvPr id="5" name="Logo carrera" descr="logo_carrera_sistemas_blanco_4b1f370dbe.png"/>
          <p:cNvPicPr>
            <a:picLocks noChangeAspect="1"/>
          </p:cNvPicPr>
          <p:nvPr/>
        </p:nvPicPr>
        <p:blipFill>
          <a:blip r:embed="rId4"/>
          <a:stretch>
            <a:fillRect/>
          </a:stretch>
        </p:blipFill>
        <p:spPr>
          <a:xfrm>
            <a:off x="5257800" y="1233920"/>
            <a:ext cx="2857500" cy="846859"/>
          </a:xfrm>
          <a:prstGeom prst="rect">
            <a:avLst/>
          </a:prstGeom>
        </p:spPr>
      </p:pic>
      <p:sp>
        <p:nvSpPr>
          <p:cNvPr id="6" name="Esquinero"/>
          <p:cNvSpPr/>
          <p:nvPr/>
        </p:nvSpPr>
        <p:spPr>
          <a:xfrm>
            <a:off x="1428750" y="3429000"/>
            <a:ext cx="2095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squinero"/>
          <p:cNvSpPr/>
          <p:nvPr/>
        </p:nvSpPr>
        <p:spPr>
          <a:xfrm>
            <a:off x="1428750" y="3429000"/>
            <a:ext cx="28575"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5695950" y="3429000"/>
            <a:ext cx="2095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5876925" y="3429000"/>
            <a:ext cx="28575"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428750" y="3905250"/>
            <a:ext cx="28575"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428750" y="4086225"/>
            <a:ext cx="2095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5876925" y="3905250"/>
            <a:ext cx="28575"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5695950" y="4086225"/>
            <a:ext cx="2095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28750" y="3429000"/>
            <a:ext cx="4476750" cy="685800"/>
          </a:xfrm>
          <a:prstGeom prst="rect">
            <a:avLst/>
          </a:prstGeom>
          <a:noFill/>
        </p:spPr>
        <p:txBody>
          <a:bodyPr wrap="square" lIns="0" rIns="0" tIns="0" bIns="0" anchor="ctr">
            <a:spAutoFit/>
          </a:bodyPr>
          <a:lstStyle/>
          <a:p>
            <a:pPr algn="ctr">
              <a:lnSpc>
                <a:spcPct val="100000"/>
              </a:lnSpc>
            </a:pPr>
            <a:r>
              <a:rPr sz="1950" b="1" i="0" spc="400">
                <a:solidFill>
                  <a:srgbClr val="FFD21F"/>
                </a:solidFill>
                <a:latin typeface="Montserrat"/>
              </a:rPr>
              <a:t>TRABAJO DE GRADO</a:t>
            </a:r>
          </a:p>
        </p:txBody>
      </p:sp>
      <p:sp>
        <p:nvSpPr>
          <p:cNvPr id="15" name="Titulo"/>
          <p:cNvSpPr txBox="1"/>
          <p:nvPr/>
        </p:nvSpPr>
        <p:spPr>
          <a:xfrm>
            <a:off x="1428750" y="4476750"/>
            <a:ext cx="11620500" cy="1809750"/>
          </a:xfrm>
          <a:prstGeom prst="rect">
            <a:avLst/>
          </a:prstGeom>
          <a:noFill/>
        </p:spPr>
        <p:txBody>
          <a:bodyPr wrap="square" lIns="0" rIns="0" tIns="0" bIns="0" anchor="t">
            <a:spAutoFit/>
          </a:bodyPr>
          <a:lstStyle/>
          <a:p>
            <a:pPr algn="l">
              <a:lnSpc>
                <a:spcPct val="101700"/>
              </a:lnSpc>
            </a:pPr>
            <a:r>
              <a:rPr sz="3750" b="1" i="0">
                <a:solidFill>
                  <a:srgbClr val="F3F7FC"/>
                </a:solidFill>
                <a:latin typeface="Montserrat"/>
              </a:rPr>
              <a:t>Modelo de Procesamiento de Lenguaje</a:t>
            </a:r>
          </a:p>
          <a:p>
            <a:pPr algn="l">
              <a:lnSpc>
                <a:spcPct val="101700"/>
              </a:lnSpc>
            </a:pPr>
            <a:r>
              <a:rPr sz="3750" b="1" i="0">
                <a:solidFill>
                  <a:srgbClr val="F3F7FC"/>
                </a:solidFill>
                <a:latin typeface="Montserrat"/>
              </a:rPr>
              <a:t>Natural en la validación de correspondencia</a:t>
            </a:r>
          </a:p>
          <a:p>
            <a:pPr algn="l">
              <a:lnSpc>
                <a:spcPct val="101700"/>
              </a:lnSpc>
            </a:pPr>
            <a:r>
              <a:rPr sz="3750" b="1" i="0">
                <a:solidFill>
                  <a:srgbClr val="F3F7FC"/>
                </a:solidFill>
                <a:latin typeface="Montserrat"/>
              </a:rPr>
              <a:t>de productos del ecosistema Philips</a:t>
            </a:r>
          </a:p>
        </p:txBody>
      </p:sp>
      <p:sp>
        <p:nvSpPr>
          <p:cNvPr id="16" name="TextBox 15"/>
          <p:cNvSpPr txBox="1"/>
          <p:nvPr/>
        </p:nvSpPr>
        <p:spPr>
          <a:xfrm>
            <a:off x="1428750" y="6743700"/>
            <a:ext cx="10668000" cy="438150"/>
          </a:xfrm>
          <a:prstGeom prst="rect">
            <a:avLst/>
          </a:prstGeom>
          <a:noFill/>
        </p:spPr>
        <p:txBody>
          <a:bodyPr wrap="square" lIns="0" rIns="0" tIns="0" bIns="0" anchor="t">
            <a:spAutoFit/>
          </a:bodyPr>
          <a:lstStyle/>
          <a:p>
            <a:pPr algn="l">
              <a:lnSpc>
                <a:spcPct val="100000"/>
              </a:lnSpc>
            </a:pPr>
            <a:r>
              <a:rPr sz="2400" b="1" i="0">
                <a:solidFill>
                  <a:srgbClr val="4F9BFF"/>
                </a:solidFill>
                <a:latin typeface="Barlow"/>
              </a:rPr>
              <a:t>Caso de estudio: área de Agilsoft SRL.</a:t>
            </a:r>
          </a:p>
        </p:txBody>
      </p:sp>
      <p:sp>
        <p:nvSpPr>
          <p:cNvPr id="17" name="Rectangle 16"/>
          <p:cNvSpPr/>
          <p:nvPr/>
        </p:nvSpPr>
        <p:spPr>
          <a:xfrm>
            <a:off x="1428750" y="8420100"/>
            <a:ext cx="15430500" cy="19050"/>
          </a:xfrm>
          <a:prstGeom prst="rect">
            <a:avLst/>
          </a:prstGeom>
          <a:solidFill>
            <a:srgbClr val="6D8FB2">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utor"/>
          <p:cNvSpPr txBox="1"/>
          <p:nvPr/>
        </p:nvSpPr>
        <p:spPr>
          <a:xfrm>
            <a:off x="1428750" y="8686800"/>
            <a:ext cx="9525000" cy="609600"/>
          </a:xfrm>
          <a:prstGeom prst="rect">
            <a:avLst/>
          </a:prstGeom>
          <a:noFill/>
        </p:spPr>
        <p:txBody>
          <a:bodyPr wrap="square" lIns="0" rIns="0" tIns="0" bIns="0" anchor="ctr">
            <a:spAutoFit/>
          </a:bodyPr>
          <a:lstStyle/>
          <a:p>
            <a:pPr algn="l">
              <a:lnSpc>
                <a:spcPct val="100000"/>
              </a:lnSpc>
            </a:pPr>
            <a:r>
              <a:rPr sz="3150" b="1" i="0">
                <a:solidFill>
                  <a:srgbClr val="F3F7FC"/>
                </a:solidFill>
                <a:latin typeface="Montserrat"/>
              </a:rPr>
              <a:t>Est. Cañez Larico Pablo Enrique</a:t>
            </a:r>
          </a:p>
        </p:txBody>
      </p:sp>
      <p:sp>
        <p:nvSpPr>
          <p:cNvPr id="19" name="TextBox 18"/>
          <p:cNvSpPr txBox="1"/>
          <p:nvPr/>
        </p:nvSpPr>
        <p:spPr>
          <a:xfrm>
            <a:off x="11144250" y="8686800"/>
            <a:ext cx="5715000" cy="609600"/>
          </a:xfrm>
          <a:prstGeom prst="rect">
            <a:avLst/>
          </a:prstGeom>
          <a:noFill/>
        </p:spPr>
        <p:txBody>
          <a:bodyPr wrap="square" lIns="0" rIns="0" tIns="0" bIns="0" anchor="ctr">
            <a:spAutoFit/>
          </a:bodyPr>
          <a:lstStyle/>
          <a:p>
            <a:pPr algn="r">
              <a:lnSpc>
                <a:spcPct val="100000"/>
              </a:lnSpc>
            </a:pPr>
            <a:r>
              <a:rPr sz="2100" b="0" i="0">
                <a:solidFill>
                  <a:srgbClr val="9FB4CC"/>
                </a:solidFill>
                <a:latin typeface="Barlow"/>
              </a:rPr>
              <a:t>Tutor: Ing. Víctor Rodríguez Estévez</a:t>
            </a:r>
          </a:p>
        </p:txBody>
      </p:sp>
      <p:cxnSp>
        <p:nvCxnSpPr>
          <p:cNvPr id="20" name="Connector 19"/>
          <p:cNvCxnSpPr/>
          <p:nvPr/>
        </p:nvCxnSpPr>
        <p:spPr>
          <a:xfrm flipH="1">
            <a:off x="13411200" y="1866900"/>
            <a:ext cx="304800" cy="26098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3716000" y="1143000"/>
            <a:ext cx="2000250" cy="7239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716250" y="1143000"/>
            <a:ext cx="1962150" cy="14287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678400" y="2571750"/>
            <a:ext cx="228600" cy="32385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11200" y="4476750"/>
            <a:ext cx="285750" cy="27622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96950" y="7239000"/>
            <a:ext cx="2495550" cy="5524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192500" y="5810250"/>
            <a:ext cx="1714500" cy="19812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3649325" y="18002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5649575" y="10763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7611725" y="25050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840325" y="57435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3344525" y="44100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630275" y="71723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125825" y="77247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430250" y="2419350"/>
            <a:ext cx="4305300" cy="4305300"/>
          </a:xfrm>
          <a:prstGeom prst="ellipse">
            <a:avLst/>
          </a:prstGeom>
          <a:noFill/>
          <a:ln w="19050">
            <a:solidFill>
              <a:srgbClr val="0B5EA8">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849350" y="2838450"/>
            <a:ext cx="3467100" cy="3467100"/>
          </a:xfrm>
          <a:prstGeom prst="ellipse">
            <a:avLst/>
          </a:prstGeom>
          <a:solidFill>
            <a:srgbClr val="0D2748"/>
          </a:solidFill>
          <a:ln w="47625">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Red neuronal" descr="int_3_1e09114745.png"/>
          <p:cNvPicPr>
            <a:picLocks noChangeAspect="1"/>
          </p:cNvPicPr>
          <p:nvPr/>
        </p:nvPicPr>
        <p:blipFill>
          <a:blip r:embed="rId5"/>
          <a:stretch>
            <a:fillRect/>
          </a:stretch>
        </p:blipFill>
        <p:spPr>
          <a:xfrm>
            <a:off x="14649429" y="3429000"/>
            <a:ext cx="1866942"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INTRODUCCIÓN</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11811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2287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2792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2792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2287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76650" y="2190750"/>
            <a:ext cx="6286500" cy="62865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6760" y="3070860"/>
            <a:ext cx="4526280" cy="452628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nt_1_493a033fb6.png"/>
          <p:cNvPicPr>
            <a:picLocks noChangeAspect="1"/>
          </p:cNvPicPr>
          <p:nvPr/>
        </p:nvPicPr>
        <p:blipFill>
          <a:blip r:embed="rId4"/>
          <a:stretch>
            <a:fillRect/>
          </a:stretch>
        </p:blipFill>
        <p:spPr>
          <a:xfrm>
            <a:off x="3661988" y="2571750"/>
            <a:ext cx="6315823" cy="5334000"/>
          </a:xfrm>
          <a:prstGeom prst="rect">
            <a:avLst/>
          </a:prstGeom>
        </p:spPr>
      </p:pic>
      <p:sp>
        <p:nvSpPr>
          <p:cNvPr id="19" name="Rectangle 18"/>
          <p:cNvSpPr/>
          <p:nvPr/>
        </p:nvSpPr>
        <p:spPr>
          <a:xfrm>
            <a:off x="1295400" y="8534400"/>
            <a:ext cx="110490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95400" y="85344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600200" y="8534400"/>
            <a:ext cx="105918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01 · El ecosistema de comercios</a:t>
            </a:r>
          </a:p>
        </p:txBody>
      </p:sp>
      <p:sp>
        <p:nvSpPr>
          <p:cNvPr id="22" name="Rectangle 21"/>
          <p:cNvSpPr/>
          <p:nvPr/>
        </p:nvSpPr>
        <p:spPr>
          <a:xfrm>
            <a:off x="13106400" y="1905000"/>
            <a:ext cx="4267200" cy="1762125"/>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nt_1_493a033fb6.png"/>
          <p:cNvPicPr>
            <a:picLocks noChangeAspect="1"/>
          </p:cNvPicPr>
          <p:nvPr/>
        </p:nvPicPr>
        <p:blipFill>
          <a:blip r:embed="rId4"/>
          <a:stretch>
            <a:fillRect/>
          </a:stretch>
        </p:blipFill>
        <p:spPr>
          <a:xfrm>
            <a:off x="14159133" y="2114550"/>
            <a:ext cx="1590234" cy="1343025"/>
          </a:xfrm>
          <a:prstGeom prst="rect">
            <a:avLst/>
          </a:prstGeom>
        </p:spPr>
      </p:pic>
      <p:sp>
        <p:nvSpPr>
          <p:cNvPr id="24" name="Rectangle 23"/>
          <p:cNvSpPr/>
          <p:nvPr/>
        </p:nvSpPr>
        <p:spPr>
          <a:xfrm>
            <a:off x="16821150" y="3267075"/>
            <a:ext cx="419100" cy="30175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821150" y="3267075"/>
            <a:ext cx="419100" cy="301752"/>
          </a:xfrm>
          <a:prstGeom prst="rect">
            <a:avLst/>
          </a:prstGeom>
          <a:noFill/>
        </p:spPr>
        <p:txBody>
          <a:bodyPr wrap="none" lIns="0" rIns="0" tIns="0" bIns="0" anchor="ctr">
            <a:spAutoFit/>
          </a:bodyPr>
          <a:lstStyle/>
          <a:p>
            <a:pPr algn="ctr">
              <a:lnSpc>
                <a:spcPct val="100000"/>
              </a:lnSpc>
            </a:pPr>
            <a:r>
              <a:rPr sz="1188" b="1" i="0">
                <a:solidFill>
                  <a:srgbClr val="07172D"/>
                </a:solidFill>
                <a:latin typeface="Montserrat"/>
              </a:rPr>
              <a:t>01</a:t>
            </a:r>
          </a:p>
        </p:txBody>
      </p:sp>
      <p:sp>
        <p:nvSpPr>
          <p:cNvPr id="26" name="Rectangle 25"/>
          <p:cNvSpPr/>
          <p:nvPr/>
        </p:nvSpPr>
        <p:spPr>
          <a:xfrm>
            <a:off x="13106400" y="385762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nt_2_3bc65c03bb.png"/>
          <p:cNvPicPr>
            <a:picLocks noChangeAspect="1"/>
          </p:cNvPicPr>
          <p:nvPr/>
        </p:nvPicPr>
        <p:blipFill>
          <a:blip r:embed="rId5">
            <a:alphaModFix amt="45000"/>
          </a:blip>
          <a:stretch>
            <a:fillRect/>
          </a:stretch>
        </p:blipFill>
        <p:spPr>
          <a:xfrm>
            <a:off x="14301292" y="4067175"/>
            <a:ext cx="1305915" cy="1343025"/>
          </a:xfrm>
          <a:prstGeom prst="rect">
            <a:avLst/>
          </a:prstGeom>
        </p:spPr>
      </p:pic>
      <p:sp>
        <p:nvSpPr>
          <p:cNvPr id="28" name="Rectangle 27"/>
          <p:cNvSpPr/>
          <p:nvPr/>
        </p:nvSpPr>
        <p:spPr>
          <a:xfrm>
            <a:off x="16821150" y="521970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6821150" y="521970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02</a:t>
            </a:r>
          </a:p>
        </p:txBody>
      </p:sp>
      <p:sp>
        <p:nvSpPr>
          <p:cNvPr id="30" name="Rectangle 29"/>
          <p:cNvSpPr/>
          <p:nvPr/>
        </p:nvSpPr>
        <p:spPr>
          <a:xfrm>
            <a:off x="13106400" y="581025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int_3_1e09114745.png"/>
          <p:cNvPicPr>
            <a:picLocks noChangeAspect="1"/>
          </p:cNvPicPr>
          <p:nvPr/>
        </p:nvPicPr>
        <p:blipFill>
          <a:blip r:embed="rId6">
            <a:alphaModFix amt="45000"/>
          </a:blip>
          <a:stretch>
            <a:fillRect/>
          </a:stretch>
        </p:blipFill>
        <p:spPr>
          <a:xfrm>
            <a:off x="14405836" y="6019800"/>
            <a:ext cx="1096828" cy="1343025"/>
          </a:xfrm>
          <a:prstGeom prst="rect">
            <a:avLst/>
          </a:prstGeom>
        </p:spPr>
      </p:pic>
      <p:sp>
        <p:nvSpPr>
          <p:cNvPr id="32" name="Rectangle 31"/>
          <p:cNvSpPr/>
          <p:nvPr/>
        </p:nvSpPr>
        <p:spPr>
          <a:xfrm>
            <a:off x="16821150" y="717232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6821150" y="717232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03</a:t>
            </a:r>
          </a:p>
        </p:txBody>
      </p:sp>
      <p:sp>
        <p:nvSpPr>
          <p:cNvPr id="34" name="Rectangle 33"/>
          <p:cNvSpPr/>
          <p:nvPr/>
        </p:nvSpPr>
        <p:spPr>
          <a:xfrm>
            <a:off x="13106400" y="776287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int_4_0df1e31025.png"/>
          <p:cNvPicPr>
            <a:picLocks noChangeAspect="1"/>
          </p:cNvPicPr>
          <p:nvPr/>
        </p:nvPicPr>
        <p:blipFill>
          <a:blip r:embed="rId7">
            <a:alphaModFix amt="45000"/>
          </a:blip>
          <a:stretch>
            <a:fillRect/>
          </a:stretch>
        </p:blipFill>
        <p:spPr>
          <a:xfrm>
            <a:off x="14120648" y="7972425"/>
            <a:ext cx="1667203" cy="1343025"/>
          </a:xfrm>
          <a:prstGeom prst="rect">
            <a:avLst/>
          </a:prstGeom>
        </p:spPr>
      </p:pic>
      <p:sp>
        <p:nvSpPr>
          <p:cNvPr id="36" name="Rectangle 35"/>
          <p:cNvSpPr/>
          <p:nvPr/>
        </p:nvSpPr>
        <p:spPr>
          <a:xfrm>
            <a:off x="16821150" y="912495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821150" y="912495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INTRODUCCIÓN</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11811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2287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2792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2792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2287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76650" y="2190750"/>
            <a:ext cx="6286500" cy="62865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6760" y="3070860"/>
            <a:ext cx="4526280" cy="452628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nt_2_3bc65c03bb.png"/>
          <p:cNvPicPr>
            <a:picLocks noChangeAspect="1"/>
          </p:cNvPicPr>
          <p:nvPr/>
        </p:nvPicPr>
        <p:blipFill>
          <a:blip r:embed="rId4"/>
          <a:stretch>
            <a:fillRect/>
          </a:stretch>
        </p:blipFill>
        <p:spPr>
          <a:xfrm>
            <a:off x="4226593" y="2571750"/>
            <a:ext cx="5186613" cy="5334000"/>
          </a:xfrm>
          <a:prstGeom prst="rect">
            <a:avLst/>
          </a:prstGeom>
        </p:spPr>
      </p:pic>
      <p:sp>
        <p:nvSpPr>
          <p:cNvPr id="19" name="Rectangle 18"/>
          <p:cNvSpPr/>
          <p:nvPr/>
        </p:nvSpPr>
        <p:spPr>
          <a:xfrm>
            <a:off x="1295400" y="8534400"/>
            <a:ext cx="110490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95400" y="85344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600200" y="8534400"/>
            <a:ext cx="105918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02 · El volumen de datos</a:t>
            </a:r>
          </a:p>
        </p:txBody>
      </p:sp>
      <p:sp>
        <p:nvSpPr>
          <p:cNvPr id="22" name="Rectangle 21"/>
          <p:cNvSpPr/>
          <p:nvPr/>
        </p:nvSpPr>
        <p:spPr>
          <a:xfrm>
            <a:off x="13106400" y="190500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nt_1_493a033fb6.png"/>
          <p:cNvPicPr>
            <a:picLocks noChangeAspect="1"/>
          </p:cNvPicPr>
          <p:nvPr/>
        </p:nvPicPr>
        <p:blipFill>
          <a:blip r:embed="rId5">
            <a:alphaModFix amt="45000"/>
          </a:blip>
          <a:stretch>
            <a:fillRect/>
          </a:stretch>
        </p:blipFill>
        <p:spPr>
          <a:xfrm>
            <a:off x="14159133" y="2114550"/>
            <a:ext cx="1590234" cy="1343025"/>
          </a:xfrm>
          <a:prstGeom prst="rect">
            <a:avLst/>
          </a:prstGeom>
        </p:spPr>
      </p:pic>
      <p:sp>
        <p:nvSpPr>
          <p:cNvPr id="24" name="Rectangle 23"/>
          <p:cNvSpPr/>
          <p:nvPr/>
        </p:nvSpPr>
        <p:spPr>
          <a:xfrm>
            <a:off x="16821150" y="326707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821150" y="326707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01</a:t>
            </a:r>
          </a:p>
        </p:txBody>
      </p:sp>
      <p:sp>
        <p:nvSpPr>
          <p:cNvPr id="26" name="Rectangle 25"/>
          <p:cNvSpPr/>
          <p:nvPr/>
        </p:nvSpPr>
        <p:spPr>
          <a:xfrm>
            <a:off x="13106400" y="3857625"/>
            <a:ext cx="4267200" cy="1762125"/>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nt_2_3bc65c03bb.png"/>
          <p:cNvPicPr>
            <a:picLocks noChangeAspect="1"/>
          </p:cNvPicPr>
          <p:nvPr/>
        </p:nvPicPr>
        <p:blipFill>
          <a:blip r:embed="rId4"/>
          <a:stretch>
            <a:fillRect/>
          </a:stretch>
        </p:blipFill>
        <p:spPr>
          <a:xfrm>
            <a:off x="14301292" y="4067175"/>
            <a:ext cx="1305915" cy="1343025"/>
          </a:xfrm>
          <a:prstGeom prst="rect">
            <a:avLst/>
          </a:prstGeom>
        </p:spPr>
      </p:pic>
      <p:sp>
        <p:nvSpPr>
          <p:cNvPr id="28" name="Rectangle 27"/>
          <p:cNvSpPr/>
          <p:nvPr/>
        </p:nvSpPr>
        <p:spPr>
          <a:xfrm>
            <a:off x="16821150" y="5219700"/>
            <a:ext cx="419100" cy="30175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6821150" y="5219700"/>
            <a:ext cx="419100" cy="301752"/>
          </a:xfrm>
          <a:prstGeom prst="rect">
            <a:avLst/>
          </a:prstGeom>
          <a:noFill/>
        </p:spPr>
        <p:txBody>
          <a:bodyPr wrap="none" lIns="0" rIns="0" tIns="0" bIns="0" anchor="ctr">
            <a:spAutoFit/>
          </a:bodyPr>
          <a:lstStyle/>
          <a:p>
            <a:pPr algn="ctr">
              <a:lnSpc>
                <a:spcPct val="100000"/>
              </a:lnSpc>
            </a:pPr>
            <a:r>
              <a:rPr sz="1188" b="1" i="0">
                <a:solidFill>
                  <a:srgbClr val="07172D"/>
                </a:solidFill>
                <a:latin typeface="Montserrat"/>
              </a:rPr>
              <a:t>02</a:t>
            </a:r>
          </a:p>
        </p:txBody>
      </p:sp>
      <p:sp>
        <p:nvSpPr>
          <p:cNvPr id="30" name="Rectangle 29"/>
          <p:cNvSpPr/>
          <p:nvPr/>
        </p:nvSpPr>
        <p:spPr>
          <a:xfrm>
            <a:off x="13106400" y="581025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int_3_1e09114745.png"/>
          <p:cNvPicPr>
            <a:picLocks noChangeAspect="1"/>
          </p:cNvPicPr>
          <p:nvPr/>
        </p:nvPicPr>
        <p:blipFill>
          <a:blip r:embed="rId6">
            <a:alphaModFix amt="45000"/>
          </a:blip>
          <a:stretch>
            <a:fillRect/>
          </a:stretch>
        </p:blipFill>
        <p:spPr>
          <a:xfrm>
            <a:off x="14405836" y="6019800"/>
            <a:ext cx="1096828" cy="1343025"/>
          </a:xfrm>
          <a:prstGeom prst="rect">
            <a:avLst/>
          </a:prstGeom>
        </p:spPr>
      </p:pic>
      <p:sp>
        <p:nvSpPr>
          <p:cNvPr id="32" name="Rectangle 31"/>
          <p:cNvSpPr/>
          <p:nvPr/>
        </p:nvSpPr>
        <p:spPr>
          <a:xfrm>
            <a:off x="16821150" y="717232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6821150" y="717232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03</a:t>
            </a:r>
          </a:p>
        </p:txBody>
      </p:sp>
      <p:sp>
        <p:nvSpPr>
          <p:cNvPr id="34" name="Rectangle 33"/>
          <p:cNvSpPr/>
          <p:nvPr/>
        </p:nvSpPr>
        <p:spPr>
          <a:xfrm>
            <a:off x="13106400" y="776287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int_4_0df1e31025.png"/>
          <p:cNvPicPr>
            <a:picLocks noChangeAspect="1"/>
          </p:cNvPicPr>
          <p:nvPr/>
        </p:nvPicPr>
        <p:blipFill>
          <a:blip r:embed="rId7">
            <a:alphaModFix amt="45000"/>
          </a:blip>
          <a:stretch>
            <a:fillRect/>
          </a:stretch>
        </p:blipFill>
        <p:spPr>
          <a:xfrm>
            <a:off x="14120648" y="7972425"/>
            <a:ext cx="1667203" cy="1343025"/>
          </a:xfrm>
          <a:prstGeom prst="rect">
            <a:avLst/>
          </a:prstGeom>
        </p:spPr>
      </p:pic>
      <p:sp>
        <p:nvSpPr>
          <p:cNvPr id="36" name="Rectangle 35"/>
          <p:cNvSpPr/>
          <p:nvPr/>
        </p:nvSpPr>
        <p:spPr>
          <a:xfrm>
            <a:off x="16821150" y="912495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821150" y="912495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INTRODUCCIÓN</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11811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2287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2792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2792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2287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76650" y="2190750"/>
            <a:ext cx="6286500" cy="62865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6760" y="3070860"/>
            <a:ext cx="4526280" cy="452628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nt_3_1e09114745.png"/>
          <p:cNvPicPr>
            <a:picLocks noChangeAspect="1"/>
          </p:cNvPicPr>
          <p:nvPr/>
        </p:nvPicPr>
        <p:blipFill>
          <a:blip r:embed="rId4"/>
          <a:stretch>
            <a:fillRect/>
          </a:stretch>
        </p:blipFill>
        <p:spPr>
          <a:xfrm>
            <a:off x="4641801" y="2571750"/>
            <a:ext cx="4356198" cy="5334000"/>
          </a:xfrm>
          <a:prstGeom prst="rect">
            <a:avLst/>
          </a:prstGeom>
        </p:spPr>
      </p:pic>
      <p:sp>
        <p:nvSpPr>
          <p:cNvPr id="19" name="Rectangle 18"/>
          <p:cNvSpPr/>
          <p:nvPr/>
        </p:nvSpPr>
        <p:spPr>
          <a:xfrm>
            <a:off x="1295400" y="8534400"/>
            <a:ext cx="110490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95400" y="85344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600200" y="8534400"/>
            <a:ext cx="105918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03 · El enfoque de PLN</a:t>
            </a:r>
          </a:p>
        </p:txBody>
      </p:sp>
      <p:sp>
        <p:nvSpPr>
          <p:cNvPr id="22" name="Rectangle 21"/>
          <p:cNvSpPr/>
          <p:nvPr/>
        </p:nvSpPr>
        <p:spPr>
          <a:xfrm>
            <a:off x="13106400" y="190500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nt_1_493a033fb6.png"/>
          <p:cNvPicPr>
            <a:picLocks noChangeAspect="1"/>
          </p:cNvPicPr>
          <p:nvPr/>
        </p:nvPicPr>
        <p:blipFill>
          <a:blip r:embed="rId5">
            <a:alphaModFix amt="45000"/>
          </a:blip>
          <a:stretch>
            <a:fillRect/>
          </a:stretch>
        </p:blipFill>
        <p:spPr>
          <a:xfrm>
            <a:off x="14159133" y="2114550"/>
            <a:ext cx="1590234" cy="1343025"/>
          </a:xfrm>
          <a:prstGeom prst="rect">
            <a:avLst/>
          </a:prstGeom>
        </p:spPr>
      </p:pic>
      <p:sp>
        <p:nvSpPr>
          <p:cNvPr id="24" name="Rectangle 23"/>
          <p:cNvSpPr/>
          <p:nvPr/>
        </p:nvSpPr>
        <p:spPr>
          <a:xfrm>
            <a:off x="16821150" y="326707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821150" y="326707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01</a:t>
            </a:r>
          </a:p>
        </p:txBody>
      </p:sp>
      <p:sp>
        <p:nvSpPr>
          <p:cNvPr id="26" name="Rectangle 25"/>
          <p:cNvSpPr/>
          <p:nvPr/>
        </p:nvSpPr>
        <p:spPr>
          <a:xfrm>
            <a:off x="13106400" y="385762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nt_2_3bc65c03bb.png"/>
          <p:cNvPicPr>
            <a:picLocks noChangeAspect="1"/>
          </p:cNvPicPr>
          <p:nvPr/>
        </p:nvPicPr>
        <p:blipFill>
          <a:blip r:embed="rId6">
            <a:alphaModFix amt="45000"/>
          </a:blip>
          <a:stretch>
            <a:fillRect/>
          </a:stretch>
        </p:blipFill>
        <p:spPr>
          <a:xfrm>
            <a:off x="14301292" y="4067175"/>
            <a:ext cx="1305915" cy="1343025"/>
          </a:xfrm>
          <a:prstGeom prst="rect">
            <a:avLst/>
          </a:prstGeom>
        </p:spPr>
      </p:pic>
      <p:sp>
        <p:nvSpPr>
          <p:cNvPr id="28" name="Rectangle 27"/>
          <p:cNvSpPr/>
          <p:nvPr/>
        </p:nvSpPr>
        <p:spPr>
          <a:xfrm>
            <a:off x="16821150" y="521970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6821150" y="521970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02</a:t>
            </a:r>
          </a:p>
        </p:txBody>
      </p:sp>
      <p:sp>
        <p:nvSpPr>
          <p:cNvPr id="30" name="Rectangle 29"/>
          <p:cNvSpPr/>
          <p:nvPr/>
        </p:nvSpPr>
        <p:spPr>
          <a:xfrm>
            <a:off x="13106400" y="5810250"/>
            <a:ext cx="4267200" cy="1762125"/>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int_3_1e09114745.png"/>
          <p:cNvPicPr>
            <a:picLocks noChangeAspect="1"/>
          </p:cNvPicPr>
          <p:nvPr/>
        </p:nvPicPr>
        <p:blipFill>
          <a:blip r:embed="rId4"/>
          <a:stretch>
            <a:fillRect/>
          </a:stretch>
        </p:blipFill>
        <p:spPr>
          <a:xfrm>
            <a:off x="14405836" y="6019800"/>
            <a:ext cx="1096828" cy="1343025"/>
          </a:xfrm>
          <a:prstGeom prst="rect">
            <a:avLst/>
          </a:prstGeom>
        </p:spPr>
      </p:pic>
      <p:sp>
        <p:nvSpPr>
          <p:cNvPr id="32" name="Rectangle 31"/>
          <p:cNvSpPr/>
          <p:nvPr/>
        </p:nvSpPr>
        <p:spPr>
          <a:xfrm>
            <a:off x="16821150" y="7172325"/>
            <a:ext cx="419100" cy="30175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6821150" y="7172325"/>
            <a:ext cx="419100" cy="301752"/>
          </a:xfrm>
          <a:prstGeom prst="rect">
            <a:avLst/>
          </a:prstGeom>
          <a:noFill/>
        </p:spPr>
        <p:txBody>
          <a:bodyPr wrap="none" lIns="0" rIns="0" tIns="0" bIns="0" anchor="ctr">
            <a:spAutoFit/>
          </a:bodyPr>
          <a:lstStyle/>
          <a:p>
            <a:pPr algn="ctr">
              <a:lnSpc>
                <a:spcPct val="100000"/>
              </a:lnSpc>
            </a:pPr>
            <a:r>
              <a:rPr sz="1188" b="1" i="0">
                <a:solidFill>
                  <a:srgbClr val="07172D"/>
                </a:solidFill>
                <a:latin typeface="Montserrat"/>
              </a:rPr>
              <a:t>03</a:t>
            </a:r>
          </a:p>
        </p:txBody>
      </p:sp>
      <p:sp>
        <p:nvSpPr>
          <p:cNvPr id="34" name="Rectangle 33"/>
          <p:cNvSpPr/>
          <p:nvPr/>
        </p:nvSpPr>
        <p:spPr>
          <a:xfrm>
            <a:off x="13106400" y="776287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int_4_0df1e31025.png"/>
          <p:cNvPicPr>
            <a:picLocks noChangeAspect="1"/>
          </p:cNvPicPr>
          <p:nvPr/>
        </p:nvPicPr>
        <p:blipFill>
          <a:blip r:embed="rId7">
            <a:alphaModFix amt="45000"/>
          </a:blip>
          <a:stretch>
            <a:fillRect/>
          </a:stretch>
        </p:blipFill>
        <p:spPr>
          <a:xfrm>
            <a:off x="14120648" y="7972425"/>
            <a:ext cx="1667203" cy="1343025"/>
          </a:xfrm>
          <a:prstGeom prst="rect">
            <a:avLst/>
          </a:prstGeom>
        </p:spPr>
      </p:pic>
      <p:sp>
        <p:nvSpPr>
          <p:cNvPr id="36" name="Rectangle 35"/>
          <p:cNvSpPr/>
          <p:nvPr/>
        </p:nvSpPr>
        <p:spPr>
          <a:xfrm>
            <a:off x="16821150" y="912495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821150" y="912495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INTRODUCCIÓN</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11811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2287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2792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2792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2287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76650" y="2190750"/>
            <a:ext cx="6286500" cy="62865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56760" y="3070860"/>
            <a:ext cx="4526280" cy="452628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nt_4_0df1e31025.png"/>
          <p:cNvPicPr>
            <a:picLocks noChangeAspect="1"/>
          </p:cNvPicPr>
          <p:nvPr/>
        </p:nvPicPr>
        <p:blipFill>
          <a:blip r:embed="rId4"/>
          <a:stretch>
            <a:fillRect/>
          </a:stretch>
        </p:blipFill>
        <p:spPr>
          <a:xfrm>
            <a:off x="3509141" y="2571750"/>
            <a:ext cx="6621517" cy="5334000"/>
          </a:xfrm>
          <a:prstGeom prst="rect">
            <a:avLst/>
          </a:prstGeom>
        </p:spPr>
      </p:pic>
      <p:sp>
        <p:nvSpPr>
          <p:cNvPr id="19" name="Rectangle 18"/>
          <p:cNvSpPr/>
          <p:nvPr/>
        </p:nvSpPr>
        <p:spPr>
          <a:xfrm>
            <a:off x="1295400" y="8534400"/>
            <a:ext cx="110490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95400" y="85344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600200" y="8534400"/>
            <a:ext cx="105918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04 · El operador y el problema</a:t>
            </a:r>
          </a:p>
        </p:txBody>
      </p:sp>
      <p:sp>
        <p:nvSpPr>
          <p:cNvPr id="22" name="Rectangle 21"/>
          <p:cNvSpPr/>
          <p:nvPr/>
        </p:nvSpPr>
        <p:spPr>
          <a:xfrm>
            <a:off x="13106400" y="190500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nt_1_493a033fb6.png"/>
          <p:cNvPicPr>
            <a:picLocks noChangeAspect="1"/>
          </p:cNvPicPr>
          <p:nvPr/>
        </p:nvPicPr>
        <p:blipFill>
          <a:blip r:embed="rId5">
            <a:alphaModFix amt="45000"/>
          </a:blip>
          <a:stretch>
            <a:fillRect/>
          </a:stretch>
        </p:blipFill>
        <p:spPr>
          <a:xfrm>
            <a:off x="14159133" y="2114550"/>
            <a:ext cx="1590234" cy="1343025"/>
          </a:xfrm>
          <a:prstGeom prst="rect">
            <a:avLst/>
          </a:prstGeom>
        </p:spPr>
      </p:pic>
      <p:sp>
        <p:nvSpPr>
          <p:cNvPr id="24" name="Rectangle 23"/>
          <p:cNvSpPr/>
          <p:nvPr/>
        </p:nvSpPr>
        <p:spPr>
          <a:xfrm>
            <a:off x="16821150" y="326707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821150" y="326707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01</a:t>
            </a:r>
          </a:p>
        </p:txBody>
      </p:sp>
      <p:sp>
        <p:nvSpPr>
          <p:cNvPr id="26" name="Rectangle 25"/>
          <p:cNvSpPr/>
          <p:nvPr/>
        </p:nvSpPr>
        <p:spPr>
          <a:xfrm>
            <a:off x="13106400" y="3857625"/>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nt_2_3bc65c03bb.png"/>
          <p:cNvPicPr>
            <a:picLocks noChangeAspect="1"/>
          </p:cNvPicPr>
          <p:nvPr/>
        </p:nvPicPr>
        <p:blipFill>
          <a:blip r:embed="rId6">
            <a:alphaModFix amt="45000"/>
          </a:blip>
          <a:stretch>
            <a:fillRect/>
          </a:stretch>
        </p:blipFill>
        <p:spPr>
          <a:xfrm>
            <a:off x="14301292" y="4067175"/>
            <a:ext cx="1305915" cy="1343025"/>
          </a:xfrm>
          <a:prstGeom prst="rect">
            <a:avLst/>
          </a:prstGeom>
        </p:spPr>
      </p:pic>
      <p:sp>
        <p:nvSpPr>
          <p:cNvPr id="28" name="Rectangle 27"/>
          <p:cNvSpPr/>
          <p:nvPr/>
        </p:nvSpPr>
        <p:spPr>
          <a:xfrm>
            <a:off x="16821150" y="5219700"/>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6821150" y="5219700"/>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02</a:t>
            </a:r>
          </a:p>
        </p:txBody>
      </p:sp>
      <p:sp>
        <p:nvSpPr>
          <p:cNvPr id="30" name="Rectangle 29"/>
          <p:cNvSpPr/>
          <p:nvPr/>
        </p:nvSpPr>
        <p:spPr>
          <a:xfrm>
            <a:off x="13106400" y="5810250"/>
            <a:ext cx="4267200" cy="1762125"/>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int_3_1e09114745.png"/>
          <p:cNvPicPr>
            <a:picLocks noChangeAspect="1"/>
          </p:cNvPicPr>
          <p:nvPr/>
        </p:nvPicPr>
        <p:blipFill>
          <a:blip r:embed="rId7">
            <a:alphaModFix amt="45000"/>
          </a:blip>
          <a:stretch>
            <a:fillRect/>
          </a:stretch>
        </p:blipFill>
        <p:spPr>
          <a:xfrm>
            <a:off x="14405836" y="6019800"/>
            <a:ext cx="1096828" cy="1343025"/>
          </a:xfrm>
          <a:prstGeom prst="rect">
            <a:avLst/>
          </a:prstGeom>
        </p:spPr>
      </p:pic>
      <p:sp>
        <p:nvSpPr>
          <p:cNvPr id="32" name="Rectangle 31"/>
          <p:cNvSpPr/>
          <p:nvPr/>
        </p:nvSpPr>
        <p:spPr>
          <a:xfrm>
            <a:off x="16821150" y="7172325"/>
            <a:ext cx="419100" cy="301752"/>
          </a:xfrm>
          <a:prstGeom prst="rect">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6821150" y="7172325"/>
            <a:ext cx="419100" cy="301752"/>
          </a:xfrm>
          <a:prstGeom prst="rect">
            <a:avLst/>
          </a:prstGeom>
          <a:noFill/>
        </p:spPr>
        <p:txBody>
          <a:bodyPr wrap="none" lIns="0" rIns="0" tIns="0" bIns="0" anchor="ctr">
            <a:spAutoFit/>
          </a:bodyPr>
          <a:lstStyle/>
          <a:p>
            <a:pPr algn="ctr">
              <a:lnSpc>
                <a:spcPct val="100000"/>
              </a:lnSpc>
            </a:pPr>
            <a:r>
              <a:rPr sz="1188" b="1" i="0">
                <a:solidFill>
                  <a:srgbClr val="F3F7FC"/>
                </a:solidFill>
                <a:latin typeface="Montserrat"/>
              </a:rPr>
              <a:t>03</a:t>
            </a:r>
          </a:p>
        </p:txBody>
      </p:sp>
      <p:sp>
        <p:nvSpPr>
          <p:cNvPr id="34" name="Rectangle 33"/>
          <p:cNvSpPr/>
          <p:nvPr/>
        </p:nvSpPr>
        <p:spPr>
          <a:xfrm>
            <a:off x="13106400" y="7762875"/>
            <a:ext cx="4267200" cy="1762125"/>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int_4_0df1e31025.png"/>
          <p:cNvPicPr>
            <a:picLocks noChangeAspect="1"/>
          </p:cNvPicPr>
          <p:nvPr/>
        </p:nvPicPr>
        <p:blipFill>
          <a:blip r:embed="rId4"/>
          <a:stretch>
            <a:fillRect/>
          </a:stretch>
        </p:blipFill>
        <p:spPr>
          <a:xfrm>
            <a:off x="14120648" y="7972425"/>
            <a:ext cx="1667203" cy="1343025"/>
          </a:xfrm>
          <a:prstGeom prst="rect">
            <a:avLst/>
          </a:prstGeom>
        </p:spPr>
      </p:pic>
      <p:sp>
        <p:nvSpPr>
          <p:cNvPr id="36" name="Rectangle 35"/>
          <p:cNvSpPr/>
          <p:nvPr/>
        </p:nvSpPr>
        <p:spPr>
          <a:xfrm>
            <a:off x="16821150" y="9124950"/>
            <a:ext cx="419100" cy="30175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821150" y="9124950"/>
            <a:ext cx="419100" cy="301752"/>
          </a:xfrm>
          <a:prstGeom prst="rect">
            <a:avLst/>
          </a:prstGeom>
          <a:noFill/>
        </p:spPr>
        <p:txBody>
          <a:bodyPr wrap="none" lIns="0" rIns="0" tIns="0" bIns="0" anchor="ctr">
            <a:spAutoFit/>
          </a:bodyPr>
          <a:lstStyle/>
          <a:p>
            <a:pPr algn="ctr">
              <a:lnSpc>
                <a:spcPct val="100000"/>
              </a:lnSpc>
            </a:pPr>
            <a:r>
              <a:rPr sz="1188" b="1" i="0">
                <a:solidFill>
                  <a:srgbClr val="07172D"/>
                </a:solidFill>
                <a:latin typeface="Montserrat"/>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3820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38200"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602615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6249988"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38200"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3820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6249988"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602615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1_0a4b2e9b0c.png"/>
          <p:cNvPicPr>
            <a:picLocks noChangeAspect="1"/>
          </p:cNvPicPr>
          <p:nvPr/>
        </p:nvPicPr>
        <p:blipFill>
          <a:blip r:embed="rId4"/>
          <a:stretch>
            <a:fillRect/>
          </a:stretch>
        </p:blipFill>
        <p:spPr>
          <a:xfrm>
            <a:off x="1485900" y="2771302"/>
            <a:ext cx="4140200" cy="2096447"/>
          </a:xfrm>
          <a:prstGeom prst="rect">
            <a:avLst/>
          </a:prstGeom>
        </p:spPr>
      </p:pic>
      <p:sp>
        <p:nvSpPr>
          <p:cNvPr id="17" name="Rectangle 16"/>
          <p:cNvSpPr/>
          <p:nvPr/>
        </p:nvSpPr>
        <p:spPr>
          <a:xfrm>
            <a:off x="1085850" y="20574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85850" y="20574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01</a:t>
            </a:r>
          </a:p>
        </p:txBody>
      </p:sp>
      <p:sp>
        <p:nvSpPr>
          <p:cNvPr id="19" name="Rectangle 18"/>
          <p:cNvSpPr/>
          <p:nvPr/>
        </p:nvSpPr>
        <p:spPr>
          <a:xfrm>
            <a:off x="6502400" y="19050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642620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6426200"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161415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1837988"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6426200"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642620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1837988"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161415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nt_2_b73efd4cb7.png"/>
          <p:cNvPicPr>
            <a:picLocks noChangeAspect="1"/>
          </p:cNvPicPr>
          <p:nvPr/>
        </p:nvPicPr>
        <p:blipFill>
          <a:blip r:embed="rId5"/>
          <a:stretch>
            <a:fillRect/>
          </a:stretch>
        </p:blipFill>
        <p:spPr>
          <a:xfrm>
            <a:off x="7105055" y="2514600"/>
            <a:ext cx="4077891" cy="2609850"/>
          </a:xfrm>
          <a:prstGeom prst="rect">
            <a:avLst/>
          </a:prstGeom>
        </p:spPr>
      </p:pic>
      <p:sp>
        <p:nvSpPr>
          <p:cNvPr id="29" name="Rectangle 28"/>
          <p:cNvSpPr/>
          <p:nvPr/>
        </p:nvSpPr>
        <p:spPr>
          <a:xfrm>
            <a:off x="6673850" y="20574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73850" y="20574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02</a:t>
            </a:r>
          </a:p>
        </p:txBody>
      </p:sp>
      <p:sp>
        <p:nvSpPr>
          <p:cNvPr id="31" name="Rectangle 30"/>
          <p:cNvSpPr/>
          <p:nvPr/>
        </p:nvSpPr>
        <p:spPr>
          <a:xfrm>
            <a:off x="12090400" y="19050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squinero"/>
          <p:cNvSpPr/>
          <p:nvPr/>
        </p:nvSpPr>
        <p:spPr>
          <a:xfrm>
            <a:off x="1201420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squinero"/>
          <p:cNvSpPr/>
          <p:nvPr/>
        </p:nvSpPr>
        <p:spPr>
          <a:xfrm>
            <a:off x="12014200"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squinero"/>
          <p:cNvSpPr/>
          <p:nvPr/>
        </p:nvSpPr>
        <p:spPr>
          <a:xfrm>
            <a:off x="17202150" y="18288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squinero"/>
          <p:cNvSpPr/>
          <p:nvPr/>
        </p:nvSpPr>
        <p:spPr>
          <a:xfrm>
            <a:off x="17425988" y="18288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Esquinero"/>
          <p:cNvSpPr/>
          <p:nvPr/>
        </p:nvSpPr>
        <p:spPr>
          <a:xfrm>
            <a:off x="12014200"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Esquinero"/>
          <p:cNvSpPr/>
          <p:nvPr/>
        </p:nvSpPr>
        <p:spPr>
          <a:xfrm>
            <a:off x="1201420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squinero"/>
          <p:cNvSpPr/>
          <p:nvPr/>
        </p:nvSpPr>
        <p:spPr>
          <a:xfrm>
            <a:off x="17425988" y="53911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Esquinero"/>
          <p:cNvSpPr/>
          <p:nvPr/>
        </p:nvSpPr>
        <p:spPr>
          <a:xfrm>
            <a:off x="17202150" y="56149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ant_3_da8b2c0805.png"/>
          <p:cNvPicPr>
            <a:picLocks noChangeAspect="1"/>
          </p:cNvPicPr>
          <p:nvPr/>
        </p:nvPicPr>
        <p:blipFill>
          <a:blip r:embed="rId6"/>
          <a:stretch>
            <a:fillRect/>
          </a:stretch>
        </p:blipFill>
        <p:spPr>
          <a:xfrm>
            <a:off x="12661900" y="2568055"/>
            <a:ext cx="4140200" cy="2502939"/>
          </a:xfrm>
          <a:prstGeom prst="rect">
            <a:avLst/>
          </a:prstGeom>
        </p:spPr>
      </p:pic>
      <p:sp>
        <p:nvSpPr>
          <p:cNvPr id="41" name="Rectangle 40"/>
          <p:cNvSpPr/>
          <p:nvPr/>
        </p:nvSpPr>
        <p:spPr>
          <a:xfrm>
            <a:off x="12261850" y="20574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61850" y="20574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03</a:t>
            </a:r>
          </a:p>
        </p:txBody>
      </p:sp>
      <p:sp>
        <p:nvSpPr>
          <p:cNvPr id="43" name="Rectangle 42"/>
          <p:cNvSpPr/>
          <p:nvPr/>
        </p:nvSpPr>
        <p:spPr>
          <a:xfrm>
            <a:off x="914400" y="58674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Esquinero"/>
          <p:cNvSpPr/>
          <p:nvPr/>
        </p:nvSpPr>
        <p:spPr>
          <a:xfrm>
            <a:off x="83820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quinero"/>
          <p:cNvSpPr/>
          <p:nvPr/>
        </p:nvSpPr>
        <p:spPr>
          <a:xfrm>
            <a:off x="838200"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Esquinero"/>
          <p:cNvSpPr/>
          <p:nvPr/>
        </p:nvSpPr>
        <p:spPr>
          <a:xfrm>
            <a:off x="602615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quinero"/>
          <p:cNvSpPr/>
          <p:nvPr/>
        </p:nvSpPr>
        <p:spPr>
          <a:xfrm>
            <a:off x="6249988"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quinero"/>
          <p:cNvSpPr/>
          <p:nvPr/>
        </p:nvSpPr>
        <p:spPr>
          <a:xfrm>
            <a:off x="838200"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Esquinero"/>
          <p:cNvSpPr/>
          <p:nvPr/>
        </p:nvSpPr>
        <p:spPr>
          <a:xfrm>
            <a:off x="83820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Esquinero"/>
          <p:cNvSpPr/>
          <p:nvPr/>
        </p:nvSpPr>
        <p:spPr>
          <a:xfrm>
            <a:off x="6249988"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Esquinero"/>
          <p:cNvSpPr/>
          <p:nvPr/>
        </p:nvSpPr>
        <p:spPr>
          <a:xfrm>
            <a:off x="602615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ant_4_616fccdda7.png"/>
          <p:cNvPicPr>
            <a:picLocks noChangeAspect="1"/>
          </p:cNvPicPr>
          <p:nvPr/>
        </p:nvPicPr>
        <p:blipFill>
          <a:blip r:embed="rId7"/>
          <a:stretch>
            <a:fillRect/>
          </a:stretch>
        </p:blipFill>
        <p:spPr>
          <a:xfrm>
            <a:off x="1485900" y="6827797"/>
            <a:ext cx="4140200" cy="1908256"/>
          </a:xfrm>
          <a:prstGeom prst="rect">
            <a:avLst/>
          </a:prstGeom>
        </p:spPr>
      </p:pic>
      <p:sp>
        <p:nvSpPr>
          <p:cNvPr id="53" name="Rectangle 52"/>
          <p:cNvSpPr/>
          <p:nvPr/>
        </p:nvSpPr>
        <p:spPr>
          <a:xfrm>
            <a:off x="1085850" y="60198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85850" y="60198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04</a:t>
            </a:r>
          </a:p>
        </p:txBody>
      </p:sp>
      <p:sp>
        <p:nvSpPr>
          <p:cNvPr id="55" name="Rectangle 54"/>
          <p:cNvSpPr/>
          <p:nvPr/>
        </p:nvSpPr>
        <p:spPr>
          <a:xfrm>
            <a:off x="6502400" y="58674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Esquinero"/>
          <p:cNvSpPr/>
          <p:nvPr/>
        </p:nvSpPr>
        <p:spPr>
          <a:xfrm>
            <a:off x="642620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Esquinero"/>
          <p:cNvSpPr/>
          <p:nvPr/>
        </p:nvSpPr>
        <p:spPr>
          <a:xfrm>
            <a:off x="6426200"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Esquinero"/>
          <p:cNvSpPr/>
          <p:nvPr/>
        </p:nvSpPr>
        <p:spPr>
          <a:xfrm>
            <a:off x="1161415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Esquinero"/>
          <p:cNvSpPr/>
          <p:nvPr/>
        </p:nvSpPr>
        <p:spPr>
          <a:xfrm>
            <a:off x="11837988"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Esquinero"/>
          <p:cNvSpPr/>
          <p:nvPr/>
        </p:nvSpPr>
        <p:spPr>
          <a:xfrm>
            <a:off x="6426200"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Esquinero"/>
          <p:cNvSpPr/>
          <p:nvPr/>
        </p:nvSpPr>
        <p:spPr>
          <a:xfrm>
            <a:off x="642620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Esquinero"/>
          <p:cNvSpPr/>
          <p:nvPr/>
        </p:nvSpPr>
        <p:spPr>
          <a:xfrm>
            <a:off x="11837988"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Esquinero"/>
          <p:cNvSpPr/>
          <p:nvPr/>
        </p:nvSpPr>
        <p:spPr>
          <a:xfrm>
            <a:off x="1161415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ant_5_9b8edb1b8b.png"/>
          <p:cNvPicPr>
            <a:picLocks noChangeAspect="1"/>
          </p:cNvPicPr>
          <p:nvPr/>
        </p:nvPicPr>
        <p:blipFill>
          <a:blip r:embed="rId8"/>
          <a:stretch>
            <a:fillRect/>
          </a:stretch>
        </p:blipFill>
        <p:spPr>
          <a:xfrm>
            <a:off x="7073900" y="7226762"/>
            <a:ext cx="4140200" cy="1110326"/>
          </a:xfrm>
          <a:prstGeom prst="rect">
            <a:avLst/>
          </a:prstGeom>
        </p:spPr>
      </p:pic>
      <p:sp>
        <p:nvSpPr>
          <p:cNvPr id="65" name="Rectangle 64"/>
          <p:cNvSpPr/>
          <p:nvPr/>
        </p:nvSpPr>
        <p:spPr>
          <a:xfrm>
            <a:off x="6673850" y="60198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673850" y="60198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05</a:t>
            </a:r>
          </a:p>
        </p:txBody>
      </p:sp>
      <p:sp>
        <p:nvSpPr>
          <p:cNvPr id="67" name="Rectangle 66"/>
          <p:cNvSpPr/>
          <p:nvPr/>
        </p:nvSpPr>
        <p:spPr>
          <a:xfrm>
            <a:off x="12090400" y="5867400"/>
            <a:ext cx="5283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Esquinero"/>
          <p:cNvSpPr/>
          <p:nvPr/>
        </p:nvSpPr>
        <p:spPr>
          <a:xfrm>
            <a:off x="1201420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Esquinero"/>
          <p:cNvSpPr/>
          <p:nvPr/>
        </p:nvSpPr>
        <p:spPr>
          <a:xfrm>
            <a:off x="12014200"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Esquinero"/>
          <p:cNvSpPr/>
          <p:nvPr/>
        </p:nvSpPr>
        <p:spPr>
          <a:xfrm>
            <a:off x="17202150" y="5791200"/>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Esquinero"/>
          <p:cNvSpPr/>
          <p:nvPr/>
        </p:nvSpPr>
        <p:spPr>
          <a:xfrm>
            <a:off x="17425988" y="579120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Esquinero"/>
          <p:cNvSpPr/>
          <p:nvPr/>
        </p:nvSpPr>
        <p:spPr>
          <a:xfrm>
            <a:off x="12014200"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Esquinero"/>
          <p:cNvSpPr/>
          <p:nvPr/>
        </p:nvSpPr>
        <p:spPr>
          <a:xfrm>
            <a:off x="1201420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Esquinero"/>
          <p:cNvSpPr/>
          <p:nvPr/>
        </p:nvSpPr>
        <p:spPr>
          <a:xfrm>
            <a:off x="17425988" y="9353550"/>
            <a:ext cx="23812" cy="247650"/>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Esquinero"/>
          <p:cNvSpPr/>
          <p:nvPr/>
        </p:nvSpPr>
        <p:spPr>
          <a:xfrm>
            <a:off x="17202150" y="9577388"/>
            <a:ext cx="247650" cy="23812"/>
          </a:xfrm>
          <a:prstGeom prst="rect">
            <a:avLst/>
          </a:prstGeom>
          <a:solidFill>
            <a:srgbClr val="2F7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6" name="Picture 75" descr="ant_6_fd457ab3d8.png"/>
          <p:cNvPicPr>
            <a:picLocks noChangeAspect="1"/>
          </p:cNvPicPr>
          <p:nvPr/>
        </p:nvPicPr>
        <p:blipFill>
          <a:blip r:embed="rId9"/>
          <a:stretch>
            <a:fillRect/>
          </a:stretch>
        </p:blipFill>
        <p:spPr>
          <a:xfrm>
            <a:off x="12661900" y="7042335"/>
            <a:ext cx="4140200" cy="1479181"/>
          </a:xfrm>
          <a:prstGeom prst="rect">
            <a:avLst/>
          </a:prstGeom>
        </p:spPr>
      </p:pic>
      <p:sp>
        <p:nvSpPr>
          <p:cNvPr id="77" name="Rectangle 76"/>
          <p:cNvSpPr/>
          <p:nvPr/>
        </p:nvSpPr>
        <p:spPr>
          <a:xfrm>
            <a:off x="12261850" y="6019800"/>
            <a:ext cx="381000" cy="2743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12261850" y="6019800"/>
            <a:ext cx="381000" cy="274320"/>
          </a:xfrm>
          <a:prstGeom prst="rect">
            <a:avLst/>
          </a:prstGeom>
          <a:noFill/>
        </p:spPr>
        <p:txBody>
          <a:bodyPr wrap="none" lIns="0" rIns="0" tIns="0" bIns="0" anchor="ctr">
            <a:spAutoFit/>
          </a:bodyPr>
          <a:lstStyle/>
          <a:p>
            <a:pPr algn="ctr">
              <a:lnSpc>
                <a:spcPct val="100000"/>
              </a:lnSpc>
            </a:pPr>
            <a:r>
              <a:rPr sz="1080" b="1" i="0">
                <a:solidFill>
                  <a:srgbClr val="07172D"/>
                </a:solidFill>
                <a:latin typeface="Montserra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1_0a4b2e9b0c.png"/>
          <p:cNvPicPr>
            <a:picLocks noChangeAspect="1"/>
          </p:cNvPicPr>
          <p:nvPr/>
        </p:nvPicPr>
        <p:blipFill>
          <a:blip r:embed="rId4"/>
          <a:stretch>
            <a:fillRect/>
          </a:stretch>
        </p:blipFill>
        <p:spPr>
          <a:xfrm>
            <a:off x="4629458" y="3067050"/>
            <a:ext cx="9029084" cy="4572000"/>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01</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01 · La empresa y los comercios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2_b73efd4cb7.png"/>
          <p:cNvPicPr>
            <a:picLocks noChangeAspect="1"/>
          </p:cNvPicPr>
          <p:nvPr/>
        </p:nvPicPr>
        <p:blipFill>
          <a:blip r:embed="rId5"/>
          <a:stretch>
            <a:fillRect/>
          </a:stretch>
        </p:blipFill>
        <p:spPr>
          <a:xfrm>
            <a:off x="5572125" y="3067050"/>
            <a:ext cx="7143750" cy="4572000"/>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02</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02 · La extracción automática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3_da8b2c0805.png"/>
          <p:cNvPicPr>
            <a:picLocks noChangeAspect="1"/>
          </p:cNvPicPr>
          <p:nvPr/>
        </p:nvPicPr>
        <p:blipFill>
          <a:blip r:embed="rId6"/>
          <a:stretch>
            <a:fillRect/>
          </a:stretch>
        </p:blipFill>
        <p:spPr>
          <a:xfrm>
            <a:off x="5362647" y="3067050"/>
            <a:ext cx="7562707" cy="4572000"/>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03</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03 · La comparación manual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4_616fccdda7.png"/>
          <p:cNvPicPr>
            <a:picLocks noChangeAspect="1"/>
          </p:cNvPicPr>
          <p:nvPr/>
        </p:nvPicPr>
        <p:blipFill>
          <a:blip r:embed="rId7"/>
          <a:stretch>
            <a:fillRect/>
          </a:stretch>
        </p:blipFill>
        <p:spPr>
          <a:xfrm>
            <a:off x="4476750" y="3201872"/>
            <a:ext cx="9334500" cy="4302356"/>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04</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04 · El reparto del trabajo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5_9b8edb1b8b.png"/>
          <p:cNvPicPr>
            <a:picLocks noChangeAspect="1"/>
          </p:cNvPicPr>
          <p:nvPr/>
        </p:nvPicPr>
        <p:blipFill>
          <a:blip r:embed="rId8"/>
          <a:stretch>
            <a:fillRect/>
          </a:stretch>
        </p:blipFill>
        <p:spPr>
          <a:xfrm>
            <a:off x="4476750" y="4101378"/>
            <a:ext cx="9334500" cy="2503343"/>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05</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05 · Los cuatro estados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ANTECEDENTES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nt_1_0a4b2e9b0c.png"/>
          <p:cNvPicPr>
            <a:picLocks noChangeAspect="1"/>
          </p:cNvPicPr>
          <p:nvPr/>
        </p:nvPicPr>
        <p:blipFill>
          <a:blip r:embed="rId4">
            <a:alphaModFix amt="18000"/>
          </a:blip>
          <a:stretch>
            <a:fillRect/>
          </a:stretch>
        </p:blipFill>
        <p:spPr>
          <a:xfrm>
            <a:off x="1485900" y="2771302"/>
            <a:ext cx="4140200" cy="2096447"/>
          </a:xfrm>
          <a:prstGeom prst="rect">
            <a:avLst/>
          </a:prstGeom>
        </p:spPr>
      </p:pic>
      <p:sp>
        <p:nvSpPr>
          <p:cNvPr id="9" name="Rectangle 8"/>
          <p:cNvSpPr/>
          <p:nvPr/>
        </p:nvSpPr>
        <p:spPr>
          <a:xfrm>
            <a:off x="6502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nt_2_b73efd4cb7.png"/>
          <p:cNvPicPr>
            <a:picLocks noChangeAspect="1"/>
          </p:cNvPicPr>
          <p:nvPr/>
        </p:nvPicPr>
        <p:blipFill>
          <a:blip r:embed="rId5">
            <a:alphaModFix amt="18000"/>
          </a:blip>
          <a:stretch>
            <a:fillRect/>
          </a:stretch>
        </p:blipFill>
        <p:spPr>
          <a:xfrm>
            <a:off x="7105055" y="2514600"/>
            <a:ext cx="4077891" cy="2609850"/>
          </a:xfrm>
          <a:prstGeom prst="rect">
            <a:avLst/>
          </a:prstGeom>
        </p:spPr>
      </p:pic>
      <p:sp>
        <p:nvSpPr>
          <p:cNvPr id="11" name="Rectangle 10"/>
          <p:cNvSpPr/>
          <p:nvPr/>
        </p:nvSpPr>
        <p:spPr>
          <a:xfrm>
            <a:off x="12090400" y="19050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nt_3_da8b2c0805.png"/>
          <p:cNvPicPr>
            <a:picLocks noChangeAspect="1"/>
          </p:cNvPicPr>
          <p:nvPr/>
        </p:nvPicPr>
        <p:blipFill>
          <a:blip r:embed="rId6">
            <a:alphaModFix amt="18000"/>
          </a:blip>
          <a:stretch>
            <a:fillRect/>
          </a:stretch>
        </p:blipFill>
        <p:spPr>
          <a:xfrm>
            <a:off x="12661900" y="2568055"/>
            <a:ext cx="4140200" cy="2502939"/>
          </a:xfrm>
          <a:prstGeom prst="rect">
            <a:avLst/>
          </a:prstGeom>
        </p:spPr>
      </p:pic>
      <p:sp>
        <p:nvSpPr>
          <p:cNvPr id="13" name="Rectangle 12"/>
          <p:cNvSpPr/>
          <p:nvPr/>
        </p:nvSpPr>
        <p:spPr>
          <a:xfrm>
            <a:off x="914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nt_4_616fccdda7.png"/>
          <p:cNvPicPr>
            <a:picLocks noChangeAspect="1"/>
          </p:cNvPicPr>
          <p:nvPr/>
        </p:nvPicPr>
        <p:blipFill>
          <a:blip r:embed="rId7">
            <a:alphaModFix amt="18000"/>
          </a:blip>
          <a:stretch>
            <a:fillRect/>
          </a:stretch>
        </p:blipFill>
        <p:spPr>
          <a:xfrm>
            <a:off x="1485900" y="6827797"/>
            <a:ext cx="4140200" cy="1908256"/>
          </a:xfrm>
          <a:prstGeom prst="rect">
            <a:avLst/>
          </a:prstGeom>
        </p:spPr>
      </p:pic>
      <p:sp>
        <p:nvSpPr>
          <p:cNvPr id="15" name="Rectangle 14"/>
          <p:cNvSpPr/>
          <p:nvPr/>
        </p:nvSpPr>
        <p:spPr>
          <a:xfrm>
            <a:off x="6502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nt_5_9b8edb1b8b.png"/>
          <p:cNvPicPr>
            <a:picLocks noChangeAspect="1"/>
          </p:cNvPicPr>
          <p:nvPr/>
        </p:nvPicPr>
        <p:blipFill>
          <a:blip r:embed="rId8">
            <a:alphaModFix amt="18000"/>
          </a:blip>
          <a:stretch>
            <a:fillRect/>
          </a:stretch>
        </p:blipFill>
        <p:spPr>
          <a:xfrm>
            <a:off x="7073900" y="7226762"/>
            <a:ext cx="4140200" cy="1110326"/>
          </a:xfrm>
          <a:prstGeom prst="rect">
            <a:avLst/>
          </a:prstGeom>
        </p:spPr>
      </p:pic>
      <p:sp>
        <p:nvSpPr>
          <p:cNvPr id="17" name="Rectangle 16"/>
          <p:cNvSpPr/>
          <p:nvPr/>
        </p:nvSpPr>
        <p:spPr>
          <a:xfrm>
            <a:off x="12090400" y="5867400"/>
            <a:ext cx="5283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nt_6_fd457ab3d8.png"/>
          <p:cNvPicPr>
            <a:picLocks noChangeAspect="1"/>
          </p:cNvPicPr>
          <p:nvPr/>
        </p:nvPicPr>
        <p:blipFill>
          <a:blip r:embed="rId9">
            <a:alphaModFix amt="18000"/>
          </a:blip>
          <a:stretch>
            <a:fillRect/>
          </a:stretch>
        </p:blipFill>
        <p:spPr>
          <a:xfrm>
            <a:off x="12661900" y="7042335"/>
            <a:ext cx="4140200" cy="1479181"/>
          </a:xfrm>
          <a:prstGeom prst="rect">
            <a:avLst/>
          </a:prstGeom>
        </p:spPr>
      </p:pic>
      <p:sp>
        <p:nvSpPr>
          <p:cNvPr id="19" name="Rectangle 18"/>
          <p:cNvSpPr/>
          <p:nvPr/>
        </p:nvSpPr>
        <p:spPr>
          <a:xfrm>
            <a:off x="3143250" y="2209800"/>
            <a:ext cx="12001500" cy="7048500"/>
          </a:xfrm>
          <a:prstGeom prst="rect">
            <a:avLst/>
          </a:prstGeom>
          <a:solidFill>
            <a:srgbClr val="0B2242"/>
          </a:solidFill>
          <a:ln w="14287">
            <a:solidFill>
              <a:srgbClr val="2F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30480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3048000"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4706600" y="21145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5211425" y="21145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304800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30480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21142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470660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286500" y="24003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86600" y="32004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nt_6_fd457ab3d8.png"/>
          <p:cNvPicPr>
            <a:picLocks noChangeAspect="1"/>
          </p:cNvPicPr>
          <p:nvPr/>
        </p:nvPicPr>
        <p:blipFill>
          <a:blip r:embed="rId9"/>
          <a:stretch>
            <a:fillRect/>
          </a:stretch>
        </p:blipFill>
        <p:spPr>
          <a:xfrm>
            <a:off x="4476750" y="3685569"/>
            <a:ext cx="9334500" cy="3334962"/>
          </a:xfrm>
          <a:prstGeom prst="rect">
            <a:avLst/>
          </a:prstGeom>
        </p:spPr>
      </p:pic>
      <p:sp>
        <p:nvSpPr>
          <p:cNvPr id="31" name="Rectangle 30"/>
          <p:cNvSpPr/>
          <p:nvPr/>
        </p:nvSpPr>
        <p:spPr>
          <a:xfrm>
            <a:off x="3409950" y="2457450"/>
            <a:ext cx="609600" cy="4389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09950" y="2457450"/>
            <a:ext cx="609600" cy="438912"/>
          </a:xfrm>
          <a:prstGeom prst="rect">
            <a:avLst/>
          </a:prstGeom>
          <a:noFill/>
        </p:spPr>
        <p:txBody>
          <a:bodyPr wrap="none" lIns="0" rIns="0" tIns="0" bIns="0" anchor="ctr">
            <a:spAutoFit/>
          </a:bodyPr>
          <a:lstStyle/>
          <a:p>
            <a:pPr algn="ctr">
              <a:lnSpc>
                <a:spcPct val="100000"/>
              </a:lnSpc>
            </a:pPr>
            <a:r>
              <a:rPr sz="1728" b="1" i="0">
                <a:solidFill>
                  <a:srgbClr val="07172D"/>
                </a:solidFill>
                <a:latin typeface="Montserrat"/>
              </a:rPr>
              <a:t>06</a:t>
            </a:r>
          </a:p>
        </p:txBody>
      </p:sp>
      <p:sp>
        <p:nvSpPr>
          <p:cNvPr id="33" name="Rectangle 32"/>
          <p:cNvSpPr/>
          <p:nvPr/>
        </p:nvSpPr>
        <p:spPr>
          <a:xfrm>
            <a:off x="3524250" y="8267700"/>
            <a:ext cx="11239500" cy="609600"/>
          </a:xfrm>
          <a:prstGeom prst="rect">
            <a:avLst/>
          </a:prstGeom>
          <a:solidFill>
            <a:srgbClr val="07172D">
              <a:alpha val="82000"/>
            </a:srgbClr>
          </a:solidFill>
          <a:ln w="9525">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24250" y="8267700"/>
            <a:ext cx="7620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29050" y="8267700"/>
            <a:ext cx="10782300" cy="6096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06 · El control de calidad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PLANTEAMIENTO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8077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66825" y="2076450"/>
            <a:ext cx="3810000" cy="285750"/>
          </a:xfrm>
          <a:prstGeom prst="rect">
            <a:avLst/>
          </a:prstGeom>
          <a:noFill/>
        </p:spPr>
        <p:txBody>
          <a:bodyPr wrap="square" lIns="0" rIns="0" tIns="0" bIns="0" anchor="t">
            <a:spAutoFit/>
          </a:bodyPr>
          <a:lstStyle/>
          <a:p>
            <a:pPr algn="ctr">
              <a:lnSpc>
                <a:spcPct val="100000"/>
              </a:lnSpc>
            </a:pPr>
            <a:r>
              <a:rPr sz="1500" b="1" i="0" spc="150">
                <a:solidFill>
                  <a:srgbClr val="FFD21F"/>
                </a:solidFill>
                <a:latin typeface="Montserrat"/>
              </a:rPr>
              <a:t>CAUSA 01</a:t>
            </a:r>
          </a:p>
        </p:txBody>
      </p:sp>
      <p:sp>
        <p:nvSpPr>
          <p:cNvPr id="9" name="TextBox 8"/>
          <p:cNvSpPr txBox="1"/>
          <p:nvPr/>
        </p:nvSpPr>
        <p:spPr>
          <a:xfrm>
            <a:off x="4829175" y="2076450"/>
            <a:ext cx="3810000" cy="285750"/>
          </a:xfrm>
          <a:prstGeom prst="rect">
            <a:avLst/>
          </a:prstGeom>
          <a:noFill/>
        </p:spPr>
        <p:txBody>
          <a:bodyPr wrap="square" lIns="0" rIns="0" tIns="0" bIns="0" anchor="t">
            <a:spAutoFit/>
          </a:bodyPr>
          <a:lstStyle/>
          <a:p>
            <a:pPr algn="ctr">
              <a:lnSpc>
                <a:spcPct val="100000"/>
              </a:lnSpc>
            </a:pPr>
            <a:r>
              <a:rPr sz="1500" b="1" i="0" spc="150">
                <a:solidFill>
                  <a:srgbClr val="9FB4CC"/>
                </a:solidFill>
                <a:latin typeface="Montserrat"/>
              </a:rPr>
              <a:t>EFECTO 01</a:t>
            </a:r>
          </a:p>
        </p:txBody>
      </p:sp>
      <p:pic>
        <p:nvPicPr>
          <p:cNvPr id="10" name="Picture 9" descr="causa_1_8f57ba7d15.png"/>
          <p:cNvPicPr>
            <a:picLocks noChangeAspect="1"/>
          </p:cNvPicPr>
          <p:nvPr/>
        </p:nvPicPr>
        <p:blipFill>
          <a:blip r:embed="rId4"/>
          <a:stretch>
            <a:fillRect/>
          </a:stretch>
        </p:blipFill>
        <p:spPr>
          <a:xfrm>
            <a:off x="1866900" y="2491627"/>
            <a:ext cx="2609850" cy="2503396"/>
          </a:xfrm>
          <a:prstGeom prst="rect">
            <a:avLst/>
          </a:prstGeom>
        </p:spPr>
      </p:pic>
      <p:pic>
        <p:nvPicPr>
          <p:cNvPr id="11" name="Picture 10" descr="efecto_1_7512da7a7c.png"/>
          <p:cNvPicPr>
            <a:picLocks noChangeAspect="1"/>
          </p:cNvPicPr>
          <p:nvPr/>
        </p:nvPicPr>
        <p:blipFill>
          <a:blip r:embed="rId5"/>
          <a:stretch>
            <a:fillRect/>
          </a:stretch>
        </p:blipFill>
        <p:spPr>
          <a:xfrm>
            <a:off x="5429250" y="2503646"/>
            <a:ext cx="2609850" cy="2479358"/>
          </a:xfrm>
          <a:prstGeom prst="rect">
            <a:avLst/>
          </a:prstGeom>
        </p:spPr>
      </p:pic>
      <p:sp>
        <p:nvSpPr>
          <p:cNvPr id="12" name="Right Arrow 11"/>
          <p:cNvSpPr/>
          <p:nvPr/>
        </p:nvSpPr>
        <p:spPr>
          <a:xfrm>
            <a:off x="4686300" y="3600450"/>
            <a:ext cx="53340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96400" y="1905000"/>
            <a:ext cx="8077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48825" y="2076450"/>
            <a:ext cx="3810000" cy="285750"/>
          </a:xfrm>
          <a:prstGeom prst="rect">
            <a:avLst/>
          </a:prstGeom>
          <a:noFill/>
        </p:spPr>
        <p:txBody>
          <a:bodyPr wrap="square" lIns="0" rIns="0" tIns="0" bIns="0" anchor="t">
            <a:spAutoFit/>
          </a:bodyPr>
          <a:lstStyle/>
          <a:p>
            <a:pPr algn="ctr">
              <a:lnSpc>
                <a:spcPct val="100000"/>
              </a:lnSpc>
            </a:pPr>
            <a:r>
              <a:rPr sz="1500" b="1" i="0" spc="150">
                <a:solidFill>
                  <a:srgbClr val="FFD21F"/>
                </a:solidFill>
                <a:latin typeface="Montserrat"/>
              </a:rPr>
              <a:t>CAUSA 02</a:t>
            </a:r>
          </a:p>
        </p:txBody>
      </p:sp>
      <p:sp>
        <p:nvSpPr>
          <p:cNvPr id="15" name="TextBox 14"/>
          <p:cNvSpPr txBox="1"/>
          <p:nvPr/>
        </p:nvSpPr>
        <p:spPr>
          <a:xfrm>
            <a:off x="13211175" y="2076450"/>
            <a:ext cx="3810000" cy="285750"/>
          </a:xfrm>
          <a:prstGeom prst="rect">
            <a:avLst/>
          </a:prstGeom>
          <a:noFill/>
        </p:spPr>
        <p:txBody>
          <a:bodyPr wrap="square" lIns="0" rIns="0" tIns="0" bIns="0" anchor="t">
            <a:spAutoFit/>
          </a:bodyPr>
          <a:lstStyle/>
          <a:p>
            <a:pPr algn="ctr">
              <a:lnSpc>
                <a:spcPct val="100000"/>
              </a:lnSpc>
            </a:pPr>
            <a:r>
              <a:rPr sz="1500" b="1" i="0" spc="150">
                <a:solidFill>
                  <a:srgbClr val="9FB4CC"/>
                </a:solidFill>
                <a:latin typeface="Montserrat"/>
              </a:rPr>
              <a:t>EFECTO 02</a:t>
            </a:r>
          </a:p>
        </p:txBody>
      </p:sp>
      <p:pic>
        <p:nvPicPr>
          <p:cNvPr id="16" name="Picture 15" descr="causa_2_69ee5752f3.png"/>
          <p:cNvPicPr>
            <a:picLocks noChangeAspect="1"/>
          </p:cNvPicPr>
          <p:nvPr/>
        </p:nvPicPr>
        <p:blipFill>
          <a:blip r:embed="rId6"/>
          <a:stretch>
            <a:fillRect/>
          </a:stretch>
        </p:blipFill>
        <p:spPr>
          <a:xfrm>
            <a:off x="10248900" y="2467589"/>
            <a:ext cx="2609850" cy="2551472"/>
          </a:xfrm>
          <a:prstGeom prst="rect">
            <a:avLst/>
          </a:prstGeom>
        </p:spPr>
      </p:pic>
      <p:pic>
        <p:nvPicPr>
          <p:cNvPr id="17" name="Picture 16" descr="efecto_2_ac377673e0.png"/>
          <p:cNvPicPr>
            <a:picLocks noChangeAspect="1"/>
          </p:cNvPicPr>
          <p:nvPr/>
        </p:nvPicPr>
        <p:blipFill>
          <a:blip r:embed="rId7"/>
          <a:stretch>
            <a:fillRect/>
          </a:stretch>
        </p:blipFill>
        <p:spPr>
          <a:xfrm>
            <a:off x="13811250" y="2472740"/>
            <a:ext cx="2609850" cy="2541170"/>
          </a:xfrm>
          <a:prstGeom prst="rect">
            <a:avLst/>
          </a:prstGeom>
        </p:spPr>
      </p:pic>
      <p:sp>
        <p:nvSpPr>
          <p:cNvPr id="18" name="Right Arrow 17"/>
          <p:cNvSpPr/>
          <p:nvPr/>
        </p:nvSpPr>
        <p:spPr>
          <a:xfrm>
            <a:off x="13068300" y="3600450"/>
            <a:ext cx="53340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867400"/>
            <a:ext cx="8077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66825" y="6038850"/>
            <a:ext cx="3810000" cy="285750"/>
          </a:xfrm>
          <a:prstGeom prst="rect">
            <a:avLst/>
          </a:prstGeom>
          <a:noFill/>
        </p:spPr>
        <p:txBody>
          <a:bodyPr wrap="square" lIns="0" rIns="0" tIns="0" bIns="0" anchor="t">
            <a:spAutoFit/>
          </a:bodyPr>
          <a:lstStyle/>
          <a:p>
            <a:pPr algn="ctr">
              <a:lnSpc>
                <a:spcPct val="100000"/>
              </a:lnSpc>
            </a:pPr>
            <a:r>
              <a:rPr sz="1500" b="1" i="0" spc="150">
                <a:solidFill>
                  <a:srgbClr val="FFD21F"/>
                </a:solidFill>
                <a:latin typeface="Montserrat"/>
              </a:rPr>
              <a:t>CAUSA 03</a:t>
            </a:r>
          </a:p>
        </p:txBody>
      </p:sp>
      <p:sp>
        <p:nvSpPr>
          <p:cNvPr id="21" name="TextBox 20"/>
          <p:cNvSpPr txBox="1"/>
          <p:nvPr/>
        </p:nvSpPr>
        <p:spPr>
          <a:xfrm>
            <a:off x="4829175" y="6038850"/>
            <a:ext cx="3810000" cy="285750"/>
          </a:xfrm>
          <a:prstGeom prst="rect">
            <a:avLst/>
          </a:prstGeom>
          <a:noFill/>
        </p:spPr>
        <p:txBody>
          <a:bodyPr wrap="square" lIns="0" rIns="0" tIns="0" bIns="0" anchor="t">
            <a:spAutoFit/>
          </a:bodyPr>
          <a:lstStyle/>
          <a:p>
            <a:pPr algn="ctr">
              <a:lnSpc>
                <a:spcPct val="100000"/>
              </a:lnSpc>
            </a:pPr>
            <a:r>
              <a:rPr sz="1500" b="1" i="0" spc="150">
                <a:solidFill>
                  <a:srgbClr val="9FB4CC"/>
                </a:solidFill>
                <a:latin typeface="Montserrat"/>
              </a:rPr>
              <a:t>EFECTO 03</a:t>
            </a:r>
          </a:p>
        </p:txBody>
      </p:sp>
      <p:pic>
        <p:nvPicPr>
          <p:cNvPr id="22" name="Picture 21" descr="causa_3_dc9f93092c.png"/>
          <p:cNvPicPr>
            <a:picLocks noChangeAspect="1"/>
          </p:cNvPicPr>
          <p:nvPr/>
        </p:nvPicPr>
        <p:blipFill>
          <a:blip r:embed="rId8"/>
          <a:stretch>
            <a:fillRect/>
          </a:stretch>
        </p:blipFill>
        <p:spPr>
          <a:xfrm>
            <a:off x="1875485" y="6400800"/>
            <a:ext cx="2592680" cy="2609850"/>
          </a:xfrm>
          <a:prstGeom prst="rect">
            <a:avLst/>
          </a:prstGeom>
        </p:spPr>
      </p:pic>
      <p:pic>
        <p:nvPicPr>
          <p:cNvPr id="23" name="Picture 22" descr="efecto_3_5782cba8c4.png"/>
          <p:cNvPicPr>
            <a:picLocks noChangeAspect="1"/>
          </p:cNvPicPr>
          <p:nvPr/>
        </p:nvPicPr>
        <p:blipFill>
          <a:blip r:embed="rId9"/>
          <a:stretch>
            <a:fillRect/>
          </a:stretch>
        </p:blipFill>
        <p:spPr>
          <a:xfrm>
            <a:off x="5429250" y="6423121"/>
            <a:ext cx="2609850" cy="2565208"/>
          </a:xfrm>
          <a:prstGeom prst="rect">
            <a:avLst/>
          </a:prstGeom>
        </p:spPr>
      </p:pic>
      <p:sp>
        <p:nvSpPr>
          <p:cNvPr id="24" name="Right Arrow 23"/>
          <p:cNvSpPr/>
          <p:nvPr/>
        </p:nvSpPr>
        <p:spPr>
          <a:xfrm>
            <a:off x="4686300" y="7562850"/>
            <a:ext cx="53340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96400" y="5867400"/>
            <a:ext cx="8077200" cy="36576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48825" y="6038850"/>
            <a:ext cx="3810000" cy="285750"/>
          </a:xfrm>
          <a:prstGeom prst="rect">
            <a:avLst/>
          </a:prstGeom>
          <a:noFill/>
        </p:spPr>
        <p:txBody>
          <a:bodyPr wrap="square" lIns="0" rIns="0" tIns="0" bIns="0" anchor="t">
            <a:spAutoFit/>
          </a:bodyPr>
          <a:lstStyle/>
          <a:p>
            <a:pPr algn="ctr">
              <a:lnSpc>
                <a:spcPct val="100000"/>
              </a:lnSpc>
            </a:pPr>
            <a:r>
              <a:rPr sz="1500" b="1" i="0" spc="150">
                <a:solidFill>
                  <a:srgbClr val="FFD21F"/>
                </a:solidFill>
                <a:latin typeface="Montserrat"/>
              </a:rPr>
              <a:t>CAUSA 04</a:t>
            </a:r>
          </a:p>
        </p:txBody>
      </p:sp>
      <p:sp>
        <p:nvSpPr>
          <p:cNvPr id="27" name="TextBox 26"/>
          <p:cNvSpPr txBox="1"/>
          <p:nvPr/>
        </p:nvSpPr>
        <p:spPr>
          <a:xfrm>
            <a:off x="13211175" y="6038850"/>
            <a:ext cx="3810000" cy="285750"/>
          </a:xfrm>
          <a:prstGeom prst="rect">
            <a:avLst/>
          </a:prstGeom>
          <a:noFill/>
        </p:spPr>
        <p:txBody>
          <a:bodyPr wrap="square" lIns="0" rIns="0" tIns="0" bIns="0" anchor="t">
            <a:spAutoFit/>
          </a:bodyPr>
          <a:lstStyle/>
          <a:p>
            <a:pPr algn="ctr">
              <a:lnSpc>
                <a:spcPct val="100000"/>
              </a:lnSpc>
            </a:pPr>
            <a:r>
              <a:rPr sz="1500" b="1" i="0" spc="150">
                <a:solidFill>
                  <a:srgbClr val="9FB4CC"/>
                </a:solidFill>
                <a:latin typeface="Montserrat"/>
              </a:rPr>
              <a:t>EFECTO 04</a:t>
            </a:r>
          </a:p>
        </p:txBody>
      </p:sp>
      <p:pic>
        <p:nvPicPr>
          <p:cNvPr id="28" name="Picture 27" descr="causa_4_a33974656e.png"/>
          <p:cNvPicPr>
            <a:picLocks noChangeAspect="1"/>
          </p:cNvPicPr>
          <p:nvPr/>
        </p:nvPicPr>
        <p:blipFill>
          <a:blip r:embed="rId10"/>
          <a:stretch>
            <a:fillRect/>
          </a:stretch>
        </p:blipFill>
        <p:spPr>
          <a:xfrm>
            <a:off x="10248900" y="6440291"/>
            <a:ext cx="2609850" cy="2530868"/>
          </a:xfrm>
          <a:prstGeom prst="rect">
            <a:avLst/>
          </a:prstGeom>
        </p:spPr>
      </p:pic>
      <p:pic>
        <p:nvPicPr>
          <p:cNvPr id="29" name="Picture 28" descr="efecto_4_e0f67eb1db.png"/>
          <p:cNvPicPr>
            <a:picLocks noChangeAspect="1"/>
          </p:cNvPicPr>
          <p:nvPr/>
        </p:nvPicPr>
        <p:blipFill>
          <a:blip r:embed="rId11"/>
          <a:stretch>
            <a:fillRect/>
          </a:stretch>
        </p:blipFill>
        <p:spPr>
          <a:xfrm>
            <a:off x="13811250" y="6424838"/>
            <a:ext cx="2609850" cy="2561774"/>
          </a:xfrm>
          <a:prstGeom prst="rect">
            <a:avLst/>
          </a:prstGeom>
        </p:spPr>
      </p:pic>
      <p:sp>
        <p:nvSpPr>
          <p:cNvPr id="30" name="Right Arrow 29"/>
          <p:cNvSpPr/>
          <p:nvPr/>
        </p:nvSpPr>
        <p:spPr>
          <a:xfrm>
            <a:off x="13068300" y="7562850"/>
            <a:ext cx="53340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PLANTEAMIENTO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usa_1_8f57ba7d15.png"/>
          <p:cNvPicPr>
            <a:picLocks noChangeAspect="1"/>
          </p:cNvPicPr>
          <p:nvPr/>
        </p:nvPicPr>
        <p:blipFill>
          <a:blip r:embed="rId4">
            <a:alphaModFix amt="18000"/>
          </a:blip>
          <a:stretch>
            <a:fillRect/>
          </a:stretch>
        </p:blipFill>
        <p:spPr>
          <a:xfrm>
            <a:off x="1866900" y="2491627"/>
            <a:ext cx="2609850" cy="2503396"/>
          </a:xfrm>
          <a:prstGeom prst="rect">
            <a:avLst/>
          </a:prstGeom>
        </p:spPr>
      </p:pic>
      <p:pic>
        <p:nvPicPr>
          <p:cNvPr id="9" name="Picture 8" descr="efecto_1_7512da7a7c.png"/>
          <p:cNvPicPr>
            <a:picLocks noChangeAspect="1"/>
          </p:cNvPicPr>
          <p:nvPr/>
        </p:nvPicPr>
        <p:blipFill>
          <a:blip r:embed="rId5">
            <a:alphaModFix amt="18000"/>
          </a:blip>
          <a:stretch>
            <a:fillRect/>
          </a:stretch>
        </p:blipFill>
        <p:spPr>
          <a:xfrm>
            <a:off x="5429250" y="2503646"/>
            <a:ext cx="2609850" cy="2479358"/>
          </a:xfrm>
          <a:prstGeom prst="rect">
            <a:avLst/>
          </a:prstGeom>
        </p:spPr>
      </p:pic>
      <p:sp>
        <p:nvSpPr>
          <p:cNvPr id="10" name="Right Arrow 9"/>
          <p:cNvSpPr/>
          <p:nvPr/>
        </p:nvSpPr>
        <p:spPr>
          <a:xfrm>
            <a:off x="4686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96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usa_2_69ee5752f3.png"/>
          <p:cNvPicPr>
            <a:picLocks noChangeAspect="1"/>
          </p:cNvPicPr>
          <p:nvPr/>
        </p:nvPicPr>
        <p:blipFill>
          <a:blip r:embed="rId6">
            <a:alphaModFix amt="18000"/>
          </a:blip>
          <a:stretch>
            <a:fillRect/>
          </a:stretch>
        </p:blipFill>
        <p:spPr>
          <a:xfrm>
            <a:off x="10248900" y="2467589"/>
            <a:ext cx="2609850" cy="2551472"/>
          </a:xfrm>
          <a:prstGeom prst="rect">
            <a:avLst/>
          </a:prstGeom>
        </p:spPr>
      </p:pic>
      <p:pic>
        <p:nvPicPr>
          <p:cNvPr id="13" name="Picture 12" descr="efecto_2_ac377673e0.png"/>
          <p:cNvPicPr>
            <a:picLocks noChangeAspect="1"/>
          </p:cNvPicPr>
          <p:nvPr/>
        </p:nvPicPr>
        <p:blipFill>
          <a:blip r:embed="rId7">
            <a:alphaModFix amt="18000"/>
          </a:blip>
          <a:stretch>
            <a:fillRect/>
          </a:stretch>
        </p:blipFill>
        <p:spPr>
          <a:xfrm>
            <a:off x="13811250" y="2472740"/>
            <a:ext cx="2609850" cy="2541170"/>
          </a:xfrm>
          <a:prstGeom prst="rect">
            <a:avLst/>
          </a:prstGeom>
        </p:spPr>
      </p:pic>
      <p:sp>
        <p:nvSpPr>
          <p:cNvPr id="14" name="Right Arrow 13"/>
          <p:cNvSpPr/>
          <p:nvPr/>
        </p:nvSpPr>
        <p:spPr>
          <a:xfrm>
            <a:off x="13068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usa_3_dc9f93092c.png"/>
          <p:cNvPicPr>
            <a:picLocks noChangeAspect="1"/>
          </p:cNvPicPr>
          <p:nvPr/>
        </p:nvPicPr>
        <p:blipFill>
          <a:blip r:embed="rId8">
            <a:alphaModFix amt="18000"/>
          </a:blip>
          <a:stretch>
            <a:fillRect/>
          </a:stretch>
        </p:blipFill>
        <p:spPr>
          <a:xfrm>
            <a:off x="1875485" y="6400800"/>
            <a:ext cx="2592680" cy="2609850"/>
          </a:xfrm>
          <a:prstGeom prst="rect">
            <a:avLst/>
          </a:prstGeom>
        </p:spPr>
      </p:pic>
      <p:pic>
        <p:nvPicPr>
          <p:cNvPr id="17" name="Picture 16" descr="efecto_3_5782cba8c4.png"/>
          <p:cNvPicPr>
            <a:picLocks noChangeAspect="1"/>
          </p:cNvPicPr>
          <p:nvPr/>
        </p:nvPicPr>
        <p:blipFill>
          <a:blip r:embed="rId9">
            <a:alphaModFix amt="18000"/>
          </a:blip>
          <a:stretch>
            <a:fillRect/>
          </a:stretch>
        </p:blipFill>
        <p:spPr>
          <a:xfrm>
            <a:off x="5429250" y="6423121"/>
            <a:ext cx="2609850" cy="2565208"/>
          </a:xfrm>
          <a:prstGeom prst="rect">
            <a:avLst/>
          </a:prstGeom>
        </p:spPr>
      </p:pic>
      <p:sp>
        <p:nvSpPr>
          <p:cNvPr id="18" name="Right Arrow 17"/>
          <p:cNvSpPr/>
          <p:nvPr/>
        </p:nvSpPr>
        <p:spPr>
          <a:xfrm>
            <a:off x="4686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96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usa_4_a33974656e.png"/>
          <p:cNvPicPr>
            <a:picLocks noChangeAspect="1"/>
          </p:cNvPicPr>
          <p:nvPr/>
        </p:nvPicPr>
        <p:blipFill>
          <a:blip r:embed="rId10">
            <a:alphaModFix amt="18000"/>
          </a:blip>
          <a:stretch>
            <a:fillRect/>
          </a:stretch>
        </p:blipFill>
        <p:spPr>
          <a:xfrm>
            <a:off x="10248900" y="6440291"/>
            <a:ext cx="2609850" cy="2530868"/>
          </a:xfrm>
          <a:prstGeom prst="rect">
            <a:avLst/>
          </a:prstGeom>
        </p:spPr>
      </p:pic>
      <p:pic>
        <p:nvPicPr>
          <p:cNvPr id="21" name="Picture 20" descr="efecto_4_e0f67eb1db.png"/>
          <p:cNvPicPr>
            <a:picLocks noChangeAspect="1"/>
          </p:cNvPicPr>
          <p:nvPr/>
        </p:nvPicPr>
        <p:blipFill>
          <a:blip r:embed="rId11">
            <a:alphaModFix amt="18000"/>
          </a:blip>
          <a:stretch>
            <a:fillRect/>
          </a:stretch>
        </p:blipFill>
        <p:spPr>
          <a:xfrm>
            <a:off x="13811250" y="6424838"/>
            <a:ext cx="2609850" cy="2561774"/>
          </a:xfrm>
          <a:prstGeom prst="rect">
            <a:avLst/>
          </a:prstGeom>
        </p:spPr>
      </p:pic>
      <p:sp>
        <p:nvSpPr>
          <p:cNvPr id="22" name="Right Arrow 21"/>
          <p:cNvSpPr/>
          <p:nvPr/>
        </p:nvSpPr>
        <p:spPr>
          <a:xfrm>
            <a:off x="13068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squinero"/>
          <p:cNvSpPr/>
          <p:nvPr/>
        </p:nvSpPr>
        <p:spPr>
          <a:xfrm>
            <a:off x="27622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2762250"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149923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497175"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276225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squinero"/>
          <p:cNvSpPr/>
          <p:nvPr/>
        </p:nvSpPr>
        <p:spPr>
          <a:xfrm>
            <a:off x="27622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quinero"/>
          <p:cNvSpPr/>
          <p:nvPr/>
        </p:nvSpPr>
        <p:spPr>
          <a:xfrm>
            <a:off x="1549717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squinero"/>
          <p:cNvSpPr/>
          <p:nvPr/>
        </p:nvSpPr>
        <p:spPr>
          <a:xfrm>
            <a:off x="149923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57500" y="2247900"/>
            <a:ext cx="12573000" cy="70104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957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FFD21F"/>
                </a:solidFill>
                <a:latin typeface="Montserrat"/>
              </a:rPr>
              <a:t>CAUSA 01</a:t>
            </a:r>
          </a:p>
        </p:txBody>
      </p:sp>
      <p:sp>
        <p:nvSpPr>
          <p:cNvPr id="33" name="TextBox 32"/>
          <p:cNvSpPr txBox="1"/>
          <p:nvPr/>
        </p:nvSpPr>
        <p:spPr>
          <a:xfrm>
            <a:off x="103822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9FB4CC"/>
                </a:solidFill>
                <a:latin typeface="Montserrat"/>
              </a:rPr>
              <a:t>EFECTO 01</a:t>
            </a:r>
          </a:p>
        </p:txBody>
      </p:sp>
      <p:pic>
        <p:nvPicPr>
          <p:cNvPr id="34" name="Picture 33" descr="causa_1_8f57ba7d15.png"/>
          <p:cNvPicPr>
            <a:picLocks noChangeAspect="1"/>
          </p:cNvPicPr>
          <p:nvPr/>
        </p:nvPicPr>
        <p:blipFill>
          <a:blip r:embed="rId4"/>
          <a:stretch>
            <a:fillRect/>
          </a:stretch>
        </p:blipFill>
        <p:spPr>
          <a:xfrm>
            <a:off x="3571875" y="3147073"/>
            <a:ext cx="4857750" cy="4659605"/>
          </a:xfrm>
          <a:prstGeom prst="rect">
            <a:avLst/>
          </a:prstGeom>
        </p:spPr>
      </p:pic>
      <p:pic>
        <p:nvPicPr>
          <p:cNvPr id="35" name="Picture 34" descr="efecto_1_7512da7a7c.png"/>
          <p:cNvPicPr>
            <a:picLocks noChangeAspect="1"/>
          </p:cNvPicPr>
          <p:nvPr/>
        </p:nvPicPr>
        <p:blipFill>
          <a:blip r:embed="rId5"/>
          <a:stretch>
            <a:fillRect/>
          </a:stretch>
        </p:blipFill>
        <p:spPr>
          <a:xfrm>
            <a:off x="9858375" y="3169444"/>
            <a:ext cx="4857750" cy="4614862"/>
          </a:xfrm>
          <a:prstGeom prst="rect">
            <a:avLst/>
          </a:prstGeom>
        </p:spPr>
      </p:pic>
      <p:sp>
        <p:nvSpPr>
          <p:cNvPr id="36" name="Right Arrow 35"/>
          <p:cNvSpPr/>
          <p:nvPr/>
        </p:nvSpPr>
        <p:spPr>
          <a:xfrm>
            <a:off x="8810625" y="5257800"/>
            <a:ext cx="666750" cy="4381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432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Criterio no formalizado</a:t>
            </a:r>
          </a:p>
        </p:txBody>
      </p:sp>
      <p:sp>
        <p:nvSpPr>
          <p:cNvPr id="38" name="TextBox 37"/>
          <p:cNvSpPr txBox="1"/>
          <p:nvPr/>
        </p:nvSpPr>
        <p:spPr>
          <a:xfrm>
            <a:off x="94297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Decisiones inconsistentes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PLANTEAMIENTO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usa_1_8f57ba7d15.png"/>
          <p:cNvPicPr>
            <a:picLocks noChangeAspect="1"/>
          </p:cNvPicPr>
          <p:nvPr/>
        </p:nvPicPr>
        <p:blipFill>
          <a:blip r:embed="rId4">
            <a:alphaModFix amt="18000"/>
          </a:blip>
          <a:stretch>
            <a:fillRect/>
          </a:stretch>
        </p:blipFill>
        <p:spPr>
          <a:xfrm>
            <a:off x="1866900" y="2491627"/>
            <a:ext cx="2609850" cy="2503396"/>
          </a:xfrm>
          <a:prstGeom prst="rect">
            <a:avLst/>
          </a:prstGeom>
        </p:spPr>
      </p:pic>
      <p:pic>
        <p:nvPicPr>
          <p:cNvPr id="9" name="Picture 8" descr="efecto_1_7512da7a7c.png"/>
          <p:cNvPicPr>
            <a:picLocks noChangeAspect="1"/>
          </p:cNvPicPr>
          <p:nvPr/>
        </p:nvPicPr>
        <p:blipFill>
          <a:blip r:embed="rId5">
            <a:alphaModFix amt="18000"/>
          </a:blip>
          <a:stretch>
            <a:fillRect/>
          </a:stretch>
        </p:blipFill>
        <p:spPr>
          <a:xfrm>
            <a:off x="5429250" y="2503646"/>
            <a:ext cx="2609850" cy="2479358"/>
          </a:xfrm>
          <a:prstGeom prst="rect">
            <a:avLst/>
          </a:prstGeom>
        </p:spPr>
      </p:pic>
      <p:sp>
        <p:nvSpPr>
          <p:cNvPr id="10" name="Right Arrow 9"/>
          <p:cNvSpPr/>
          <p:nvPr/>
        </p:nvSpPr>
        <p:spPr>
          <a:xfrm>
            <a:off x="4686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96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usa_2_69ee5752f3.png"/>
          <p:cNvPicPr>
            <a:picLocks noChangeAspect="1"/>
          </p:cNvPicPr>
          <p:nvPr/>
        </p:nvPicPr>
        <p:blipFill>
          <a:blip r:embed="rId6">
            <a:alphaModFix amt="18000"/>
          </a:blip>
          <a:stretch>
            <a:fillRect/>
          </a:stretch>
        </p:blipFill>
        <p:spPr>
          <a:xfrm>
            <a:off x="10248900" y="2467589"/>
            <a:ext cx="2609850" cy="2551472"/>
          </a:xfrm>
          <a:prstGeom prst="rect">
            <a:avLst/>
          </a:prstGeom>
        </p:spPr>
      </p:pic>
      <p:pic>
        <p:nvPicPr>
          <p:cNvPr id="13" name="Picture 12" descr="efecto_2_ac377673e0.png"/>
          <p:cNvPicPr>
            <a:picLocks noChangeAspect="1"/>
          </p:cNvPicPr>
          <p:nvPr/>
        </p:nvPicPr>
        <p:blipFill>
          <a:blip r:embed="rId7">
            <a:alphaModFix amt="18000"/>
          </a:blip>
          <a:stretch>
            <a:fillRect/>
          </a:stretch>
        </p:blipFill>
        <p:spPr>
          <a:xfrm>
            <a:off x="13811250" y="2472740"/>
            <a:ext cx="2609850" cy="2541170"/>
          </a:xfrm>
          <a:prstGeom prst="rect">
            <a:avLst/>
          </a:prstGeom>
        </p:spPr>
      </p:pic>
      <p:sp>
        <p:nvSpPr>
          <p:cNvPr id="14" name="Right Arrow 13"/>
          <p:cNvSpPr/>
          <p:nvPr/>
        </p:nvSpPr>
        <p:spPr>
          <a:xfrm>
            <a:off x="13068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usa_3_dc9f93092c.png"/>
          <p:cNvPicPr>
            <a:picLocks noChangeAspect="1"/>
          </p:cNvPicPr>
          <p:nvPr/>
        </p:nvPicPr>
        <p:blipFill>
          <a:blip r:embed="rId8">
            <a:alphaModFix amt="18000"/>
          </a:blip>
          <a:stretch>
            <a:fillRect/>
          </a:stretch>
        </p:blipFill>
        <p:spPr>
          <a:xfrm>
            <a:off x="1875485" y="6400800"/>
            <a:ext cx="2592680" cy="2609850"/>
          </a:xfrm>
          <a:prstGeom prst="rect">
            <a:avLst/>
          </a:prstGeom>
        </p:spPr>
      </p:pic>
      <p:pic>
        <p:nvPicPr>
          <p:cNvPr id="17" name="Picture 16" descr="efecto_3_5782cba8c4.png"/>
          <p:cNvPicPr>
            <a:picLocks noChangeAspect="1"/>
          </p:cNvPicPr>
          <p:nvPr/>
        </p:nvPicPr>
        <p:blipFill>
          <a:blip r:embed="rId9">
            <a:alphaModFix amt="18000"/>
          </a:blip>
          <a:stretch>
            <a:fillRect/>
          </a:stretch>
        </p:blipFill>
        <p:spPr>
          <a:xfrm>
            <a:off x="5429250" y="6423121"/>
            <a:ext cx="2609850" cy="2565208"/>
          </a:xfrm>
          <a:prstGeom prst="rect">
            <a:avLst/>
          </a:prstGeom>
        </p:spPr>
      </p:pic>
      <p:sp>
        <p:nvSpPr>
          <p:cNvPr id="18" name="Right Arrow 17"/>
          <p:cNvSpPr/>
          <p:nvPr/>
        </p:nvSpPr>
        <p:spPr>
          <a:xfrm>
            <a:off x="4686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96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usa_4_a33974656e.png"/>
          <p:cNvPicPr>
            <a:picLocks noChangeAspect="1"/>
          </p:cNvPicPr>
          <p:nvPr/>
        </p:nvPicPr>
        <p:blipFill>
          <a:blip r:embed="rId10">
            <a:alphaModFix amt="18000"/>
          </a:blip>
          <a:stretch>
            <a:fillRect/>
          </a:stretch>
        </p:blipFill>
        <p:spPr>
          <a:xfrm>
            <a:off x="10248900" y="6440291"/>
            <a:ext cx="2609850" cy="2530868"/>
          </a:xfrm>
          <a:prstGeom prst="rect">
            <a:avLst/>
          </a:prstGeom>
        </p:spPr>
      </p:pic>
      <p:pic>
        <p:nvPicPr>
          <p:cNvPr id="21" name="Picture 20" descr="efecto_4_e0f67eb1db.png"/>
          <p:cNvPicPr>
            <a:picLocks noChangeAspect="1"/>
          </p:cNvPicPr>
          <p:nvPr/>
        </p:nvPicPr>
        <p:blipFill>
          <a:blip r:embed="rId11">
            <a:alphaModFix amt="18000"/>
          </a:blip>
          <a:stretch>
            <a:fillRect/>
          </a:stretch>
        </p:blipFill>
        <p:spPr>
          <a:xfrm>
            <a:off x="13811250" y="6424838"/>
            <a:ext cx="2609850" cy="2561774"/>
          </a:xfrm>
          <a:prstGeom prst="rect">
            <a:avLst/>
          </a:prstGeom>
        </p:spPr>
      </p:pic>
      <p:sp>
        <p:nvSpPr>
          <p:cNvPr id="22" name="Right Arrow 21"/>
          <p:cNvSpPr/>
          <p:nvPr/>
        </p:nvSpPr>
        <p:spPr>
          <a:xfrm>
            <a:off x="13068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squinero"/>
          <p:cNvSpPr/>
          <p:nvPr/>
        </p:nvSpPr>
        <p:spPr>
          <a:xfrm>
            <a:off x="27622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2762250"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149923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497175"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276225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squinero"/>
          <p:cNvSpPr/>
          <p:nvPr/>
        </p:nvSpPr>
        <p:spPr>
          <a:xfrm>
            <a:off x="27622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quinero"/>
          <p:cNvSpPr/>
          <p:nvPr/>
        </p:nvSpPr>
        <p:spPr>
          <a:xfrm>
            <a:off x="1549717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squinero"/>
          <p:cNvSpPr/>
          <p:nvPr/>
        </p:nvSpPr>
        <p:spPr>
          <a:xfrm>
            <a:off x="149923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57500" y="2247900"/>
            <a:ext cx="12573000" cy="70104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957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FFD21F"/>
                </a:solidFill>
                <a:latin typeface="Montserrat"/>
              </a:rPr>
              <a:t>CAUSA 02</a:t>
            </a:r>
          </a:p>
        </p:txBody>
      </p:sp>
      <p:sp>
        <p:nvSpPr>
          <p:cNvPr id="33" name="TextBox 32"/>
          <p:cNvSpPr txBox="1"/>
          <p:nvPr/>
        </p:nvSpPr>
        <p:spPr>
          <a:xfrm>
            <a:off x="103822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9FB4CC"/>
                </a:solidFill>
                <a:latin typeface="Montserrat"/>
              </a:rPr>
              <a:t>EFECTO 02</a:t>
            </a:r>
          </a:p>
        </p:txBody>
      </p:sp>
      <p:pic>
        <p:nvPicPr>
          <p:cNvPr id="34" name="Picture 33" descr="causa_2_69ee5752f3.png"/>
          <p:cNvPicPr>
            <a:picLocks noChangeAspect="1"/>
          </p:cNvPicPr>
          <p:nvPr/>
        </p:nvPicPr>
        <p:blipFill>
          <a:blip r:embed="rId6"/>
          <a:stretch>
            <a:fillRect/>
          </a:stretch>
        </p:blipFill>
        <p:spPr>
          <a:xfrm>
            <a:off x="3571875" y="3102330"/>
            <a:ext cx="4857750" cy="4749090"/>
          </a:xfrm>
          <a:prstGeom prst="rect">
            <a:avLst/>
          </a:prstGeom>
        </p:spPr>
      </p:pic>
      <p:pic>
        <p:nvPicPr>
          <p:cNvPr id="35" name="Picture 34" descr="efecto_2_ac377673e0.png"/>
          <p:cNvPicPr>
            <a:picLocks noChangeAspect="1"/>
          </p:cNvPicPr>
          <p:nvPr/>
        </p:nvPicPr>
        <p:blipFill>
          <a:blip r:embed="rId7"/>
          <a:stretch>
            <a:fillRect/>
          </a:stretch>
        </p:blipFill>
        <p:spPr>
          <a:xfrm>
            <a:off x="9858375" y="3111918"/>
            <a:ext cx="4857750" cy="4729914"/>
          </a:xfrm>
          <a:prstGeom prst="rect">
            <a:avLst/>
          </a:prstGeom>
        </p:spPr>
      </p:pic>
      <p:sp>
        <p:nvSpPr>
          <p:cNvPr id="36" name="Right Arrow 35"/>
          <p:cNvSpPr/>
          <p:nvPr/>
        </p:nvSpPr>
        <p:spPr>
          <a:xfrm>
            <a:off x="8810625" y="5257800"/>
            <a:ext cx="666750" cy="4381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432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Volumen creciente</a:t>
            </a:r>
          </a:p>
        </p:txBody>
      </p:sp>
      <p:sp>
        <p:nvSpPr>
          <p:cNvPr id="38" name="TextBox 37"/>
          <p:cNvSpPr txBox="1"/>
          <p:nvPr/>
        </p:nvSpPr>
        <p:spPr>
          <a:xfrm>
            <a:off x="94297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Mayor tiempo de respuesta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PLANTEAMIENTO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usa_1_8f57ba7d15.png"/>
          <p:cNvPicPr>
            <a:picLocks noChangeAspect="1"/>
          </p:cNvPicPr>
          <p:nvPr/>
        </p:nvPicPr>
        <p:blipFill>
          <a:blip r:embed="rId4">
            <a:alphaModFix amt="18000"/>
          </a:blip>
          <a:stretch>
            <a:fillRect/>
          </a:stretch>
        </p:blipFill>
        <p:spPr>
          <a:xfrm>
            <a:off x="1866900" y="2491627"/>
            <a:ext cx="2609850" cy="2503396"/>
          </a:xfrm>
          <a:prstGeom prst="rect">
            <a:avLst/>
          </a:prstGeom>
        </p:spPr>
      </p:pic>
      <p:pic>
        <p:nvPicPr>
          <p:cNvPr id="9" name="Picture 8" descr="efecto_1_7512da7a7c.png"/>
          <p:cNvPicPr>
            <a:picLocks noChangeAspect="1"/>
          </p:cNvPicPr>
          <p:nvPr/>
        </p:nvPicPr>
        <p:blipFill>
          <a:blip r:embed="rId5">
            <a:alphaModFix amt="18000"/>
          </a:blip>
          <a:stretch>
            <a:fillRect/>
          </a:stretch>
        </p:blipFill>
        <p:spPr>
          <a:xfrm>
            <a:off x="5429250" y="2503646"/>
            <a:ext cx="2609850" cy="2479358"/>
          </a:xfrm>
          <a:prstGeom prst="rect">
            <a:avLst/>
          </a:prstGeom>
        </p:spPr>
      </p:pic>
      <p:sp>
        <p:nvSpPr>
          <p:cNvPr id="10" name="Right Arrow 9"/>
          <p:cNvSpPr/>
          <p:nvPr/>
        </p:nvSpPr>
        <p:spPr>
          <a:xfrm>
            <a:off x="4686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96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usa_2_69ee5752f3.png"/>
          <p:cNvPicPr>
            <a:picLocks noChangeAspect="1"/>
          </p:cNvPicPr>
          <p:nvPr/>
        </p:nvPicPr>
        <p:blipFill>
          <a:blip r:embed="rId6">
            <a:alphaModFix amt="18000"/>
          </a:blip>
          <a:stretch>
            <a:fillRect/>
          </a:stretch>
        </p:blipFill>
        <p:spPr>
          <a:xfrm>
            <a:off x="10248900" y="2467589"/>
            <a:ext cx="2609850" cy="2551472"/>
          </a:xfrm>
          <a:prstGeom prst="rect">
            <a:avLst/>
          </a:prstGeom>
        </p:spPr>
      </p:pic>
      <p:pic>
        <p:nvPicPr>
          <p:cNvPr id="13" name="Picture 12" descr="efecto_2_ac377673e0.png"/>
          <p:cNvPicPr>
            <a:picLocks noChangeAspect="1"/>
          </p:cNvPicPr>
          <p:nvPr/>
        </p:nvPicPr>
        <p:blipFill>
          <a:blip r:embed="rId7">
            <a:alphaModFix amt="18000"/>
          </a:blip>
          <a:stretch>
            <a:fillRect/>
          </a:stretch>
        </p:blipFill>
        <p:spPr>
          <a:xfrm>
            <a:off x="13811250" y="2472740"/>
            <a:ext cx="2609850" cy="2541170"/>
          </a:xfrm>
          <a:prstGeom prst="rect">
            <a:avLst/>
          </a:prstGeom>
        </p:spPr>
      </p:pic>
      <p:sp>
        <p:nvSpPr>
          <p:cNvPr id="14" name="Right Arrow 13"/>
          <p:cNvSpPr/>
          <p:nvPr/>
        </p:nvSpPr>
        <p:spPr>
          <a:xfrm>
            <a:off x="13068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usa_3_dc9f93092c.png"/>
          <p:cNvPicPr>
            <a:picLocks noChangeAspect="1"/>
          </p:cNvPicPr>
          <p:nvPr/>
        </p:nvPicPr>
        <p:blipFill>
          <a:blip r:embed="rId8">
            <a:alphaModFix amt="18000"/>
          </a:blip>
          <a:stretch>
            <a:fillRect/>
          </a:stretch>
        </p:blipFill>
        <p:spPr>
          <a:xfrm>
            <a:off x="1875485" y="6400800"/>
            <a:ext cx="2592680" cy="2609850"/>
          </a:xfrm>
          <a:prstGeom prst="rect">
            <a:avLst/>
          </a:prstGeom>
        </p:spPr>
      </p:pic>
      <p:pic>
        <p:nvPicPr>
          <p:cNvPr id="17" name="Picture 16" descr="efecto_3_5782cba8c4.png"/>
          <p:cNvPicPr>
            <a:picLocks noChangeAspect="1"/>
          </p:cNvPicPr>
          <p:nvPr/>
        </p:nvPicPr>
        <p:blipFill>
          <a:blip r:embed="rId9">
            <a:alphaModFix amt="18000"/>
          </a:blip>
          <a:stretch>
            <a:fillRect/>
          </a:stretch>
        </p:blipFill>
        <p:spPr>
          <a:xfrm>
            <a:off x="5429250" y="6423121"/>
            <a:ext cx="2609850" cy="2565208"/>
          </a:xfrm>
          <a:prstGeom prst="rect">
            <a:avLst/>
          </a:prstGeom>
        </p:spPr>
      </p:pic>
      <p:sp>
        <p:nvSpPr>
          <p:cNvPr id="18" name="Right Arrow 17"/>
          <p:cNvSpPr/>
          <p:nvPr/>
        </p:nvSpPr>
        <p:spPr>
          <a:xfrm>
            <a:off x="4686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96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usa_4_a33974656e.png"/>
          <p:cNvPicPr>
            <a:picLocks noChangeAspect="1"/>
          </p:cNvPicPr>
          <p:nvPr/>
        </p:nvPicPr>
        <p:blipFill>
          <a:blip r:embed="rId10">
            <a:alphaModFix amt="18000"/>
          </a:blip>
          <a:stretch>
            <a:fillRect/>
          </a:stretch>
        </p:blipFill>
        <p:spPr>
          <a:xfrm>
            <a:off x="10248900" y="6440291"/>
            <a:ext cx="2609850" cy="2530868"/>
          </a:xfrm>
          <a:prstGeom prst="rect">
            <a:avLst/>
          </a:prstGeom>
        </p:spPr>
      </p:pic>
      <p:pic>
        <p:nvPicPr>
          <p:cNvPr id="21" name="Picture 20" descr="efecto_4_e0f67eb1db.png"/>
          <p:cNvPicPr>
            <a:picLocks noChangeAspect="1"/>
          </p:cNvPicPr>
          <p:nvPr/>
        </p:nvPicPr>
        <p:blipFill>
          <a:blip r:embed="rId11">
            <a:alphaModFix amt="18000"/>
          </a:blip>
          <a:stretch>
            <a:fillRect/>
          </a:stretch>
        </p:blipFill>
        <p:spPr>
          <a:xfrm>
            <a:off x="13811250" y="6424838"/>
            <a:ext cx="2609850" cy="2561774"/>
          </a:xfrm>
          <a:prstGeom prst="rect">
            <a:avLst/>
          </a:prstGeom>
        </p:spPr>
      </p:pic>
      <p:sp>
        <p:nvSpPr>
          <p:cNvPr id="22" name="Right Arrow 21"/>
          <p:cNvSpPr/>
          <p:nvPr/>
        </p:nvSpPr>
        <p:spPr>
          <a:xfrm>
            <a:off x="13068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squinero"/>
          <p:cNvSpPr/>
          <p:nvPr/>
        </p:nvSpPr>
        <p:spPr>
          <a:xfrm>
            <a:off x="27622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2762250"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149923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497175"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276225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squinero"/>
          <p:cNvSpPr/>
          <p:nvPr/>
        </p:nvSpPr>
        <p:spPr>
          <a:xfrm>
            <a:off x="27622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quinero"/>
          <p:cNvSpPr/>
          <p:nvPr/>
        </p:nvSpPr>
        <p:spPr>
          <a:xfrm>
            <a:off x="1549717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squinero"/>
          <p:cNvSpPr/>
          <p:nvPr/>
        </p:nvSpPr>
        <p:spPr>
          <a:xfrm>
            <a:off x="149923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57500" y="2247900"/>
            <a:ext cx="12573000" cy="70104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957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FFD21F"/>
                </a:solidFill>
                <a:latin typeface="Montserrat"/>
              </a:rPr>
              <a:t>CAUSA 03</a:t>
            </a:r>
          </a:p>
        </p:txBody>
      </p:sp>
      <p:sp>
        <p:nvSpPr>
          <p:cNvPr id="33" name="TextBox 32"/>
          <p:cNvSpPr txBox="1"/>
          <p:nvPr/>
        </p:nvSpPr>
        <p:spPr>
          <a:xfrm>
            <a:off x="103822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9FB4CC"/>
                </a:solidFill>
                <a:latin typeface="Montserrat"/>
              </a:rPr>
              <a:t>EFECTO 03</a:t>
            </a:r>
          </a:p>
        </p:txBody>
      </p:sp>
      <p:pic>
        <p:nvPicPr>
          <p:cNvPr id="34" name="Picture 33" descr="causa_3_dc9f93092c.png"/>
          <p:cNvPicPr>
            <a:picLocks noChangeAspect="1"/>
          </p:cNvPicPr>
          <p:nvPr/>
        </p:nvPicPr>
        <p:blipFill>
          <a:blip r:embed="rId8"/>
          <a:stretch>
            <a:fillRect/>
          </a:stretch>
        </p:blipFill>
        <p:spPr>
          <a:xfrm>
            <a:off x="3587854" y="3048000"/>
            <a:ext cx="4825791" cy="4857750"/>
          </a:xfrm>
          <a:prstGeom prst="rect">
            <a:avLst/>
          </a:prstGeom>
        </p:spPr>
      </p:pic>
      <p:pic>
        <p:nvPicPr>
          <p:cNvPr id="35" name="Picture 34" descr="efecto_3_5782cba8c4.png"/>
          <p:cNvPicPr>
            <a:picLocks noChangeAspect="1"/>
          </p:cNvPicPr>
          <p:nvPr/>
        </p:nvPicPr>
        <p:blipFill>
          <a:blip r:embed="rId9"/>
          <a:stretch>
            <a:fillRect/>
          </a:stretch>
        </p:blipFill>
        <p:spPr>
          <a:xfrm>
            <a:off x="9858375" y="3089547"/>
            <a:ext cx="4857750" cy="4774657"/>
          </a:xfrm>
          <a:prstGeom prst="rect">
            <a:avLst/>
          </a:prstGeom>
        </p:spPr>
      </p:pic>
      <p:sp>
        <p:nvSpPr>
          <p:cNvPr id="36" name="Right Arrow 35"/>
          <p:cNvSpPr/>
          <p:nvPr/>
        </p:nvSpPr>
        <p:spPr>
          <a:xfrm>
            <a:off x="8810625" y="5257800"/>
            <a:ext cx="666750" cy="4381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432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Inspección visual</a:t>
            </a:r>
          </a:p>
        </p:txBody>
      </p:sp>
      <p:sp>
        <p:nvSpPr>
          <p:cNvPr id="38" name="TextBox 37"/>
          <p:cNvSpPr txBox="1"/>
          <p:nvPr/>
        </p:nvSpPr>
        <p:spPr>
          <a:xfrm>
            <a:off x="94297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Fatiga y riesgo de error humano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PLANTEAMIENTO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usa_1_8f57ba7d15.png"/>
          <p:cNvPicPr>
            <a:picLocks noChangeAspect="1"/>
          </p:cNvPicPr>
          <p:nvPr/>
        </p:nvPicPr>
        <p:blipFill>
          <a:blip r:embed="rId4">
            <a:alphaModFix amt="18000"/>
          </a:blip>
          <a:stretch>
            <a:fillRect/>
          </a:stretch>
        </p:blipFill>
        <p:spPr>
          <a:xfrm>
            <a:off x="1866900" y="2491627"/>
            <a:ext cx="2609850" cy="2503396"/>
          </a:xfrm>
          <a:prstGeom prst="rect">
            <a:avLst/>
          </a:prstGeom>
        </p:spPr>
      </p:pic>
      <p:pic>
        <p:nvPicPr>
          <p:cNvPr id="9" name="Picture 8" descr="efecto_1_7512da7a7c.png"/>
          <p:cNvPicPr>
            <a:picLocks noChangeAspect="1"/>
          </p:cNvPicPr>
          <p:nvPr/>
        </p:nvPicPr>
        <p:blipFill>
          <a:blip r:embed="rId5">
            <a:alphaModFix amt="18000"/>
          </a:blip>
          <a:stretch>
            <a:fillRect/>
          </a:stretch>
        </p:blipFill>
        <p:spPr>
          <a:xfrm>
            <a:off x="5429250" y="2503646"/>
            <a:ext cx="2609850" cy="2479358"/>
          </a:xfrm>
          <a:prstGeom prst="rect">
            <a:avLst/>
          </a:prstGeom>
        </p:spPr>
      </p:pic>
      <p:sp>
        <p:nvSpPr>
          <p:cNvPr id="10" name="Right Arrow 9"/>
          <p:cNvSpPr/>
          <p:nvPr/>
        </p:nvSpPr>
        <p:spPr>
          <a:xfrm>
            <a:off x="4686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96400" y="19050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usa_2_69ee5752f3.png"/>
          <p:cNvPicPr>
            <a:picLocks noChangeAspect="1"/>
          </p:cNvPicPr>
          <p:nvPr/>
        </p:nvPicPr>
        <p:blipFill>
          <a:blip r:embed="rId6">
            <a:alphaModFix amt="18000"/>
          </a:blip>
          <a:stretch>
            <a:fillRect/>
          </a:stretch>
        </p:blipFill>
        <p:spPr>
          <a:xfrm>
            <a:off x="10248900" y="2467589"/>
            <a:ext cx="2609850" cy="2551472"/>
          </a:xfrm>
          <a:prstGeom prst="rect">
            <a:avLst/>
          </a:prstGeom>
        </p:spPr>
      </p:pic>
      <p:pic>
        <p:nvPicPr>
          <p:cNvPr id="13" name="Picture 12" descr="efecto_2_ac377673e0.png"/>
          <p:cNvPicPr>
            <a:picLocks noChangeAspect="1"/>
          </p:cNvPicPr>
          <p:nvPr/>
        </p:nvPicPr>
        <p:blipFill>
          <a:blip r:embed="rId7">
            <a:alphaModFix amt="18000"/>
          </a:blip>
          <a:stretch>
            <a:fillRect/>
          </a:stretch>
        </p:blipFill>
        <p:spPr>
          <a:xfrm>
            <a:off x="13811250" y="2472740"/>
            <a:ext cx="2609850" cy="2541170"/>
          </a:xfrm>
          <a:prstGeom prst="rect">
            <a:avLst/>
          </a:prstGeom>
        </p:spPr>
      </p:pic>
      <p:sp>
        <p:nvSpPr>
          <p:cNvPr id="14" name="Right Arrow 13"/>
          <p:cNvSpPr/>
          <p:nvPr/>
        </p:nvSpPr>
        <p:spPr>
          <a:xfrm>
            <a:off x="13068300" y="36004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usa_3_dc9f93092c.png"/>
          <p:cNvPicPr>
            <a:picLocks noChangeAspect="1"/>
          </p:cNvPicPr>
          <p:nvPr/>
        </p:nvPicPr>
        <p:blipFill>
          <a:blip r:embed="rId8">
            <a:alphaModFix amt="18000"/>
          </a:blip>
          <a:stretch>
            <a:fillRect/>
          </a:stretch>
        </p:blipFill>
        <p:spPr>
          <a:xfrm>
            <a:off x="1875485" y="6400800"/>
            <a:ext cx="2592680" cy="2609850"/>
          </a:xfrm>
          <a:prstGeom prst="rect">
            <a:avLst/>
          </a:prstGeom>
        </p:spPr>
      </p:pic>
      <p:pic>
        <p:nvPicPr>
          <p:cNvPr id="17" name="Picture 16" descr="efecto_3_5782cba8c4.png"/>
          <p:cNvPicPr>
            <a:picLocks noChangeAspect="1"/>
          </p:cNvPicPr>
          <p:nvPr/>
        </p:nvPicPr>
        <p:blipFill>
          <a:blip r:embed="rId9">
            <a:alphaModFix amt="18000"/>
          </a:blip>
          <a:stretch>
            <a:fillRect/>
          </a:stretch>
        </p:blipFill>
        <p:spPr>
          <a:xfrm>
            <a:off x="5429250" y="6423121"/>
            <a:ext cx="2609850" cy="2565208"/>
          </a:xfrm>
          <a:prstGeom prst="rect">
            <a:avLst/>
          </a:prstGeom>
        </p:spPr>
      </p:pic>
      <p:sp>
        <p:nvSpPr>
          <p:cNvPr id="18" name="Right Arrow 17"/>
          <p:cNvSpPr/>
          <p:nvPr/>
        </p:nvSpPr>
        <p:spPr>
          <a:xfrm>
            <a:off x="4686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96400" y="5867400"/>
            <a:ext cx="8077200" cy="3657600"/>
          </a:xfrm>
          <a:prstGeom prst="rect">
            <a:avLst/>
          </a:prstGeom>
          <a:solidFill>
            <a:srgbClr val="0A1F3D">
              <a:alpha val="60000"/>
            </a:srgbClr>
          </a:solidFill>
          <a:ln w="14287">
            <a:solidFill>
              <a:srgbClr val="2F7BFF">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usa_4_a33974656e.png"/>
          <p:cNvPicPr>
            <a:picLocks noChangeAspect="1"/>
          </p:cNvPicPr>
          <p:nvPr/>
        </p:nvPicPr>
        <p:blipFill>
          <a:blip r:embed="rId10">
            <a:alphaModFix amt="18000"/>
          </a:blip>
          <a:stretch>
            <a:fillRect/>
          </a:stretch>
        </p:blipFill>
        <p:spPr>
          <a:xfrm>
            <a:off x="10248900" y="6440291"/>
            <a:ext cx="2609850" cy="2530868"/>
          </a:xfrm>
          <a:prstGeom prst="rect">
            <a:avLst/>
          </a:prstGeom>
        </p:spPr>
      </p:pic>
      <p:pic>
        <p:nvPicPr>
          <p:cNvPr id="21" name="Picture 20" descr="efecto_4_e0f67eb1db.png"/>
          <p:cNvPicPr>
            <a:picLocks noChangeAspect="1"/>
          </p:cNvPicPr>
          <p:nvPr/>
        </p:nvPicPr>
        <p:blipFill>
          <a:blip r:embed="rId11">
            <a:alphaModFix amt="18000"/>
          </a:blip>
          <a:stretch>
            <a:fillRect/>
          </a:stretch>
        </p:blipFill>
        <p:spPr>
          <a:xfrm>
            <a:off x="13811250" y="6424838"/>
            <a:ext cx="2609850" cy="2561774"/>
          </a:xfrm>
          <a:prstGeom prst="rect">
            <a:avLst/>
          </a:prstGeom>
        </p:spPr>
      </p:pic>
      <p:sp>
        <p:nvSpPr>
          <p:cNvPr id="22" name="Right Arrow 21"/>
          <p:cNvSpPr/>
          <p:nvPr/>
        </p:nvSpPr>
        <p:spPr>
          <a:xfrm>
            <a:off x="13068300" y="7562850"/>
            <a:ext cx="533400" cy="285750"/>
          </a:xfrm>
          <a:prstGeom prst="rightArrow">
            <a:avLst/>
          </a:prstGeom>
          <a:solidFill>
            <a:srgbClr val="FFD21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squinero"/>
          <p:cNvSpPr/>
          <p:nvPr/>
        </p:nvSpPr>
        <p:spPr>
          <a:xfrm>
            <a:off x="27622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2762250"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14992350" y="21526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5497175" y="21526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2762250"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squinero"/>
          <p:cNvSpPr/>
          <p:nvPr/>
        </p:nvSpPr>
        <p:spPr>
          <a:xfrm>
            <a:off x="27622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quinero"/>
          <p:cNvSpPr/>
          <p:nvPr/>
        </p:nvSpPr>
        <p:spPr>
          <a:xfrm>
            <a:off x="15497175" y="88201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squinero"/>
          <p:cNvSpPr/>
          <p:nvPr/>
        </p:nvSpPr>
        <p:spPr>
          <a:xfrm>
            <a:off x="14992350" y="93249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857500" y="2247900"/>
            <a:ext cx="12573000" cy="70104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957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FFD21F"/>
                </a:solidFill>
                <a:latin typeface="Montserrat"/>
              </a:rPr>
              <a:t>CAUSA 04</a:t>
            </a:r>
          </a:p>
        </p:txBody>
      </p:sp>
      <p:sp>
        <p:nvSpPr>
          <p:cNvPr id="33" name="TextBox 32"/>
          <p:cNvSpPr txBox="1"/>
          <p:nvPr/>
        </p:nvSpPr>
        <p:spPr>
          <a:xfrm>
            <a:off x="10382250" y="2476500"/>
            <a:ext cx="3810000" cy="400050"/>
          </a:xfrm>
          <a:prstGeom prst="rect">
            <a:avLst/>
          </a:prstGeom>
          <a:noFill/>
        </p:spPr>
        <p:txBody>
          <a:bodyPr wrap="square" lIns="0" rIns="0" tIns="0" bIns="0" anchor="t">
            <a:spAutoFit/>
          </a:bodyPr>
          <a:lstStyle/>
          <a:p>
            <a:pPr algn="ctr">
              <a:lnSpc>
                <a:spcPct val="100000"/>
              </a:lnSpc>
            </a:pPr>
            <a:r>
              <a:rPr sz="2100" b="1" i="0" spc="150">
                <a:solidFill>
                  <a:srgbClr val="9FB4CC"/>
                </a:solidFill>
                <a:latin typeface="Montserrat"/>
              </a:rPr>
              <a:t>EFECTO 04</a:t>
            </a:r>
          </a:p>
        </p:txBody>
      </p:sp>
      <p:pic>
        <p:nvPicPr>
          <p:cNvPr id="34" name="Picture 33" descr="causa_4_a33974656e.png"/>
          <p:cNvPicPr>
            <a:picLocks noChangeAspect="1"/>
          </p:cNvPicPr>
          <p:nvPr/>
        </p:nvPicPr>
        <p:blipFill>
          <a:blip r:embed="rId10"/>
          <a:stretch>
            <a:fillRect/>
          </a:stretch>
        </p:blipFill>
        <p:spPr>
          <a:xfrm>
            <a:off x="3571875" y="3121505"/>
            <a:ext cx="4857750" cy="4710739"/>
          </a:xfrm>
          <a:prstGeom prst="rect">
            <a:avLst/>
          </a:prstGeom>
        </p:spPr>
      </p:pic>
      <p:pic>
        <p:nvPicPr>
          <p:cNvPr id="35" name="Picture 34" descr="efecto_4_e0f67eb1db.png"/>
          <p:cNvPicPr>
            <a:picLocks noChangeAspect="1"/>
          </p:cNvPicPr>
          <p:nvPr/>
        </p:nvPicPr>
        <p:blipFill>
          <a:blip r:embed="rId11"/>
          <a:stretch>
            <a:fillRect/>
          </a:stretch>
        </p:blipFill>
        <p:spPr>
          <a:xfrm>
            <a:off x="9858375" y="3092742"/>
            <a:ext cx="4857750" cy="4768265"/>
          </a:xfrm>
          <a:prstGeom prst="rect">
            <a:avLst/>
          </a:prstGeom>
        </p:spPr>
      </p:pic>
      <p:sp>
        <p:nvSpPr>
          <p:cNvPr id="36" name="Right Arrow 35"/>
          <p:cNvSpPr/>
          <p:nvPr/>
        </p:nvSpPr>
        <p:spPr>
          <a:xfrm>
            <a:off x="8810625" y="5257800"/>
            <a:ext cx="666750" cy="4381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432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Ausencia de trazabilidad</a:t>
            </a:r>
          </a:p>
        </p:txBody>
      </p:sp>
      <p:sp>
        <p:nvSpPr>
          <p:cNvPr id="38" name="TextBox 37"/>
          <p:cNvSpPr txBox="1"/>
          <p:nvPr/>
        </p:nvSpPr>
        <p:spPr>
          <a:xfrm>
            <a:off x="9429750" y="8191500"/>
            <a:ext cx="5715000" cy="476250"/>
          </a:xfrm>
          <a:prstGeom prst="rect">
            <a:avLst/>
          </a:prstGeom>
          <a:noFill/>
        </p:spPr>
        <p:txBody>
          <a:bodyPr wrap="square" lIns="0" rIns="0" tIns="0" bIns="0" anchor="t">
            <a:spAutoFit/>
          </a:bodyPr>
          <a:lstStyle/>
          <a:p>
            <a:pPr algn="ctr">
              <a:lnSpc>
                <a:spcPct val="100000"/>
              </a:lnSpc>
            </a:pPr>
            <a:r>
              <a:rPr sz="2550" b="1" i="0">
                <a:solidFill>
                  <a:srgbClr val="F3F7FC"/>
                </a:solidFill>
                <a:latin typeface="Montserrat"/>
              </a:rPr>
              <a:t>Sin registro del porqué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FORMULACIÓN DEL PROBLEMA</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1809750" y="2857500"/>
            <a:ext cx="14668500" cy="5334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1714500" y="2762250"/>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1714500" y="2762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6002000" y="2762250"/>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6544925" y="2762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714500" y="7715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714500" y="8258175"/>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6544925" y="7715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6002000" y="8258175"/>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809750" y="3429000"/>
            <a:ext cx="76200" cy="419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667000" y="3429000"/>
            <a:ext cx="12954000" cy="4191000"/>
          </a:xfrm>
          <a:prstGeom prst="rect">
            <a:avLst/>
          </a:prstGeom>
          <a:noFill/>
        </p:spPr>
        <p:txBody>
          <a:bodyPr wrap="square" lIns="0" rIns="0" tIns="0" bIns="0" anchor="ctr">
            <a:spAutoFit/>
          </a:bodyPr>
          <a:lstStyle/>
          <a:p>
            <a:pPr algn="l">
              <a:lnSpc>
                <a:spcPct val="125000"/>
              </a:lnSpc>
            </a:pPr>
            <a:r>
              <a:rPr sz="3150" b="0" i="0">
                <a:solidFill>
                  <a:srgbClr val="F3F7FC"/>
                </a:solidFill>
                <a:latin typeface="Barlow"/>
              </a:rPr>
              <a:t>El procedimiento manual de validación de correspondencia de productos del ecosistema Philips en el área de operaciones de la empresa Agilsoft SRL presenta variabilidad en los criterios de validación, lo que genera inconsistencias en la calidad del matching e incremento en el tiempo de validación.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OBJETIVO GENERAL</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1809750" y="2857500"/>
            <a:ext cx="14668500" cy="5334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1714500" y="2762250"/>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1714500" y="2762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16002000" y="2762250"/>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16544925" y="2762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714500" y="7715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714500" y="8258175"/>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6544925" y="7715250"/>
            <a:ext cx="28575"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16002000" y="8258175"/>
            <a:ext cx="5715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809750" y="3429000"/>
            <a:ext cx="76200" cy="419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667000" y="3429000"/>
            <a:ext cx="12954000" cy="4191000"/>
          </a:xfrm>
          <a:prstGeom prst="rect">
            <a:avLst/>
          </a:prstGeom>
          <a:noFill/>
        </p:spPr>
        <p:txBody>
          <a:bodyPr wrap="square" lIns="0" rIns="0" tIns="0" bIns="0" anchor="ctr">
            <a:spAutoFit/>
          </a:bodyPr>
          <a:lstStyle/>
          <a:p>
            <a:pPr algn="l">
              <a:lnSpc>
                <a:spcPct val="125000"/>
              </a:lnSpc>
            </a:pPr>
            <a:r>
              <a:rPr sz="3150" b="0" i="0">
                <a:solidFill>
                  <a:srgbClr val="F3F7FC"/>
                </a:solidFill>
                <a:latin typeface="Barlow"/>
              </a:rPr>
              <a:t>Desarrollar un modelo de Procesamiento de Lenguaje Natural en la validación de correspondencia de productos del ecosistema Philips, orientado a mejorar la calidad del matching y reducir el tiempo de validación en el área de operaciones de la empresa Agilsoft SRL.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HIPÓTESIS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TextBox 6"/>
          <p:cNvSpPr txBox="1"/>
          <p:nvPr/>
        </p:nvSpPr>
        <p:spPr>
          <a:xfrm>
            <a:off x="914400" y="1733550"/>
            <a:ext cx="8572500" cy="323850"/>
          </a:xfrm>
          <a:prstGeom prst="rect">
            <a:avLst/>
          </a:prstGeom>
          <a:noFill/>
        </p:spPr>
        <p:txBody>
          <a:bodyPr wrap="square" lIns="0" rIns="0" tIns="0" bIns="0" anchor="t">
            <a:spAutoFit/>
          </a:bodyPr>
          <a:lstStyle/>
          <a:p>
            <a:pPr algn="l">
              <a:lnSpc>
                <a:spcPct val="100000"/>
              </a:lnSpc>
            </a:pPr>
            <a:r>
              <a:rPr sz="1650" b="1" i="0" spc="250">
                <a:solidFill>
                  <a:srgbClr val="FFD21F"/>
                </a:solidFill>
                <a:latin typeface="Montserrat"/>
              </a:rPr>
              <a:t>HIPÓTESIS DE INVESTIGACIÓN</a:t>
            </a:r>
          </a:p>
        </p:txBody>
      </p:sp>
      <p:sp>
        <p:nvSpPr>
          <p:cNvPr id="8" name="Rectangle 7"/>
          <p:cNvSpPr/>
          <p:nvPr/>
        </p:nvSpPr>
        <p:spPr>
          <a:xfrm>
            <a:off x="914400" y="2209800"/>
            <a:ext cx="76200" cy="14287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8250" y="2171700"/>
            <a:ext cx="16097250" cy="1524000"/>
          </a:xfrm>
          <a:prstGeom prst="rect">
            <a:avLst/>
          </a:prstGeom>
          <a:noFill/>
        </p:spPr>
        <p:txBody>
          <a:bodyPr wrap="square" lIns="0" rIns="0" tIns="0" bIns="0" anchor="t">
            <a:spAutoFit/>
          </a:bodyPr>
          <a:lstStyle/>
          <a:p>
            <a:pPr algn="l">
              <a:lnSpc>
                <a:spcPct val="108300"/>
              </a:lnSpc>
            </a:pPr>
            <a:r>
              <a:rPr sz="2850" b="1" i="0">
                <a:solidFill>
                  <a:srgbClr val="F3F7FC"/>
                </a:solidFill>
                <a:latin typeface="Montserrat"/>
              </a:rPr>
              <a:t>El desarrollo del modelo de Procesamiento de Lenguaje Natural aplicado al ecosistema Philips mejora la consistencia de la calidad del matching y reduce el tiempo de validación en Agilsoft SRL.</a:t>
            </a:r>
          </a:p>
        </p:txBody>
      </p:sp>
      <p:sp>
        <p:nvSpPr>
          <p:cNvPr id="10" name="Rectangle 9"/>
          <p:cNvSpPr/>
          <p:nvPr/>
        </p:nvSpPr>
        <p:spPr>
          <a:xfrm>
            <a:off x="914400" y="4191000"/>
            <a:ext cx="5334000" cy="428625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4095750"/>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409575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5962650" y="4095750"/>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6315075" y="409575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819150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819150" y="8543925"/>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6315075" y="819150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squinero"/>
          <p:cNvSpPr/>
          <p:nvPr/>
        </p:nvSpPr>
        <p:spPr>
          <a:xfrm>
            <a:off x="5962650" y="8543925"/>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14400" y="4762500"/>
            <a:ext cx="76200" cy="31432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90650" y="5429250"/>
            <a:ext cx="4572000" cy="323850"/>
          </a:xfrm>
          <a:prstGeom prst="rect">
            <a:avLst/>
          </a:prstGeom>
          <a:noFill/>
        </p:spPr>
        <p:txBody>
          <a:bodyPr wrap="square" lIns="0" rIns="0" tIns="0" bIns="0" anchor="t">
            <a:spAutoFit/>
          </a:bodyPr>
          <a:lstStyle/>
          <a:p>
            <a:pPr algn="l">
              <a:lnSpc>
                <a:spcPct val="100000"/>
              </a:lnSpc>
            </a:pPr>
            <a:r>
              <a:rPr sz="1650" b="1" i="0" spc="200">
                <a:solidFill>
                  <a:srgbClr val="FFD21F"/>
                </a:solidFill>
                <a:latin typeface="Montserrat"/>
              </a:rPr>
              <a:t>VARIABLE INDEPENDIENTE</a:t>
            </a:r>
          </a:p>
        </p:txBody>
      </p:sp>
      <p:sp>
        <p:nvSpPr>
          <p:cNvPr id="21" name="TextBox 20"/>
          <p:cNvSpPr txBox="1"/>
          <p:nvPr/>
        </p:nvSpPr>
        <p:spPr>
          <a:xfrm>
            <a:off x="1390650" y="5829300"/>
            <a:ext cx="4572000" cy="666750"/>
          </a:xfrm>
          <a:prstGeom prst="rect">
            <a:avLst/>
          </a:prstGeom>
          <a:noFill/>
        </p:spPr>
        <p:txBody>
          <a:bodyPr wrap="square" lIns="0" rIns="0" tIns="0" bIns="0" anchor="t">
            <a:spAutoFit/>
          </a:bodyPr>
          <a:lstStyle/>
          <a:p>
            <a:pPr algn="l">
              <a:lnSpc>
                <a:spcPct val="100000"/>
              </a:lnSpc>
            </a:pPr>
            <a:r>
              <a:rPr sz="3900" b="1" i="0">
                <a:solidFill>
                  <a:srgbClr val="F3F7FC"/>
                </a:solidFill>
                <a:latin typeface="Montserrat"/>
              </a:rPr>
              <a:t>Modelo de PLN</a:t>
            </a:r>
          </a:p>
        </p:txBody>
      </p:sp>
      <p:sp>
        <p:nvSpPr>
          <p:cNvPr id="22" name="TextBox 21"/>
          <p:cNvSpPr txBox="1"/>
          <p:nvPr/>
        </p:nvSpPr>
        <p:spPr>
          <a:xfrm>
            <a:off x="1390650" y="6686550"/>
            <a:ext cx="4476750" cy="857250"/>
          </a:xfrm>
          <a:prstGeom prst="rect">
            <a:avLst/>
          </a:prstGeom>
          <a:noFill/>
        </p:spPr>
        <p:txBody>
          <a:bodyPr wrap="square" lIns="0" rIns="0" tIns="0" bIns="0" anchor="t">
            <a:spAutoFit/>
          </a:bodyPr>
          <a:lstStyle/>
          <a:p>
            <a:pPr algn="l">
              <a:lnSpc>
                <a:spcPct val="108300"/>
              </a:lnSpc>
            </a:pPr>
            <a:r>
              <a:rPr sz="2100" b="0" i="0">
                <a:solidFill>
                  <a:srgbClr val="9FB4CC"/>
                </a:solidFill>
                <a:latin typeface="Barlow"/>
              </a:rPr>
              <a:t>Aplicado a la correspondencia de productos</a:t>
            </a:r>
          </a:p>
        </p:txBody>
      </p:sp>
      <p:cxnSp>
        <p:nvCxnSpPr>
          <p:cNvPr id="23" name="Connector 22"/>
          <p:cNvCxnSpPr/>
          <p:nvPr/>
        </p:nvCxnSpPr>
        <p:spPr>
          <a:xfrm>
            <a:off x="6362700" y="6334125"/>
            <a:ext cx="1409700" cy="0"/>
          </a:xfrm>
          <a:prstGeom prst="line">
            <a:avLst/>
          </a:prstGeom>
          <a:ln w="38100">
            <a:solidFill>
              <a:srgbClr val="FFD21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525000" y="4191000"/>
            <a:ext cx="7848600" cy="200025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525000" y="4191000"/>
            <a:ext cx="76200" cy="20002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963150" y="4514850"/>
            <a:ext cx="6667500" cy="304800"/>
          </a:xfrm>
          <a:prstGeom prst="rect">
            <a:avLst/>
          </a:prstGeom>
          <a:noFill/>
        </p:spPr>
        <p:txBody>
          <a:bodyPr wrap="square" lIns="0" rIns="0" tIns="0" bIns="0" anchor="t">
            <a:spAutoFit/>
          </a:bodyPr>
          <a:lstStyle/>
          <a:p>
            <a:pPr algn="l">
              <a:lnSpc>
                <a:spcPct val="100000"/>
              </a:lnSpc>
            </a:pPr>
            <a:r>
              <a:rPr sz="1650" b="1" i="0" spc="200">
                <a:solidFill>
                  <a:srgbClr val="4F9BFF"/>
                </a:solidFill>
                <a:latin typeface="Montserrat"/>
              </a:rPr>
              <a:t>VD₁ · CALIDAD</a:t>
            </a:r>
          </a:p>
        </p:txBody>
      </p:sp>
      <p:sp>
        <p:nvSpPr>
          <p:cNvPr id="27" name="TextBox 26"/>
          <p:cNvSpPr txBox="1"/>
          <p:nvPr/>
        </p:nvSpPr>
        <p:spPr>
          <a:xfrm>
            <a:off x="9963150" y="4895850"/>
            <a:ext cx="7048500" cy="609600"/>
          </a:xfrm>
          <a:prstGeom prst="rect">
            <a:avLst/>
          </a:prstGeom>
          <a:noFill/>
        </p:spPr>
        <p:txBody>
          <a:bodyPr wrap="square" lIns="0" rIns="0" tIns="0" bIns="0" anchor="t">
            <a:spAutoFit/>
          </a:bodyPr>
          <a:lstStyle/>
          <a:p>
            <a:pPr algn="l">
              <a:lnSpc>
                <a:spcPct val="100000"/>
              </a:lnSpc>
            </a:pPr>
            <a:r>
              <a:rPr sz="3300" b="1" i="0">
                <a:solidFill>
                  <a:srgbClr val="F3F7FC"/>
                </a:solidFill>
                <a:latin typeface="Montserrat"/>
              </a:rPr>
              <a:t>Consistencia del matching</a:t>
            </a:r>
          </a:p>
        </p:txBody>
      </p:sp>
      <p:sp>
        <p:nvSpPr>
          <p:cNvPr id="28" name="TextBox 27"/>
          <p:cNvSpPr txBox="1"/>
          <p:nvPr/>
        </p:nvSpPr>
        <p:spPr>
          <a:xfrm>
            <a:off x="9963150" y="5562600"/>
            <a:ext cx="7048500" cy="381000"/>
          </a:xfrm>
          <a:prstGeom prst="rect">
            <a:avLst/>
          </a:prstGeom>
          <a:noFill/>
        </p:spPr>
        <p:txBody>
          <a:bodyPr wrap="square" lIns="0" rIns="0" tIns="0" bIns="0" anchor="t">
            <a:spAutoFit/>
          </a:bodyPr>
          <a:lstStyle/>
          <a:p>
            <a:pPr algn="l">
              <a:lnSpc>
                <a:spcPct val="100000"/>
              </a:lnSpc>
            </a:pPr>
            <a:r>
              <a:rPr sz="1950" b="0" i="0">
                <a:solidFill>
                  <a:srgbClr val="9FB4CC"/>
                </a:solidFill>
                <a:latin typeface="Barlow"/>
              </a:rPr>
              <a:t>Exactitud, precisión, recall y F1-score</a:t>
            </a:r>
          </a:p>
        </p:txBody>
      </p:sp>
      <p:cxnSp>
        <p:nvCxnSpPr>
          <p:cNvPr id="29" name="Connector 28"/>
          <p:cNvCxnSpPr/>
          <p:nvPr/>
        </p:nvCxnSpPr>
        <p:spPr>
          <a:xfrm flipV="1">
            <a:off x="7772400" y="5191125"/>
            <a:ext cx="1524000" cy="1143000"/>
          </a:xfrm>
          <a:prstGeom prst="line">
            <a:avLst/>
          </a:prstGeom>
          <a:ln w="38100">
            <a:solidFill>
              <a:srgbClr val="FFD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0" y="4581525"/>
            <a:ext cx="2095500" cy="381000"/>
          </a:xfrm>
          <a:prstGeom prst="rect">
            <a:avLst/>
          </a:prstGeom>
          <a:noFill/>
        </p:spPr>
        <p:txBody>
          <a:bodyPr wrap="square" lIns="0" rIns="0" tIns="0" bIns="0" anchor="t">
            <a:spAutoFit/>
          </a:bodyPr>
          <a:lstStyle/>
          <a:p>
            <a:pPr algn="ctr">
              <a:lnSpc>
                <a:spcPct val="100000"/>
              </a:lnSpc>
            </a:pPr>
            <a:r>
              <a:rPr sz="1650" b="1" i="0" spc="200">
                <a:solidFill>
                  <a:srgbClr val="FFD21F"/>
                </a:solidFill>
                <a:latin typeface="Montserrat"/>
              </a:rPr>
              <a:t>MEJORA</a:t>
            </a:r>
          </a:p>
        </p:txBody>
      </p:sp>
      <p:sp>
        <p:nvSpPr>
          <p:cNvPr id="31" name="Rectangle 30"/>
          <p:cNvSpPr/>
          <p:nvPr/>
        </p:nvSpPr>
        <p:spPr>
          <a:xfrm>
            <a:off x="9525000" y="6477000"/>
            <a:ext cx="7848600" cy="200025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525000" y="6477000"/>
            <a:ext cx="76200" cy="20002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963150" y="6800850"/>
            <a:ext cx="6667500" cy="304800"/>
          </a:xfrm>
          <a:prstGeom prst="rect">
            <a:avLst/>
          </a:prstGeom>
          <a:noFill/>
        </p:spPr>
        <p:txBody>
          <a:bodyPr wrap="square" lIns="0" rIns="0" tIns="0" bIns="0" anchor="t">
            <a:spAutoFit/>
          </a:bodyPr>
          <a:lstStyle/>
          <a:p>
            <a:pPr algn="l">
              <a:lnSpc>
                <a:spcPct val="100000"/>
              </a:lnSpc>
            </a:pPr>
            <a:r>
              <a:rPr sz="1650" b="1" i="0" spc="200">
                <a:solidFill>
                  <a:srgbClr val="4F9BFF"/>
                </a:solidFill>
                <a:latin typeface="Montserrat"/>
              </a:rPr>
              <a:t>VD₂ · EFICIENCIA</a:t>
            </a:r>
          </a:p>
        </p:txBody>
      </p:sp>
      <p:sp>
        <p:nvSpPr>
          <p:cNvPr id="34" name="TextBox 33"/>
          <p:cNvSpPr txBox="1"/>
          <p:nvPr/>
        </p:nvSpPr>
        <p:spPr>
          <a:xfrm>
            <a:off x="9963150" y="7181850"/>
            <a:ext cx="7048500" cy="609600"/>
          </a:xfrm>
          <a:prstGeom prst="rect">
            <a:avLst/>
          </a:prstGeom>
          <a:noFill/>
        </p:spPr>
        <p:txBody>
          <a:bodyPr wrap="square" lIns="0" rIns="0" tIns="0" bIns="0" anchor="t">
            <a:spAutoFit/>
          </a:bodyPr>
          <a:lstStyle/>
          <a:p>
            <a:pPr algn="l">
              <a:lnSpc>
                <a:spcPct val="100000"/>
              </a:lnSpc>
            </a:pPr>
            <a:r>
              <a:rPr sz="3300" b="1" i="0">
                <a:solidFill>
                  <a:srgbClr val="F3F7FC"/>
                </a:solidFill>
                <a:latin typeface="Montserrat"/>
              </a:rPr>
              <a:t>Tiempo de validación</a:t>
            </a:r>
          </a:p>
        </p:txBody>
      </p:sp>
      <p:sp>
        <p:nvSpPr>
          <p:cNvPr id="35" name="TextBox 34"/>
          <p:cNvSpPr txBox="1"/>
          <p:nvPr/>
        </p:nvSpPr>
        <p:spPr>
          <a:xfrm>
            <a:off x="9963150" y="7848600"/>
            <a:ext cx="7048500" cy="381000"/>
          </a:xfrm>
          <a:prstGeom prst="rect">
            <a:avLst/>
          </a:prstGeom>
          <a:noFill/>
        </p:spPr>
        <p:txBody>
          <a:bodyPr wrap="square" lIns="0" rIns="0" tIns="0" bIns="0" anchor="t">
            <a:spAutoFit/>
          </a:bodyPr>
          <a:lstStyle/>
          <a:p>
            <a:pPr algn="l">
              <a:lnSpc>
                <a:spcPct val="100000"/>
              </a:lnSpc>
            </a:pPr>
            <a:r>
              <a:rPr sz="1950" b="0" i="0">
                <a:solidFill>
                  <a:srgbClr val="9FB4CC"/>
                </a:solidFill>
                <a:latin typeface="Barlow"/>
              </a:rPr>
              <a:t>Segundos por caso y reducción porcentual</a:t>
            </a:r>
          </a:p>
        </p:txBody>
      </p:sp>
      <p:cxnSp>
        <p:nvCxnSpPr>
          <p:cNvPr id="36" name="Connector 35"/>
          <p:cNvCxnSpPr/>
          <p:nvPr/>
        </p:nvCxnSpPr>
        <p:spPr>
          <a:xfrm>
            <a:off x="7772400" y="6334125"/>
            <a:ext cx="1524000" cy="1143000"/>
          </a:xfrm>
          <a:prstGeom prst="line">
            <a:avLst/>
          </a:prstGeom>
          <a:ln w="38100">
            <a:solidFill>
              <a:srgbClr val="FFD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0" y="7610475"/>
            <a:ext cx="2095500" cy="381000"/>
          </a:xfrm>
          <a:prstGeom prst="rect">
            <a:avLst/>
          </a:prstGeom>
          <a:noFill/>
        </p:spPr>
        <p:txBody>
          <a:bodyPr wrap="square" lIns="0" rIns="0" tIns="0" bIns="0" anchor="t">
            <a:spAutoFit/>
          </a:bodyPr>
          <a:lstStyle/>
          <a:p>
            <a:pPr algn="ctr">
              <a:lnSpc>
                <a:spcPct val="100000"/>
              </a:lnSpc>
            </a:pPr>
            <a:r>
              <a:rPr sz="1650" b="1" i="0" spc="200">
                <a:solidFill>
                  <a:srgbClr val="FFD21F"/>
                </a:solidFill>
                <a:latin typeface="Montserrat"/>
              </a:rPr>
              <a:t>REDUCE</a:t>
            </a:r>
          </a:p>
        </p:txBody>
      </p:sp>
      <p:sp>
        <p:nvSpPr>
          <p:cNvPr id="38" name="Rectangle 37"/>
          <p:cNvSpPr/>
          <p:nvPr/>
        </p:nvSpPr>
        <p:spPr>
          <a:xfrm>
            <a:off x="914400" y="8858250"/>
            <a:ext cx="16459200" cy="72390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57300" y="8858250"/>
            <a:ext cx="2095500" cy="723900"/>
          </a:xfrm>
          <a:prstGeom prst="rect">
            <a:avLst/>
          </a:prstGeom>
          <a:noFill/>
        </p:spPr>
        <p:txBody>
          <a:bodyPr wrap="square" lIns="0" rIns="0" tIns="0" bIns="0" anchor="ctr">
            <a:spAutoFit/>
          </a:bodyPr>
          <a:lstStyle/>
          <a:p>
            <a:pPr algn="l">
              <a:lnSpc>
                <a:spcPct val="100000"/>
              </a:lnSpc>
            </a:pPr>
            <a:r>
              <a:rPr sz="1650" b="1" i="0" spc="200">
                <a:solidFill>
                  <a:srgbClr val="FFD21F"/>
                </a:solidFill>
                <a:latin typeface="Montserrat"/>
              </a:rPr>
              <a:t>CONTRASTE</a:t>
            </a:r>
          </a:p>
        </p:txBody>
      </p:sp>
      <p:sp>
        <p:nvSpPr>
          <p:cNvPr id="40" name="TextBox 39"/>
          <p:cNvSpPr txBox="1"/>
          <p:nvPr/>
        </p:nvSpPr>
        <p:spPr>
          <a:xfrm>
            <a:off x="3390900" y="8858250"/>
            <a:ext cx="13716000" cy="723900"/>
          </a:xfrm>
          <a:prstGeom prst="rect">
            <a:avLst/>
          </a:prstGeom>
          <a:noFill/>
        </p:spPr>
        <p:txBody>
          <a:bodyPr wrap="square" lIns="0" rIns="0" tIns="0" bIns="0" anchor="ctr">
            <a:spAutoFit/>
          </a:bodyPr>
          <a:lstStyle/>
          <a:p>
            <a:pPr algn="l">
              <a:lnSpc>
                <a:spcPct val="100000"/>
              </a:lnSpc>
            </a:pPr>
            <a:r>
              <a:rPr sz="2100" b="0" i="0">
                <a:solidFill>
                  <a:srgbClr val="F3F7FC"/>
                </a:solidFill>
                <a:latin typeface="Barlow"/>
              </a:rPr>
              <a:t>Rendimiento predictivo, registros del uso del modelo y eficiencia temporal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1.5.2 IDENTIFICACIÓN DE LAS VARIABLES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2381250"/>
            <a:ext cx="7943850" cy="647700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2286000"/>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22860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8496300" y="2286000"/>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924925" y="22860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84963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8924925"/>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924925" y="84963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496300" y="8924925"/>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14400" y="2952750"/>
            <a:ext cx="95250" cy="5334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485900" y="3048000"/>
            <a:ext cx="5524500" cy="552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85900" y="3048000"/>
            <a:ext cx="5524500" cy="552450"/>
          </a:xfrm>
          <a:prstGeom prst="rect">
            <a:avLst/>
          </a:prstGeom>
          <a:noFill/>
        </p:spPr>
        <p:txBody>
          <a:bodyPr wrap="square" lIns="0" rIns="0" tIns="0" bIns="0" anchor="ctr">
            <a:spAutoFit/>
          </a:bodyPr>
          <a:lstStyle/>
          <a:p>
            <a:pPr algn="ctr">
              <a:lnSpc>
                <a:spcPct val="100000"/>
              </a:lnSpc>
            </a:pPr>
            <a:r>
              <a:rPr sz="1800" b="1" i="0" spc="150">
                <a:solidFill>
                  <a:srgbClr val="07172D"/>
                </a:solidFill>
                <a:latin typeface="Montserrat"/>
              </a:rPr>
              <a:t>VARIABLE INDEPENDIENTE (VI)</a:t>
            </a:r>
          </a:p>
        </p:txBody>
      </p:sp>
      <p:sp>
        <p:nvSpPr>
          <p:cNvPr id="19" name="Rectangle 18"/>
          <p:cNvSpPr/>
          <p:nvPr/>
        </p:nvSpPr>
        <p:spPr>
          <a:xfrm>
            <a:off x="9429750" y="2381250"/>
            <a:ext cx="7943850" cy="6477000"/>
          </a:xfrm>
          <a:prstGeom prst="rect">
            <a:avLst/>
          </a:prstGeom>
          <a:solidFill>
            <a:srgbClr val="0D2748"/>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9334500" y="2286000"/>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9334500" y="22860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7011650" y="2286000"/>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quinero"/>
          <p:cNvSpPr/>
          <p:nvPr/>
        </p:nvSpPr>
        <p:spPr>
          <a:xfrm>
            <a:off x="17440275" y="22860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squinero"/>
          <p:cNvSpPr/>
          <p:nvPr/>
        </p:nvSpPr>
        <p:spPr>
          <a:xfrm>
            <a:off x="9334500" y="84963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quinero"/>
          <p:cNvSpPr/>
          <p:nvPr/>
        </p:nvSpPr>
        <p:spPr>
          <a:xfrm>
            <a:off x="9334500" y="8924925"/>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squinero"/>
          <p:cNvSpPr/>
          <p:nvPr/>
        </p:nvSpPr>
        <p:spPr>
          <a:xfrm>
            <a:off x="17440275" y="8496300"/>
            <a:ext cx="28575" cy="457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quinero"/>
          <p:cNvSpPr/>
          <p:nvPr/>
        </p:nvSpPr>
        <p:spPr>
          <a:xfrm>
            <a:off x="17011650" y="8924925"/>
            <a:ext cx="4572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29750" y="2952750"/>
            <a:ext cx="95250" cy="533400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0001250" y="3048000"/>
            <a:ext cx="5524500" cy="55245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01250" y="3048000"/>
            <a:ext cx="5524500" cy="552450"/>
          </a:xfrm>
          <a:prstGeom prst="rect">
            <a:avLst/>
          </a:prstGeom>
          <a:noFill/>
        </p:spPr>
        <p:txBody>
          <a:bodyPr wrap="square" lIns="0" rIns="0" tIns="0" bIns="0" anchor="ctr">
            <a:spAutoFit/>
          </a:bodyPr>
          <a:lstStyle/>
          <a:p>
            <a:pPr algn="ctr">
              <a:lnSpc>
                <a:spcPct val="100000"/>
              </a:lnSpc>
            </a:pPr>
            <a:r>
              <a:rPr sz="1800" b="1" i="0" spc="150">
                <a:solidFill>
                  <a:srgbClr val="F3F7FC"/>
                </a:solidFill>
                <a:latin typeface="Montserrat"/>
              </a:rPr>
              <a:t>VARIABLES DEPENDIENTES (VD)</a:t>
            </a:r>
          </a:p>
        </p:txBody>
      </p:sp>
      <p:sp>
        <p:nvSpPr>
          <p:cNvPr id="31" name="TextBox 30"/>
          <p:cNvSpPr txBox="1"/>
          <p:nvPr/>
        </p:nvSpPr>
        <p:spPr>
          <a:xfrm>
            <a:off x="1485900" y="4286250"/>
            <a:ext cx="6800850" cy="3619500"/>
          </a:xfrm>
          <a:prstGeom prst="rect">
            <a:avLst/>
          </a:prstGeom>
          <a:noFill/>
        </p:spPr>
        <p:txBody>
          <a:bodyPr wrap="square" lIns="0" rIns="0" tIns="0" bIns="0" anchor="t">
            <a:spAutoFit/>
          </a:bodyPr>
          <a:lstStyle/>
          <a:p>
            <a:pPr algn="l">
              <a:lnSpc>
                <a:spcPct val="108300"/>
              </a:lnSpc>
            </a:pPr>
            <a:r>
              <a:rPr sz="3150" b="1" i="0">
                <a:solidFill>
                  <a:srgbClr val="F3F7FC"/>
                </a:solidFill>
                <a:latin typeface="Montserrat"/>
              </a:rPr>
              <a:t>Modelo de Procesamiento de Lenguaje Natural aplicado a la correspondencia de productos.</a:t>
            </a:r>
          </a:p>
        </p:txBody>
      </p:sp>
      <p:sp>
        <p:nvSpPr>
          <p:cNvPr id="32" name="TextBox 31"/>
          <p:cNvSpPr txBox="1"/>
          <p:nvPr/>
        </p:nvSpPr>
        <p:spPr>
          <a:xfrm>
            <a:off x="10001250" y="4286250"/>
            <a:ext cx="1238250" cy="571500"/>
          </a:xfrm>
          <a:prstGeom prst="rect">
            <a:avLst/>
          </a:prstGeom>
          <a:noFill/>
        </p:spPr>
        <p:txBody>
          <a:bodyPr wrap="square" lIns="0" rIns="0" tIns="0" bIns="0" anchor="t">
            <a:spAutoFit/>
          </a:bodyPr>
          <a:lstStyle/>
          <a:p>
            <a:pPr algn="l">
              <a:lnSpc>
                <a:spcPct val="100000"/>
              </a:lnSpc>
            </a:pPr>
            <a:r>
              <a:rPr sz="3150" b="1" i="0">
                <a:solidFill>
                  <a:srgbClr val="FFD21F"/>
                </a:solidFill>
                <a:latin typeface="Montserrat"/>
              </a:rPr>
              <a:t>VD₁</a:t>
            </a:r>
          </a:p>
        </p:txBody>
      </p:sp>
      <p:sp>
        <p:nvSpPr>
          <p:cNvPr id="33" name="TextBox 32"/>
          <p:cNvSpPr txBox="1"/>
          <p:nvPr/>
        </p:nvSpPr>
        <p:spPr>
          <a:xfrm>
            <a:off x="11334750" y="4286250"/>
            <a:ext cx="5467350" cy="1619250"/>
          </a:xfrm>
          <a:prstGeom prst="rect">
            <a:avLst/>
          </a:prstGeom>
          <a:noFill/>
        </p:spPr>
        <p:txBody>
          <a:bodyPr wrap="square" lIns="0" rIns="0" tIns="0" bIns="0" anchor="t">
            <a:spAutoFit/>
          </a:bodyPr>
          <a:lstStyle/>
          <a:p>
            <a:pPr algn="l">
              <a:lnSpc>
                <a:spcPct val="108300"/>
              </a:lnSpc>
            </a:pPr>
            <a:r>
              <a:rPr sz="3150" b="1" i="0">
                <a:solidFill>
                  <a:srgbClr val="F3F7FC"/>
                </a:solidFill>
                <a:latin typeface="Montserrat"/>
              </a:rPr>
              <a:t>Consistencia de la calidad del matching.</a:t>
            </a:r>
          </a:p>
        </p:txBody>
      </p:sp>
      <p:sp>
        <p:nvSpPr>
          <p:cNvPr id="34" name="TextBox 33"/>
          <p:cNvSpPr txBox="1"/>
          <p:nvPr/>
        </p:nvSpPr>
        <p:spPr>
          <a:xfrm>
            <a:off x="10001250" y="6096000"/>
            <a:ext cx="1238250" cy="571500"/>
          </a:xfrm>
          <a:prstGeom prst="rect">
            <a:avLst/>
          </a:prstGeom>
          <a:noFill/>
        </p:spPr>
        <p:txBody>
          <a:bodyPr wrap="square" lIns="0" rIns="0" tIns="0" bIns="0" anchor="t">
            <a:spAutoFit/>
          </a:bodyPr>
          <a:lstStyle/>
          <a:p>
            <a:pPr algn="l">
              <a:lnSpc>
                <a:spcPct val="100000"/>
              </a:lnSpc>
            </a:pPr>
            <a:r>
              <a:rPr sz="3150" b="1" i="0">
                <a:solidFill>
                  <a:srgbClr val="FFD21F"/>
                </a:solidFill>
                <a:latin typeface="Montserrat"/>
              </a:rPr>
              <a:t>VD₂</a:t>
            </a:r>
          </a:p>
        </p:txBody>
      </p:sp>
      <p:sp>
        <p:nvSpPr>
          <p:cNvPr id="35" name="TextBox 34"/>
          <p:cNvSpPr txBox="1"/>
          <p:nvPr/>
        </p:nvSpPr>
        <p:spPr>
          <a:xfrm>
            <a:off x="11334750" y="6096000"/>
            <a:ext cx="5467350" cy="1619250"/>
          </a:xfrm>
          <a:prstGeom prst="rect">
            <a:avLst/>
          </a:prstGeom>
          <a:noFill/>
        </p:spPr>
        <p:txBody>
          <a:bodyPr wrap="square" lIns="0" rIns="0" tIns="0" bIns="0" anchor="t">
            <a:spAutoFit/>
          </a:bodyPr>
          <a:lstStyle/>
          <a:p>
            <a:pPr algn="l">
              <a:lnSpc>
                <a:spcPct val="108300"/>
              </a:lnSpc>
            </a:pPr>
            <a:r>
              <a:rPr sz="3150" b="1" i="0">
                <a:solidFill>
                  <a:srgbClr val="F3F7FC"/>
                </a:solidFill>
                <a:latin typeface="Montserrat"/>
              </a:rPr>
              <a:t>Tiempo de validación.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MATRIZ DE OPERACIONALIZACIÓN DE VARIABLES</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638300"/>
            <a:ext cx="16459200" cy="49530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1638300"/>
            <a:ext cx="3962400" cy="495300"/>
          </a:xfrm>
          <a:prstGeom prst="rect">
            <a:avLst/>
          </a:prstGeom>
          <a:noFill/>
        </p:spPr>
        <p:txBody>
          <a:bodyPr wrap="square" lIns="0" rIns="0" tIns="0" bIns="0" anchor="ctr">
            <a:spAutoFit/>
          </a:bodyPr>
          <a:lstStyle/>
          <a:p>
            <a:pPr algn="l">
              <a:lnSpc>
                <a:spcPct val="100000"/>
              </a:lnSpc>
            </a:pPr>
            <a:r>
              <a:rPr sz="1500" b="1" i="0" spc="200">
                <a:solidFill>
                  <a:srgbClr val="F3F7FC"/>
                </a:solidFill>
                <a:latin typeface="Montserrat"/>
              </a:rPr>
              <a:t>VARIABLE</a:t>
            </a:r>
          </a:p>
        </p:txBody>
      </p:sp>
      <p:sp>
        <p:nvSpPr>
          <p:cNvPr id="9" name="TextBox 8"/>
          <p:cNvSpPr txBox="1"/>
          <p:nvPr/>
        </p:nvSpPr>
        <p:spPr>
          <a:xfrm>
            <a:off x="5391150" y="1638300"/>
            <a:ext cx="2400300" cy="495300"/>
          </a:xfrm>
          <a:prstGeom prst="rect">
            <a:avLst/>
          </a:prstGeom>
          <a:noFill/>
        </p:spPr>
        <p:txBody>
          <a:bodyPr wrap="square" lIns="0" rIns="0" tIns="0" bIns="0" anchor="ctr">
            <a:spAutoFit/>
          </a:bodyPr>
          <a:lstStyle/>
          <a:p>
            <a:pPr algn="l">
              <a:lnSpc>
                <a:spcPct val="100000"/>
              </a:lnSpc>
            </a:pPr>
            <a:r>
              <a:rPr sz="1500" b="1" i="0" spc="200">
                <a:solidFill>
                  <a:srgbClr val="F3F7FC"/>
                </a:solidFill>
                <a:latin typeface="Montserrat"/>
              </a:rPr>
              <a:t>DIMENSIÓN</a:t>
            </a:r>
          </a:p>
        </p:txBody>
      </p:sp>
      <p:sp>
        <p:nvSpPr>
          <p:cNvPr id="10" name="TextBox 9"/>
          <p:cNvSpPr txBox="1"/>
          <p:nvPr/>
        </p:nvSpPr>
        <p:spPr>
          <a:xfrm>
            <a:off x="8077200" y="1638300"/>
            <a:ext cx="4667250" cy="495300"/>
          </a:xfrm>
          <a:prstGeom prst="rect">
            <a:avLst/>
          </a:prstGeom>
          <a:noFill/>
        </p:spPr>
        <p:txBody>
          <a:bodyPr wrap="square" lIns="0" rIns="0" tIns="0" bIns="0" anchor="ctr">
            <a:spAutoFit/>
          </a:bodyPr>
          <a:lstStyle/>
          <a:p>
            <a:pPr algn="l">
              <a:lnSpc>
                <a:spcPct val="100000"/>
              </a:lnSpc>
            </a:pPr>
            <a:r>
              <a:rPr sz="1500" b="1" i="0" spc="200">
                <a:solidFill>
                  <a:srgbClr val="F3F7FC"/>
                </a:solidFill>
                <a:latin typeface="Montserrat"/>
              </a:rPr>
              <a:t>INDICADOR</a:t>
            </a:r>
          </a:p>
        </p:txBody>
      </p:sp>
      <p:sp>
        <p:nvSpPr>
          <p:cNvPr id="11" name="TextBox 10"/>
          <p:cNvSpPr txBox="1"/>
          <p:nvPr/>
        </p:nvSpPr>
        <p:spPr>
          <a:xfrm>
            <a:off x="13030200" y="1638300"/>
            <a:ext cx="4286250" cy="495300"/>
          </a:xfrm>
          <a:prstGeom prst="rect">
            <a:avLst/>
          </a:prstGeom>
          <a:noFill/>
        </p:spPr>
        <p:txBody>
          <a:bodyPr wrap="square" lIns="0" rIns="0" tIns="0" bIns="0" anchor="ctr">
            <a:spAutoFit/>
          </a:bodyPr>
          <a:lstStyle/>
          <a:p>
            <a:pPr algn="l">
              <a:lnSpc>
                <a:spcPct val="100000"/>
              </a:lnSpc>
            </a:pPr>
            <a:r>
              <a:rPr sz="1500" b="1" i="0" spc="200">
                <a:solidFill>
                  <a:srgbClr val="F3F7FC"/>
                </a:solidFill>
                <a:latin typeface="Montserrat"/>
              </a:rPr>
              <a:t>SUBINDICADOR</a:t>
            </a:r>
          </a:p>
        </p:txBody>
      </p:sp>
      <p:sp>
        <p:nvSpPr>
          <p:cNvPr id="12" name="Rectangle 11"/>
          <p:cNvSpPr/>
          <p:nvPr/>
        </p:nvSpPr>
        <p:spPr>
          <a:xfrm>
            <a:off x="914400" y="2133600"/>
            <a:ext cx="16459200" cy="1676400"/>
          </a:xfrm>
          <a:prstGeom prst="rect">
            <a:avLst/>
          </a:prstGeom>
          <a:solidFill>
            <a:srgbClr val="0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14400" y="2133600"/>
            <a:ext cx="76200" cy="1676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181100" y="2359724"/>
            <a:ext cx="3029664"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2359724"/>
            <a:ext cx="3029664"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VARIABLE INDEPENDIENTE</a:t>
            </a:r>
          </a:p>
        </p:txBody>
      </p:sp>
      <p:sp>
        <p:nvSpPr>
          <p:cNvPr id="16" name="TextBox 15"/>
          <p:cNvSpPr txBox="1"/>
          <p:nvPr/>
        </p:nvSpPr>
        <p:spPr>
          <a:xfrm>
            <a:off x="1181100" y="2816924"/>
            <a:ext cx="3771900" cy="824103"/>
          </a:xfrm>
          <a:prstGeom prst="rect">
            <a:avLst/>
          </a:prstGeom>
          <a:noFill/>
        </p:spPr>
        <p:txBody>
          <a:bodyPr wrap="square" lIns="0" rIns="0" tIns="0" bIns="0" anchor="t">
            <a:spAutoFit/>
          </a:bodyPr>
          <a:lstStyle/>
          <a:p>
            <a:pPr algn="l">
              <a:lnSpc>
                <a:spcPct val="101700"/>
              </a:lnSpc>
            </a:pPr>
            <a:r>
              <a:rPr sz="1650" b="1" i="0">
                <a:solidFill>
                  <a:srgbClr val="F3F7FC"/>
                </a:solidFill>
                <a:latin typeface="Montserrat"/>
              </a:rPr>
              <a:t>Modelo de Procesamiento de Lenguaje Natural aplicado a la correspondencia de productos</a:t>
            </a:r>
          </a:p>
        </p:txBody>
      </p:sp>
      <p:sp>
        <p:nvSpPr>
          <p:cNvPr id="17" name="TextBox 16"/>
          <p:cNvSpPr txBox="1"/>
          <p:nvPr/>
        </p:nvSpPr>
        <p:spPr>
          <a:xfrm>
            <a:off x="5391150" y="2266950"/>
            <a:ext cx="2266950" cy="1409700"/>
          </a:xfrm>
          <a:prstGeom prst="rect">
            <a:avLst/>
          </a:prstGeom>
          <a:noFill/>
        </p:spPr>
        <p:txBody>
          <a:bodyPr wrap="square" lIns="0" rIns="0" tIns="0" bIns="0" anchor="ctr">
            <a:spAutoFit/>
          </a:bodyPr>
          <a:lstStyle/>
          <a:p>
            <a:pPr algn="l">
              <a:lnSpc>
                <a:spcPct val="104200"/>
              </a:lnSpc>
            </a:pPr>
            <a:r>
              <a:rPr sz="1725" b="0" i="0">
                <a:solidFill>
                  <a:srgbClr val="F3F7FC"/>
                </a:solidFill>
                <a:latin typeface="Barlow"/>
              </a:rPr>
              <a:t>Arquitectura algorítmica.</a:t>
            </a:r>
          </a:p>
        </p:txBody>
      </p:sp>
      <p:sp>
        <p:nvSpPr>
          <p:cNvPr id="18" name="TextBox 17"/>
          <p:cNvSpPr txBox="1"/>
          <p:nvPr/>
        </p:nvSpPr>
        <p:spPr>
          <a:xfrm>
            <a:off x="8077200" y="2266950"/>
            <a:ext cx="4533900" cy="1409700"/>
          </a:xfrm>
          <a:prstGeom prst="rect">
            <a:avLst/>
          </a:prstGeom>
          <a:noFill/>
        </p:spPr>
        <p:txBody>
          <a:bodyPr wrap="square" lIns="0" rIns="0" tIns="0" bIns="0" anchor="ctr">
            <a:spAutoFit/>
          </a:bodyPr>
          <a:lstStyle/>
          <a:p>
            <a:pPr algn="l">
              <a:lnSpc>
                <a:spcPct val="104200"/>
              </a:lnSpc>
            </a:pPr>
            <a:r>
              <a:rPr sz="1725" b="0" i="0">
                <a:solidFill>
                  <a:srgbClr val="F3F7FC"/>
                </a:solidFill>
                <a:latin typeface="Barlow"/>
              </a:rPr>
              <a:t>Modelo de correspondencia basado en NLP.</a:t>
            </a:r>
          </a:p>
        </p:txBody>
      </p:sp>
      <p:sp>
        <p:nvSpPr>
          <p:cNvPr id="19" name="Oval 18"/>
          <p:cNvSpPr/>
          <p:nvPr/>
        </p:nvSpPr>
        <p:spPr>
          <a:xfrm>
            <a:off x="13044488" y="25955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39750" y="24860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Nivel de similitud calculado</a:t>
            </a:r>
          </a:p>
        </p:txBody>
      </p:sp>
      <p:sp>
        <p:nvSpPr>
          <p:cNvPr id="21" name="Oval 20"/>
          <p:cNvSpPr/>
          <p:nvPr/>
        </p:nvSpPr>
        <p:spPr>
          <a:xfrm>
            <a:off x="13044488" y="291941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39750" y="280987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Capacidad de generalización</a:t>
            </a:r>
          </a:p>
        </p:txBody>
      </p:sp>
      <p:sp>
        <p:nvSpPr>
          <p:cNvPr id="23" name="Oval 22"/>
          <p:cNvSpPr/>
          <p:nvPr/>
        </p:nvSpPr>
        <p:spPr>
          <a:xfrm>
            <a:off x="13044488" y="32432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39750" y="31337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Tolerancia y procesamiento de ruido textual.</a:t>
            </a:r>
          </a:p>
        </p:txBody>
      </p:sp>
      <p:sp>
        <p:nvSpPr>
          <p:cNvPr id="25" name="Rectangle 24"/>
          <p:cNvSpPr/>
          <p:nvPr/>
        </p:nvSpPr>
        <p:spPr>
          <a:xfrm>
            <a:off x="914400" y="3810000"/>
            <a:ext cx="164592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14400" y="3810000"/>
            <a:ext cx="16459200" cy="3352800"/>
          </a:xfrm>
          <a:prstGeom prst="rect">
            <a:avLst/>
          </a:prstGeom>
          <a:solidFill>
            <a:srgbClr val="0C2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14400" y="3810000"/>
            <a:ext cx="76200" cy="33528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181100" y="5002149"/>
            <a:ext cx="2811988" cy="342900"/>
          </a:xfrm>
          <a:prstGeom prst="roundRect">
            <a:avLst>
              <a:gd name="adj" fmla="val 11111"/>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81100" y="5002149"/>
            <a:ext cx="2811988"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VARIABLE DEPENDIENTE</a:t>
            </a:r>
          </a:p>
        </p:txBody>
      </p:sp>
      <p:sp>
        <p:nvSpPr>
          <p:cNvPr id="30" name="TextBox 29"/>
          <p:cNvSpPr txBox="1"/>
          <p:nvPr/>
        </p:nvSpPr>
        <p:spPr>
          <a:xfrm>
            <a:off x="1181100" y="5459349"/>
            <a:ext cx="3771900" cy="568452"/>
          </a:xfrm>
          <a:prstGeom prst="rect">
            <a:avLst/>
          </a:prstGeom>
          <a:noFill/>
        </p:spPr>
        <p:txBody>
          <a:bodyPr wrap="square" lIns="0" rIns="0" tIns="0" bIns="0" anchor="t">
            <a:spAutoFit/>
          </a:bodyPr>
          <a:lstStyle/>
          <a:p>
            <a:pPr algn="l">
              <a:lnSpc>
                <a:spcPct val="101700"/>
              </a:lnSpc>
            </a:pPr>
            <a:r>
              <a:rPr sz="1650" b="1" i="0">
                <a:solidFill>
                  <a:srgbClr val="F3F7FC"/>
                </a:solidFill>
                <a:latin typeface="Montserrat"/>
              </a:rPr>
              <a:t>Consistencia de la calidad del matching.</a:t>
            </a:r>
          </a:p>
        </p:txBody>
      </p:sp>
      <p:sp>
        <p:nvSpPr>
          <p:cNvPr id="31" name="Rectangle 30"/>
          <p:cNvSpPr/>
          <p:nvPr/>
        </p:nvSpPr>
        <p:spPr>
          <a:xfrm>
            <a:off x="5162550" y="5486400"/>
            <a:ext cx="12211050" cy="9525"/>
          </a:xfrm>
          <a:prstGeom prst="rect">
            <a:avLst/>
          </a:prstGeom>
          <a:solidFill>
            <a:srgbClr val="6D8FB2">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391150" y="3943350"/>
            <a:ext cx="2266950" cy="1409700"/>
          </a:xfrm>
          <a:prstGeom prst="rect">
            <a:avLst/>
          </a:prstGeom>
          <a:noFill/>
        </p:spPr>
        <p:txBody>
          <a:bodyPr wrap="square" lIns="0" rIns="0" tIns="0" bIns="0" anchor="ctr">
            <a:spAutoFit/>
          </a:bodyPr>
          <a:lstStyle/>
          <a:p>
            <a:pPr algn="l">
              <a:lnSpc>
                <a:spcPct val="104200"/>
              </a:lnSpc>
            </a:pPr>
            <a:r>
              <a:rPr sz="1725" b="0" i="0">
                <a:solidFill>
                  <a:srgbClr val="F3F7FC"/>
                </a:solidFill>
                <a:latin typeface="Barlow"/>
              </a:rPr>
              <a:t>Rendimiento predictivo algorítmico.</a:t>
            </a:r>
          </a:p>
        </p:txBody>
      </p:sp>
      <p:sp>
        <p:nvSpPr>
          <p:cNvPr id="33" name="TextBox 32"/>
          <p:cNvSpPr txBox="1"/>
          <p:nvPr/>
        </p:nvSpPr>
        <p:spPr>
          <a:xfrm>
            <a:off x="8077200" y="3981450"/>
            <a:ext cx="4533900" cy="3048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Porcentaje de exactitud en la clasificación binaria:</a:t>
            </a:r>
          </a:p>
        </p:txBody>
      </p:sp>
      <p:sp>
        <p:nvSpPr>
          <p:cNvPr id="34" name="TextBox 33"/>
          <p:cNvSpPr txBox="1"/>
          <p:nvPr/>
        </p:nvSpPr>
        <p:spPr>
          <a:xfrm>
            <a:off x="8058150" y="4691062"/>
            <a:ext cx="1192691" cy="333375"/>
          </a:xfrm>
          <a:prstGeom prst="rect">
            <a:avLst/>
          </a:prstGeom>
          <a:noFill/>
        </p:spPr>
        <p:txBody>
          <a:bodyPr wrap="none" lIns="0" rIns="0" tIns="0" bIns="0" anchor="ctr">
            <a:spAutoFit/>
          </a:bodyPr>
          <a:lstStyle/>
          <a:p>
            <a:pPr algn="l">
              <a:lnSpc>
                <a:spcPct val="83300"/>
              </a:lnSpc>
            </a:pPr>
            <a:r>
              <a:rPr sz="2100" b="0" i="1">
                <a:solidFill>
                  <a:srgbClr val="FFD21F"/>
                </a:solidFill>
                <a:latin typeface="Barlow"/>
              </a:rPr>
              <a:t>Accuracy</a:t>
            </a:r>
          </a:p>
        </p:txBody>
      </p:sp>
      <p:sp>
        <p:nvSpPr>
          <p:cNvPr id="35" name="TextBox 34"/>
          <p:cNvSpPr txBox="1"/>
          <p:nvPr/>
        </p:nvSpPr>
        <p:spPr>
          <a:xfrm>
            <a:off x="9284369" y="4691062"/>
            <a:ext cx="198501" cy="333375"/>
          </a:xfrm>
          <a:prstGeom prst="rect">
            <a:avLst/>
          </a:prstGeom>
          <a:noFill/>
        </p:spPr>
        <p:txBody>
          <a:bodyPr wrap="none" lIns="0" rIns="0" tIns="0" bIns="0" anchor="ctr">
            <a:spAutoFit/>
          </a:bodyPr>
          <a:lstStyle/>
          <a:p>
            <a:pPr algn="l">
              <a:lnSpc>
                <a:spcPct val="83300"/>
              </a:lnSpc>
            </a:pPr>
            <a:r>
              <a:rPr sz="2100" b="0" i="0">
                <a:solidFill>
                  <a:srgbClr val="FFD21F"/>
                </a:solidFill>
                <a:latin typeface="Barlow"/>
              </a:rPr>
              <a:t>=</a:t>
            </a:r>
          </a:p>
        </p:txBody>
      </p:sp>
      <p:sp>
        <p:nvSpPr>
          <p:cNvPr id="36" name="Rectangle 35"/>
          <p:cNvSpPr/>
          <p:nvPr/>
        </p:nvSpPr>
        <p:spPr>
          <a:xfrm>
            <a:off x="9527447" y="4843462"/>
            <a:ext cx="838129"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548402" y="4539390"/>
            <a:ext cx="860756" cy="286702"/>
          </a:xfrm>
          <a:prstGeom prst="rect">
            <a:avLst/>
          </a:prstGeom>
          <a:noFill/>
        </p:spPr>
        <p:txBody>
          <a:bodyPr wrap="none" lIns="0" rIns="0" tIns="0" bIns="0" anchor="ctr">
            <a:spAutoFit/>
          </a:bodyPr>
          <a:lstStyle/>
          <a:p>
            <a:pPr algn="l">
              <a:lnSpc>
                <a:spcPct val="83300"/>
              </a:lnSpc>
            </a:pPr>
            <a:r>
              <a:rPr sz="1805" b="0" i="0">
                <a:solidFill>
                  <a:srgbClr val="FFD21F"/>
                </a:solidFill>
                <a:latin typeface="Barlow"/>
              </a:rPr>
              <a:t>TP + TN</a:t>
            </a:r>
          </a:p>
        </p:txBody>
      </p:sp>
      <p:sp>
        <p:nvSpPr>
          <p:cNvPr id="38" name="TextBox 37"/>
          <p:cNvSpPr txBox="1"/>
          <p:nvPr/>
        </p:nvSpPr>
        <p:spPr>
          <a:xfrm>
            <a:off x="9681748" y="4894741"/>
            <a:ext cx="578062" cy="286702"/>
          </a:xfrm>
          <a:prstGeom prst="rect">
            <a:avLst/>
          </a:prstGeom>
          <a:noFill/>
        </p:spPr>
        <p:txBody>
          <a:bodyPr wrap="none" lIns="0" rIns="0" tIns="0" bIns="0" anchor="ctr">
            <a:spAutoFit/>
          </a:bodyPr>
          <a:lstStyle/>
          <a:p>
            <a:pPr algn="l">
              <a:lnSpc>
                <a:spcPct val="83300"/>
              </a:lnSpc>
            </a:pPr>
            <a:r>
              <a:rPr sz="1805" b="0" i="0">
                <a:solidFill>
                  <a:srgbClr val="FFD21F"/>
                </a:solidFill>
                <a:latin typeface="Barlow"/>
              </a:rPr>
              <a:t>Total</a:t>
            </a:r>
          </a:p>
        </p:txBody>
      </p:sp>
      <p:sp>
        <p:nvSpPr>
          <p:cNvPr id="39" name="TextBox 38"/>
          <p:cNvSpPr txBox="1"/>
          <p:nvPr/>
        </p:nvSpPr>
        <p:spPr>
          <a:xfrm>
            <a:off x="10437204" y="4691062"/>
            <a:ext cx="651108" cy="333375"/>
          </a:xfrm>
          <a:prstGeom prst="rect">
            <a:avLst/>
          </a:prstGeom>
          <a:noFill/>
        </p:spPr>
        <p:txBody>
          <a:bodyPr wrap="none" lIns="0" rIns="0" tIns="0" bIns="0" anchor="ctr">
            <a:spAutoFit/>
          </a:bodyPr>
          <a:lstStyle/>
          <a:p>
            <a:pPr algn="l">
              <a:lnSpc>
                <a:spcPct val="83300"/>
              </a:lnSpc>
            </a:pPr>
            <a:r>
              <a:rPr sz="2100" b="0" i="0">
                <a:solidFill>
                  <a:srgbClr val="FFD21F"/>
                </a:solidFill>
                <a:latin typeface="Barlow"/>
              </a:rPr>
              <a:t>× 100</a:t>
            </a:r>
          </a:p>
        </p:txBody>
      </p:sp>
      <p:sp>
        <p:nvSpPr>
          <p:cNvPr id="40" name="Oval 39"/>
          <p:cNvSpPr/>
          <p:nvPr/>
        </p:nvSpPr>
        <p:spPr>
          <a:xfrm>
            <a:off x="13044488" y="42719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239750" y="41624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Precisión</a:t>
            </a:r>
          </a:p>
        </p:txBody>
      </p:sp>
      <p:sp>
        <p:nvSpPr>
          <p:cNvPr id="42" name="Oval 41"/>
          <p:cNvSpPr/>
          <p:nvPr/>
        </p:nvSpPr>
        <p:spPr>
          <a:xfrm>
            <a:off x="13044488" y="459581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239750" y="448627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Recall</a:t>
            </a:r>
          </a:p>
        </p:txBody>
      </p:sp>
      <p:sp>
        <p:nvSpPr>
          <p:cNvPr id="44" name="Oval 43"/>
          <p:cNvSpPr/>
          <p:nvPr/>
        </p:nvSpPr>
        <p:spPr>
          <a:xfrm>
            <a:off x="13044488" y="49196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239750" y="48101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F1-score</a:t>
            </a:r>
          </a:p>
        </p:txBody>
      </p:sp>
      <p:sp>
        <p:nvSpPr>
          <p:cNvPr id="46" name="TextBox 45"/>
          <p:cNvSpPr txBox="1"/>
          <p:nvPr/>
        </p:nvSpPr>
        <p:spPr>
          <a:xfrm>
            <a:off x="5391150" y="5619750"/>
            <a:ext cx="2266950" cy="1409700"/>
          </a:xfrm>
          <a:prstGeom prst="rect">
            <a:avLst/>
          </a:prstGeom>
          <a:noFill/>
        </p:spPr>
        <p:txBody>
          <a:bodyPr wrap="square" lIns="0" rIns="0" tIns="0" bIns="0" anchor="ctr">
            <a:spAutoFit/>
          </a:bodyPr>
          <a:lstStyle/>
          <a:p>
            <a:pPr algn="l">
              <a:lnSpc>
                <a:spcPct val="104200"/>
              </a:lnSpc>
            </a:pPr>
            <a:r>
              <a:rPr sz="1725" b="0" i="0">
                <a:solidFill>
                  <a:srgbClr val="F3F7FC"/>
                </a:solidFill>
                <a:latin typeface="Barlow"/>
              </a:rPr>
              <a:t>Estabilidad operativa frente al factor humano.</a:t>
            </a:r>
          </a:p>
        </p:txBody>
      </p:sp>
      <p:sp>
        <p:nvSpPr>
          <p:cNvPr id="47" name="TextBox 46"/>
          <p:cNvSpPr txBox="1"/>
          <p:nvPr/>
        </p:nvSpPr>
        <p:spPr>
          <a:xfrm>
            <a:off x="8077200" y="5657850"/>
            <a:ext cx="4533900" cy="3048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Tasa de error de validación:</a:t>
            </a:r>
          </a:p>
        </p:txBody>
      </p:sp>
      <p:sp>
        <p:nvSpPr>
          <p:cNvPr id="48" name="TextBox 47"/>
          <p:cNvSpPr txBox="1"/>
          <p:nvPr/>
        </p:nvSpPr>
        <p:spPr>
          <a:xfrm>
            <a:off x="8058150" y="6367462"/>
            <a:ext cx="689443" cy="333375"/>
          </a:xfrm>
          <a:prstGeom prst="rect">
            <a:avLst/>
          </a:prstGeom>
          <a:noFill/>
        </p:spPr>
        <p:txBody>
          <a:bodyPr wrap="none" lIns="0" rIns="0" tIns="0" bIns="0" anchor="ctr">
            <a:spAutoFit/>
          </a:bodyPr>
          <a:lstStyle/>
          <a:p>
            <a:pPr algn="l">
              <a:lnSpc>
                <a:spcPct val="83300"/>
              </a:lnSpc>
            </a:pPr>
            <a:r>
              <a:rPr sz="2100" b="0" i="1">
                <a:solidFill>
                  <a:srgbClr val="FFD21F"/>
                </a:solidFill>
                <a:latin typeface="Barlow"/>
              </a:rPr>
              <a:t>Error</a:t>
            </a:r>
          </a:p>
        </p:txBody>
      </p:sp>
      <p:sp>
        <p:nvSpPr>
          <p:cNvPr id="49" name="TextBox 48"/>
          <p:cNvSpPr txBox="1"/>
          <p:nvPr/>
        </p:nvSpPr>
        <p:spPr>
          <a:xfrm>
            <a:off x="8781121" y="6367462"/>
            <a:ext cx="198501" cy="333375"/>
          </a:xfrm>
          <a:prstGeom prst="rect">
            <a:avLst/>
          </a:prstGeom>
          <a:noFill/>
        </p:spPr>
        <p:txBody>
          <a:bodyPr wrap="none" lIns="0" rIns="0" tIns="0" bIns="0" anchor="ctr">
            <a:spAutoFit/>
          </a:bodyPr>
          <a:lstStyle/>
          <a:p>
            <a:pPr algn="l">
              <a:lnSpc>
                <a:spcPct val="83300"/>
              </a:lnSpc>
            </a:pPr>
            <a:r>
              <a:rPr sz="2100" b="0" i="0">
                <a:solidFill>
                  <a:srgbClr val="FFD21F"/>
                </a:solidFill>
                <a:latin typeface="Barlow"/>
              </a:rPr>
              <a:t>=</a:t>
            </a:r>
          </a:p>
        </p:txBody>
      </p:sp>
      <p:sp>
        <p:nvSpPr>
          <p:cNvPr id="50" name="Rectangle 49"/>
          <p:cNvSpPr/>
          <p:nvPr/>
        </p:nvSpPr>
        <p:spPr>
          <a:xfrm>
            <a:off x="9024199" y="6519862"/>
            <a:ext cx="837532"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045154" y="6215790"/>
            <a:ext cx="860123" cy="286702"/>
          </a:xfrm>
          <a:prstGeom prst="rect">
            <a:avLst/>
          </a:prstGeom>
          <a:noFill/>
        </p:spPr>
        <p:txBody>
          <a:bodyPr wrap="none" lIns="0" rIns="0" tIns="0" bIns="0" anchor="ctr">
            <a:spAutoFit/>
          </a:bodyPr>
          <a:lstStyle/>
          <a:p>
            <a:pPr algn="l">
              <a:lnSpc>
                <a:spcPct val="83300"/>
              </a:lnSpc>
            </a:pPr>
            <a:r>
              <a:rPr sz="1805" b="0" i="0">
                <a:solidFill>
                  <a:srgbClr val="FFD21F"/>
                </a:solidFill>
                <a:latin typeface="Barlow"/>
              </a:rPr>
              <a:t>FP + FN</a:t>
            </a:r>
          </a:p>
        </p:txBody>
      </p:sp>
      <p:sp>
        <p:nvSpPr>
          <p:cNvPr id="52" name="TextBox 51"/>
          <p:cNvSpPr txBox="1"/>
          <p:nvPr/>
        </p:nvSpPr>
        <p:spPr>
          <a:xfrm>
            <a:off x="9178202" y="6571141"/>
            <a:ext cx="578062" cy="286702"/>
          </a:xfrm>
          <a:prstGeom prst="rect">
            <a:avLst/>
          </a:prstGeom>
          <a:noFill/>
        </p:spPr>
        <p:txBody>
          <a:bodyPr wrap="none" lIns="0" rIns="0" tIns="0" bIns="0" anchor="ctr">
            <a:spAutoFit/>
          </a:bodyPr>
          <a:lstStyle/>
          <a:p>
            <a:pPr algn="l">
              <a:lnSpc>
                <a:spcPct val="83300"/>
              </a:lnSpc>
            </a:pPr>
            <a:r>
              <a:rPr sz="1805" b="0" i="0">
                <a:solidFill>
                  <a:srgbClr val="FFD21F"/>
                </a:solidFill>
                <a:latin typeface="Barlow"/>
              </a:rPr>
              <a:t>Total</a:t>
            </a:r>
          </a:p>
        </p:txBody>
      </p:sp>
      <p:sp>
        <p:nvSpPr>
          <p:cNvPr id="53" name="TextBox 52"/>
          <p:cNvSpPr txBox="1"/>
          <p:nvPr/>
        </p:nvSpPr>
        <p:spPr>
          <a:xfrm>
            <a:off x="9933359" y="6367462"/>
            <a:ext cx="651108" cy="333375"/>
          </a:xfrm>
          <a:prstGeom prst="rect">
            <a:avLst/>
          </a:prstGeom>
          <a:noFill/>
        </p:spPr>
        <p:txBody>
          <a:bodyPr wrap="none" lIns="0" rIns="0" tIns="0" bIns="0" anchor="ctr">
            <a:spAutoFit/>
          </a:bodyPr>
          <a:lstStyle/>
          <a:p>
            <a:pPr algn="l">
              <a:lnSpc>
                <a:spcPct val="83300"/>
              </a:lnSpc>
            </a:pPr>
            <a:r>
              <a:rPr sz="2100" b="0" i="0">
                <a:solidFill>
                  <a:srgbClr val="FFD21F"/>
                </a:solidFill>
                <a:latin typeface="Barlow"/>
              </a:rPr>
              <a:t>× 100</a:t>
            </a:r>
          </a:p>
        </p:txBody>
      </p:sp>
      <p:sp>
        <p:nvSpPr>
          <p:cNvPr id="54" name="Oval 53"/>
          <p:cNvSpPr/>
          <p:nvPr/>
        </p:nvSpPr>
        <p:spPr>
          <a:xfrm>
            <a:off x="13044488" y="59483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239750" y="58388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Tasa de error por ambigüedad léxica.</a:t>
            </a:r>
          </a:p>
        </p:txBody>
      </p:sp>
      <p:sp>
        <p:nvSpPr>
          <p:cNvPr id="56" name="Oval 55"/>
          <p:cNvSpPr/>
          <p:nvPr/>
        </p:nvSpPr>
        <p:spPr>
          <a:xfrm>
            <a:off x="13044488" y="627221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239750" y="616267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Nivel de error por fatiga operativa.</a:t>
            </a:r>
          </a:p>
        </p:txBody>
      </p:sp>
      <p:sp>
        <p:nvSpPr>
          <p:cNvPr id="58" name="Oval 57"/>
          <p:cNvSpPr/>
          <p:nvPr/>
        </p:nvSpPr>
        <p:spPr>
          <a:xfrm>
            <a:off x="13044488" y="6596062"/>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3239750" y="6486525"/>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Concordancia inter-evaluador.</a:t>
            </a:r>
          </a:p>
        </p:txBody>
      </p:sp>
      <p:sp>
        <p:nvSpPr>
          <p:cNvPr id="60" name="Rectangle 59"/>
          <p:cNvSpPr/>
          <p:nvPr/>
        </p:nvSpPr>
        <p:spPr>
          <a:xfrm>
            <a:off x="914400" y="7162800"/>
            <a:ext cx="164592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914400" y="7162800"/>
            <a:ext cx="16459200" cy="1885950"/>
          </a:xfrm>
          <a:prstGeom prst="rect">
            <a:avLst/>
          </a:prstGeom>
          <a:solidFill>
            <a:srgbClr val="0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914400" y="7162800"/>
            <a:ext cx="76200" cy="18859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ounded Rectangle 62"/>
          <p:cNvSpPr/>
          <p:nvPr/>
        </p:nvSpPr>
        <p:spPr>
          <a:xfrm>
            <a:off x="1181100" y="7749350"/>
            <a:ext cx="2811988" cy="342900"/>
          </a:xfrm>
          <a:prstGeom prst="roundRect">
            <a:avLst>
              <a:gd name="adj" fmla="val 11111"/>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181100" y="7749350"/>
            <a:ext cx="2811988"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VARIABLE DEPENDIENTE</a:t>
            </a:r>
          </a:p>
        </p:txBody>
      </p:sp>
      <p:sp>
        <p:nvSpPr>
          <p:cNvPr id="65" name="TextBox 64"/>
          <p:cNvSpPr txBox="1"/>
          <p:nvPr/>
        </p:nvSpPr>
        <p:spPr>
          <a:xfrm>
            <a:off x="1181100" y="8206550"/>
            <a:ext cx="3771900" cy="312801"/>
          </a:xfrm>
          <a:prstGeom prst="rect">
            <a:avLst/>
          </a:prstGeom>
          <a:noFill/>
        </p:spPr>
        <p:txBody>
          <a:bodyPr wrap="square" lIns="0" rIns="0" tIns="0" bIns="0" anchor="t">
            <a:spAutoFit/>
          </a:bodyPr>
          <a:lstStyle/>
          <a:p>
            <a:pPr algn="l">
              <a:lnSpc>
                <a:spcPct val="101700"/>
              </a:lnSpc>
            </a:pPr>
            <a:r>
              <a:rPr sz="1650" b="1" i="0">
                <a:solidFill>
                  <a:srgbClr val="F3F7FC"/>
                </a:solidFill>
                <a:latin typeface="Montserrat"/>
              </a:rPr>
              <a:t>Tiempo de validación</a:t>
            </a:r>
          </a:p>
        </p:txBody>
      </p:sp>
      <p:sp>
        <p:nvSpPr>
          <p:cNvPr id="66" name="TextBox 65"/>
          <p:cNvSpPr txBox="1"/>
          <p:nvPr/>
        </p:nvSpPr>
        <p:spPr>
          <a:xfrm>
            <a:off x="5391150" y="7296150"/>
            <a:ext cx="2266950" cy="1619250"/>
          </a:xfrm>
          <a:prstGeom prst="rect">
            <a:avLst/>
          </a:prstGeom>
          <a:noFill/>
        </p:spPr>
        <p:txBody>
          <a:bodyPr wrap="square" lIns="0" rIns="0" tIns="0" bIns="0" anchor="ctr">
            <a:spAutoFit/>
          </a:bodyPr>
          <a:lstStyle/>
          <a:p>
            <a:pPr algn="l">
              <a:lnSpc>
                <a:spcPct val="104200"/>
              </a:lnSpc>
            </a:pPr>
            <a:r>
              <a:rPr sz="1725" b="0" i="0">
                <a:solidFill>
                  <a:srgbClr val="F3F7FC"/>
                </a:solidFill>
                <a:latin typeface="Barlow"/>
              </a:rPr>
              <a:t>Eficiencia temporal</a:t>
            </a:r>
          </a:p>
        </p:txBody>
      </p:sp>
      <p:sp>
        <p:nvSpPr>
          <p:cNvPr id="67" name="TextBox 66"/>
          <p:cNvSpPr txBox="1"/>
          <p:nvPr/>
        </p:nvSpPr>
        <p:spPr>
          <a:xfrm>
            <a:off x="8077200" y="7334250"/>
            <a:ext cx="4533900" cy="3048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Tiempo de procesamiento operativo en segundos:</a:t>
            </a:r>
          </a:p>
        </p:txBody>
      </p:sp>
      <p:sp>
        <p:nvSpPr>
          <p:cNvPr id="68" name="TextBox 67"/>
          <p:cNvSpPr txBox="1"/>
          <p:nvPr/>
        </p:nvSpPr>
        <p:spPr>
          <a:xfrm>
            <a:off x="8058150" y="8262938"/>
            <a:ext cx="160008" cy="333375"/>
          </a:xfrm>
          <a:prstGeom prst="rect">
            <a:avLst/>
          </a:prstGeom>
          <a:noFill/>
        </p:spPr>
        <p:txBody>
          <a:bodyPr wrap="none" lIns="0" rIns="0" tIns="0" bIns="0" anchor="ctr">
            <a:spAutoFit/>
          </a:bodyPr>
          <a:lstStyle/>
          <a:p>
            <a:pPr algn="l">
              <a:lnSpc>
                <a:spcPct val="83300"/>
              </a:lnSpc>
            </a:pPr>
            <a:r>
              <a:rPr sz="2100" b="0" i="1">
                <a:solidFill>
                  <a:srgbClr val="FFD21F"/>
                </a:solidFill>
                <a:latin typeface="Barlow"/>
              </a:rPr>
              <a:t>t</a:t>
            </a:r>
          </a:p>
        </p:txBody>
      </p:sp>
      <p:sp>
        <p:nvSpPr>
          <p:cNvPr id="69" name="Rectangle 68"/>
          <p:cNvSpPr/>
          <p:nvPr/>
        </p:nvSpPr>
        <p:spPr>
          <a:xfrm>
            <a:off x="8119872" y="8290941"/>
            <a:ext cx="102370" cy="2381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238244" y="8262938"/>
            <a:ext cx="198501" cy="333375"/>
          </a:xfrm>
          <a:prstGeom prst="rect">
            <a:avLst/>
          </a:prstGeom>
          <a:noFill/>
        </p:spPr>
        <p:txBody>
          <a:bodyPr wrap="none" lIns="0" rIns="0" tIns="0" bIns="0" anchor="ctr">
            <a:spAutoFit/>
          </a:bodyPr>
          <a:lstStyle/>
          <a:p>
            <a:pPr algn="l">
              <a:lnSpc>
                <a:spcPct val="83300"/>
              </a:lnSpc>
            </a:pPr>
            <a:r>
              <a:rPr sz="2100" b="0" i="0">
                <a:solidFill>
                  <a:srgbClr val="FFD21F"/>
                </a:solidFill>
                <a:latin typeface="Barlow"/>
              </a:rPr>
              <a:t>=</a:t>
            </a:r>
          </a:p>
        </p:txBody>
      </p:sp>
      <p:sp>
        <p:nvSpPr>
          <p:cNvPr id="71" name="Rectangle 70"/>
          <p:cNvSpPr/>
          <p:nvPr/>
        </p:nvSpPr>
        <p:spPr>
          <a:xfrm>
            <a:off x="8481322" y="8415338"/>
            <a:ext cx="606446"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544724" y="7806214"/>
            <a:ext cx="319692" cy="516064"/>
          </a:xfrm>
          <a:prstGeom prst="rect">
            <a:avLst/>
          </a:prstGeom>
          <a:noFill/>
        </p:spPr>
        <p:txBody>
          <a:bodyPr wrap="none" lIns="0" rIns="0" tIns="0" bIns="0" anchor="ctr">
            <a:spAutoFit/>
          </a:bodyPr>
          <a:lstStyle/>
          <a:p>
            <a:pPr algn="l">
              <a:lnSpc>
                <a:spcPct val="83300"/>
              </a:lnSpc>
            </a:pPr>
            <a:r>
              <a:rPr sz="3250" b="0" i="0">
                <a:solidFill>
                  <a:srgbClr val="FFD21F"/>
                </a:solidFill>
                <a:latin typeface="Roboto Mono"/>
              </a:rPr>
              <a:t>Σ</a:t>
            </a:r>
          </a:p>
        </p:txBody>
      </p:sp>
      <p:sp>
        <p:nvSpPr>
          <p:cNvPr id="73" name="TextBox 72"/>
          <p:cNvSpPr txBox="1"/>
          <p:nvPr/>
        </p:nvSpPr>
        <p:spPr>
          <a:xfrm>
            <a:off x="8330827" y="7726166"/>
            <a:ext cx="713575" cy="166287"/>
          </a:xfrm>
          <a:prstGeom prst="rect">
            <a:avLst/>
          </a:prstGeom>
          <a:noFill/>
        </p:spPr>
        <p:txBody>
          <a:bodyPr wrap="square" lIns="0" rIns="0" tIns="0" bIns="0" anchor="t">
            <a:spAutoFit/>
          </a:bodyPr>
          <a:lstStyle/>
          <a:p>
            <a:pPr algn="ctr">
              <a:lnSpc>
                <a:spcPct val="83300"/>
              </a:lnSpc>
            </a:pPr>
            <a:r>
              <a:rPr sz="1047" b="0" i="0">
                <a:solidFill>
                  <a:srgbClr val="FFD21F"/>
                </a:solidFill>
                <a:latin typeface="Barlow"/>
              </a:rPr>
              <a:t>n</a:t>
            </a:r>
          </a:p>
        </p:txBody>
      </p:sp>
      <p:sp>
        <p:nvSpPr>
          <p:cNvPr id="74" name="TextBox 73"/>
          <p:cNvSpPr txBox="1"/>
          <p:nvPr/>
        </p:nvSpPr>
        <p:spPr>
          <a:xfrm>
            <a:off x="8330827" y="8215625"/>
            <a:ext cx="713575" cy="166287"/>
          </a:xfrm>
          <a:prstGeom prst="rect">
            <a:avLst/>
          </a:prstGeom>
          <a:noFill/>
        </p:spPr>
        <p:txBody>
          <a:bodyPr wrap="square" lIns="0" rIns="0" tIns="0" bIns="0" anchor="t">
            <a:spAutoFit/>
          </a:bodyPr>
          <a:lstStyle/>
          <a:p>
            <a:pPr algn="ctr">
              <a:lnSpc>
                <a:spcPct val="83300"/>
              </a:lnSpc>
            </a:pPr>
            <a:r>
              <a:rPr sz="1047" b="0" i="0">
                <a:solidFill>
                  <a:srgbClr val="FFD21F"/>
                </a:solidFill>
                <a:latin typeface="Barlow"/>
              </a:rPr>
              <a:t>i=1</a:t>
            </a:r>
          </a:p>
        </p:txBody>
      </p:sp>
      <p:sp>
        <p:nvSpPr>
          <p:cNvPr id="75" name="TextBox 74"/>
          <p:cNvSpPr txBox="1"/>
          <p:nvPr/>
        </p:nvSpPr>
        <p:spPr>
          <a:xfrm>
            <a:off x="8889899" y="7920895"/>
            <a:ext cx="145631" cy="286702"/>
          </a:xfrm>
          <a:prstGeom prst="rect">
            <a:avLst/>
          </a:prstGeom>
          <a:noFill/>
        </p:spPr>
        <p:txBody>
          <a:bodyPr wrap="none" lIns="0" rIns="0" tIns="0" bIns="0" anchor="ctr">
            <a:spAutoFit/>
          </a:bodyPr>
          <a:lstStyle/>
          <a:p>
            <a:pPr algn="l">
              <a:lnSpc>
                <a:spcPct val="83300"/>
              </a:lnSpc>
            </a:pPr>
            <a:r>
              <a:rPr sz="1805" b="0" i="1">
                <a:solidFill>
                  <a:srgbClr val="FFD21F"/>
                </a:solidFill>
                <a:latin typeface="Barlow"/>
              </a:rPr>
              <a:t>t</a:t>
            </a:r>
          </a:p>
        </p:txBody>
      </p:sp>
      <p:sp>
        <p:nvSpPr>
          <p:cNvPr id="76" name="TextBox 75"/>
          <p:cNvSpPr txBox="1"/>
          <p:nvPr/>
        </p:nvSpPr>
        <p:spPr>
          <a:xfrm>
            <a:off x="8982896" y="8044177"/>
            <a:ext cx="95619" cy="177756"/>
          </a:xfrm>
          <a:prstGeom prst="rect">
            <a:avLst/>
          </a:prstGeom>
          <a:noFill/>
        </p:spPr>
        <p:txBody>
          <a:bodyPr wrap="none" lIns="0" rIns="0" tIns="0" bIns="0" anchor="ctr">
            <a:spAutoFit/>
          </a:bodyPr>
          <a:lstStyle/>
          <a:p>
            <a:pPr algn="l">
              <a:lnSpc>
                <a:spcPct val="83300"/>
              </a:lnSpc>
            </a:pPr>
            <a:r>
              <a:rPr sz="1119" b="0" i="1">
                <a:solidFill>
                  <a:srgbClr val="FFD21F"/>
                </a:solidFill>
                <a:latin typeface="Barlow"/>
              </a:rPr>
              <a:t>i</a:t>
            </a:r>
          </a:p>
        </p:txBody>
      </p:sp>
      <p:sp>
        <p:nvSpPr>
          <p:cNvPr id="77" name="TextBox 76"/>
          <p:cNvSpPr txBox="1"/>
          <p:nvPr/>
        </p:nvSpPr>
        <p:spPr>
          <a:xfrm>
            <a:off x="8703675" y="8466616"/>
            <a:ext cx="188209" cy="286702"/>
          </a:xfrm>
          <a:prstGeom prst="rect">
            <a:avLst/>
          </a:prstGeom>
          <a:noFill/>
        </p:spPr>
        <p:txBody>
          <a:bodyPr wrap="none" lIns="0" rIns="0" tIns="0" bIns="0" anchor="ctr">
            <a:spAutoFit/>
          </a:bodyPr>
          <a:lstStyle/>
          <a:p>
            <a:pPr algn="l">
              <a:lnSpc>
                <a:spcPct val="83300"/>
              </a:lnSpc>
            </a:pPr>
            <a:r>
              <a:rPr sz="1805" b="0" i="0">
                <a:solidFill>
                  <a:srgbClr val="FFD21F"/>
                </a:solidFill>
                <a:latin typeface="Barlow"/>
              </a:rPr>
              <a:t>n</a:t>
            </a:r>
          </a:p>
        </p:txBody>
      </p:sp>
      <p:sp>
        <p:nvSpPr>
          <p:cNvPr id="78" name="Oval 77"/>
          <p:cNvSpPr/>
          <p:nvPr/>
        </p:nvSpPr>
        <p:spPr>
          <a:xfrm>
            <a:off x="13044488" y="7729538"/>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3239750" y="7620000"/>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Tiempo de latencia algorítmica del modelo.</a:t>
            </a:r>
          </a:p>
        </p:txBody>
      </p:sp>
      <p:sp>
        <p:nvSpPr>
          <p:cNvPr id="80" name="Oval 79"/>
          <p:cNvSpPr/>
          <p:nvPr/>
        </p:nvSpPr>
        <p:spPr>
          <a:xfrm>
            <a:off x="13044488" y="8053388"/>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239750" y="7943850"/>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Tiempo promedio de validación manual.</a:t>
            </a:r>
          </a:p>
        </p:txBody>
      </p:sp>
      <p:sp>
        <p:nvSpPr>
          <p:cNvPr id="82" name="Oval 81"/>
          <p:cNvSpPr/>
          <p:nvPr/>
        </p:nvSpPr>
        <p:spPr>
          <a:xfrm>
            <a:off x="13044488" y="8377238"/>
            <a:ext cx="85725" cy="85725"/>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3239750" y="8267700"/>
            <a:ext cx="40005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Mejora porcentual de reducción de tiempo.</a:t>
            </a:r>
          </a:p>
        </p:txBody>
      </p:sp>
      <p:sp>
        <p:nvSpPr>
          <p:cNvPr id="84" name="Rectangle 83"/>
          <p:cNvSpPr/>
          <p:nvPr/>
        </p:nvSpPr>
        <p:spPr>
          <a:xfrm>
            <a:off x="5162550" y="2133600"/>
            <a:ext cx="9525" cy="6915150"/>
          </a:xfrm>
          <a:prstGeom prst="rect">
            <a:avLst/>
          </a:prstGeom>
          <a:solidFill>
            <a:srgbClr val="6D8FB2">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848600" y="2133600"/>
            <a:ext cx="9525" cy="6915150"/>
          </a:xfrm>
          <a:prstGeom prst="rect">
            <a:avLst/>
          </a:prstGeom>
          <a:solidFill>
            <a:srgbClr val="6D8FB2">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2801600" y="2133600"/>
            <a:ext cx="9525" cy="6915150"/>
          </a:xfrm>
          <a:prstGeom prst="rect">
            <a:avLst/>
          </a:prstGeom>
          <a:solidFill>
            <a:srgbClr val="6D8FB2">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914400" y="1638300"/>
            <a:ext cx="16459200" cy="7410450"/>
          </a:xfrm>
          <a:prstGeom prst="rect">
            <a:avLst/>
          </a:prstGeom>
          <a:noFill/>
          <a:ln w="14287">
            <a:solidFill>
              <a:srgbClr val="2F7BFF">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Esquinero"/>
          <p:cNvSpPr/>
          <p:nvPr/>
        </p:nvSpPr>
        <p:spPr>
          <a:xfrm>
            <a:off x="819150" y="1543050"/>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Esquinero"/>
          <p:cNvSpPr/>
          <p:nvPr/>
        </p:nvSpPr>
        <p:spPr>
          <a:xfrm>
            <a:off x="819150" y="154305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Esquinero"/>
          <p:cNvSpPr/>
          <p:nvPr/>
        </p:nvSpPr>
        <p:spPr>
          <a:xfrm>
            <a:off x="17087850" y="1543050"/>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Esquinero"/>
          <p:cNvSpPr/>
          <p:nvPr/>
        </p:nvSpPr>
        <p:spPr>
          <a:xfrm>
            <a:off x="17440275" y="154305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Esquinero"/>
          <p:cNvSpPr/>
          <p:nvPr/>
        </p:nvSpPr>
        <p:spPr>
          <a:xfrm>
            <a:off x="819150" y="876300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Esquinero"/>
          <p:cNvSpPr/>
          <p:nvPr/>
        </p:nvSpPr>
        <p:spPr>
          <a:xfrm>
            <a:off x="819150" y="9115425"/>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Esquinero"/>
          <p:cNvSpPr/>
          <p:nvPr/>
        </p:nvSpPr>
        <p:spPr>
          <a:xfrm>
            <a:off x="17440275" y="8763000"/>
            <a:ext cx="28575" cy="381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Esquinero"/>
          <p:cNvSpPr/>
          <p:nvPr/>
        </p:nvSpPr>
        <p:spPr>
          <a:xfrm>
            <a:off x="17087850" y="9115425"/>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14400" y="9220200"/>
            <a:ext cx="9525000" cy="285750"/>
          </a:xfrm>
          <a:prstGeom prst="rect">
            <a:avLst/>
          </a:prstGeom>
          <a:noFill/>
        </p:spPr>
        <p:txBody>
          <a:bodyPr wrap="square" lIns="0" rIns="0" tIns="0" bIns="0" anchor="t">
            <a:spAutoFit/>
          </a:bodyPr>
          <a:lstStyle/>
          <a:p>
            <a:pPr algn="l">
              <a:lnSpc>
                <a:spcPct val="100000"/>
              </a:lnSpc>
            </a:pPr>
            <a:r>
              <a:rPr sz="1500" b="1" i="0">
                <a:solidFill>
                  <a:srgbClr val="FFD21F"/>
                </a:solidFill>
                <a:latin typeface="Barlow"/>
              </a:rPr>
              <a:t>Tabla 2: Matriz de operacionalización de variables</a:t>
            </a:r>
          </a:p>
        </p:txBody>
      </p:sp>
      <p:sp>
        <p:nvSpPr>
          <p:cNvPr id="97" name="TextBox 96"/>
          <p:cNvSpPr txBox="1"/>
          <p:nvPr/>
        </p:nvSpPr>
        <p:spPr>
          <a:xfrm>
            <a:off x="11658600" y="9220200"/>
            <a:ext cx="5715000" cy="285750"/>
          </a:xfrm>
          <a:prstGeom prst="rect">
            <a:avLst/>
          </a:prstGeom>
          <a:noFill/>
        </p:spPr>
        <p:txBody>
          <a:bodyPr wrap="square" lIns="0" rIns="0" tIns="0" bIns="0" anchor="t">
            <a:spAutoFit/>
          </a:bodyPr>
          <a:lstStyle/>
          <a:p>
            <a:pPr algn="r">
              <a:lnSpc>
                <a:spcPct val="100000"/>
              </a:lnSpc>
            </a:pPr>
            <a:r>
              <a:rPr sz="1500" b="0" i="1">
                <a:solidFill>
                  <a:srgbClr val="9FB4CC"/>
                </a:solidFill>
                <a:latin typeface="Barlow"/>
              </a:rPr>
              <a:t>Fuente: Elaboración propia,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1_mt_418352a3f8.png"/>
          <p:cNvPicPr>
            <a:picLocks noChangeAspect="1"/>
          </p:cNvPicPr>
          <p:nvPr/>
        </p:nvPicPr>
        <p:blipFill>
          <a:blip r:embed="rId4"/>
          <a:stretch>
            <a:fillRect/>
          </a:stretch>
        </p:blipFill>
        <p:spPr>
          <a:xfrm>
            <a:off x="1771650" y="3010903"/>
            <a:ext cx="5524500" cy="5408195"/>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01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Metodologías de desarrollo tecnológico</a:t>
            </a:r>
          </a:p>
        </p:txBody>
      </p:sp>
      <p:sp>
        <p:nvSpPr>
          <p:cNvPr id="22" name="Rectangle 21"/>
          <p:cNvSpPr/>
          <p:nvPr/>
        </p:nvSpPr>
        <p:spPr>
          <a:xfrm>
            <a:off x="895350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4"/>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5">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6">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7">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8">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9">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2_mt_259dc2d543.png"/>
          <p:cNvPicPr>
            <a:picLocks noChangeAspect="1"/>
          </p:cNvPicPr>
          <p:nvPr/>
        </p:nvPicPr>
        <p:blipFill>
          <a:blip r:embed="rId4"/>
          <a:stretch>
            <a:fillRect/>
          </a:stretch>
        </p:blipFill>
        <p:spPr>
          <a:xfrm>
            <a:off x="1771650" y="2978192"/>
            <a:ext cx="5524500" cy="5473616"/>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02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Notación de modelado de procesos de negocio</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4"/>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6">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7">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8">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9">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3_mt_4541bd9d7c.png"/>
          <p:cNvPicPr>
            <a:picLocks noChangeAspect="1"/>
          </p:cNvPicPr>
          <p:nvPr/>
        </p:nvPicPr>
        <p:blipFill>
          <a:blip r:embed="rId4"/>
          <a:stretch>
            <a:fillRect/>
          </a:stretch>
        </p:blipFill>
        <p:spPr>
          <a:xfrm>
            <a:off x="1771650" y="2981826"/>
            <a:ext cx="5524500" cy="5466347"/>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03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Fundamentos computacionales y entorno de ciencia de datos</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4"/>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7">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8">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9">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4_mt_4670736799.png"/>
          <p:cNvPicPr>
            <a:picLocks noChangeAspect="1"/>
          </p:cNvPicPr>
          <p:nvPr/>
        </p:nvPicPr>
        <p:blipFill>
          <a:blip r:embed="rId4"/>
          <a:stretch>
            <a:fillRect/>
          </a:stretch>
        </p:blipFill>
        <p:spPr>
          <a:xfrm>
            <a:off x="1771650" y="2985461"/>
            <a:ext cx="5524500" cy="5459078"/>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04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Minería de texto y procesamiento de lenguaje natural</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4"/>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8">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9">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5_mt_c33e97379f.png"/>
          <p:cNvPicPr>
            <a:picLocks noChangeAspect="1"/>
          </p:cNvPicPr>
          <p:nvPr/>
        </p:nvPicPr>
        <p:blipFill>
          <a:blip r:embed="rId4"/>
          <a:stretch>
            <a:fillRect/>
          </a:stretch>
        </p:blipFill>
        <p:spPr>
          <a:xfrm>
            <a:off x="1771650" y="2992730"/>
            <a:ext cx="5524500" cy="5444540"/>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05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Modelos de representación de texto en el NLP</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4"/>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9">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6_mt_f7c9aefdac.png"/>
          <p:cNvPicPr>
            <a:picLocks noChangeAspect="1"/>
          </p:cNvPicPr>
          <p:nvPr/>
        </p:nvPicPr>
        <p:blipFill>
          <a:blip r:embed="rId4"/>
          <a:stretch>
            <a:fillRect/>
          </a:stretch>
        </p:blipFill>
        <p:spPr>
          <a:xfrm>
            <a:off x="1782554" y="2952750"/>
            <a:ext cx="5502693" cy="5524500"/>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06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Correspondencia de entidades</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4"/>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0">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7_mt_b806a2cdfe.png"/>
          <p:cNvPicPr>
            <a:picLocks noChangeAspect="1"/>
          </p:cNvPicPr>
          <p:nvPr/>
        </p:nvPicPr>
        <p:blipFill>
          <a:blip r:embed="rId4"/>
          <a:stretch>
            <a:fillRect/>
          </a:stretch>
        </p:blipFill>
        <p:spPr>
          <a:xfrm>
            <a:off x="1771650" y="2952750"/>
            <a:ext cx="5524500" cy="5524500"/>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07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Modelos de clasificación</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4"/>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1">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8_mt_6fed41160f.png"/>
          <p:cNvPicPr>
            <a:picLocks noChangeAspect="1"/>
          </p:cNvPicPr>
          <p:nvPr/>
        </p:nvPicPr>
        <p:blipFill>
          <a:blip r:embed="rId4"/>
          <a:stretch>
            <a:fillRect/>
          </a:stretch>
        </p:blipFill>
        <p:spPr>
          <a:xfrm>
            <a:off x="1771650" y="2978192"/>
            <a:ext cx="5524500" cy="5473616"/>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08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Métricas de similitud</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1">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4"/>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2">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9_mt_8caf1e1fd8.png"/>
          <p:cNvPicPr>
            <a:picLocks noChangeAspect="1"/>
          </p:cNvPicPr>
          <p:nvPr/>
        </p:nvPicPr>
        <p:blipFill>
          <a:blip r:embed="rId4"/>
          <a:stretch>
            <a:fillRect/>
          </a:stretch>
        </p:blipFill>
        <p:spPr>
          <a:xfrm>
            <a:off x="1771650" y="3010903"/>
            <a:ext cx="5524500" cy="5408195"/>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09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Evaluación de modelos</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1">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2">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4"/>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3">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10_mt_260423cb6c.png"/>
          <p:cNvPicPr>
            <a:picLocks noChangeAspect="1"/>
          </p:cNvPicPr>
          <p:nvPr/>
        </p:nvPicPr>
        <p:blipFill>
          <a:blip r:embed="rId4"/>
          <a:stretch>
            <a:fillRect/>
          </a:stretch>
        </p:blipFill>
        <p:spPr>
          <a:xfrm>
            <a:off x="1771650" y="3058152"/>
            <a:ext cx="5524500" cy="5313697"/>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10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Medición de eficiencia</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1">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2">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3">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4"/>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4">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11_mt_3f2d5a707c.png"/>
          <p:cNvPicPr>
            <a:picLocks noChangeAspect="1"/>
          </p:cNvPicPr>
          <p:nvPr/>
        </p:nvPicPr>
        <p:blipFill>
          <a:blip r:embed="rId4"/>
          <a:stretch>
            <a:fillRect/>
          </a:stretch>
        </p:blipFill>
        <p:spPr>
          <a:xfrm>
            <a:off x="1771650" y="2996364"/>
            <a:ext cx="5524500" cy="5437271"/>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11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Sistemas de apoyo a la decisión</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1">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2">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3">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4">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4"/>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15">
            <a:alphaModFix amt="40000"/>
          </a:blip>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ESQUEMA DEL MARCO TEÓRICO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914400" y="1905000"/>
            <a:ext cx="7239000" cy="7620000"/>
          </a:xfrm>
          <a:prstGeom prst="rect">
            <a:avLst/>
          </a:prstGeom>
          <a:solidFill>
            <a:srgbClr val="0A1F3D"/>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squinero"/>
          <p:cNvSpPr/>
          <p:nvPr/>
        </p:nvSpPr>
        <p:spPr>
          <a:xfrm>
            <a:off x="8191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squinero"/>
          <p:cNvSpPr/>
          <p:nvPr/>
        </p:nvSpPr>
        <p:spPr>
          <a:xfrm>
            <a:off x="819150"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7715250" y="1809750"/>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220075" y="18097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8191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220075" y="9086850"/>
            <a:ext cx="28575" cy="5334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7715250" y="9591675"/>
            <a:ext cx="5334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676400" y="2857500"/>
            <a:ext cx="5715000" cy="5715000"/>
          </a:xfrm>
          <a:prstGeom prst="ellipse">
            <a:avLst/>
          </a:prstGeom>
          <a:solidFill>
            <a:srgbClr val="1230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476500" y="3657600"/>
            <a:ext cx="4114800" cy="4114800"/>
          </a:xfrm>
          <a:prstGeom prst="ellipse">
            <a:avLst/>
          </a:prstGeom>
          <a:solidFill>
            <a:srgbClr val="1A3F7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12_mt_b732eb2566.png"/>
          <p:cNvPicPr>
            <a:picLocks noChangeAspect="1"/>
          </p:cNvPicPr>
          <p:nvPr/>
        </p:nvPicPr>
        <p:blipFill>
          <a:blip r:embed="rId4"/>
          <a:stretch>
            <a:fillRect/>
          </a:stretch>
        </p:blipFill>
        <p:spPr>
          <a:xfrm>
            <a:off x="1771650" y="2999999"/>
            <a:ext cx="5524500" cy="5430002"/>
          </a:xfrm>
          <a:prstGeom prst="rect">
            <a:avLst/>
          </a:prstGeom>
        </p:spPr>
      </p:pic>
      <p:sp>
        <p:nvSpPr>
          <p:cNvPr id="19" name="TextBox 18"/>
          <p:cNvSpPr txBox="1"/>
          <p:nvPr/>
        </p:nvSpPr>
        <p:spPr>
          <a:xfrm>
            <a:off x="8953500" y="2247900"/>
            <a:ext cx="3810000" cy="419100"/>
          </a:xfrm>
          <a:prstGeom prst="rect">
            <a:avLst/>
          </a:prstGeom>
          <a:noFill/>
        </p:spPr>
        <p:txBody>
          <a:bodyPr wrap="square" lIns="0" rIns="0" tIns="0" bIns="0" anchor="t">
            <a:spAutoFit/>
          </a:bodyPr>
          <a:lstStyle/>
          <a:p>
            <a:pPr algn="l">
              <a:lnSpc>
                <a:spcPct val="100000"/>
              </a:lnSpc>
            </a:pPr>
            <a:r>
              <a:rPr sz="2550" b="1" i="0" spc="200">
                <a:solidFill>
                  <a:srgbClr val="FFD21F"/>
                </a:solidFill>
                <a:latin typeface="Montserrat"/>
              </a:rPr>
              <a:t>12 / 12</a:t>
            </a:r>
          </a:p>
        </p:txBody>
      </p:sp>
      <p:sp>
        <p:nvSpPr>
          <p:cNvPr id="20" name="Rectangle 19"/>
          <p:cNvSpPr/>
          <p:nvPr/>
        </p:nvSpPr>
        <p:spPr>
          <a:xfrm>
            <a:off x="8953500" y="2781300"/>
            <a:ext cx="8572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0" y="3086100"/>
            <a:ext cx="8420100" cy="2857500"/>
          </a:xfrm>
          <a:prstGeom prst="rect">
            <a:avLst/>
          </a:prstGeom>
          <a:noFill/>
        </p:spPr>
        <p:txBody>
          <a:bodyPr wrap="square" lIns="0" rIns="0" tIns="0" bIns="0" anchor="t">
            <a:spAutoFit/>
          </a:bodyPr>
          <a:lstStyle/>
          <a:p>
            <a:pPr algn="l">
              <a:lnSpc>
                <a:spcPct val="95800"/>
              </a:lnSpc>
            </a:pPr>
            <a:r>
              <a:rPr sz="4350" b="1" i="0">
                <a:solidFill>
                  <a:srgbClr val="F3F7FC"/>
                </a:solidFill>
                <a:latin typeface="Montserrat"/>
              </a:rPr>
              <a:t>Desarrollo web</a:t>
            </a:r>
          </a:p>
        </p:txBody>
      </p:sp>
      <p:sp>
        <p:nvSpPr>
          <p:cNvPr id="22" name="Rectangle 21"/>
          <p:cNvSpPr/>
          <p:nvPr/>
        </p:nvSpPr>
        <p:spPr>
          <a:xfrm>
            <a:off x="8953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01_mt_418352a3f8.png"/>
          <p:cNvPicPr>
            <a:picLocks noChangeAspect="1"/>
          </p:cNvPicPr>
          <p:nvPr/>
        </p:nvPicPr>
        <p:blipFill>
          <a:blip r:embed="rId5">
            <a:alphaModFix amt="40000"/>
          </a:blip>
          <a:stretch>
            <a:fillRect/>
          </a:stretch>
        </p:blipFill>
        <p:spPr>
          <a:xfrm>
            <a:off x="9201150" y="6751922"/>
            <a:ext cx="781050" cy="764607"/>
          </a:xfrm>
          <a:prstGeom prst="rect">
            <a:avLst/>
          </a:prstGeom>
        </p:spPr>
      </p:pic>
      <p:sp>
        <p:nvSpPr>
          <p:cNvPr id="24" name="TextBox 23"/>
          <p:cNvSpPr txBox="1"/>
          <p:nvPr/>
        </p:nvSpPr>
        <p:spPr>
          <a:xfrm>
            <a:off x="8953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01</a:t>
            </a:r>
          </a:p>
        </p:txBody>
      </p:sp>
      <p:sp>
        <p:nvSpPr>
          <p:cNvPr id="25" name="Rectangle 24"/>
          <p:cNvSpPr/>
          <p:nvPr/>
        </p:nvSpPr>
        <p:spPr>
          <a:xfrm>
            <a:off x="10382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2_mt_259dc2d543.png"/>
          <p:cNvPicPr>
            <a:picLocks noChangeAspect="1"/>
          </p:cNvPicPr>
          <p:nvPr/>
        </p:nvPicPr>
        <p:blipFill>
          <a:blip r:embed="rId6">
            <a:alphaModFix amt="40000"/>
          </a:blip>
          <a:stretch>
            <a:fillRect/>
          </a:stretch>
        </p:blipFill>
        <p:spPr>
          <a:xfrm>
            <a:off x="10629900" y="6747297"/>
            <a:ext cx="781050" cy="773856"/>
          </a:xfrm>
          <a:prstGeom prst="rect">
            <a:avLst/>
          </a:prstGeom>
        </p:spPr>
      </p:pic>
      <p:sp>
        <p:nvSpPr>
          <p:cNvPr id="27" name="TextBox 26"/>
          <p:cNvSpPr txBox="1"/>
          <p:nvPr/>
        </p:nvSpPr>
        <p:spPr>
          <a:xfrm>
            <a:off x="10382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02</a:t>
            </a:r>
          </a:p>
        </p:txBody>
      </p:sp>
      <p:sp>
        <p:nvSpPr>
          <p:cNvPr id="28" name="Rectangle 27"/>
          <p:cNvSpPr/>
          <p:nvPr/>
        </p:nvSpPr>
        <p:spPr>
          <a:xfrm>
            <a:off x="118110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03_mt_4541bd9d7c.png"/>
          <p:cNvPicPr>
            <a:picLocks noChangeAspect="1"/>
          </p:cNvPicPr>
          <p:nvPr/>
        </p:nvPicPr>
        <p:blipFill>
          <a:blip r:embed="rId7">
            <a:alphaModFix amt="40000"/>
          </a:blip>
          <a:stretch>
            <a:fillRect/>
          </a:stretch>
        </p:blipFill>
        <p:spPr>
          <a:xfrm>
            <a:off x="12058650" y="6747811"/>
            <a:ext cx="781050" cy="772828"/>
          </a:xfrm>
          <a:prstGeom prst="rect">
            <a:avLst/>
          </a:prstGeom>
        </p:spPr>
      </p:pic>
      <p:sp>
        <p:nvSpPr>
          <p:cNvPr id="30" name="TextBox 29"/>
          <p:cNvSpPr txBox="1"/>
          <p:nvPr/>
        </p:nvSpPr>
        <p:spPr>
          <a:xfrm>
            <a:off x="118110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03</a:t>
            </a:r>
          </a:p>
        </p:txBody>
      </p:sp>
      <p:sp>
        <p:nvSpPr>
          <p:cNvPr id="31" name="Rectangle 30"/>
          <p:cNvSpPr/>
          <p:nvPr/>
        </p:nvSpPr>
        <p:spPr>
          <a:xfrm>
            <a:off x="132397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04_mt_4670736799.png"/>
          <p:cNvPicPr>
            <a:picLocks noChangeAspect="1"/>
          </p:cNvPicPr>
          <p:nvPr/>
        </p:nvPicPr>
        <p:blipFill>
          <a:blip r:embed="rId8">
            <a:alphaModFix amt="40000"/>
          </a:blip>
          <a:stretch>
            <a:fillRect/>
          </a:stretch>
        </p:blipFill>
        <p:spPr>
          <a:xfrm>
            <a:off x="13487400" y="6748325"/>
            <a:ext cx="781050" cy="771801"/>
          </a:xfrm>
          <a:prstGeom prst="rect">
            <a:avLst/>
          </a:prstGeom>
        </p:spPr>
      </p:pic>
      <p:sp>
        <p:nvSpPr>
          <p:cNvPr id="33" name="TextBox 32"/>
          <p:cNvSpPr txBox="1"/>
          <p:nvPr/>
        </p:nvSpPr>
        <p:spPr>
          <a:xfrm>
            <a:off x="132397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04</a:t>
            </a:r>
          </a:p>
        </p:txBody>
      </p:sp>
      <p:sp>
        <p:nvSpPr>
          <p:cNvPr id="34" name="Rectangle 33"/>
          <p:cNvSpPr/>
          <p:nvPr/>
        </p:nvSpPr>
        <p:spPr>
          <a:xfrm>
            <a:off x="1466850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05_mt_c33e97379f.png"/>
          <p:cNvPicPr>
            <a:picLocks noChangeAspect="1"/>
          </p:cNvPicPr>
          <p:nvPr/>
        </p:nvPicPr>
        <p:blipFill>
          <a:blip r:embed="rId9">
            <a:alphaModFix amt="40000"/>
          </a:blip>
          <a:stretch>
            <a:fillRect/>
          </a:stretch>
        </p:blipFill>
        <p:spPr>
          <a:xfrm>
            <a:off x="14916150" y="6749352"/>
            <a:ext cx="781050" cy="769745"/>
          </a:xfrm>
          <a:prstGeom prst="rect">
            <a:avLst/>
          </a:prstGeom>
        </p:spPr>
      </p:pic>
      <p:sp>
        <p:nvSpPr>
          <p:cNvPr id="36" name="TextBox 35"/>
          <p:cNvSpPr txBox="1"/>
          <p:nvPr/>
        </p:nvSpPr>
        <p:spPr>
          <a:xfrm>
            <a:off x="1466850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05</a:t>
            </a:r>
          </a:p>
        </p:txBody>
      </p:sp>
      <p:sp>
        <p:nvSpPr>
          <p:cNvPr id="37" name="Rectangle 36"/>
          <p:cNvSpPr/>
          <p:nvPr/>
        </p:nvSpPr>
        <p:spPr>
          <a:xfrm>
            <a:off x="16097250" y="657225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06_mt_f7c9aefdac.png"/>
          <p:cNvPicPr>
            <a:picLocks noChangeAspect="1"/>
          </p:cNvPicPr>
          <p:nvPr/>
        </p:nvPicPr>
        <p:blipFill>
          <a:blip r:embed="rId10">
            <a:alphaModFix amt="40000"/>
          </a:blip>
          <a:stretch>
            <a:fillRect/>
          </a:stretch>
        </p:blipFill>
        <p:spPr>
          <a:xfrm>
            <a:off x="16344900" y="6742152"/>
            <a:ext cx="781050" cy="784145"/>
          </a:xfrm>
          <a:prstGeom prst="rect">
            <a:avLst/>
          </a:prstGeom>
        </p:spPr>
      </p:pic>
      <p:sp>
        <p:nvSpPr>
          <p:cNvPr id="39" name="TextBox 38"/>
          <p:cNvSpPr txBox="1"/>
          <p:nvPr/>
        </p:nvSpPr>
        <p:spPr>
          <a:xfrm>
            <a:off x="16097250" y="762000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06</a:t>
            </a:r>
          </a:p>
        </p:txBody>
      </p:sp>
      <p:sp>
        <p:nvSpPr>
          <p:cNvPr id="40" name="Rectangle 39"/>
          <p:cNvSpPr/>
          <p:nvPr/>
        </p:nvSpPr>
        <p:spPr>
          <a:xfrm>
            <a:off x="8953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07_mt_b806a2cdfe.png"/>
          <p:cNvPicPr>
            <a:picLocks noChangeAspect="1"/>
          </p:cNvPicPr>
          <p:nvPr/>
        </p:nvPicPr>
        <p:blipFill>
          <a:blip r:embed="rId11">
            <a:alphaModFix amt="40000"/>
          </a:blip>
          <a:stretch>
            <a:fillRect/>
          </a:stretch>
        </p:blipFill>
        <p:spPr>
          <a:xfrm>
            <a:off x="9201150" y="8324850"/>
            <a:ext cx="781050" cy="781050"/>
          </a:xfrm>
          <a:prstGeom prst="rect">
            <a:avLst/>
          </a:prstGeom>
        </p:spPr>
      </p:pic>
      <p:sp>
        <p:nvSpPr>
          <p:cNvPr id="42" name="TextBox 41"/>
          <p:cNvSpPr txBox="1"/>
          <p:nvPr/>
        </p:nvSpPr>
        <p:spPr>
          <a:xfrm>
            <a:off x="8953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07</a:t>
            </a:r>
          </a:p>
        </p:txBody>
      </p:sp>
      <p:sp>
        <p:nvSpPr>
          <p:cNvPr id="43" name="Rectangle 42"/>
          <p:cNvSpPr/>
          <p:nvPr/>
        </p:nvSpPr>
        <p:spPr>
          <a:xfrm>
            <a:off x="103822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08_mt_6fed41160f.png"/>
          <p:cNvPicPr>
            <a:picLocks noChangeAspect="1"/>
          </p:cNvPicPr>
          <p:nvPr/>
        </p:nvPicPr>
        <p:blipFill>
          <a:blip r:embed="rId12">
            <a:alphaModFix amt="40000"/>
          </a:blip>
          <a:stretch>
            <a:fillRect/>
          </a:stretch>
        </p:blipFill>
        <p:spPr>
          <a:xfrm>
            <a:off x="10629900" y="8328447"/>
            <a:ext cx="781050" cy="773856"/>
          </a:xfrm>
          <a:prstGeom prst="rect">
            <a:avLst/>
          </a:prstGeom>
        </p:spPr>
      </p:pic>
      <p:sp>
        <p:nvSpPr>
          <p:cNvPr id="45" name="TextBox 44"/>
          <p:cNvSpPr txBox="1"/>
          <p:nvPr/>
        </p:nvSpPr>
        <p:spPr>
          <a:xfrm>
            <a:off x="103822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08</a:t>
            </a:r>
          </a:p>
        </p:txBody>
      </p:sp>
      <p:sp>
        <p:nvSpPr>
          <p:cNvPr id="46" name="Rectangle 45"/>
          <p:cNvSpPr/>
          <p:nvPr/>
        </p:nvSpPr>
        <p:spPr>
          <a:xfrm>
            <a:off x="118110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09_mt_8caf1e1fd8.png"/>
          <p:cNvPicPr>
            <a:picLocks noChangeAspect="1"/>
          </p:cNvPicPr>
          <p:nvPr/>
        </p:nvPicPr>
        <p:blipFill>
          <a:blip r:embed="rId13">
            <a:alphaModFix amt="40000"/>
          </a:blip>
          <a:stretch>
            <a:fillRect/>
          </a:stretch>
        </p:blipFill>
        <p:spPr>
          <a:xfrm>
            <a:off x="12058650" y="8333072"/>
            <a:ext cx="781050" cy="764607"/>
          </a:xfrm>
          <a:prstGeom prst="rect">
            <a:avLst/>
          </a:prstGeom>
        </p:spPr>
      </p:pic>
      <p:sp>
        <p:nvSpPr>
          <p:cNvPr id="48" name="TextBox 47"/>
          <p:cNvSpPr txBox="1"/>
          <p:nvPr/>
        </p:nvSpPr>
        <p:spPr>
          <a:xfrm>
            <a:off x="118110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09</a:t>
            </a:r>
          </a:p>
        </p:txBody>
      </p:sp>
      <p:sp>
        <p:nvSpPr>
          <p:cNvPr id="49" name="Rectangle 48"/>
          <p:cNvSpPr/>
          <p:nvPr/>
        </p:nvSpPr>
        <p:spPr>
          <a:xfrm>
            <a:off x="1323975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10_mt_260423cb6c.png"/>
          <p:cNvPicPr>
            <a:picLocks noChangeAspect="1"/>
          </p:cNvPicPr>
          <p:nvPr/>
        </p:nvPicPr>
        <p:blipFill>
          <a:blip r:embed="rId14">
            <a:alphaModFix amt="40000"/>
          </a:blip>
          <a:stretch>
            <a:fillRect/>
          </a:stretch>
        </p:blipFill>
        <p:spPr>
          <a:xfrm>
            <a:off x="13487400" y="8339752"/>
            <a:ext cx="781050" cy="751247"/>
          </a:xfrm>
          <a:prstGeom prst="rect">
            <a:avLst/>
          </a:prstGeom>
        </p:spPr>
      </p:pic>
      <p:sp>
        <p:nvSpPr>
          <p:cNvPr id="51" name="TextBox 50"/>
          <p:cNvSpPr txBox="1"/>
          <p:nvPr/>
        </p:nvSpPr>
        <p:spPr>
          <a:xfrm>
            <a:off x="1323975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10</a:t>
            </a:r>
          </a:p>
        </p:txBody>
      </p:sp>
      <p:sp>
        <p:nvSpPr>
          <p:cNvPr id="52" name="Rectangle 51"/>
          <p:cNvSpPr/>
          <p:nvPr/>
        </p:nvSpPr>
        <p:spPr>
          <a:xfrm>
            <a:off x="14668500" y="8153400"/>
            <a:ext cx="1276350" cy="1428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11_mt_3f2d5a707c.png"/>
          <p:cNvPicPr>
            <a:picLocks noChangeAspect="1"/>
          </p:cNvPicPr>
          <p:nvPr/>
        </p:nvPicPr>
        <p:blipFill>
          <a:blip r:embed="rId15">
            <a:alphaModFix amt="40000"/>
          </a:blip>
          <a:stretch>
            <a:fillRect/>
          </a:stretch>
        </p:blipFill>
        <p:spPr>
          <a:xfrm>
            <a:off x="14916150" y="8331016"/>
            <a:ext cx="781050" cy="768718"/>
          </a:xfrm>
          <a:prstGeom prst="rect">
            <a:avLst/>
          </a:prstGeom>
        </p:spPr>
      </p:pic>
      <p:sp>
        <p:nvSpPr>
          <p:cNvPr id="54" name="TextBox 53"/>
          <p:cNvSpPr txBox="1"/>
          <p:nvPr/>
        </p:nvSpPr>
        <p:spPr>
          <a:xfrm>
            <a:off x="14668500" y="9201150"/>
            <a:ext cx="1276350" cy="304800"/>
          </a:xfrm>
          <a:prstGeom prst="rect">
            <a:avLst/>
          </a:prstGeom>
          <a:noFill/>
        </p:spPr>
        <p:txBody>
          <a:bodyPr wrap="square" lIns="0" rIns="0" tIns="0" bIns="0" anchor="t">
            <a:spAutoFit/>
          </a:bodyPr>
          <a:lstStyle/>
          <a:p>
            <a:pPr algn="ctr">
              <a:lnSpc>
                <a:spcPct val="100000"/>
              </a:lnSpc>
            </a:pPr>
            <a:r>
              <a:rPr sz="1500" b="1" i="0">
                <a:solidFill>
                  <a:srgbClr val="9FB4CC"/>
                </a:solidFill>
                <a:latin typeface="Montserrat"/>
              </a:rPr>
              <a:t>11</a:t>
            </a:r>
          </a:p>
        </p:txBody>
      </p:sp>
      <p:sp>
        <p:nvSpPr>
          <p:cNvPr id="55" name="Rectangle 54"/>
          <p:cNvSpPr/>
          <p:nvPr/>
        </p:nvSpPr>
        <p:spPr>
          <a:xfrm>
            <a:off x="16097250" y="8153400"/>
            <a:ext cx="1276350" cy="1428750"/>
          </a:xfrm>
          <a:prstGeom prst="rect">
            <a:avLst/>
          </a:prstGeom>
          <a:solidFill>
            <a:srgbClr val="0A1F3D"/>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12_mt_b732eb2566.png"/>
          <p:cNvPicPr>
            <a:picLocks noChangeAspect="1"/>
          </p:cNvPicPr>
          <p:nvPr/>
        </p:nvPicPr>
        <p:blipFill>
          <a:blip r:embed="rId4"/>
          <a:stretch>
            <a:fillRect/>
          </a:stretch>
        </p:blipFill>
        <p:spPr>
          <a:xfrm>
            <a:off x="16344900" y="8331530"/>
            <a:ext cx="781050" cy="767690"/>
          </a:xfrm>
          <a:prstGeom prst="rect">
            <a:avLst/>
          </a:prstGeom>
        </p:spPr>
      </p:pic>
      <p:sp>
        <p:nvSpPr>
          <p:cNvPr id="57" name="TextBox 56"/>
          <p:cNvSpPr txBox="1"/>
          <p:nvPr/>
        </p:nvSpPr>
        <p:spPr>
          <a:xfrm>
            <a:off x="16097250" y="9201150"/>
            <a:ext cx="1276350" cy="304800"/>
          </a:xfrm>
          <a:prstGeom prst="rect">
            <a:avLst/>
          </a:prstGeom>
          <a:noFill/>
        </p:spPr>
        <p:txBody>
          <a:bodyPr wrap="square" lIns="0" rIns="0" tIns="0" bIns="0" anchor="t">
            <a:spAutoFit/>
          </a:bodyPr>
          <a:lstStyle/>
          <a:p>
            <a:pPr algn="ctr">
              <a:lnSpc>
                <a:spcPct val="100000"/>
              </a:lnSpc>
            </a:pPr>
            <a:r>
              <a:rPr sz="1500" b="1" i="0">
                <a:solidFill>
                  <a:srgbClr val="FFD21F"/>
                </a:solidFill>
                <a:latin typeface="Montserrat"/>
              </a:rPr>
              <a:t>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656183"/>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467570"/>
            <a:ext cx="16830675" cy="7147917"/>
          </a:xfrm>
          <a:prstGeom prst="rect">
            <a:avLst/>
          </a:prstGeom>
          <a:solidFill>
            <a:srgbClr val="0D2748">
              <a:alpha val="82000"/>
            </a:srgbClr>
          </a:solidFill>
          <a:ln w="9525">
            <a:solidFill>
              <a:srgbClr val="6D8FB2">
                <a:alpha val="6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47725" y="2586633"/>
            <a:ext cx="248885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7725" y="31009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27053"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6578" y="2586633"/>
            <a:ext cx="4313932"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36578" y="3100983"/>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40985"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50510" y="2586633"/>
            <a:ext cx="9789765"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650510" y="3100983"/>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47725" y="3110508"/>
            <a:ext cx="2488853"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47725" y="4378077"/>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27053" y="3110508"/>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36578" y="3110508"/>
            <a:ext cx="4313932"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336578" y="4378077"/>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40985" y="3110508"/>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650510" y="3110508"/>
            <a:ext cx="9789765"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50510" y="4378077"/>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47725" y="4387602"/>
            <a:ext cx="2488853"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47725" y="5655171"/>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327053" y="4387602"/>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336578" y="4387602"/>
            <a:ext cx="4313932"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336578" y="5655171"/>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640985" y="4387602"/>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50510" y="4387602"/>
            <a:ext cx="9789765"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650510" y="5655171"/>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47725" y="5664696"/>
            <a:ext cx="2488853"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7725" y="6932265"/>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327053" y="5664696"/>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336578" y="5664696"/>
            <a:ext cx="4313932"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336578" y="6932265"/>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640985" y="5664696"/>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50510" y="5664696"/>
            <a:ext cx="9789765" cy="127709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650510" y="6932265"/>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47725" y="6941790"/>
            <a:ext cx="2488853"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47725" y="8209359"/>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3327053" y="6941790"/>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3336578" y="6941790"/>
            <a:ext cx="4313932"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336578" y="8209359"/>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640985" y="6941790"/>
            <a:ext cx="9525" cy="127709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650510" y="6941790"/>
            <a:ext cx="9789765" cy="127709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7650510" y="8209359"/>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47725" y="8218884"/>
            <a:ext cx="2488853" cy="1277541"/>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847725" y="948690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327053" y="8218884"/>
            <a:ext cx="9525" cy="1277541"/>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336578" y="8218884"/>
            <a:ext cx="4313932" cy="1277541"/>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336578" y="9486900"/>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7640985" y="8218884"/>
            <a:ext cx="9525" cy="1277541"/>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7650510" y="8218884"/>
            <a:ext cx="9789765" cy="1277541"/>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7650510" y="9486900"/>
            <a:ext cx="978976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3109912"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3114675" y="9944100"/>
            <a:ext cx="259497"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81075" y="1663750"/>
            <a:ext cx="8577364" cy="266700"/>
          </a:xfrm>
          <a:prstGeom prst="rect">
            <a:avLst/>
          </a:prstGeom>
          <a:noFill/>
        </p:spPr>
        <p:txBody>
          <a:bodyPr wrap="none" lIns="0" rIns="0" tIns="0" bIns="0" anchor="t">
            <a:spAutoFit/>
          </a:bodyPr>
          <a:lstStyle/>
          <a:p>
            <a:pPr algn="l">
              <a:lnSpc>
                <a:spcPct val="95800"/>
              </a:lnSpc>
            </a:pPr>
            <a:r>
              <a:rPr sz="1650" b="1" i="0" spc="148">
                <a:solidFill>
                  <a:srgbClr val="6D8FB2"/>
                </a:solidFill>
                <a:latin typeface="Barlow"/>
              </a:rPr>
              <a:t>ANÁLISIS DEL PROCESO ACTUAL DE CORRESPONDENCIA DE PRODUCTOS</a:t>
            </a:r>
          </a:p>
        </p:txBody>
      </p:sp>
      <p:sp>
        <p:nvSpPr>
          <p:cNvPr id="68" name="TextBox 67"/>
          <p:cNvSpPr txBox="1"/>
          <p:nvPr/>
        </p:nvSpPr>
        <p:spPr>
          <a:xfrm>
            <a:off x="981075" y="1895177"/>
            <a:ext cx="7521339"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Escala de valoración de los criterios</a:t>
            </a:r>
          </a:p>
        </p:txBody>
      </p:sp>
      <p:sp>
        <p:nvSpPr>
          <p:cNvPr id="69" name="TextBox 68"/>
          <p:cNvSpPr txBox="1"/>
          <p:nvPr/>
        </p:nvSpPr>
        <p:spPr>
          <a:xfrm>
            <a:off x="1076325" y="2700933"/>
            <a:ext cx="1752261" cy="304800"/>
          </a:xfrm>
          <a:prstGeom prst="rect">
            <a:avLst/>
          </a:prstGeom>
          <a:noFill/>
        </p:spPr>
        <p:txBody>
          <a:bodyPr wrap="none" lIns="0" rIns="0" tIns="0" bIns="0" anchor="t">
            <a:spAutoFit/>
          </a:bodyPr>
          <a:lstStyle/>
          <a:p>
            <a:pPr algn="l">
              <a:lnSpc>
                <a:spcPct val="100000"/>
              </a:lnSpc>
            </a:pPr>
            <a:r>
              <a:rPr sz="1875" b="1" i="0" spc="103">
                <a:solidFill>
                  <a:srgbClr val="F3F7FC"/>
                </a:solidFill>
                <a:latin typeface="Barlow"/>
              </a:rPr>
              <a:t>PUNTUACIÓN</a:t>
            </a:r>
          </a:p>
        </p:txBody>
      </p:sp>
      <p:sp>
        <p:nvSpPr>
          <p:cNvPr id="70" name="TextBox 69"/>
          <p:cNvSpPr txBox="1"/>
          <p:nvPr/>
        </p:nvSpPr>
        <p:spPr>
          <a:xfrm>
            <a:off x="3721781" y="2700933"/>
            <a:ext cx="3534001"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DESCRIPCIÓN CUALITATIVA</a:t>
            </a:r>
          </a:p>
        </p:txBody>
      </p:sp>
      <p:sp>
        <p:nvSpPr>
          <p:cNvPr id="71" name="TextBox 70"/>
          <p:cNvSpPr txBox="1"/>
          <p:nvPr/>
        </p:nvSpPr>
        <p:spPr>
          <a:xfrm>
            <a:off x="11391352" y="2700933"/>
            <a:ext cx="2308080"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INTERPRETACIÓN</a:t>
            </a:r>
          </a:p>
        </p:txBody>
      </p:sp>
      <p:sp>
        <p:nvSpPr>
          <p:cNvPr id="72" name="TextBox 71"/>
          <p:cNvSpPr txBox="1"/>
          <p:nvPr/>
        </p:nvSpPr>
        <p:spPr>
          <a:xfrm>
            <a:off x="1912388" y="3477518"/>
            <a:ext cx="34985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1</a:t>
            </a:r>
          </a:p>
        </p:txBody>
      </p:sp>
      <p:sp>
        <p:nvSpPr>
          <p:cNvPr id="73" name="TextBox 72"/>
          <p:cNvSpPr txBox="1"/>
          <p:nvPr/>
        </p:nvSpPr>
        <p:spPr>
          <a:xfrm>
            <a:off x="3565178" y="3572768"/>
            <a:ext cx="2107805"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Muy deficiente</a:t>
            </a:r>
          </a:p>
        </p:txBody>
      </p:sp>
      <p:sp>
        <p:nvSpPr>
          <p:cNvPr id="74" name="TextBox 73"/>
          <p:cNvSpPr txBox="1"/>
          <p:nvPr/>
        </p:nvSpPr>
        <p:spPr>
          <a:xfrm>
            <a:off x="7879110" y="3572768"/>
            <a:ext cx="6116038"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Carencias severas: compromete la viabilidad.</a:t>
            </a:r>
          </a:p>
        </p:txBody>
      </p:sp>
      <p:sp>
        <p:nvSpPr>
          <p:cNvPr id="75" name="TextBox 74"/>
          <p:cNvSpPr txBox="1"/>
          <p:nvPr/>
        </p:nvSpPr>
        <p:spPr>
          <a:xfrm>
            <a:off x="1912388" y="4754612"/>
            <a:ext cx="34985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a:t>
            </a:r>
          </a:p>
        </p:txBody>
      </p:sp>
      <p:sp>
        <p:nvSpPr>
          <p:cNvPr id="76" name="TextBox 75"/>
          <p:cNvSpPr txBox="1"/>
          <p:nvPr/>
        </p:nvSpPr>
        <p:spPr>
          <a:xfrm>
            <a:off x="3565178" y="4849862"/>
            <a:ext cx="1517749"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Deficiente</a:t>
            </a:r>
          </a:p>
        </p:txBody>
      </p:sp>
      <p:sp>
        <p:nvSpPr>
          <p:cNvPr id="77" name="TextBox 76"/>
          <p:cNvSpPr txBox="1"/>
          <p:nvPr/>
        </p:nvSpPr>
        <p:spPr>
          <a:xfrm>
            <a:off x="7879110" y="4849862"/>
            <a:ext cx="6080516"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Limitaciones importantes para su aplicación.</a:t>
            </a:r>
          </a:p>
        </p:txBody>
      </p:sp>
      <p:sp>
        <p:nvSpPr>
          <p:cNvPr id="78" name="TextBox 77"/>
          <p:cNvSpPr txBox="1"/>
          <p:nvPr/>
        </p:nvSpPr>
        <p:spPr>
          <a:xfrm>
            <a:off x="1912388" y="6031706"/>
            <a:ext cx="34985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79" name="TextBox 78"/>
          <p:cNvSpPr txBox="1"/>
          <p:nvPr/>
        </p:nvSpPr>
        <p:spPr>
          <a:xfrm>
            <a:off x="3565178" y="6126956"/>
            <a:ext cx="1503444"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Aceptable</a:t>
            </a:r>
          </a:p>
        </p:txBody>
      </p:sp>
      <p:sp>
        <p:nvSpPr>
          <p:cNvPr id="80" name="TextBox 79"/>
          <p:cNvSpPr txBox="1"/>
          <p:nvPr/>
        </p:nvSpPr>
        <p:spPr>
          <a:xfrm>
            <a:off x="7879110" y="6126956"/>
            <a:ext cx="4244286"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Cumple los requisitos mínimos.</a:t>
            </a:r>
          </a:p>
        </p:txBody>
      </p:sp>
      <p:sp>
        <p:nvSpPr>
          <p:cNvPr id="81" name="TextBox 80"/>
          <p:cNvSpPr txBox="1"/>
          <p:nvPr/>
        </p:nvSpPr>
        <p:spPr>
          <a:xfrm>
            <a:off x="1912388" y="7308800"/>
            <a:ext cx="34985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82" name="TextBox 81"/>
          <p:cNvSpPr txBox="1"/>
          <p:nvPr/>
        </p:nvSpPr>
        <p:spPr>
          <a:xfrm>
            <a:off x="3565178" y="7404050"/>
            <a:ext cx="961287"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Bueno</a:t>
            </a:r>
          </a:p>
        </p:txBody>
      </p:sp>
      <p:sp>
        <p:nvSpPr>
          <p:cNvPr id="83" name="TextBox 82"/>
          <p:cNvSpPr txBox="1"/>
          <p:nvPr/>
        </p:nvSpPr>
        <p:spPr>
          <a:xfrm>
            <a:off x="7879110" y="7404050"/>
            <a:ext cx="5841986"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Supera lo esperado: aporta ventajas claras.</a:t>
            </a:r>
          </a:p>
        </p:txBody>
      </p:sp>
      <p:sp>
        <p:nvSpPr>
          <p:cNvPr id="84" name="TextBox 83"/>
          <p:cNvSpPr txBox="1"/>
          <p:nvPr/>
        </p:nvSpPr>
        <p:spPr>
          <a:xfrm>
            <a:off x="1912388" y="8586192"/>
            <a:ext cx="34985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85" name="TextBox 84"/>
          <p:cNvSpPr txBox="1"/>
          <p:nvPr/>
        </p:nvSpPr>
        <p:spPr>
          <a:xfrm>
            <a:off x="3565178" y="8681442"/>
            <a:ext cx="1458760"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Excelente</a:t>
            </a:r>
          </a:p>
        </p:txBody>
      </p:sp>
      <p:sp>
        <p:nvSpPr>
          <p:cNvPr id="86" name="TextBox 85"/>
          <p:cNvSpPr txBox="1"/>
          <p:nvPr/>
        </p:nvSpPr>
        <p:spPr>
          <a:xfrm>
            <a:off x="7879110" y="8681442"/>
            <a:ext cx="7327975"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Desempeño excepcional y alta adecuación al proyecto.</a:t>
            </a:r>
          </a:p>
        </p:txBody>
      </p:sp>
      <p:sp>
        <p:nvSpPr>
          <p:cNvPr id="87" name="TextBox 86"/>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88" name="TextBox 87"/>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01</a:t>
            </a:r>
          </a:p>
        </p:txBody>
      </p:sp>
      <p:sp>
        <p:nvSpPr>
          <p:cNvPr id="89" name="TextBox 88"/>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90" name="TextBox 89"/>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91" name="TextBox 90"/>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92" name="TextBox 91"/>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93" name="TextBox 92"/>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94" name="TextBox 93"/>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95" name="TextBox 94"/>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656183"/>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467570"/>
            <a:ext cx="16830675" cy="7147917"/>
          </a:xfrm>
          <a:prstGeom prst="rect">
            <a:avLst/>
          </a:prstGeom>
          <a:solidFill>
            <a:srgbClr val="0D2748">
              <a:alpha val="82000"/>
            </a:srgbClr>
          </a:solidFill>
          <a:ln w="9525">
            <a:solidFill>
              <a:srgbClr val="6D8FB2">
                <a:alpha val="6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47725" y="2586633"/>
            <a:ext cx="912584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7725" y="3100983"/>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964043"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973568" y="2586633"/>
            <a:ext cx="248885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973568" y="31009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2452896"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462421" y="2586633"/>
            <a:ext cx="248885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2462421" y="31009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4941748"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4951273" y="2586633"/>
            <a:ext cx="2489002"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4951273" y="3100983"/>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47725" y="3110508"/>
            <a:ext cx="912584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47725" y="4155281"/>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964043" y="3110508"/>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973568" y="3110508"/>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973568" y="4155281"/>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2452896" y="3110508"/>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2462421" y="3110508"/>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2462421" y="4155281"/>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4941748" y="3110508"/>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4951273" y="3110508"/>
            <a:ext cx="2489002"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4951273" y="4155281"/>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47725" y="4164806"/>
            <a:ext cx="912584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47725" y="5209580"/>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964043" y="4164806"/>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973568" y="4164806"/>
            <a:ext cx="248885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973568" y="520958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2452896" y="4164806"/>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462421" y="4164806"/>
            <a:ext cx="248885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2462421" y="520958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4941748" y="4164806"/>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951273" y="4164806"/>
            <a:ext cx="2489002"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4951273" y="5209580"/>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47725" y="5219105"/>
            <a:ext cx="912584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47725" y="6263878"/>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964043" y="5219105"/>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973568" y="5219105"/>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973568" y="626387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2452896" y="5219105"/>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2462421" y="5219105"/>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2462421" y="626387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4941748" y="5219105"/>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4951273" y="5219105"/>
            <a:ext cx="2489002"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4951273" y="6263878"/>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47725" y="6273403"/>
            <a:ext cx="912584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847725" y="7318177"/>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964043" y="6273403"/>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973568" y="6273403"/>
            <a:ext cx="248885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973568" y="7318177"/>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2452896" y="6273403"/>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2462421" y="6273403"/>
            <a:ext cx="2488853"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2462421" y="7318177"/>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941748" y="6273403"/>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51273" y="6273403"/>
            <a:ext cx="2489002" cy="105429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4951273" y="7318177"/>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847725" y="7327702"/>
            <a:ext cx="912584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847725" y="8372475"/>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9964043" y="7327702"/>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9973568" y="7327702"/>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9973568" y="8372475"/>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2452896" y="7327702"/>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2462421" y="7327702"/>
            <a:ext cx="2488853"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462421" y="8372475"/>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4941748" y="7327702"/>
            <a:ext cx="9525" cy="105429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4951273" y="7327702"/>
            <a:ext cx="2489002" cy="105429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4951273" y="8372475"/>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847725" y="8382000"/>
            <a:ext cx="9125843" cy="111442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847725" y="8382000"/>
            <a:ext cx="912584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847725" y="9486900"/>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9964043" y="8382000"/>
            <a:ext cx="9525" cy="11144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9973568" y="8382000"/>
            <a:ext cx="2488853" cy="111442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9973568" y="8382000"/>
            <a:ext cx="248885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9973568" y="948690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2452896" y="8382000"/>
            <a:ext cx="9525" cy="11144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2462421" y="8382000"/>
            <a:ext cx="2488853" cy="111442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2462421" y="8382000"/>
            <a:ext cx="248885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2462421" y="948690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4941748" y="8382000"/>
            <a:ext cx="9525" cy="11144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4951273" y="8382000"/>
            <a:ext cx="2489002" cy="111442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4951273" y="8382000"/>
            <a:ext cx="2489002"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4951273" y="9486900"/>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4925616"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4930378" y="9944100"/>
            <a:ext cx="230606"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981075" y="1663750"/>
            <a:ext cx="4404378" cy="266700"/>
          </a:xfrm>
          <a:prstGeom prst="rect">
            <a:avLst/>
          </a:prstGeom>
          <a:noFill/>
        </p:spPr>
        <p:txBody>
          <a:bodyPr wrap="none" lIns="0" rIns="0" tIns="0" bIns="0" anchor="t">
            <a:spAutoFit/>
          </a:bodyPr>
          <a:lstStyle/>
          <a:p>
            <a:pPr algn="l">
              <a:lnSpc>
                <a:spcPct val="95800"/>
              </a:lnSpc>
            </a:pPr>
            <a:r>
              <a:rPr sz="1650" b="1" i="0" spc="148">
                <a:solidFill>
                  <a:srgbClr val="6D8FB2"/>
                </a:solidFill>
                <a:latin typeface="Barlow"/>
              </a:rPr>
              <a:t>METODOLOGÍA DE CIENCIA DE DATOS</a:t>
            </a:r>
          </a:p>
        </p:txBody>
      </p:sp>
      <p:sp>
        <p:nvSpPr>
          <p:cNvPr id="102" name="TextBox 101"/>
          <p:cNvSpPr txBox="1"/>
          <p:nvPr/>
        </p:nvSpPr>
        <p:spPr>
          <a:xfrm>
            <a:off x="981075" y="1895177"/>
            <a:ext cx="10688128"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Comparación de metodologías de ciencia de datos</a:t>
            </a:r>
          </a:p>
        </p:txBody>
      </p:sp>
      <p:sp>
        <p:nvSpPr>
          <p:cNvPr id="103" name="TextBox 102"/>
          <p:cNvSpPr txBox="1"/>
          <p:nvPr/>
        </p:nvSpPr>
        <p:spPr>
          <a:xfrm>
            <a:off x="1076325" y="2700933"/>
            <a:ext cx="1276326" cy="304800"/>
          </a:xfrm>
          <a:prstGeom prst="rect">
            <a:avLst/>
          </a:prstGeom>
          <a:noFill/>
        </p:spPr>
        <p:txBody>
          <a:bodyPr wrap="none" lIns="0" rIns="0" tIns="0" bIns="0" anchor="t">
            <a:spAutoFit/>
          </a:bodyPr>
          <a:lstStyle/>
          <a:p>
            <a:pPr algn="l">
              <a:lnSpc>
                <a:spcPct val="100000"/>
              </a:lnSpc>
            </a:pPr>
            <a:r>
              <a:rPr sz="1875" b="1" i="0" spc="103">
                <a:solidFill>
                  <a:srgbClr val="F3F7FC"/>
                </a:solidFill>
                <a:latin typeface="Barlow"/>
              </a:rPr>
              <a:t>CRITERIO</a:t>
            </a:r>
          </a:p>
        </p:txBody>
      </p:sp>
      <p:sp>
        <p:nvSpPr>
          <p:cNvPr id="104" name="TextBox 103"/>
          <p:cNvSpPr txBox="1"/>
          <p:nvPr/>
        </p:nvSpPr>
        <p:spPr>
          <a:xfrm>
            <a:off x="10544449" y="2700933"/>
            <a:ext cx="1337566"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CRISP-DM</a:t>
            </a:r>
          </a:p>
        </p:txBody>
      </p:sp>
      <p:sp>
        <p:nvSpPr>
          <p:cNvPr id="105" name="TextBox 104"/>
          <p:cNvSpPr txBox="1"/>
          <p:nvPr/>
        </p:nvSpPr>
        <p:spPr>
          <a:xfrm>
            <a:off x="13393674" y="2700933"/>
            <a:ext cx="616672"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KDD</a:t>
            </a:r>
          </a:p>
        </p:txBody>
      </p:sp>
      <p:sp>
        <p:nvSpPr>
          <p:cNvPr id="106" name="TextBox 105"/>
          <p:cNvSpPr txBox="1"/>
          <p:nvPr/>
        </p:nvSpPr>
        <p:spPr>
          <a:xfrm>
            <a:off x="15690866" y="2700933"/>
            <a:ext cx="1009668"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SEMMA</a:t>
            </a:r>
          </a:p>
        </p:txBody>
      </p:sp>
      <p:sp>
        <p:nvSpPr>
          <p:cNvPr id="107" name="TextBox 106"/>
          <p:cNvSpPr txBox="1"/>
          <p:nvPr/>
        </p:nvSpPr>
        <p:spPr>
          <a:xfrm>
            <a:off x="1076325" y="3461445"/>
            <a:ext cx="3524036"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Comprensión del negocio</a:t>
            </a:r>
          </a:p>
        </p:txBody>
      </p:sp>
      <p:sp>
        <p:nvSpPr>
          <p:cNvPr id="108" name="TextBox 107"/>
          <p:cNvSpPr txBox="1"/>
          <p:nvPr/>
        </p:nvSpPr>
        <p:spPr>
          <a:xfrm>
            <a:off x="11036784" y="3366195"/>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09" name="TextBox 108"/>
          <p:cNvSpPr txBox="1"/>
          <p:nvPr/>
        </p:nvSpPr>
        <p:spPr>
          <a:xfrm>
            <a:off x="13525637" y="3366195"/>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a:t>
            </a:r>
          </a:p>
        </p:txBody>
      </p:sp>
      <p:sp>
        <p:nvSpPr>
          <p:cNvPr id="110" name="TextBox 109"/>
          <p:cNvSpPr txBox="1"/>
          <p:nvPr/>
        </p:nvSpPr>
        <p:spPr>
          <a:xfrm>
            <a:off x="16019401" y="3366195"/>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a:t>
            </a:r>
          </a:p>
        </p:txBody>
      </p:sp>
      <p:sp>
        <p:nvSpPr>
          <p:cNvPr id="111" name="TextBox 110"/>
          <p:cNvSpPr txBox="1"/>
          <p:nvPr/>
        </p:nvSpPr>
        <p:spPr>
          <a:xfrm>
            <a:off x="1076325" y="4515743"/>
            <a:ext cx="4532483"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Iteratividad del proceso analítico</a:t>
            </a:r>
          </a:p>
        </p:txBody>
      </p:sp>
      <p:sp>
        <p:nvSpPr>
          <p:cNvPr id="112" name="TextBox 111"/>
          <p:cNvSpPr txBox="1"/>
          <p:nvPr/>
        </p:nvSpPr>
        <p:spPr>
          <a:xfrm>
            <a:off x="11036784" y="442049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13" name="TextBox 112"/>
          <p:cNvSpPr txBox="1"/>
          <p:nvPr/>
        </p:nvSpPr>
        <p:spPr>
          <a:xfrm>
            <a:off x="13525637" y="442049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14" name="TextBox 113"/>
          <p:cNvSpPr txBox="1"/>
          <p:nvPr/>
        </p:nvSpPr>
        <p:spPr>
          <a:xfrm>
            <a:off x="16019401" y="442049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15" name="TextBox 114"/>
          <p:cNvSpPr txBox="1"/>
          <p:nvPr/>
        </p:nvSpPr>
        <p:spPr>
          <a:xfrm>
            <a:off x="1076325" y="5570041"/>
            <a:ext cx="4668625"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Detalle en la preparación de datos</a:t>
            </a:r>
          </a:p>
        </p:txBody>
      </p:sp>
      <p:sp>
        <p:nvSpPr>
          <p:cNvPr id="116" name="TextBox 115"/>
          <p:cNvSpPr txBox="1"/>
          <p:nvPr/>
        </p:nvSpPr>
        <p:spPr>
          <a:xfrm>
            <a:off x="11036784" y="5474791"/>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17" name="TextBox 116"/>
          <p:cNvSpPr txBox="1"/>
          <p:nvPr/>
        </p:nvSpPr>
        <p:spPr>
          <a:xfrm>
            <a:off x="13525637" y="5474791"/>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18" name="TextBox 117"/>
          <p:cNvSpPr txBox="1"/>
          <p:nvPr/>
        </p:nvSpPr>
        <p:spPr>
          <a:xfrm>
            <a:off x="16019401" y="5474791"/>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19" name="TextBox 118"/>
          <p:cNvSpPr txBox="1"/>
          <p:nvPr/>
        </p:nvSpPr>
        <p:spPr>
          <a:xfrm>
            <a:off x="1076325" y="6624340"/>
            <a:ext cx="4730347"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Madurez y adopción en la industria</a:t>
            </a:r>
          </a:p>
        </p:txBody>
      </p:sp>
      <p:sp>
        <p:nvSpPr>
          <p:cNvPr id="120" name="TextBox 119"/>
          <p:cNvSpPr txBox="1"/>
          <p:nvPr/>
        </p:nvSpPr>
        <p:spPr>
          <a:xfrm>
            <a:off x="11036784" y="6529090"/>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21" name="TextBox 120"/>
          <p:cNvSpPr txBox="1"/>
          <p:nvPr/>
        </p:nvSpPr>
        <p:spPr>
          <a:xfrm>
            <a:off x="13525637" y="6529090"/>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22" name="TextBox 121"/>
          <p:cNvSpPr txBox="1"/>
          <p:nvPr/>
        </p:nvSpPr>
        <p:spPr>
          <a:xfrm>
            <a:off x="16019401" y="6529090"/>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a:t>
            </a:r>
          </a:p>
        </p:txBody>
      </p:sp>
      <p:sp>
        <p:nvSpPr>
          <p:cNvPr id="123" name="TextBox 122"/>
          <p:cNvSpPr txBox="1"/>
          <p:nvPr/>
        </p:nvSpPr>
        <p:spPr>
          <a:xfrm>
            <a:off x="1076325" y="7678638"/>
            <a:ext cx="4292185"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Flexibilidad para modelos de IA</a:t>
            </a:r>
          </a:p>
        </p:txBody>
      </p:sp>
      <p:sp>
        <p:nvSpPr>
          <p:cNvPr id="124" name="TextBox 123"/>
          <p:cNvSpPr txBox="1"/>
          <p:nvPr/>
        </p:nvSpPr>
        <p:spPr>
          <a:xfrm>
            <a:off x="11036784" y="758338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25" name="TextBox 124"/>
          <p:cNvSpPr txBox="1"/>
          <p:nvPr/>
        </p:nvSpPr>
        <p:spPr>
          <a:xfrm>
            <a:off x="13525637" y="758338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26" name="TextBox 125"/>
          <p:cNvSpPr txBox="1"/>
          <p:nvPr/>
        </p:nvSpPr>
        <p:spPr>
          <a:xfrm>
            <a:off x="16019401" y="758338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27" name="TextBox 126"/>
          <p:cNvSpPr txBox="1"/>
          <p:nvPr/>
        </p:nvSpPr>
        <p:spPr>
          <a:xfrm>
            <a:off x="1076325" y="8782050"/>
            <a:ext cx="768084"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Total</a:t>
            </a:r>
          </a:p>
        </p:txBody>
      </p:sp>
      <p:sp>
        <p:nvSpPr>
          <p:cNvPr id="128" name="TextBox 127"/>
          <p:cNvSpPr txBox="1"/>
          <p:nvPr/>
        </p:nvSpPr>
        <p:spPr>
          <a:xfrm>
            <a:off x="10908036" y="8686800"/>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23</a:t>
            </a:r>
          </a:p>
        </p:txBody>
      </p:sp>
      <p:sp>
        <p:nvSpPr>
          <p:cNvPr id="129" name="TextBox 128"/>
          <p:cNvSpPr txBox="1"/>
          <p:nvPr/>
        </p:nvSpPr>
        <p:spPr>
          <a:xfrm>
            <a:off x="13396889" y="8686800"/>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14</a:t>
            </a:r>
          </a:p>
        </p:txBody>
      </p:sp>
      <p:sp>
        <p:nvSpPr>
          <p:cNvPr id="130" name="TextBox 129"/>
          <p:cNvSpPr txBox="1"/>
          <p:nvPr/>
        </p:nvSpPr>
        <p:spPr>
          <a:xfrm>
            <a:off x="15890653" y="8686800"/>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14</a:t>
            </a:r>
          </a:p>
        </p:txBody>
      </p:sp>
      <p:sp>
        <p:nvSpPr>
          <p:cNvPr id="131" name="TextBox 130"/>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132" name="TextBox 131"/>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133" name="TextBox 132"/>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02</a:t>
            </a:r>
          </a:p>
        </p:txBody>
      </p:sp>
      <p:sp>
        <p:nvSpPr>
          <p:cNvPr id="134" name="TextBox 133"/>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135" name="TextBox 134"/>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136" name="TextBox 135"/>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137" name="TextBox 136"/>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138" name="TextBox 137"/>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139" name="TextBox 138"/>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656183"/>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467570"/>
            <a:ext cx="16830675" cy="7147917"/>
          </a:xfrm>
          <a:prstGeom prst="rect">
            <a:avLst/>
          </a:prstGeom>
          <a:solidFill>
            <a:srgbClr val="0D2748">
              <a:alpha val="82000"/>
            </a:srgbClr>
          </a:solidFill>
          <a:ln w="9525">
            <a:solidFill>
              <a:srgbClr val="6D8FB2">
                <a:alpha val="6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47725" y="2586633"/>
            <a:ext cx="912584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7725" y="3100983"/>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964043"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973568" y="2586633"/>
            <a:ext cx="248885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973568" y="31009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2452896"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462421" y="2586633"/>
            <a:ext cx="248885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2462421" y="31009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4941748"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4951273" y="2586633"/>
            <a:ext cx="2489002"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4951273" y="3100983"/>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47725" y="3110508"/>
            <a:ext cx="912584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47725" y="4005858"/>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964043" y="31105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973568" y="311050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973568" y="400585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2452896" y="31105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2462421" y="311050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2462421" y="400585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4941748" y="31105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4951273" y="3110508"/>
            <a:ext cx="2489002"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4951273" y="4005858"/>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47725" y="4015383"/>
            <a:ext cx="912584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47725" y="4910733"/>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964043" y="40153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973568" y="401538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973568" y="491073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2452896" y="40153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462421" y="401538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2462421" y="491073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4941748" y="40153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951273" y="4015383"/>
            <a:ext cx="2489002"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4951273" y="4910733"/>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47725" y="4920258"/>
            <a:ext cx="912584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47725" y="5815608"/>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964043" y="492025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973568" y="492025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973568" y="581560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2452896" y="492025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2462421" y="492025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2462421" y="581560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4941748" y="492025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4951273" y="4920258"/>
            <a:ext cx="2489002"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4951273" y="5815608"/>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47725" y="5825133"/>
            <a:ext cx="912584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847725" y="6720483"/>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964043" y="582513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973568" y="582513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973568" y="67204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2452896" y="582513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2462421" y="582513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2462421" y="672048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941748" y="582513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51273" y="5825133"/>
            <a:ext cx="2489002"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4951273" y="6720483"/>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847725" y="6730008"/>
            <a:ext cx="912584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847725" y="7625358"/>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9964043" y="67300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9973568" y="673000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9973568" y="762535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2452896" y="67300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2462421" y="6730008"/>
            <a:ext cx="2488853"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462421" y="7625358"/>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4941748" y="6730008"/>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4951273" y="6730008"/>
            <a:ext cx="2489002" cy="904875"/>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4951273" y="7625358"/>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847725" y="7634883"/>
            <a:ext cx="912584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847725" y="8530233"/>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9964043" y="76348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9973568" y="763488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9973568" y="853023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2452896" y="76348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2462421" y="7634883"/>
            <a:ext cx="2488853"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2462421" y="8530233"/>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4941748" y="7634883"/>
            <a:ext cx="9525" cy="904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4951273" y="7634883"/>
            <a:ext cx="2489002" cy="904875"/>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4951273" y="8530233"/>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847725" y="8539758"/>
            <a:ext cx="9125843" cy="956667"/>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47725" y="8539758"/>
            <a:ext cx="912584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47725" y="9486900"/>
            <a:ext cx="912584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9964043" y="8539758"/>
            <a:ext cx="9525" cy="956667"/>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9973568" y="8539758"/>
            <a:ext cx="2488853" cy="956667"/>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9973568" y="8539758"/>
            <a:ext cx="248885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9973568" y="948690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2452896" y="8539758"/>
            <a:ext cx="9525" cy="956667"/>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2462421" y="8539758"/>
            <a:ext cx="2488853" cy="956667"/>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2462421" y="8539758"/>
            <a:ext cx="2488853"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2462421" y="9486900"/>
            <a:ext cx="248885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4941748" y="8539758"/>
            <a:ext cx="9525" cy="956667"/>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4951273" y="8539758"/>
            <a:ext cx="2489002" cy="956667"/>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4951273" y="8539758"/>
            <a:ext cx="2489002"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4951273" y="9486900"/>
            <a:ext cx="248900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741319"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746081" y="9944100"/>
            <a:ext cx="230606"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981075" y="1663750"/>
            <a:ext cx="5094571" cy="266700"/>
          </a:xfrm>
          <a:prstGeom prst="rect">
            <a:avLst/>
          </a:prstGeom>
          <a:noFill/>
        </p:spPr>
        <p:txBody>
          <a:bodyPr wrap="none" lIns="0" rIns="0" tIns="0" bIns="0" anchor="t">
            <a:spAutoFit/>
          </a:bodyPr>
          <a:lstStyle/>
          <a:p>
            <a:pPr algn="l">
              <a:lnSpc>
                <a:spcPct val="95800"/>
              </a:lnSpc>
            </a:pPr>
            <a:r>
              <a:rPr sz="1650" b="1" i="0" spc="148">
                <a:solidFill>
                  <a:srgbClr val="6D8FB2"/>
                </a:solidFill>
                <a:latin typeface="Barlow"/>
              </a:rPr>
              <a:t>METODOLOGÍA DE GESTIÓN DE PROYECTOS</a:t>
            </a:r>
          </a:p>
        </p:txBody>
      </p:sp>
      <p:sp>
        <p:nvSpPr>
          <p:cNvPr id="114" name="TextBox 113"/>
          <p:cNvSpPr txBox="1"/>
          <p:nvPr/>
        </p:nvSpPr>
        <p:spPr>
          <a:xfrm>
            <a:off x="981075" y="1895177"/>
            <a:ext cx="7871901"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Comparación de metodologías ágiles</a:t>
            </a:r>
          </a:p>
        </p:txBody>
      </p:sp>
      <p:sp>
        <p:nvSpPr>
          <p:cNvPr id="115" name="TextBox 114"/>
          <p:cNvSpPr txBox="1"/>
          <p:nvPr/>
        </p:nvSpPr>
        <p:spPr>
          <a:xfrm>
            <a:off x="1076325" y="2700933"/>
            <a:ext cx="1276326" cy="304800"/>
          </a:xfrm>
          <a:prstGeom prst="rect">
            <a:avLst/>
          </a:prstGeom>
          <a:noFill/>
        </p:spPr>
        <p:txBody>
          <a:bodyPr wrap="none" lIns="0" rIns="0" tIns="0" bIns="0" anchor="t">
            <a:spAutoFit/>
          </a:bodyPr>
          <a:lstStyle/>
          <a:p>
            <a:pPr algn="l">
              <a:lnSpc>
                <a:spcPct val="100000"/>
              </a:lnSpc>
            </a:pPr>
            <a:r>
              <a:rPr sz="1875" b="1" i="0" spc="103">
                <a:solidFill>
                  <a:srgbClr val="F3F7FC"/>
                </a:solidFill>
                <a:latin typeface="Barlow"/>
              </a:rPr>
              <a:t>CRITERIO</a:t>
            </a:r>
          </a:p>
        </p:txBody>
      </p:sp>
      <p:sp>
        <p:nvSpPr>
          <p:cNvPr id="116" name="TextBox 115"/>
          <p:cNvSpPr txBox="1"/>
          <p:nvPr/>
        </p:nvSpPr>
        <p:spPr>
          <a:xfrm>
            <a:off x="10723674" y="2700933"/>
            <a:ext cx="978968"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SCRUM</a:t>
            </a:r>
          </a:p>
        </p:txBody>
      </p:sp>
      <p:sp>
        <p:nvSpPr>
          <p:cNvPr id="117" name="TextBox 116"/>
          <p:cNvSpPr txBox="1"/>
          <p:nvPr/>
        </p:nvSpPr>
        <p:spPr>
          <a:xfrm>
            <a:off x="13112383" y="2700933"/>
            <a:ext cx="1179403"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KANBAN</a:t>
            </a:r>
          </a:p>
        </p:txBody>
      </p:sp>
      <p:sp>
        <p:nvSpPr>
          <p:cNvPr id="118" name="TextBox 117"/>
          <p:cNvSpPr txBox="1"/>
          <p:nvPr/>
        </p:nvSpPr>
        <p:spPr>
          <a:xfrm>
            <a:off x="15976330" y="2700933"/>
            <a:ext cx="438739"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XP</a:t>
            </a:r>
          </a:p>
        </p:txBody>
      </p:sp>
      <p:sp>
        <p:nvSpPr>
          <p:cNvPr id="119" name="TextBox 118"/>
          <p:cNvSpPr txBox="1"/>
          <p:nvPr/>
        </p:nvSpPr>
        <p:spPr>
          <a:xfrm>
            <a:off x="1076325" y="3386733"/>
            <a:ext cx="4559647"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Gestión visual del flujo de trabajo</a:t>
            </a:r>
          </a:p>
        </p:txBody>
      </p:sp>
      <p:sp>
        <p:nvSpPr>
          <p:cNvPr id="120" name="TextBox 119"/>
          <p:cNvSpPr txBox="1"/>
          <p:nvPr/>
        </p:nvSpPr>
        <p:spPr>
          <a:xfrm>
            <a:off x="11036784" y="32914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21" name="TextBox 120"/>
          <p:cNvSpPr txBox="1"/>
          <p:nvPr/>
        </p:nvSpPr>
        <p:spPr>
          <a:xfrm>
            <a:off x="13525637" y="32914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22" name="TextBox 121"/>
          <p:cNvSpPr txBox="1"/>
          <p:nvPr/>
        </p:nvSpPr>
        <p:spPr>
          <a:xfrm>
            <a:off x="16019401" y="32914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23" name="TextBox 122"/>
          <p:cNvSpPr txBox="1"/>
          <p:nvPr/>
        </p:nvSpPr>
        <p:spPr>
          <a:xfrm>
            <a:off x="1076325" y="4291608"/>
            <a:ext cx="4775674"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Flexibilidad ante cambios técnicos</a:t>
            </a:r>
          </a:p>
        </p:txBody>
      </p:sp>
      <p:sp>
        <p:nvSpPr>
          <p:cNvPr id="124" name="TextBox 123"/>
          <p:cNvSpPr txBox="1"/>
          <p:nvPr/>
        </p:nvSpPr>
        <p:spPr>
          <a:xfrm>
            <a:off x="11036784" y="41963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25" name="TextBox 124"/>
          <p:cNvSpPr txBox="1"/>
          <p:nvPr/>
        </p:nvSpPr>
        <p:spPr>
          <a:xfrm>
            <a:off x="13525637" y="41963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26" name="TextBox 125"/>
          <p:cNvSpPr txBox="1"/>
          <p:nvPr/>
        </p:nvSpPr>
        <p:spPr>
          <a:xfrm>
            <a:off x="16019401" y="41963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27" name="TextBox 126"/>
          <p:cNvSpPr txBox="1"/>
          <p:nvPr/>
        </p:nvSpPr>
        <p:spPr>
          <a:xfrm>
            <a:off x="1076325" y="5196483"/>
            <a:ext cx="3319099"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Roles formales mínimos</a:t>
            </a:r>
          </a:p>
        </p:txBody>
      </p:sp>
      <p:sp>
        <p:nvSpPr>
          <p:cNvPr id="128" name="TextBox 127"/>
          <p:cNvSpPr txBox="1"/>
          <p:nvPr/>
        </p:nvSpPr>
        <p:spPr>
          <a:xfrm>
            <a:off x="11036784" y="510123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a:t>
            </a:r>
          </a:p>
        </p:txBody>
      </p:sp>
      <p:sp>
        <p:nvSpPr>
          <p:cNvPr id="129" name="TextBox 128"/>
          <p:cNvSpPr txBox="1"/>
          <p:nvPr/>
        </p:nvSpPr>
        <p:spPr>
          <a:xfrm>
            <a:off x="13525637" y="510123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30" name="TextBox 129"/>
          <p:cNvSpPr txBox="1"/>
          <p:nvPr/>
        </p:nvSpPr>
        <p:spPr>
          <a:xfrm>
            <a:off x="16019401" y="510123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31" name="TextBox 130"/>
          <p:cNvSpPr txBox="1"/>
          <p:nvPr/>
        </p:nvSpPr>
        <p:spPr>
          <a:xfrm>
            <a:off x="1076325" y="6101358"/>
            <a:ext cx="5082195"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Control de codificación e integración</a:t>
            </a:r>
          </a:p>
        </p:txBody>
      </p:sp>
      <p:sp>
        <p:nvSpPr>
          <p:cNvPr id="132" name="TextBox 131"/>
          <p:cNvSpPr txBox="1"/>
          <p:nvPr/>
        </p:nvSpPr>
        <p:spPr>
          <a:xfrm>
            <a:off x="11036784" y="600610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33" name="TextBox 132"/>
          <p:cNvSpPr txBox="1"/>
          <p:nvPr/>
        </p:nvSpPr>
        <p:spPr>
          <a:xfrm>
            <a:off x="13525637" y="600610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34" name="TextBox 133"/>
          <p:cNvSpPr txBox="1"/>
          <p:nvPr/>
        </p:nvSpPr>
        <p:spPr>
          <a:xfrm>
            <a:off x="16019401" y="600610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35" name="TextBox 134"/>
          <p:cNvSpPr txBox="1"/>
          <p:nvPr/>
        </p:nvSpPr>
        <p:spPr>
          <a:xfrm>
            <a:off x="1076325" y="7006233"/>
            <a:ext cx="5586740"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Desarrollo incremental de interfaz y APIs</a:t>
            </a:r>
          </a:p>
        </p:txBody>
      </p:sp>
      <p:sp>
        <p:nvSpPr>
          <p:cNvPr id="136" name="TextBox 135"/>
          <p:cNvSpPr txBox="1"/>
          <p:nvPr/>
        </p:nvSpPr>
        <p:spPr>
          <a:xfrm>
            <a:off x="11036784" y="69109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37" name="TextBox 136"/>
          <p:cNvSpPr txBox="1"/>
          <p:nvPr/>
        </p:nvSpPr>
        <p:spPr>
          <a:xfrm>
            <a:off x="13525637" y="69109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38" name="TextBox 137"/>
          <p:cNvSpPr txBox="1"/>
          <p:nvPr/>
        </p:nvSpPr>
        <p:spPr>
          <a:xfrm>
            <a:off x="16019401" y="6910983"/>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4</a:t>
            </a:r>
          </a:p>
        </p:txBody>
      </p:sp>
      <p:sp>
        <p:nvSpPr>
          <p:cNvPr id="139" name="TextBox 138"/>
          <p:cNvSpPr txBox="1"/>
          <p:nvPr/>
        </p:nvSpPr>
        <p:spPr>
          <a:xfrm>
            <a:off x="1076325" y="7911108"/>
            <a:ext cx="4555307"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Seguimiento continuo sin sprints</a:t>
            </a:r>
          </a:p>
        </p:txBody>
      </p:sp>
      <p:sp>
        <p:nvSpPr>
          <p:cNvPr id="140" name="TextBox 139"/>
          <p:cNvSpPr txBox="1"/>
          <p:nvPr/>
        </p:nvSpPr>
        <p:spPr>
          <a:xfrm>
            <a:off x="11036784" y="78158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41" name="TextBox 140"/>
          <p:cNvSpPr txBox="1"/>
          <p:nvPr/>
        </p:nvSpPr>
        <p:spPr>
          <a:xfrm>
            <a:off x="13525637" y="78158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5</a:t>
            </a:r>
          </a:p>
        </p:txBody>
      </p:sp>
      <p:sp>
        <p:nvSpPr>
          <p:cNvPr id="142" name="TextBox 141"/>
          <p:cNvSpPr txBox="1"/>
          <p:nvPr/>
        </p:nvSpPr>
        <p:spPr>
          <a:xfrm>
            <a:off x="16019401" y="7815858"/>
            <a:ext cx="352746"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a:t>
            </a:r>
          </a:p>
        </p:txBody>
      </p:sp>
      <p:sp>
        <p:nvSpPr>
          <p:cNvPr id="143" name="TextBox 142"/>
          <p:cNvSpPr txBox="1"/>
          <p:nvPr/>
        </p:nvSpPr>
        <p:spPr>
          <a:xfrm>
            <a:off x="1076325" y="8860929"/>
            <a:ext cx="768084" cy="361950"/>
          </a:xfrm>
          <a:prstGeom prst="rect">
            <a:avLst/>
          </a:prstGeom>
          <a:noFill/>
        </p:spPr>
        <p:txBody>
          <a:bodyPr wrap="none" lIns="0" rIns="0" tIns="0" bIns="0" anchor="t">
            <a:spAutoFit/>
          </a:bodyPr>
          <a:lstStyle/>
          <a:p>
            <a:pPr algn="l">
              <a:lnSpc>
                <a:spcPct val="100000"/>
              </a:lnSpc>
            </a:pPr>
            <a:r>
              <a:rPr sz="2250" b="1" i="0">
                <a:solidFill>
                  <a:srgbClr val="F3F7FC"/>
                </a:solidFill>
                <a:latin typeface="Barlow"/>
              </a:rPr>
              <a:t>Total</a:t>
            </a:r>
          </a:p>
        </p:txBody>
      </p:sp>
      <p:sp>
        <p:nvSpPr>
          <p:cNvPr id="144" name="TextBox 143"/>
          <p:cNvSpPr txBox="1"/>
          <p:nvPr/>
        </p:nvSpPr>
        <p:spPr>
          <a:xfrm>
            <a:off x="10908036" y="8765679"/>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21</a:t>
            </a:r>
          </a:p>
        </p:txBody>
      </p:sp>
      <p:sp>
        <p:nvSpPr>
          <p:cNvPr id="145" name="TextBox 144"/>
          <p:cNvSpPr txBox="1"/>
          <p:nvPr/>
        </p:nvSpPr>
        <p:spPr>
          <a:xfrm>
            <a:off x="13396889" y="8765679"/>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30</a:t>
            </a:r>
          </a:p>
        </p:txBody>
      </p:sp>
      <p:sp>
        <p:nvSpPr>
          <p:cNvPr id="146" name="TextBox 145"/>
          <p:cNvSpPr txBox="1"/>
          <p:nvPr/>
        </p:nvSpPr>
        <p:spPr>
          <a:xfrm>
            <a:off x="15890653" y="8765679"/>
            <a:ext cx="610243" cy="542925"/>
          </a:xfrm>
          <a:prstGeom prst="rect">
            <a:avLst/>
          </a:prstGeom>
          <a:noFill/>
        </p:spPr>
        <p:txBody>
          <a:bodyPr wrap="none" lIns="0" rIns="0" tIns="0" bIns="0" anchor="t">
            <a:spAutoFit/>
          </a:bodyPr>
          <a:lstStyle/>
          <a:p>
            <a:pPr algn="ctr">
              <a:lnSpc>
                <a:spcPct val="83300"/>
              </a:lnSpc>
            </a:pPr>
            <a:r>
              <a:rPr sz="3450" b="1" i="0">
                <a:solidFill>
                  <a:srgbClr val="FFD21F"/>
                </a:solidFill>
                <a:latin typeface="Barlow"/>
              </a:rPr>
              <a:t>21</a:t>
            </a:r>
          </a:p>
        </p:txBody>
      </p:sp>
      <p:sp>
        <p:nvSpPr>
          <p:cNvPr id="147" name="TextBox 146"/>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148" name="TextBox 147"/>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149" name="TextBox 148"/>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150" name="TextBox 149"/>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03</a:t>
            </a:r>
          </a:p>
        </p:txBody>
      </p:sp>
      <p:sp>
        <p:nvSpPr>
          <p:cNvPr id="151" name="TextBox 150"/>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152" name="TextBox 151"/>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153" name="TextBox 152"/>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154" name="TextBox 153"/>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155" name="TextBox 154"/>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656183"/>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467570"/>
            <a:ext cx="16830675" cy="7147917"/>
          </a:xfrm>
          <a:prstGeom prst="rect">
            <a:avLst/>
          </a:prstGeom>
          <a:solidFill>
            <a:srgbClr val="0D2748">
              <a:alpha val="82000"/>
            </a:srgbClr>
          </a:solidFill>
          <a:ln w="9525">
            <a:solidFill>
              <a:srgbClr val="6D8FB2">
                <a:alpha val="6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47725" y="2586633"/>
            <a:ext cx="4313932"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7725" y="3100983"/>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52132"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161657" y="2586633"/>
            <a:ext cx="7300615"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161657" y="3100983"/>
            <a:ext cx="730061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2452747" y="2586633"/>
            <a:ext cx="9525" cy="52387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462272" y="2586633"/>
            <a:ext cx="4978003" cy="523875"/>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2462272" y="3100983"/>
            <a:ext cx="497800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47725" y="3110508"/>
            <a:ext cx="4313932" cy="242902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47725" y="5530007"/>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2132" y="3110508"/>
            <a:ext cx="9525" cy="242902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161657" y="3110508"/>
            <a:ext cx="7300615" cy="242902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161657" y="5530007"/>
            <a:ext cx="730061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2452747" y="3110508"/>
            <a:ext cx="9525" cy="242902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462272" y="3110508"/>
            <a:ext cx="4978003" cy="242902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462272" y="5530007"/>
            <a:ext cx="497800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47725" y="5539532"/>
            <a:ext cx="4313932" cy="242902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47725" y="7959030"/>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152132" y="5539532"/>
            <a:ext cx="9525" cy="242902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161657" y="5539532"/>
            <a:ext cx="7300615" cy="242902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161657" y="7959030"/>
            <a:ext cx="730061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2452747" y="5539532"/>
            <a:ext cx="9525" cy="242902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2462272" y="5539532"/>
            <a:ext cx="4978003" cy="242902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2462272" y="7959030"/>
            <a:ext cx="497800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47725" y="7968555"/>
            <a:ext cx="4313932" cy="1527870"/>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7725" y="9486900"/>
            <a:ext cx="4313932"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152132" y="7968555"/>
            <a:ext cx="9525" cy="1527870"/>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161657" y="7968555"/>
            <a:ext cx="7300615" cy="1527870"/>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161657" y="9486900"/>
            <a:ext cx="7300615"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2452747" y="7968555"/>
            <a:ext cx="9525" cy="1527870"/>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2462272" y="7968555"/>
            <a:ext cx="4978003" cy="1527870"/>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2462272" y="9486900"/>
            <a:ext cx="4978003"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674608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557022"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561784" y="9944100"/>
            <a:ext cx="230606"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81075" y="1663750"/>
            <a:ext cx="7650409" cy="266700"/>
          </a:xfrm>
          <a:prstGeom prst="rect">
            <a:avLst/>
          </a:prstGeom>
          <a:noFill/>
        </p:spPr>
        <p:txBody>
          <a:bodyPr wrap="none" lIns="0" rIns="0" tIns="0" bIns="0" anchor="t">
            <a:spAutoFit/>
          </a:bodyPr>
          <a:lstStyle/>
          <a:p>
            <a:pPr algn="l">
              <a:lnSpc>
                <a:spcPct val="95800"/>
              </a:lnSpc>
            </a:pPr>
            <a:r>
              <a:rPr sz="1650" b="1" i="0" spc="148">
                <a:solidFill>
                  <a:srgbClr val="6D8FB2"/>
                </a:solidFill>
                <a:latin typeface="Barlow"/>
              </a:rPr>
              <a:t>IDENTIFICACIÓN DE LOS ACTORES DEL PROCESO DE VALIDACIÓN</a:t>
            </a:r>
          </a:p>
        </p:txBody>
      </p:sp>
      <p:sp>
        <p:nvSpPr>
          <p:cNvPr id="55" name="TextBox 54"/>
          <p:cNvSpPr txBox="1"/>
          <p:nvPr/>
        </p:nvSpPr>
        <p:spPr>
          <a:xfrm>
            <a:off x="981075" y="1895177"/>
            <a:ext cx="7155507"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Actores del proceso de validación</a:t>
            </a:r>
          </a:p>
        </p:txBody>
      </p:sp>
      <p:sp>
        <p:nvSpPr>
          <p:cNvPr id="56" name="TextBox 55"/>
          <p:cNvSpPr txBox="1"/>
          <p:nvPr/>
        </p:nvSpPr>
        <p:spPr>
          <a:xfrm>
            <a:off x="1076325" y="2700933"/>
            <a:ext cx="948428" cy="304800"/>
          </a:xfrm>
          <a:prstGeom prst="rect">
            <a:avLst/>
          </a:prstGeom>
          <a:noFill/>
        </p:spPr>
        <p:txBody>
          <a:bodyPr wrap="none" lIns="0" rIns="0" tIns="0" bIns="0" anchor="t">
            <a:spAutoFit/>
          </a:bodyPr>
          <a:lstStyle/>
          <a:p>
            <a:pPr algn="l">
              <a:lnSpc>
                <a:spcPct val="100000"/>
              </a:lnSpc>
            </a:pPr>
            <a:r>
              <a:rPr sz="1875" b="1" i="0" spc="103">
                <a:solidFill>
                  <a:srgbClr val="F3F7FC"/>
                </a:solidFill>
                <a:latin typeface="Barlow"/>
              </a:rPr>
              <a:t>ACTOR</a:t>
            </a:r>
          </a:p>
        </p:txBody>
      </p:sp>
      <p:sp>
        <p:nvSpPr>
          <p:cNvPr id="57" name="TextBox 56"/>
          <p:cNvSpPr txBox="1"/>
          <p:nvPr/>
        </p:nvSpPr>
        <p:spPr>
          <a:xfrm>
            <a:off x="7481262" y="2700933"/>
            <a:ext cx="2651730"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FUNCIÓN PRINCIPAL</a:t>
            </a:r>
          </a:p>
        </p:txBody>
      </p:sp>
      <p:sp>
        <p:nvSpPr>
          <p:cNvPr id="58" name="TextBox 57"/>
          <p:cNvSpPr txBox="1"/>
          <p:nvPr/>
        </p:nvSpPr>
        <p:spPr>
          <a:xfrm>
            <a:off x="13423773" y="2700933"/>
            <a:ext cx="3054852" cy="304800"/>
          </a:xfrm>
          <a:prstGeom prst="rect">
            <a:avLst/>
          </a:prstGeom>
          <a:noFill/>
        </p:spPr>
        <p:txBody>
          <a:bodyPr wrap="none" lIns="0" rIns="0" tIns="0" bIns="0" anchor="t">
            <a:spAutoFit/>
          </a:bodyPr>
          <a:lstStyle/>
          <a:p>
            <a:pPr algn="ctr">
              <a:lnSpc>
                <a:spcPct val="100000"/>
              </a:lnSpc>
            </a:pPr>
            <a:r>
              <a:rPr sz="1875" b="1" i="0" spc="103">
                <a:solidFill>
                  <a:srgbClr val="F3F7FC"/>
                </a:solidFill>
                <a:latin typeface="Barlow"/>
              </a:rPr>
              <a:t>RESULTADO GENERADO</a:t>
            </a:r>
          </a:p>
        </p:txBody>
      </p:sp>
      <p:sp>
        <p:nvSpPr>
          <p:cNvPr id="59" name="TextBox 58"/>
          <p:cNvSpPr txBox="1"/>
          <p:nvPr/>
        </p:nvSpPr>
        <p:spPr>
          <a:xfrm>
            <a:off x="1076325" y="4148733"/>
            <a:ext cx="3389983"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Equipo de Web Scraping</a:t>
            </a:r>
          </a:p>
        </p:txBody>
      </p:sp>
      <p:sp>
        <p:nvSpPr>
          <p:cNvPr id="60" name="TextBox 59"/>
          <p:cNvSpPr txBox="1"/>
          <p:nvPr/>
        </p:nvSpPr>
        <p:spPr>
          <a:xfrm>
            <a:off x="5390257" y="3977283"/>
            <a:ext cx="6852940" cy="704850"/>
          </a:xfrm>
          <a:prstGeom prst="rect">
            <a:avLst/>
          </a:prstGeom>
          <a:noFill/>
        </p:spPr>
        <p:txBody>
          <a:bodyPr wrap="square" lIns="0" rIns="0" tIns="0" bIns="0" anchor="t">
            <a:spAutoFit/>
          </a:bodyPr>
          <a:lstStyle/>
          <a:p>
            <a:pPr algn="l">
              <a:lnSpc>
                <a:spcPct val="100000"/>
              </a:lnSpc>
            </a:pPr>
            <a:r>
              <a:rPr sz="2250" b="0" i="0">
                <a:solidFill>
                  <a:srgbClr val="F3F7FC"/>
                </a:solidFill>
                <a:latin typeface="Barlow"/>
              </a:rPr>
              <a:t>Extrae datos de productos desde retailers internacionales.</a:t>
            </a:r>
          </a:p>
        </p:txBody>
      </p:sp>
      <p:sp>
        <p:nvSpPr>
          <p:cNvPr id="61" name="TextBox 60"/>
          <p:cNvSpPr txBox="1"/>
          <p:nvPr/>
        </p:nvSpPr>
        <p:spPr>
          <a:xfrm>
            <a:off x="12690872" y="4148733"/>
            <a:ext cx="3419719"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Registros estructurados.</a:t>
            </a:r>
          </a:p>
        </p:txBody>
      </p:sp>
      <p:sp>
        <p:nvSpPr>
          <p:cNvPr id="62" name="TextBox 61"/>
          <p:cNvSpPr txBox="1"/>
          <p:nvPr/>
        </p:nvSpPr>
        <p:spPr>
          <a:xfrm>
            <a:off x="1076325" y="6406307"/>
            <a:ext cx="3866257" cy="704850"/>
          </a:xfrm>
          <a:prstGeom prst="rect">
            <a:avLst/>
          </a:prstGeom>
          <a:noFill/>
        </p:spPr>
        <p:txBody>
          <a:bodyPr wrap="square" lIns="0" rIns="0" tIns="0" bIns="0" anchor="t">
            <a:spAutoFit/>
          </a:bodyPr>
          <a:lstStyle/>
          <a:p>
            <a:pPr algn="l">
              <a:lnSpc>
                <a:spcPct val="100000"/>
              </a:lnSpc>
            </a:pPr>
            <a:r>
              <a:rPr sz="2250" b="1" i="0">
                <a:solidFill>
                  <a:srgbClr val="FFD21F"/>
                </a:solidFill>
                <a:latin typeface="Barlow"/>
              </a:rPr>
              <a:t>Analistas de Product Matching</a:t>
            </a:r>
          </a:p>
        </p:txBody>
      </p:sp>
      <p:sp>
        <p:nvSpPr>
          <p:cNvPr id="63" name="TextBox 62"/>
          <p:cNvSpPr txBox="1"/>
          <p:nvPr/>
        </p:nvSpPr>
        <p:spPr>
          <a:xfrm>
            <a:off x="5390257" y="6406307"/>
            <a:ext cx="6852940" cy="704850"/>
          </a:xfrm>
          <a:prstGeom prst="rect">
            <a:avLst/>
          </a:prstGeom>
          <a:noFill/>
        </p:spPr>
        <p:txBody>
          <a:bodyPr wrap="square" lIns="0" rIns="0" tIns="0" bIns="0" anchor="t">
            <a:spAutoFit/>
          </a:bodyPr>
          <a:lstStyle/>
          <a:p>
            <a:pPr algn="l">
              <a:lnSpc>
                <a:spcPct val="100000"/>
              </a:lnSpc>
            </a:pPr>
            <a:r>
              <a:rPr sz="2250" b="0" i="0">
                <a:solidFill>
                  <a:srgbClr val="F3F7FC"/>
                </a:solidFill>
                <a:latin typeface="Barlow"/>
              </a:rPr>
              <a:t>Validan a mano la correspondencia contra el catálogo oficial.</a:t>
            </a:r>
          </a:p>
        </p:txBody>
      </p:sp>
      <p:sp>
        <p:nvSpPr>
          <p:cNvPr id="64" name="TextBox 63"/>
          <p:cNvSpPr txBox="1"/>
          <p:nvPr/>
        </p:nvSpPr>
        <p:spPr>
          <a:xfrm>
            <a:off x="12690872" y="6406307"/>
            <a:ext cx="4539853" cy="704850"/>
          </a:xfrm>
          <a:prstGeom prst="rect">
            <a:avLst/>
          </a:prstGeom>
          <a:noFill/>
        </p:spPr>
        <p:txBody>
          <a:bodyPr wrap="square" lIns="0" rIns="0" tIns="0" bIns="0" anchor="t">
            <a:spAutoFit/>
          </a:bodyPr>
          <a:lstStyle/>
          <a:p>
            <a:pPr algn="l">
              <a:lnSpc>
                <a:spcPct val="100000"/>
              </a:lnSpc>
            </a:pPr>
            <a:r>
              <a:rPr sz="2250" b="0" i="0">
                <a:solidFill>
                  <a:srgbClr val="F3F7FC"/>
                </a:solidFill>
                <a:latin typeface="Barlow"/>
              </a:rPr>
              <a:t>Clasificación operativa: Match, NIC, Hidden, Delete.</a:t>
            </a:r>
          </a:p>
        </p:txBody>
      </p:sp>
      <p:sp>
        <p:nvSpPr>
          <p:cNvPr id="65" name="TextBox 64"/>
          <p:cNvSpPr txBox="1"/>
          <p:nvPr/>
        </p:nvSpPr>
        <p:spPr>
          <a:xfrm>
            <a:off x="1076325" y="8556278"/>
            <a:ext cx="3218158" cy="361950"/>
          </a:xfrm>
          <a:prstGeom prst="rect">
            <a:avLst/>
          </a:prstGeom>
          <a:noFill/>
        </p:spPr>
        <p:txBody>
          <a:bodyPr wrap="none" lIns="0" rIns="0" tIns="0" bIns="0" anchor="t">
            <a:spAutoFit/>
          </a:bodyPr>
          <a:lstStyle/>
          <a:p>
            <a:pPr algn="l">
              <a:lnSpc>
                <a:spcPct val="100000"/>
              </a:lnSpc>
            </a:pPr>
            <a:r>
              <a:rPr sz="2250" b="1" i="0">
                <a:solidFill>
                  <a:srgbClr val="FFD21F"/>
                </a:solidFill>
                <a:latin typeface="Barlow"/>
              </a:rPr>
              <a:t>Quality Assurance (QA)</a:t>
            </a:r>
          </a:p>
        </p:txBody>
      </p:sp>
      <p:sp>
        <p:nvSpPr>
          <p:cNvPr id="66" name="TextBox 65"/>
          <p:cNvSpPr txBox="1"/>
          <p:nvPr/>
        </p:nvSpPr>
        <p:spPr>
          <a:xfrm>
            <a:off x="5390257" y="8556278"/>
            <a:ext cx="6603546"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Supervisa la calidad de las decisiones del equipo.</a:t>
            </a:r>
          </a:p>
        </p:txBody>
      </p:sp>
      <p:sp>
        <p:nvSpPr>
          <p:cNvPr id="67" name="TextBox 66"/>
          <p:cNvSpPr txBox="1"/>
          <p:nvPr/>
        </p:nvSpPr>
        <p:spPr>
          <a:xfrm>
            <a:off x="12690872" y="8556278"/>
            <a:ext cx="3903208" cy="361950"/>
          </a:xfrm>
          <a:prstGeom prst="rect">
            <a:avLst/>
          </a:prstGeom>
          <a:noFill/>
        </p:spPr>
        <p:txBody>
          <a:bodyPr wrap="none" lIns="0" rIns="0" tIns="0" bIns="0" anchor="t">
            <a:spAutoFit/>
          </a:bodyPr>
          <a:lstStyle/>
          <a:p>
            <a:pPr algn="l">
              <a:lnSpc>
                <a:spcPct val="100000"/>
              </a:lnSpc>
            </a:pPr>
            <a:r>
              <a:rPr sz="2250" b="0" i="0">
                <a:solidFill>
                  <a:srgbClr val="F3F7FC"/>
                </a:solidFill>
                <a:latin typeface="Barlow"/>
              </a:rPr>
              <a:t>Validación final y corrección.</a:t>
            </a:r>
          </a:p>
        </p:txBody>
      </p:sp>
      <p:sp>
        <p:nvSpPr>
          <p:cNvPr id="68" name="TextBox 67"/>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69" name="TextBox 68"/>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70" name="TextBox 69"/>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71" name="TextBox 70"/>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72" name="TextBox 71"/>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04</a:t>
            </a:r>
          </a:p>
        </p:txBody>
      </p:sp>
      <p:sp>
        <p:nvSpPr>
          <p:cNvPr id="73" name="TextBox 72"/>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74" name="TextBox 73"/>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75" name="TextBox 74"/>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76" name="TextBox 75"/>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39618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207568"/>
            <a:ext cx="16830675" cy="7407920"/>
          </a:xfrm>
          <a:prstGeom prst="rect">
            <a:avLst/>
          </a:prstGeom>
          <a:solidFill>
            <a:srgbClr val="0D2748"/>
          </a:solidFill>
          <a:ln w="9525">
            <a:solidFill>
              <a:srgbClr val="6D8FB2">
                <a:alpha val="7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443412" y="2420541"/>
            <a:ext cx="9401175" cy="698182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ob_1_7de2b1a790.png"/>
          <p:cNvPicPr>
            <a:picLocks noChangeAspect="1"/>
          </p:cNvPicPr>
          <p:nvPr/>
        </p:nvPicPr>
        <p:blipFill>
          <a:blip r:embed="rId4"/>
          <a:stretch>
            <a:fillRect/>
          </a:stretch>
        </p:blipFill>
        <p:spPr>
          <a:xfrm>
            <a:off x="4633912" y="2553891"/>
            <a:ext cx="9020175" cy="6715125"/>
          </a:xfrm>
          <a:prstGeom prst="rect">
            <a:avLst/>
          </a:prstGeom>
        </p:spPr>
      </p:pic>
      <p:sp>
        <p:nvSpPr>
          <p:cNvPr id="11" name="Rectangle 10"/>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74608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561784"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372725"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377488" y="9944100"/>
            <a:ext cx="259497"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Decoracion" descr="s39_deco_00.png"/>
          <p:cNvPicPr>
            <a:picLocks noChangeAspect="1"/>
          </p:cNvPicPr>
          <p:nvPr/>
        </p:nvPicPr>
        <p:blipFill>
          <a:blip r:embed="rId5"/>
          <a:stretch>
            <a:fillRect/>
          </a:stretch>
        </p:blipFill>
        <p:spPr>
          <a:xfrm>
            <a:off x="828675" y="2314575"/>
            <a:ext cx="704850" cy="704850"/>
          </a:xfrm>
          <a:prstGeom prst="rect">
            <a:avLst/>
          </a:prstGeom>
        </p:spPr>
      </p:pic>
      <p:pic>
        <p:nvPicPr>
          <p:cNvPr id="26" name="Decoracion" descr="s39_deco_01.png"/>
          <p:cNvPicPr>
            <a:picLocks noChangeAspect="1"/>
          </p:cNvPicPr>
          <p:nvPr/>
        </p:nvPicPr>
        <p:blipFill>
          <a:blip r:embed="rId6"/>
          <a:stretch>
            <a:fillRect/>
          </a:stretch>
        </p:blipFill>
        <p:spPr>
          <a:xfrm>
            <a:off x="16754475" y="8810625"/>
            <a:ext cx="704850" cy="704850"/>
          </a:xfrm>
          <a:prstGeom prst="rect">
            <a:avLst/>
          </a:prstGeom>
        </p:spPr>
      </p:pic>
      <p:sp>
        <p:nvSpPr>
          <p:cNvPr id="27" name="TextBox 26"/>
          <p:cNvSpPr txBox="1"/>
          <p:nvPr/>
        </p:nvSpPr>
        <p:spPr>
          <a:xfrm>
            <a:off x="981075" y="1635175"/>
            <a:ext cx="14422148"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Diagrama de flujo lógico para la clasificación operativa de productos</a:t>
            </a:r>
          </a:p>
        </p:txBody>
      </p:sp>
      <p:sp>
        <p:nvSpPr>
          <p:cNvPr id="28" name="TextBox 27"/>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29" name="TextBox 28"/>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30" name="TextBox 29"/>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31" name="TextBox 30"/>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32" name="TextBox 31"/>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33" name="TextBox 32"/>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05</a:t>
            </a:r>
          </a:p>
        </p:txBody>
      </p:sp>
      <p:sp>
        <p:nvSpPr>
          <p:cNvPr id="34" name="TextBox 33"/>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35" name="TextBox 34"/>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36" name="TextBox 35"/>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39618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207568"/>
            <a:ext cx="16830675" cy="7407920"/>
          </a:xfrm>
          <a:prstGeom prst="rect">
            <a:avLst/>
          </a:prstGeom>
          <a:solidFill>
            <a:srgbClr val="0D2748"/>
          </a:solidFill>
          <a:ln w="9525">
            <a:solidFill>
              <a:srgbClr val="6D8FB2">
                <a:alpha val="7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509070" y="2326630"/>
            <a:ext cx="11269861" cy="716979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ob_2.png"/>
          <p:cNvPicPr>
            <a:picLocks noChangeAspect="1"/>
          </p:cNvPicPr>
          <p:nvPr/>
        </p:nvPicPr>
        <p:blipFill>
          <a:blip r:embed="rId4"/>
          <a:stretch>
            <a:fillRect/>
          </a:stretch>
        </p:blipFill>
        <p:spPr>
          <a:xfrm>
            <a:off x="3699570" y="2459980"/>
            <a:ext cx="10888861" cy="6903095"/>
          </a:xfrm>
          <a:prstGeom prst="rect">
            <a:avLst/>
          </a:prstGeom>
        </p:spPr>
      </p:pic>
      <p:sp>
        <p:nvSpPr>
          <p:cNvPr id="11" name="Rectangle 10"/>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74608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561784"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37748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2188428"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193191" y="9944100"/>
            <a:ext cx="259497"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Decoracion" descr="s39_deco_00.png"/>
          <p:cNvPicPr>
            <a:picLocks noChangeAspect="1"/>
          </p:cNvPicPr>
          <p:nvPr/>
        </p:nvPicPr>
        <p:blipFill>
          <a:blip r:embed="rId5"/>
          <a:stretch>
            <a:fillRect/>
          </a:stretch>
        </p:blipFill>
        <p:spPr>
          <a:xfrm>
            <a:off x="828675" y="2314575"/>
            <a:ext cx="704850" cy="704850"/>
          </a:xfrm>
          <a:prstGeom prst="rect">
            <a:avLst/>
          </a:prstGeom>
        </p:spPr>
      </p:pic>
      <p:pic>
        <p:nvPicPr>
          <p:cNvPr id="27" name="Decoracion" descr="s39_deco_01.png"/>
          <p:cNvPicPr>
            <a:picLocks noChangeAspect="1"/>
          </p:cNvPicPr>
          <p:nvPr/>
        </p:nvPicPr>
        <p:blipFill>
          <a:blip r:embed="rId6"/>
          <a:stretch>
            <a:fillRect/>
          </a:stretch>
        </p:blipFill>
        <p:spPr>
          <a:xfrm>
            <a:off x="16754475" y="8810625"/>
            <a:ext cx="704850" cy="704850"/>
          </a:xfrm>
          <a:prstGeom prst="rect">
            <a:avLst/>
          </a:prstGeom>
        </p:spPr>
      </p:pic>
      <p:sp>
        <p:nvSpPr>
          <p:cNvPr id="28" name="TextBox 27"/>
          <p:cNvSpPr txBox="1"/>
          <p:nvPr/>
        </p:nvSpPr>
        <p:spPr>
          <a:xfrm>
            <a:off x="981075" y="1635175"/>
            <a:ext cx="14222998"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Representación del proceso actual mediante diagrama BPMN AS-IS</a:t>
            </a:r>
          </a:p>
        </p:txBody>
      </p:sp>
      <p:sp>
        <p:nvSpPr>
          <p:cNvPr id="29" name="TextBox 28"/>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30" name="TextBox 29"/>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31" name="TextBox 30"/>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32" name="TextBox 31"/>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33" name="TextBox 32"/>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34" name="TextBox 33"/>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35" name="TextBox 34"/>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06</a:t>
            </a:r>
          </a:p>
        </p:txBody>
      </p:sp>
      <p:sp>
        <p:nvSpPr>
          <p:cNvPr id="36" name="TextBox 35"/>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37" name="TextBox 36"/>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39618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207568"/>
            <a:ext cx="16830675" cy="7407920"/>
          </a:xfrm>
          <a:prstGeom prst="rect">
            <a:avLst/>
          </a:prstGeom>
          <a:solidFill>
            <a:srgbClr val="0D2748"/>
          </a:solidFill>
          <a:ln w="9525">
            <a:solidFill>
              <a:srgbClr val="6D8FB2">
                <a:alpha val="7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19450" y="2449116"/>
            <a:ext cx="11849100" cy="69246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ob_3.png"/>
          <p:cNvPicPr>
            <a:picLocks noChangeAspect="1"/>
          </p:cNvPicPr>
          <p:nvPr/>
        </p:nvPicPr>
        <p:blipFill>
          <a:blip r:embed="rId4"/>
          <a:stretch>
            <a:fillRect/>
          </a:stretch>
        </p:blipFill>
        <p:spPr>
          <a:xfrm>
            <a:off x="3409950" y="2582466"/>
            <a:ext cx="11468100" cy="6657975"/>
          </a:xfrm>
          <a:prstGeom prst="rect">
            <a:avLst/>
          </a:prstGeom>
        </p:spPr>
      </p:pic>
      <p:sp>
        <p:nvSpPr>
          <p:cNvPr id="11" name="Rectangle 10"/>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74608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561784"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37748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19319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4004131"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4008894" y="9944100"/>
            <a:ext cx="259497"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5819834"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Decoracion" descr="s39_deco_00.png"/>
          <p:cNvPicPr>
            <a:picLocks noChangeAspect="1"/>
          </p:cNvPicPr>
          <p:nvPr/>
        </p:nvPicPr>
        <p:blipFill>
          <a:blip r:embed="rId5"/>
          <a:stretch>
            <a:fillRect/>
          </a:stretch>
        </p:blipFill>
        <p:spPr>
          <a:xfrm>
            <a:off x="828675" y="2314575"/>
            <a:ext cx="704850" cy="704850"/>
          </a:xfrm>
          <a:prstGeom prst="rect">
            <a:avLst/>
          </a:prstGeom>
        </p:spPr>
      </p:pic>
      <p:pic>
        <p:nvPicPr>
          <p:cNvPr id="28" name="Decoracion" descr="s39_deco_01.png"/>
          <p:cNvPicPr>
            <a:picLocks noChangeAspect="1"/>
          </p:cNvPicPr>
          <p:nvPr/>
        </p:nvPicPr>
        <p:blipFill>
          <a:blip r:embed="rId6"/>
          <a:stretch>
            <a:fillRect/>
          </a:stretch>
        </p:blipFill>
        <p:spPr>
          <a:xfrm>
            <a:off x="16754475" y="8810625"/>
            <a:ext cx="704850" cy="704850"/>
          </a:xfrm>
          <a:prstGeom prst="rect">
            <a:avLst/>
          </a:prstGeom>
        </p:spPr>
      </p:pic>
      <p:sp>
        <p:nvSpPr>
          <p:cNvPr id="29" name="TextBox 28"/>
          <p:cNvSpPr txBox="1"/>
          <p:nvPr/>
        </p:nvSpPr>
        <p:spPr>
          <a:xfrm>
            <a:off x="981075" y="1635175"/>
            <a:ext cx="13856041"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Representación del proceso propuesto mediante diagrama BPMN</a:t>
            </a:r>
          </a:p>
        </p:txBody>
      </p:sp>
      <p:sp>
        <p:nvSpPr>
          <p:cNvPr id="30" name="TextBox 29"/>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31" name="TextBox 30"/>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32" name="TextBox 31"/>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33" name="TextBox 32"/>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34" name="TextBox 33"/>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35" name="TextBox 34"/>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36" name="TextBox 35"/>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37" name="TextBox 36"/>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07</a:t>
            </a:r>
          </a:p>
        </p:txBody>
      </p:sp>
      <p:sp>
        <p:nvSpPr>
          <p:cNvPr id="38" name="TextBox 37"/>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39618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8662" y="2207568"/>
            <a:ext cx="16830675" cy="3824585"/>
          </a:xfrm>
          <a:prstGeom prst="rect">
            <a:avLst/>
          </a:prstGeom>
          <a:solidFill>
            <a:srgbClr val="0D2748">
              <a:alpha val="76000"/>
            </a:srgbClr>
          </a:solidFill>
          <a:ln w="9525">
            <a:solidFill>
              <a:srgbClr val="6D8FB2">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28675" y="2644229"/>
            <a:ext cx="2494508" cy="65276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28675" y="3287464"/>
            <a:ext cx="2494508"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13658" y="2644229"/>
            <a:ext cx="9525" cy="652760"/>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23183" y="2644229"/>
            <a:ext cx="9978330" cy="65276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23183" y="3287464"/>
            <a:ext cx="9978330"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3291989" y="2644229"/>
            <a:ext cx="9525" cy="652760"/>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3301514" y="2644229"/>
            <a:ext cx="4157811" cy="65276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3301514" y="3287464"/>
            <a:ext cx="415781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8675" y="3296989"/>
            <a:ext cx="2494508"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28675" y="4165848"/>
            <a:ext cx="2494508"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13658" y="3296989"/>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23183" y="3296989"/>
            <a:ext cx="9978330"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323183" y="4165848"/>
            <a:ext cx="9978330"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291989" y="3296989"/>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3301514" y="3296989"/>
            <a:ext cx="4157811"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3301514" y="4165848"/>
            <a:ext cx="415781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8675" y="4175373"/>
            <a:ext cx="2494508" cy="87838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28675" y="5044232"/>
            <a:ext cx="2494508"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313658" y="4175373"/>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323183" y="4175373"/>
            <a:ext cx="9978330" cy="87838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323183" y="5044232"/>
            <a:ext cx="9978330"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3291989" y="4175373"/>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3301514" y="4175373"/>
            <a:ext cx="4157811" cy="878384"/>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3301514" y="5044232"/>
            <a:ext cx="415781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28675" y="5053757"/>
            <a:ext cx="2494508"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28675" y="5922615"/>
            <a:ext cx="2494508"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313658" y="5053757"/>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323183" y="5053757"/>
            <a:ext cx="9978330"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323183" y="5922615"/>
            <a:ext cx="9978330"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3291989" y="5053757"/>
            <a:ext cx="9525" cy="878384"/>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3301514" y="5053757"/>
            <a:ext cx="4157811" cy="878384"/>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3301514" y="5922615"/>
            <a:ext cx="415781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28662" y="6155978"/>
            <a:ext cx="16830675" cy="3459361"/>
          </a:xfrm>
          <a:prstGeom prst="rect">
            <a:avLst/>
          </a:prstGeom>
          <a:solidFill>
            <a:srgbClr val="0D2748">
              <a:alpha val="76000"/>
            </a:srgbClr>
          </a:solidFill>
          <a:ln w="9525">
            <a:solidFill>
              <a:srgbClr val="6D8FB2">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28675" y="6592639"/>
            <a:ext cx="10310961" cy="416868"/>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28675" y="6999982"/>
            <a:ext cx="1031096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130111" y="6592639"/>
            <a:ext cx="9525" cy="41686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1139636" y="6592639"/>
            <a:ext cx="6319689" cy="416868"/>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1139636" y="6999982"/>
            <a:ext cx="6319689"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28675" y="7009507"/>
            <a:ext cx="10310961" cy="62641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28675" y="7626400"/>
            <a:ext cx="1031096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130111" y="7009507"/>
            <a:ext cx="9525" cy="62641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1139636" y="7009507"/>
            <a:ext cx="6319689" cy="62641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139636" y="7626400"/>
            <a:ext cx="6319689"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828675" y="7635925"/>
            <a:ext cx="10310961" cy="62641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28675" y="8252817"/>
            <a:ext cx="1031096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1130111" y="7635925"/>
            <a:ext cx="9525" cy="62641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1139636" y="7635925"/>
            <a:ext cx="6319689" cy="626418"/>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1139636" y="8252817"/>
            <a:ext cx="6319689"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28675" y="8262342"/>
            <a:ext cx="10310961" cy="62641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828675" y="8879235"/>
            <a:ext cx="1031096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1130111" y="8262342"/>
            <a:ext cx="9525" cy="626418"/>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1139636" y="8262342"/>
            <a:ext cx="6319689" cy="626418"/>
          </a:xfrm>
          <a:prstGeom prst="rect">
            <a:avLst/>
          </a:prstGeom>
          <a:solidFill>
            <a:srgbClr val="0D2748">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1139636" y="8879235"/>
            <a:ext cx="6319689"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828675" y="8888760"/>
            <a:ext cx="10310961" cy="626566"/>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828675" y="9505801"/>
            <a:ext cx="10310961"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1130111" y="8888760"/>
            <a:ext cx="9525" cy="626566"/>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1139636" y="8888760"/>
            <a:ext cx="6319689" cy="626566"/>
          </a:xfrm>
          <a:prstGeom prst="rect">
            <a:avLst/>
          </a:prstGeom>
          <a:solidFill>
            <a:srgbClr val="07172D">
              <a:alpha val="5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1139636" y="9505801"/>
            <a:ext cx="6319689" cy="9525"/>
          </a:xfrm>
          <a:prstGeom prst="rect">
            <a:avLst/>
          </a:prstGeom>
          <a:solidFill>
            <a:srgbClr val="6D8FB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310991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3114675"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925616"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93037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741319"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74608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8557022"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8561784"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372725"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377488"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2188428"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2193191"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4004131" y="9720262"/>
            <a:ext cx="1739503"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4008894" y="9944100"/>
            <a:ext cx="1729978" cy="47625"/>
          </a:xfrm>
          <a:prstGeom prst="rect">
            <a:avLst/>
          </a:prstGeom>
          <a:solidFill>
            <a:srgbClr val="FFD21F">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5819834" y="9720262"/>
            <a:ext cx="1739503"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5824597" y="9944100"/>
            <a:ext cx="188741"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81075" y="1635175"/>
            <a:ext cx="12743438" cy="485775"/>
          </a:xfrm>
          <a:prstGeom prst="rect">
            <a:avLst/>
          </a:prstGeom>
          <a:noFill/>
        </p:spPr>
        <p:txBody>
          <a:bodyPr wrap="none" lIns="0" rIns="0" tIns="0" bIns="0" anchor="t">
            <a:spAutoFit/>
          </a:bodyPr>
          <a:lstStyle/>
          <a:p>
            <a:pPr algn="l">
              <a:lnSpc>
                <a:spcPct val="86700"/>
              </a:lnSpc>
            </a:pPr>
            <a:r>
              <a:rPr sz="3000" b="1" i="0" spc="-75">
                <a:solidFill>
                  <a:srgbClr val="F3F7FC"/>
                </a:solidFill>
                <a:latin typeface="Montserrat"/>
              </a:rPr>
              <a:t>Estimación de los tiempos del proceso de validación manual</a:t>
            </a:r>
          </a:p>
        </p:txBody>
      </p:sp>
      <p:sp>
        <p:nvSpPr>
          <p:cNvPr id="85" name="TextBox 84"/>
          <p:cNvSpPr txBox="1"/>
          <p:nvPr/>
        </p:nvSpPr>
        <p:spPr>
          <a:xfrm>
            <a:off x="828675" y="2279005"/>
            <a:ext cx="9123218" cy="333375"/>
          </a:xfrm>
          <a:prstGeom prst="rect">
            <a:avLst/>
          </a:prstGeom>
          <a:noFill/>
        </p:spPr>
        <p:txBody>
          <a:bodyPr wrap="none" lIns="0" rIns="0" tIns="0" bIns="0" anchor="t">
            <a:spAutoFit/>
          </a:bodyPr>
          <a:lstStyle/>
          <a:p>
            <a:pPr algn="l">
              <a:lnSpc>
                <a:spcPct val="87500"/>
              </a:lnSpc>
            </a:pPr>
            <a:r>
              <a:rPr sz="2025" b="1" i="0">
                <a:solidFill>
                  <a:srgbClr val="FFD21F"/>
                </a:solidFill>
                <a:latin typeface="Montserrat"/>
              </a:rPr>
              <a:t>Estimación de tiempos de validación por nivel de complejidad</a:t>
            </a:r>
          </a:p>
        </p:txBody>
      </p:sp>
      <p:sp>
        <p:nvSpPr>
          <p:cNvPr id="86" name="TextBox 85"/>
          <p:cNvSpPr txBox="1"/>
          <p:nvPr/>
        </p:nvSpPr>
        <p:spPr>
          <a:xfrm>
            <a:off x="981075" y="2720429"/>
            <a:ext cx="2199233" cy="493068"/>
          </a:xfrm>
          <a:prstGeom prst="rect">
            <a:avLst/>
          </a:prstGeom>
          <a:noFill/>
        </p:spPr>
        <p:txBody>
          <a:bodyPr wrap="square" lIns="0" rIns="0" tIns="0" bIns="0" anchor="t">
            <a:spAutoFit/>
          </a:bodyPr>
          <a:lstStyle/>
          <a:p>
            <a:pPr algn="l">
              <a:lnSpc>
                <a:spcPct val="98300"/>
              </a:lnSpc>
            </a:pPr>
            <a:r>
              <a:rPr sz="1575" b="1" i="0" spc="86">
                <a:solidFill>
                  <a:srgbClr val="F3F7FC"/>
                </a:solidFill>
                <a:latin typeface="Barlow"/>
              </a:rPr>
              <a:t>NIVEL DE COMPLEJIDAD</a:t>
            </a:r>
          </a:p>
        </p:txBody>
      </p:sp>
      <p:sp>
        <p:nvSpPr>
          <p:cNvPr id="87" name="TextBox 86"/>
          <p:cNvSpPr txBox="1"/>
          <p:nvPr/>
        </p:nvSpPr>
        <p:spPr>
          <a:xfrm>
            <a:off x="6306395" y="2838301"/>
            <a:ext cx="4002381" cy="257175"/>
          </a:xfrm>
          <a:prstGeom prst="rect">
            <a:avLst/>
          </a:prstGeom>
          <a:noFill/>
        </p:spPr>
        <p:txBody>
          <a:bodyPr wrap="none" lIns="0" rIns="0" tIns="0" bIns="0" anchor="t">
            <a:spAutoFit/>
          </a:bodyPr>
          <a:lstStyle/>
          <a:p>
            <a:pPr algn="ctr">
              <a:lnSpc>
                <a:spcPct val="98300"/>
              </a:lnSpc>
            </a:pPr>
            <a:r>
              <a:rPr sz="1575" b="1" i="0" spc="86">
                <a:solidFill>
                  <a:srgbClr val="F3F7FC"/>
                </a:solidFill>
                <a:latin typeface="Barlow"/>
              </a:rPr>
              <a:t>CONDICIÓN DEL REGISTRO EXTRAÍDO</a:t>
            </a:r>
          </a:p>
        </p:txBody>
      </p:sp>
      <p:sp>
        <p:nvSpPr>
          <p:cNvPr id="88" name="TextBox 87"/>
          <p:cNvSpPr txBox="1"/>
          <p:nvPr/>
        </p:nvSpPr>
        <p:spPr>
          <a:xfrm>
            <a:off x="13554831" y="2838301"/>
            <a:ext cx="3651177" cy="257175"/>
          </a:xfrm>
          <a:prstGeom prst="rect">
            <a:avLst/>
          </a:prstGeom>
          <a:noFill/>
        </p:spPr>
        <p:txBody>
          <a:bodyPr wrap="none" lIns="0" rIns="0" tIns="0" bIns="0" anchor="t">
            <a:spAutoFit/>
          </a:bodyPr>
          <a:lstStyle/>
          <a:p>
            <a:pPr algn="ctr">
              <a:lnSpc>
                <a:spcPct val="98300"/>
              </a:lnSpc>
            </a:pPr>
            <a:r>
              <a:rPr sz="1575" b="1" i="0" spc="86">
                <a:solidFill>
                  <a:srgbClr val="F3F7FC"/>
                </a:solidFill>
                <a:latin typeface="Barlow"/>
              </a:rPr>
              <a:t>TIEMPO ESTIMADO POR REGISTRO</a:t>
            </a:r>
          </a:p>
        </p:txBody>
      </p:sp>
      <p:sp>
        <p:nvSpPr>
          <p:cNvPr id="89" name="TextBox 88"/>
          <p:cNvSpPr txBox="1"/>
          <p:nvPr/>
        </p:nvSpPr>
        <p:spPr>
          <a:xfrm>
            <a:off x="981075" y="3581400"/>
            <a:ext cx="590955" cy="304800"/>
          </a:xfrm>
          <a:prstGeom prst="rect">
            <a:avLst/>
          </a:prstGeom>
          <a:noFill/>
        </p:spPr>
        <p:txBody>
          <a:bodyPr wrap="none" lIns="0" rIns="0" tIns="0" bIns="0" anchor="t">
            <a:spAutoFit/>
          </a:bodyPr>
          <a:lstStyle/>
          <a:p>
            <a:pPr algn="l">
              <a:lnSpc>
                <a:spcPct val="98300"/>
              </a:lnSpc>
            </a:pPr>
            <a:r>
              <a:rPr sz="1875" b="1" i="0">
                <a:solidFill>
                  <a:srgbClr val="FFD21F"/>
                </a:solidFill>
                <a:latin typeface="Barlow"/>
              </a:rPr>
              <a:t>Baja</a:t>
            </a:r>
          </a:p>
        </p:txBody>
      </p:sp>
      <p:sp>
        <p:nvSpPr>
          <p:cNvPr id="90" name="TextBox 89"/>
          <p:cNvSpPr txBox="1"/>
          <p:nvPr/>
        </p:nvSpPr>
        <p:spPr>
          <a:xfrm>
            <a:off x="3475583" y="3581400"/>
            <a:ext cx="6988987" cy="304800"/>
          </a:xfrm>
          <a:prstGeom prst="rect">
            <a:avLst/>
          </a:prstGeom>
          <a:noFill/>
        </p:spPr>
        <p:txBody>
          <a:bodyPr wrap="none" lIns="0" rIns="0" tIns="0" bIns="0" anchor="t">
            <a:spAutoFit/>
          </a:bodyPr>
          <a:lstStyle/>
          <a:p>
            <a:pPr algn="l">
              <a:lnSpc>
                <a:spcPct val="98300"/>
              </a:lnSpc>
            </a:pPr>
            <a:r>
              <a:rPr sz="1875" b="0" i="0">
                <a:solidFill>
                  <a:srgbClr val="F3F7FC"/>
                </a:solidFill>
                <a:latin typeface="Barlow"/>
              </a:rPr>
              <a:t>Identificador exacto (SKU, EAN o modelo). Decisión inmediata.</a:t>
            </a:r>
          </a:p>
        </p:txBody>
      </p:sp>
      <p:sp>
        <p:nvSpPr>
          <p:cNvPr id="91" name="TextBox 90"/>
          <p:cNvSpPr txBox="1"/>
          <p:nvPr/>
        </p:nvSpPr>
        <p:spPr>
          <a:xfrm>
            <a:off x="14235059" y="3564582"/>
            <a:ext cx="2290721"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15 a 30 segundos</a:t>
            </a:r>
          </a:p>
        </p:txBody>
      </p:sp>
      <p:sp>
        <p:nvSpPr>
          <p:cNvPr id="92" name="TextBox 91"/>
          <p:cNvSpPr txBox="1"/>
          <p:nvPr/>
        </p:nvSpPr>
        <p:spPr>
          <a:xfrm>
            <a:off x="981075" y="4459784"/>
            <a:ext cx="766637" cy="304800"/>
          </a:xfrm>
          <a:prstGeom prst="rect">
            <a:avLst/>
          </a:prstGeom>
          <a:noFill/>
        </p:spPr>
        <p:txBody>
          <a:bodyPr wrap="none" lIns="0" rIns="0" tIns="0" bIns="0" anchor="t">
            <a:spAutoFit/>
          </a:bodyPr>
          <a:lstStyle/>
          <a:p>
            <a:pPr algn="l">
              <a:lnSpc>
                <a:spcPct val="98300"/>
              </a:lnSpc>
            </a:pPr>
            <a:r>
              <a:rPr sz="1875" b="1" i="0">
                <a:solidFill>
                  <a:srgbClr val="FFD21F"/>
                </a:solidFill>
                <a:latin typeface="Barlow"/>
              </a:rPr>
              <a:t>Media</a:t>
            </a:r>
          </a:p>
        </p:txBody>
      </p:sp>
      <p:sp>
        <p:nvSpPr>
          <p:cNvPr id="93" name="TextBox 92"/>
          <p:cNvSpPr txBox="1"/>
          <p:nvPr/>
        </p:nvSpPr>
        <p:spPr>
          <a:xfrm>
            <a:off x="3475583" y="4459784"/>
            <a:ext cx="7976539" cy="304800"/>
          </a:xfrm>
          <a:prstGeom prst="rect">
            <a:avLst/>
          </a:prstGeom>
          <a:noFill/>
        </p:spPr>
        <p:txBody>
          <a:bodyPr wrap="none" lIns="0" rIns="0" tIns="0" bIns="0" anchor="t">
            <a:spAutoFit/>
          </a:bodyPr>
          <a:lstStyle/>
          <a:p>
            <a:pPr algn="l">
              <a:lnSpc>
                <a:spcPct val="98300"/>
              </a:lnSpc>
            </a:pPr>
            <a:r>
              <a:rPr sz="1875" b="0" i="0">
                <a:solidFill>
                  <a:srgbClr val="F3F7FC"/>
                </a:solidFill>
                <a:latin typeface="Barlow"/>
              </a:rPr>
              <a:t>Sin SKU exacto. Exige revisar características técnicas y marcas mixtas.</a:t>
            </a:r>
          </a:p>
        </p:txBody>
      </p:sp>
      <p:sp>
        <p:nvSpPr>
          <p:cNvPr id="94" name="TextBox 93"/>
          <p:cNvSpPr txBox="1"/>
          <p:nvPr/>
        </p:nvSpPr>
        <p:spPr>
          <a:xfrm>
            <a:off x="14235059" y="4442966"/>
            <a:ext cx="2290721"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30 a 60 segundos</a:t>
            </a:r>
          </a:p>
        </p:txBody>
      </p:sp>
      <p:sp>
        <p:nvSpPr>
          <p:cNvPr id="95" name="TextBox 94"/>
          <p:cNvSpPr txBox="1"/>
          <p:nvPr/>
        </p:nvSpPr>
        <p:spPr>
          <a:xfrm>
            <a:off x="981075" y="5338167"/>
            <a:ext cx="564112" cy="304800"/>
          </a:xfrm>
          <a:prstGeom prst="rect">
            <a:avLst/>
          </a:prstGeom>
          <a:noFill/>
        </p:spPr>
        <p:txBody>
          <a:bodyPr wrap="none" lIns="0" rIns="0" tIns="0" bIns="0" anchor="t">
            <a:spAutoFit/>
          </a:bodyPr>
          <a:lstStyle/>
          <a:p>
            <a:pPr algn="l">
              <a:lnSpc>
                <a:spcPct val="98300"/>
              </a:lnSpc>
            </a:pPr>
            <a:r>
              <a:rPr sz="1875" b="1" i="0">
                <a:solidFill>
                  <a:srgbClr val="FFD21F"/>
                </a:solidFill>
                <a:latin typeface="Barlow"/>
              </a:rPr>
              <a:t>Alta</a:t>
            </a:r>
          </a:p>
        </p:txBody>
      </p:sp>
      <p:sp>
        <p:nvSpPr>
          <p:cNvPr id="96" name="TextBox 95"/>
          <p:cNvSpPr txBox="1"/>
          <p:nvPr/>
        </p:nvSpPr>
        <p:spPr>
          <a:xfrm>
            <a:off x="3475583" y="5338167"/>
            <a:ext cx="10088910" cy="304800"/>
          </a:xfrm>
          <a:prstGeom prst="rect">
            <a:avLst/>
          </a:prstGeom>
          <a:noFill/>
        </p:spPr>
        <p:txBody>
          <a:bodyPr wrap="none" lIns="0" rIns="0" tIns="0" bIns="0" anchor="t">
            <a:spAutoFit/>
          </a:bodyPr>
          <a:lstStyle/>
          <a:p>
            <a:pPr algn="l">
              <a:lnSpc>
                <a:spcPct val="98300"/>
              </a:lnSpc>
            </a:pPr>
            <a:r>
              <a:rPr sz="1875" b="0" i="0">
                <a:solidFill>
                  <a:srgbClr val="F3F7FC"/>
                </a:solidFill>
                <a:latin typeface="Barlow"/>
              </a:rPr>
              <a:t>Ambigüedad semántica, descripción incompleta o idioma local. Exige comparar imágenes.</a:t>
            </a:r>
          </a:p>
        </p:txBody>
      </p:sp>
      <p:sp>
        <p:nvSpPr>
          <p:cNvPr id="97" name="TextBox 96"/>
          <p:cNvSpPr txBox="1"/>
          <p:nvPr/>
        </p:nvSpPr>
        <p:spPr>
          <a:xfrm>
            <a:off x="14156626" y="5321350"/>
            <a:ext cx="2447437"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60 a 120 segundos</a:t>
            </a:r>
          </a:p>
        </p:txBody>
      </p:sp>
      <p:sp>
        <p:nvSpPr>
          <p:cNvPr id="98" name="TextBox 97"/>
          <p:cNvSpPr txBox="1"/>
          <p:nvPr/>
        </p:nvSpPr>
        <p:spPr>
          <a:xfrm>
            <a:off x="828675" y="6227415"/>
            <a:ext cx="9029349" cy="333375"/>
          </a:xfrm>
          <a:prstGeom prst="rect">
            <a:avLst/>
          </a:prstGeom>
          <a:noFill/>
        </p:spPr>
        <p:txBody>
          <a:bodyPr wrap="none" lIns="0" rIns="0" tIns="0" bIns="0" anchor="t">
            <a:spAutoFit/>
          </a:bodyPr>
          <a:lstStyle/>
          <a:p>
            <a:pPr algn="l">
              <a:lnSpc>
                <a:spcPct val="87500"/>
              </a:lnSpc>
            </a:pPr>
            <a:r>
              <a:rPr sz="2025" b="1" i="0">
                <a:solidFill>
                  <a:srgbClr val="FFD21F"/>
                </a:solidFill>
                <a:latin typeface="Montserrat"/>
              </a:rPr>
              <a:t>Capacidad operativa manual del equipo de Product Matching</a:t>
            </a:r>
          </a:p>
        </p:txBody>
      </p:sp>
      <p:sp>
        <p:nvSpPr>
          <p:cNvPr id="99" name="TextBox 98"/>
          <p:cNvSpPr txBox="1"/>
          <p:nvPr/>
        </p:nvSpPr>
        <p:spPr>
          <a:xfrm>
            <a:off x="981075" y="6668839"/>
            <a:ext cx="2301972" cy="257175"/>
          </a:xfrm>
          <a:prstGeom prst="rect">
            <a:avLst/>
          </a:prstGeom>
          <a:noFill/>
        </p:spPr>
        <p:txBody>
          <a:bodyPr wrap="none" lIns="0" rIns="0" tIns="0" bIns="0" anchor="t">
            <a:spAutoFit/>
          </a:bodyPr>
          <a:lstStyle/>
          <a:p>
            <a:pPr algn="l">
              <a:lnSpc>
                <a:spcPct val="98300"/>
              </a:lnSpc>
            </a:pPr>
            <a:r>
              <a:rPr sz="1575" b="1" i="0" spc="86">
                <a:solidFill>
                  <a:srgbClr val="F3F7FC"/>
                </a:solidFill>
                <a:latin typeface="Barlow"/>
              </a:rPr>
              <a:t>MÉTRICA OPERATIVA</a:t>
            </a:r>
          </a:p>
        </p:txBody>
      </p:sp>
      <p:sp>
        <p:nvSpPr>
          <p:cNvPr id="100" name="TextBox 99"/>
          <p:cNvSpPr txBox="1"/>
          <p:nvPr/>
        </p:nvSpPr>
        <p:spPr>
          <a:xfrm>
            <a:off x="13024568" y="6668839"/>
            <a:ext cx="2549825" cy="257175"/>
          </a:xfrm>
          <a:prstGeom prst="rect">
            <a:avLst/>
          </a:prstGeom>
          <a:noFill/>
        </p:spPr>
        <p:txBody>
          <a:bodyPr wrap="none" lIns="0" rIns="0" tIns="0" bIns="0" anchor="t">
            <a:spAutoFit/>
          </a:bodyPr>
          <a:lstStyle/>
          <a:p>
            <a:pPr algn="ctr">
              <a:lnSpc>
                <a:spcPct val="98300"/>
              </a:lnSpc>
            </a:pPr>
            <a:r>
              <a:rPr sz="1575" b="1" i="0" spc="86">
                <a:solidFill>
                  <a:srgbClr val="F3F7FC"/>
                </a:solidFill>
                <a:latin typeface="Barlow"/>
              </a:rPr>
              <a:t>VALOR ACTUAL (AS-IS)</a:t>
            </a:r>
          </a:p>
        </p:txBody>
      </p:sp>
      <p:sp>
        <p:nvSpPr>
          <p:cNvPr id="101" name="TextBox 100"/>
          <p:cNvSpPr txBox="1"/>
          <p:nvPr/>
        </p:nvSpPr>
        <p:spPr>
          <a:xfrm>
            <a:off x="981075" y="7167860"/>
            <a:ext cx="4362908" cy="304800"/>
          </a:xfrm>
          <a:prstGeom prst="rect">
            <a:avLst/>
          </a:prstGeom>
          <a:noFill/>
        </p:spPr>
        <p:txBody>
          <a:bodyPr wrap="none" lIns="0" rIns="0" tIns="0" bIns="0" anchor="t">
            <a:spAutoFit/>
          </a:bodyPr>
          <a:lstStyle/>
          <a:p>
            <a:pPr algn="l">
              <a:lnSpc>
                <a:spcPct val="98300"/>
              </a:lnSpc>
            </a:pPr>
            <a:r>
              <a:rPr sz="1875" b="1" i="0">
                <a:solidFill>
                  <a:srgbClr val="F3F7FC"/>
                </a:solidFill>
                <a:latin typeface="Barlow"/>
              </a:rPr>
              <a:t>Cuota de validación diaria por analista</a:t>
            </a:r>
          </a:p>
        </p:txBody>
      </p:sp>
      <p:sp>
        <p:nvSpPr>
          <p:cNvPr id="102" name="TextBox 101"/>
          <p:cNvSpPr txBox="1"/>
          <p:nvPr/>
        </p:nvSpPr>
        <p:spPr>
          <a:xfrm>
            <a:off x="13329005" y="7151043"/>
            <a:ext cx="1940802"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440 productos</a:t>
            </a:r>
          </a:p>
        </p:txBody>
      </p:sp>
      <p:sp>
        <p:nvSpPr>
          <p:cNvPr id="103" name="TextBox 102"/>
          <p:cNvSpPr txBox="1"/>
          <p:nvPr/>
        </p:nvSpPr>
        <p:spPr>
          <a:xfrm>
            <a:off x="981075" y="7794278"/>
            <a:ext cx="3607778" cy="304800"/>
          </a:xfrm>
          <a:prstGeom prst="rect">
            <a:avLst/>
          </a:prstGeom>
          <a:noFill/>
        </p:spPr>
        <p:txBody>
          <a:bodyPr wrap="none" lIns="0" rIns="0" tIns="0" bIns="0" anchor="t">
            <a:spAutoFit/>
          </a:bodyPr>
          <a:lstStyle/>
          <a:p>
            <a:pPr algn="l">
              <a:lnSpc>
                <a:spcPct val="98300"/>
              </a:lnSpc>
            </a:pPr>
            <a:r>
              <a:rPr sz="1875" b="1" i="0">
                <a:solidFill>
                  <a:srgbClr val="F3F7FC"/>
                </a:solidFill>
                <a:latin typeface="Barlow"/>
              </a:rPr>
              <a:t>Tiempo promedio por producto</a:t>
            </a:r>
          </a:p>
        </p:txBody>
      </p:sp>
      <p:sp>
        <p:nvSpPr>
          <p:cNvPr id="104" name="TextBox 103"/>
          <p:cNvSpPr txBox="1"/>
          <p:nvPr/>
        </p:nvSpPr>
        <p:spPr>
          <a:xfrm>
            <a:off x="13338649" y="7777460"/>
            <a:ext cx="1921514"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 65 segundos</a:t>
            </a:r>
          </a:p>
        </p:txBody>
      </p:sp>
      <p:sp>
        <p:nvSpPr>
          <p:cNvPr id="105" name="TextBox 104"/>
          <p:cNvSpPr txBox="1"/>
          <p:nvPr/>
        </p:nvSpPr>
        <p:spPr>
          <a:xfrm>
            <a:off x="981075" y="8420695"/>
            <a:ext cx="2247162" cy="304800"/>
          </a:xfrm>
          <a:prstGeom prst="rect">
            <a:avLst/>
          </a:prstGeom>
          <a:noFill/>
        </p:spPr>
        <p:txBody>
          <a:bodyPr wrap="none" lIns="0" rIns="0" tIns="0" bIns="0" anchor="t">
            <a:spAutoFit/>
          </a:bodyPr>
          <a:lstStyle/>
          <a:p>
            <a:pPr algn="l">
              <a:lnSpc>
                <a:spcPct val="98300"/>
              </a:lnSpc>
            </a:pPr>
            <a:r>
              <a:rPr sz="1875" b="1" i="0">
                <a:solidFill>
                  <a:srgbClr val="F3F7FC"/>
                </a:solidFill>
                <a:latin typeface="Barlow"/>
              </a:rPr>
              <a:t>Analistas por turno</a:t>
            </a:r>
          </a:p>
        </p:txBody>
      </p:sp>
      <p:sp>
        <p:nvSpPr>
          <p:cNvPr id="106" name="TextBox 105"/>
          <p:cNvSpPr txBox="1"/>
          <p:nvPr/>
        </p:nvSpPr>
        <p:spPr>
          <a:xfrm>
            <a:off x="13330773" y="8403878"/>
            <a:ext cx="1937266"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10 operadores</a:t>
            </a:r>
          </a:p>
        </p:txBody>
      </p:sp>
      <p:sp>
        <p:nvSpPr>
          <p:cNvPr id="107" name="TextBox 106"/>
          <p:cNvSpPr txBox="1"/>
          <p:nvPr/>
        </p:nvSpPr>
        <p:spPr>
          <a:xfrm>
            <a:off x="981075" y="9047262"/>
            <a:ext cx="3087642" cy="304800"/>
          </a:xfrm>
          <a:prstGeom prst="rect">
            <a:avLst/>
          </a:prstGeom>
          <a:noFill/>
        </p:spPr>
        <p:txBody>
          <a:bodyPr wrap="none" lIns="0" rIns="0" tIns="0" bIns="0" anchor="t">
            <a:spAutoFit/>
          </a:bodyPr>
          <a:lstStyle/>
          <a:p>
            <a:pPr algn="l">
              <a:lnSpc>
                <a:spcPct val="98300"/>
              </a:lnSpc>
            </a:pPr>
            <a:r>
              <a:rPr sz="1875" b="1" i="0">
                <a:solidFill>
                  <a:srgbClr val="F3F7FC"/>
                </a:solidFill>
                <a:latin typeface="Barlow"/>
              </a:rPr>
              <a:t>Capacidad total del equipo</a:t>
            </a:r>
          </a:p>
        </p:txBody>
      </p:sp>
      <p:sp>
        <p:nvSpPr>
          <p:cNvPr id="108" name="TextBox 107"/>
          <p:cNvSpPr txBox="1"/>
          <p:nvPr/>
        </p:nvSpPr>
        <p:spPr>
          <a:xfrm>
            <a:off x="12894379" y="9030444"/>
            <a:ext cx="2810054" cy="342900"/>
          </a:xfrm>
          <a:prstGeom prst="rect">
            <a:avLst/>
          </a:prstGeom>
          <a:noFill/>
        </p:spPr>
        <p:txBody>
          <a:bodyPr wrap="none" lIns="0" rIns="0" tIns="0" bIns="0" anchor="t">
            <a:spAutoFit/>
          </a:bodyPr>
          <a:lstStyle/>
          <a:p>
            <a:pPr algn="ctr">
              <a:lnSpc>
                <a:spcPct val="98300"/>
              </a:lnSpc>
            </a:pPr>
            <a:r>
              <a:rPr sz="2100" b="1" i="0">
                <a:solidFill>
                  <a:srgbClr val="FFD21F"/>
                </a:solidFill>
                <a:latin typeface="Barlow"/>
              </a:rPr>
              <a:t>4.400 productos / día</a:t>
            </a:r>
          </a:p>
        </p:txBody>
      </p:sp>
      <p:sp>
        <p:nvSpPr>
          <p:cNvPr id="109" name="TextBox 108"/>
          <p:cNvSpPr txBox="1"/>
          <p:nvPr/>
        </p:nvSpPr>
        <p:spPr>
          <a:xfrm>
            <a:off x="1151781" y="9766935"/>
            <a:ext cx="1639747"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ANÁLISIS ACTUAL</a:t>
            </a:r>
          </a:p>
        </p:txBody>
      </p:sp>
      <p:sp>
        <p:nvSpPr>
          <p:cNvPr id="110" name="TextBox 109"/>
          <p:cNvSpPr txBox="1"/>
          <p:nvPr/>
        </p:nvSpPr>
        <p:spPr>
          <a:xfrm>
            <a:off x="3901827"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01</a:t>
            </a:r>
          </a:p>
        </p:txBody>
      </p:sp>
      <p:sp>
        <p:nvSpPr>
          <p:cNvPr id="111" name="TextBox 110"/>
          <p:cNvSpPr txBox="1"/>
          <p:nvPr/>
        </p:nvSpPr>
        <p:spPr>
          <a:xfrm>
            <a:off x="5717530"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02</a:t>
            </a:r>
          </a:p>
        </p:txBody>
      </p:sp>
      <p:sp>
        <p:nvSpPr>
          <p:cNvPr id="112" name="TextBox 111"/>
          <p:cNvSpPr txBox="1"/>
          <p:nvPr/>
        </p:nvSpPr>
        <p:spPr>
          <a:xfrm>
            <a:off x="753323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03</a:t>
            </a:r>
          </a:p>
        </p:txBody>
      </p:sp>
      <p:sp>
        <p:nvSpPr>
          <p:cNvPr id="113" name="TextBox 112"/>
          <p:cNvSpPr txBox="1"/>
          <p:nvPr/>
        </p:nvSpPr>
        <p:spPr>
          <a:xfrm>
            <a:off x="934893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04</a:t>
            </a:r>
          </a:p>
        </p:txBody>
      </p:sp>
      <p:sp>
        <p:nvSpPr>
          <p:cNvPr id="114" name="TextBox 113"/>
          <p:cNvSpPr txBox="1"/>
          <p:nvPr/>
        </p:nvSpPr>
        <p:spPr>
          <a:xfrm>
            <a:off x="11164639"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05</a:t>
            </a:r>
          </a:p>
        </p:txBody>
      </p:sp>
      <p:sp>
        <p:nvSpPr>
          <p:cNvPr id="115" name="TextBox 114"/>
          <p:cNvSpPr txBox="1"/>
          <p:nvPr/>
        </p:nvSpPr>
        <p:spPr>
          <a:xfrm>
            <a:off x="1298034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06</a:t>
            </a:r>
          </a:p>
        </p:txBody>
      </p:sp>
      <p:sp>
        <p:nvSpPr>
          <p:cNvPr id="116" name="TextBox 115"/>
          <p:cNvSpPr txBox="1"/>
          <p:nvPr/>
        </p:nvSpPr>
        <p:spPr>
          <a:xfrm>
            <a:off x="14796046"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07</a:t>
            </a:r>
          </a:p>
        </p:txBody>
      </p:sp>
      <p:sp>
        <p:nvSpPr>
          <p:cNvPr id="117" name="TextBox 116"/>
          <p:cNvSpPr txBox="1"/>
          <p:nvPr/>
        </p:nvSpPr>
        <p:spPr>
          <a:xfrm>
            <a:off x="16611749"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Rectangle 6"/>
          <p:cNvSpPr/>
          <p:nvPr/>
        </p:nvSpPr>
        <p:spPr>
          <a:xfrm>
            <a:off x="723900" y="1673275"/>
            <a:ext cx="66675" cy="715566"/>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3900" y="2541240"/>
            <a:ext cx="5524500" cy="2270671"/>
          </a:xfrm>
          <a:prstGeom prst="rect">
            <a:avLst/>
          </a:prstGeom>
          <a:solidFill>
            <a:srgbClr val="0D2748">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23900" y="2541240"/>
            <a:ext cx="5524500" cy="5715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23900" y="4802386"/>
            <a:ext cx="5524500" cy="9525"/>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23900" y="2541240"/>
            <a:ext cx="9525" cy="2270671"/>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8875" y="2541240"/>
            <a:ext cx="9525" cy="2270671"/>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81750" y="2541240"/>
            <a:ext cx="11182350" cy="2270671"/>
          </a:xfrm>
          <a:prstGeom prst="rect">
            <a:avLst/>
          </a:prstGeom>
          <a:solidFill>
            <a:srgbClr val="0D2748">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81750" y="2541240"/>
            <a:ext cx="11182350" cy="571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381750" y="4802386"/>
            <a:ext cx="11182350" cy="9525"/>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81750" y="2541240"/>
            <a:ext cx="9525" cy="2270671"/>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7554575" y="2541240"/>
            <a:ext cx="9525" cy="2270671"/>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3900" y="4945261"/>
            <a:ext cx="11182350" cy="2270820"/>
          </a:xfrm>
          <a:prstGeom prst="rect">
            <a:avLst/>
          </a:prstGeom>
          <a:solidFill>
            <a:srgbClr val="0D2748">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900" y="4945261"/>
            <a:ext cx="11182350" cy="571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3900" y="7206555"/>
            <a:ext cx="11182350" cy="9525"/>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23900" y="4945261"/>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896725" y="4945261"/>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039600" y="4945261"/>
            <a:ext cx="5524500" cy="2270820"/>
          </a:xfrm>
          <a:prstGeom prst="rect">
            <a:avLst/>
          </a:prstGeom>
          <a:solidFill>
            <a:srgbClr val="0D2748">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39600" y="4945261"/>
            <a:ext cx="5524500" cy="57150"/>
          </a:xfrm>
          <a:prstGeom prst="rect">
            <a:avLst/>
          </a:prstGeom>
          <a:solidFill>
            <a:srgbClr val="0B5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2039600" y="7206555"/>
            <a:ext cx="5524500" cy="9525"/>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2039600" y="4945261"/>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7554575" y="4945261"/>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23900" y="7349430"/>
            <a:ext cx="16840200" cy="2270820"/>
          </a:xfrm>
          <a:prstGeom prst="rect">
            <a:avLst/>
          </a:prstGeom>
          <a:solidFill>
            <a:srgbClr val="0D2748">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23900" y="7349430"/>
            <a:ext cx="16840200" cy="571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23900" y="9610725"/>
            <a:ext cx="16840200" cy="9525"/>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23900" y="7349430"/>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7554575" y="7349430"/>
            <a:ext cx="9525" cy="2270820"/>
          </a:xfrm>
          <a:prstGeom prst="rect">
            <a:avLst/>
          </a:prstGeom>
          <a:solidFill>
            <a:srgbClr val="6D8FB2">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28662" y="9720262"/>
            <a:ext cx="2276475" cy="276225"/>
          </a:xfrm>
          <a:prstGeom prst="rect">
            <a:avLst/>
          </a:prstGeom>
          <a:solidFill>
            <a:srgbClr val="07172D"/>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109912" y="9720262"/>
            <a:ext cx="4765625" cy="276225"/>
          </a:xfrm>
          <a:prstGeom prst="rect">
            <a:avLst/>
          </a:prstGeom>
          <a:solidFill>
            <a:srgbClr val="0D2748"/>
          </a:solidFill>
          <a:ln w="952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114675" y="9944100"/>
            <a:ext cx="633988"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951738" y="9720262"/>
            <a:ext cx="4765625"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793563" y="9720262"/>
            <a:ext cx="4765774" cy="276225"/>
          </a:xfrm>
          <a:prstGeom prst="rect">
            <a:avLst/>
          </a:prstGeom>
          <a:solidFill>
            <a:srgbClr val="0D2748">
              <a:alpha val="46000"/>
            </a:srgbClr>
          </a:solidFill>
          <a:ln w="9525">
            <a:solidFill>
              <a:srgbClr val="6D8FB2">
                <a:alpha val="2116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1075" y="1663750"/>
            <a:ext cx="4003346" cy="266700"/>
          </a:xfrm>
          <a:prstGeom prst="rect">
            <a:avLst/>
          </a:prstGeom>
          <a:noFill/>
        </p:spPr>
        <p:txBody>
          <a:bodyPr wrap="none" lIns="0" rIns="0" tIns="0" bIns="0" anchor="t">
            <a:spAutoFit/>
          </a:bodyPr>
          <a:lstStyle/>
          <a:p>
            <a:pPr algn="l">
              <a:lnSpc>
                <a:spcPct val="95800"/>
              </a:lnSpc>
            </a:pPr>
            <a:r>
              <a:rPr sz="1650" b="1" i="0" spc="148">
                <a:solidFill>
                  <a:srgbClr val="6D8FB2"/>
                </a:solidFill>
                <a:latin typeface="Barlow"/>
              </a:rPr>
              <a:t>IDENTIFICAR ATRIBUTOS · 01 / 03</a:t>
            </a:r>
          </a:p>
        </p:txBody>
      </p:sp>
      <p:sp>
        <p:nvSpPr>
          <p:cNvPr id="39" name="TextBox 38"/>
          <p:cNvSpPr txBox="1"/>
          <p:nvPr/>
        </p:nvSpPr>
        <p:spPr>
          <a:xfrm>
            <a:off x="981075" y="1885652"/>
            <a:ext cx="8613368" cy="561975"/>
          </a:xfrm>
          <a:prstGeom prst="rect">
            <a:avLst/>
          </a:prstGeom>
          <a:noFill/>
        </p:spPr>
        <p:txBody>
          <a:bodyPr wrap="none" lIns="0" rIns="0" tIns="0" bIns="0" anchor="t">
            <a:spAutoFit/>
          </a:bodyPr>
          <a:lstStyle/>
          <a:p>
            <a:pPr algn="l">
              <a:lnSpc>
                <a:spcPct val="86700"/>
              </a:lnSpc>
            </a:pPr>
            <a:r>
              <a:rPr sz="3450" b="1" i="0" spc="-86">
                <a:solidFill>
                  <a:srgbClr val="F3F7FC"/>
                </a:solidFill>
                <a:latin typeface="Montserrat"/>
              </a:rPr>
              <a:t>Las 36 columnas, agrupadas por rol</a:t>
            </a:r>
          </a:p>
        </p:txBody>
      </p:sp>
      <p:sp>
        <p:nvSpPr>
          <p:cNvPr id="40" name="TextBox 39"/>
          <p:cNvSpPr txBox="1"/>
          <p:nvPr/>
        </p:nvSpPr>
        <p:spPr>
          <a:xfrm>
            <a:off x="923925" y="3212753"/>
            <a:ext cx="3932944" cy="371475"/>
          </a:xfrm>
          <a:prstGeom prst="rect">
            <a:avLst/>
          </a:prstGeom>
          <a:noFill/>
        </p:spPr>
        <p:txBody>
          <a:bodyPr wrap="none" lIns="0" rIns="0" tIns="0" bIns="0" anchor="t">
            <a:spAutoFit/>
          </a:bodyPr>
          <a:lstStyle/>
          <a:p>
            <a:pPr algn="l">
              <a:lnSpc>
                <a:spcPct val="85000"/>
              </a:lnSpc>
            </a:pPr>
            <a:r>
              <a:rPr sz="2250" b="1" i="0">
                <a:solidFill>
                  <a:srgbClr val="F3F7FC"/>
                </a:solidFill>
                <a:latin typeface="Montserrat"/>
              </a:rPr>
              <a:t>Trazabilidad / snapshot</a:t>
            </a:r>
          </a:p>
        </p:txBody>
      </p:sp>
      <p:sp>
        <p:nvSpPr>
          <p:cNvPr id="41" name="TextBox 40"/>
          <p:cNvSpPr txBox="1"/>
          <p:nvPr/>
        </p:nvSpPr>
        <p:spPr>
          <a:xfrm>
            <a:off x="1076325" y="3627983"/>
            <a:ext cx="1317635"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source_year</a:t>
            </a:r>
          </a:p>
        </p:txBody>
      </p:sp>
      <p:sp>
        <p:nvSpPr>
          <p:cNvPr id="42" name="Marcador"/>
          <p:cNvSpPr/>
          <p:nvPr/>
        </p:nvSpPr>
        <p:spPr>
          <a:xfrm>
            <a:off x="944499"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503438" y="3627983"/>
            <a:ext cx="1428702"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source_month</a:t>
            </a:r>
          </a:p>
        </p:txBody>
      </p:sp>
      <p:sp>
        <p:nvSpPr>
          <p:cNvPr id="44" name="Marcador"/>
          <p:cNvSpPr/>
          <p:nvPr/>
        </p:nvSpPr>
        <p:spPr>
          <a:xfrm>
            <a:off x="2371612"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033391" y="3627983"/>
            <a:ext cx="1317635"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source_file</a:t>
            </a:r>
          </a:p>
        </p:txBody>
      </p:sp>
      <p:sp>
        <p:nvSpPr>
          <p:cNvPr id="46" name="Marcador"/>
          <p:cNvSpPr/>
          <p:nvPr/>
        </p:nvSpPr>
        <p:spPr>
          <a:xfrm>
            <a:off x="3901565"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76325" y="3922216"/>
            <a:ext cx="109533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MappingId</a:t>
            </a:r>
          </a:p>
        </p:txBody>
      </p:sp>
      <p:sp>
        <p:nvSpPr>
          <p:cNvPr id="48" name="Marcador"/>
          <p:cNvSpPr/>
          <p:nvPr/>
        </p:nvSpPr>
        <p:spPr>
          <a:xfrm>
            <a:off x="944499" y="4009942"/>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297609" y="3922216"/>
            <a:ext cx="1317635"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CreatedDate</a:t>
            </a:r>
          </a:p>
        </p:txBody>
      </p:sp>
      <p:sp>
        <p:nvSpPr>
          <p:cNvPr id="50" name="Marcador"/>
          <p:cNvSpPr/>
          <p:nvPr/>
        </p:nvSpPr>
        <p:spPr>
          <a:xfrm>
            <a:off x="2165783" y="4009942"/>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1775" y="3212753"/>
            <a:ext cx="5563594" cy="371475"/>
          </a:xfrm>
          <a:prstGeom prst="rect">
            <a:avLst/>
          </a:prstGeom>
          <a:noFill/>
        </p:spPr>
        <p:txBody>
          <a:bodyPr wrap="none" lIns="0" rIns="0" tIns="0" bIns="0" anchor="t">
            <a:spAutoFit/>
          </a:bodyPr>
          <a:lstStyle/>
          <a:p>
            <a:pPr algn="l">
              <a:lnSpc>
                <a:spcPct val="85000"/>
              </a:lnSpc>
            </a:pPr>
            <a:r>
              <a:rPr sz="2250" b="1" i="0">
                <a:solidFill>
                  <a:srgbClr val="F3F7FC"/>
                </a:solidFill>
                <a:latin typeface="Montserrat"/>
              </a:rPr>
              <a:t>Lado fabricante · producto oficial</a:t>
            </a:r>
          </a:p>
        </p:txBody>
      </p:sp>
      <p:sp>
        <p:nvSpPr>
          <p:cNvPr id="52" name="TextBox 51"/>
          <p:cNvSpPr txBox="1"/>
          <p:nvPr/>
        </p:nvSpPr>
        <p:spPr>
          <a:xfrm>
            <a:off x="6734175" y="3627983"/>
            <a:ext cx="1428702"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a:t>
            </a:r>
          </a:p>
        </p:txBody>
      </p:sp>
      <p:sp>
        <p:nvSpPr>
          <p:cNvPr id="53" name="Marcador"/>
          <p:cNvSpPr/>
          <p:nvPr/>
        </p:nvSpPr>
        <p:spPr>
          <a:xfrm>
            <a:off x="6602349"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264128" y="3627983"/>
            <a:ext cx="65090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Brand</a:t>
            </a:r>
          </a:p>
        </p:txBody>
      </p:sp>
      <p:sp>
        <p:nvSpPr>
          <p:cNvPr id="55" name="Marcador"/>
          <p:cNvSpPr/>
          <p:nvPr/>
        </p:nvSpPr>
        <p:spPr>
          <a:xfrm>
            <a:off x="8132302"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073902" y="3627983"/>
            <a:ext cx="2428792"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ManufacturerProductId</a:t>
            </a:r>
          </a:p>
        </p:txBody>
      </p:sp>
      <p:sp>
        <p:nvSpPr>
          <p:cNvPr id="57" name="Marcador"/>
          <p:cNvSpPr/>
          <p:nvPr/>
        </p:nvSpPr>
        <p:spPr>
          <a:xfrm>
            <a:off x="8942076"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529864" y="3627983"/>
            <a:ext cx="2651087"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ManufacturerProductName</a:t>
            </a:r>
          </a:p>
        </p:txBody>
      </p:sp>
      <p:sp>
        <p:nvSpPr>
          <p:cNvPr id="59" name="Marcador"/>
          <p:cNvSpPr/>
          <p:nvPr/>
        </p:nvSpPr>
        <p:spPr>
          <a:xfrm>
            <a:off x="11398038"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4191655" y="3627983"/>
            <a:ext cx="3428881"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ManufacturerProductDescription</a:t>
            </a:r>
          </a:p>
        </p:txBody>
      </p:sp>
      <p:sp>
        <p:nvSpPr>
          <p:cNvPr id="61" name="Marcador"/>
          <p:cNvSpPr/>
          <p:nvPr/>
        </p:nvSpPr>
        <p:spPr>
          <a:xfrm>
            <a:off x="14059829" y="371570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734175" y="3922216"/>
            <a:ext cx="253985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ManufacturerProductUrl</a:t>
            </a:r>
          </a:p>
        </p:txBody>
      </p:sp>
      <p:sp>
        <p:nvSpPr>
          <p:cNvPr id="63" name="Marcador"/>
          <p:cNvSpPr/>
          <p:nvPr/>
        </p:nvSpPr>
        <p:spPr>
          <a:xfrm>
            <a:off x="6602349" y="4009942"/>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292977" y="3922216"/>
            <a:ext cx="3095518"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ManufacturerProductImageUrl</a:t>
            </a:r>
          </a:p>
        </p:txBody>
      </p:sp>
      <p:sp>
        <p:nvSpPr>
          <p:cNvPr id="65" name="Marcador"/>
          <p:cNvSpPr/>
          <p:nvPr/>
        </p:nvSpPr>
        <p:spPr>
          <a:xfrm>
            <a:off x="9161151" y="4009942"/>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2366278" y="3922216"/>
            <a:ext cx="109533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ExtraInfo</a:t>
            </a:r>
          </a:p>
        </p:txBody>
      </p:sp>
      <p:sp>
        <p:nvSpPr>
          <p:cNvPr id="67" name="Marcador"/>
          <p:cNvSpPr/>
          <p:nvPr/>
        </p:nvSpPr>
        <p:spPr>
          <a:xfrm>
            <a:off x="12234452" y="4009942"/>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23925" y="5616922"/>
            <a:ext cx="4379143" cy="371475"/>
          </a:xfrm>
          <a:prstGeom prst="rect">
            <a:avLst/>
          </a:prstGeom>
          <a:noFill/>
        </p:spPr>
        <p:txBody>
          <a:bodyPr wrap="none" lIns="0" rIns="0" tIns="0" bIns="0" anchor="t">
            <a:spAutoFit/>
          </a:bodyPr>
          <a:lstStyle/>
          <a:p>
            <a:pPr algn="l">
              <a:lnSpc>
                <a:spcPct val="85000"/>
              </a:lnSpc>
            </a:pPr>
            <a:r>
              <a:rPr sz="2250" b="1" i="0">
                <a:solidFill>
                  <a:srgbClr val="F3F7FC"/>
                </a:solidFill>
                <a:latin typeface="Montserrat"/>
              </a:rPr>
              <a:t>Lado retailer · publicación</a:t>
            </a:r>
          </a:p>
        </p:txBody>
      </p:sp>
      <p:sp>
        <p:nvSpPr>
          <p:cNvPr id="69" name="TextBox 68"/>
          <p:cNvSpPr txBox="1"/>
          <p:nvPr/>
        </p:nvSpPr>
        <p:spPr>
          <a:xfrm>
            <a:off x="1076325" y="6032153"/>
            <a:ext cx="984272"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Retailer</a:t>
            </a:r>
          </a:p>
        </p:txBody>
      </p:sp>
      <p:sp>
        <p:nvSpPr>
          <p:cNvPr id="70" name="Marcador"/>
          <p:cNvSpPr/>
          <p:nvPr/>
        </p:nvSpPr>
        <p:spPr>
          <a:xfrm>
            <a:off x="944499" y="611987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2194768" y="6032153"/>
            <a:ext cx="2206496"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RetailerProductName</a:t>
            </a:r>
          </a:p>
        </p:txBody>
      </p:sp>
      <p:sp>
        <p:nvSpPr>
          <p:cNvPr id="72" name="Marcador"/>
          <p:cNvSpPr/>
          <p:nvPr/>
        </p:nvSpPr>
        <p:spPr>
          <a:xfrm>
            <a:off x="2062942" y="611987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4444901" y="6032153"/>
            <a:ext cx="1984361"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RetailerProductId</a:t>
            </a:r>
          </a:p>
        </p:txBody>
      </p:sp>
      <p:sp>
        <p:nvSpPr>
          <p:cNvPr id="74" name="Marcador"/>
          <p:cNvSpPr/>
          <p:nvPr/>
        </p:nvSpPr>
        <p:spPr>
          <a:xfrm>
            <a:off x="4313075" y="611987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89353" y="6032153"/>
            <a:ext cx="209542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RetailerProductUrl</a:t>
            </a:r>
          </a:p>
        </p:txBody>
      </p:sp>
      <p:sp>
        <p:nvSpPr>
          <p:cNvPr id="76" name="Marcador"/>
          <p:cNvSpPr/>
          <p:nvPr/>
        </p:nvSpPr>
        <p:spPr>
          <a:xfrm>
            <a:off x="6357527" y="611987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636645" y="6032153"/>
            <a:ext cx="2651087"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RetailerProductImageUrl</a:t>
            </a:r>
          </a:p>
        </p:txBody>
      </p:sp>
      <p:sp>
        <p:nvSpPr>
          <p:cNvPr id="78" name="Marcador"/>
          <p:cNvSpPr/>
          <p:nvPr/>
        </p:nvSpPr>
        <p:spPr>
          <a:xfrm>
            <a:off x="8504819" y="6119878"/>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076325" y="6326386"/>
            <a:ext cx="65090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Stock</a:t>
            </a:r>
          </a:p>
        </p:txBody>
      </p:sp>
      <p:sp>
        <p:nvSpPr>
          <p:cNvPr id="80" name="Marcador"/>
          <p:cNvSpPr/>
          <p:nvPr/>
        </p:nvSpPr>
        <p:spPr>
          <a:xfrm>
            <a:off x="944499" y="6414111"/>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886099" y="6326386"/>
            <a:ext cx="65090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Price</a:t>
            </a:r>
          </a:p>
        </p:txBody>
      </p:sp>
      <p:sp>
        <p:nvSpPr>
          <p:cNvPr id="82" name="Marcador"/>
          <p:cNvSpPr/>
          <p:nvPr/>
        </p:nvSpPr>
        <p:spPr>
          <a:xfrm>
            <a:off x="1754273" y="6414111"/>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2239625" y="5763964"/>
            <a:ext cx="1689574" cy="371475"/>
          </a:xfrm>
          <a:prstGeom prst="rect">
            <a:avLst/>
          </a:prstGeom>
          <a:noFill/>
        </p:spPr>
        <p:txBody>
          <a:bodyPr wrap="none" lIns="0" rIns="0" tIns="0" bIns="0" anchor="t">
            <a:spAutoFit/>
          </a:bodyPr>
          <a:lstStyle/>
          <a:p>
            <a:pPr algn="l">
              <a:lnSpc>
                <a:spcPct val="85000"/>
              </a:lnSpc>
            </a:pPr>
            <a:r>
              <a:rPr sz="2250" b="1" i="0">
                <a:solidFill>
                  <a:srgbClr val="F3F7FC"/>
                </a:solidFill>
                <a:latin typeface="Montserrat"/>
              </a:rPr>
              <a:t>Geografía</a:t>
            </a:r>
          </a:p>
        </p:txBody>
      </p:sp>
      <p:sp>
        <p:nvSpPr>
          <p:cNvPr id="84" name="TextBox 83"/>
          <p:cNvSpPr txBox="1"/>
          <p:nvPr/>
        </p:nvSpPr>
        <p:spPr>
          <a:xfrm>
            <a:off x="12392025" y="6179195"/>
            <a:ext cx="3762244"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ManufacturerProductMappingCountry</a:t>
            </a:r>
          </a:p>
        </p:txBody>
      </p:sp>
      <p:sp>
        <p:nvSpPr>
          <p:cNvPr id="85" name="Marcador"/>
          <p:cNvSpPr/>
          <p:nvPr/>
        </p:nvSpPr>
        <p:spPr>
          <a:xfrm>
            <a:off x="12260199" y="6266920"/>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923925" y="8168134"/>
            <a:ext cx="3073176" cy="371475"/>
          </a:xfrm>
          <a:prstGeom prst="rect">
            <a:avLst/>
          </a:prstGeom>
          <a:noFill/>
        </p:spPr>
        <p:txBody>
          <a:bodyPr wrap="none" lIns="0" rIns="0" tIns="0" bIns="0" anchor="t">
            <a:spAutoFit/>
          </a:bodyPr>
          <a:lstStyle/>
          <a:p>
            <a:pPr algn="l">
              <a:lnSpc>
                <a:spcPct val="85000"/>
              </a:lnSpc>
            </a:pPr>
            <a:r>
              <a:rPr sz="2250" b="1" i="0">
                <a:solidFill>
                  <a:srgbClr val="F3F7FC"/>
                </a:solidFill>
                <a:latin typeface="Montserrat"/>
              </a:rPr>
              <a:t>Calidad del match</a:t>
            </a:r>
          </a:p>
        </p:txBody>
      </p:sp>
      <p:sp>
        <p:nvSpPr>
          <p:cNvPr id="87" name="TextBox 86"/>
          <p:cNvSpPr txBox="1"/>
          <p:nvPr/>
        </p:nvSpPr>
        <p:spPr>
          <a:xfrm>
            <a:off x="1076325" y="8583364"/>
            <a:ext cx="873204"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Invalid</a:t>
            </a:r>
          </a:p>
        </p:txBody>
      </p:sp>
      <p:sp>
        <p:nvSpPr>
          <p:cNvPr id="88" name="Marcador"/>
          <p:cNvSpPr/>
          <p:nvPr/>
        </p:nvSpPr>
        <p:spPr>
          <a:xfrm>
            <a:off x="944499" y="8671090"/>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2091928" y="8583364"/>
            <a:ext cx="1095339"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IsDeleted</a:t>
            </a:r>
          </a:p>
        </p:txBody>
      </p:sp>
      <p:sp>
        <p:nvSpPr>
          <p:cNvPr id="90" name="Marcador"/>
          <p:cNvSpPr/>
          <p:nvPr/>
        </p:nvSpPr>
        <p:spPr>
          <a:xfrm>
            <a:off x="1960102" y="8671090"/>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3313212" y="8583364"/>
            <a:ext cx="1762065"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MatchConfidence</a:t>
            </a:r>
          </a:p>
        </p:txBody>
      </p:sp>
      <p:sp>
        <p:nvSpPr>
          <p:cNvPr id="92" name="Marcador"/>
          <p:cNvSpPr/>
          <p:nvPr/>
        </p:nvSpPr>
        <p:spPr>
          <a:xfrm>
            <a:off x="3181386" y="8671090"/>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5151834" y="8583364"/>
            <a:ext cx="1317635" cy="247650"/>
          </a:xfrm>
          <a:prstGeom prst="rect">
            <a:avLst/>
          </a:prstGeom>
          <a:noFill/>
        </p:spPr>
        <p:txBody>
          <a:bodyPr wrap="none" lIns="0" rIns="0" tIns="0" bIns="0" anchor="t">
            <a:spAutoFit/>
          </a:bodyPr>
          <a:lstStyle/>
          <a:p>
            <a:pPr algn="l">
              <a:lnSpc>
                <a:spcPct val="87500"/>
              </a:lnSpc>
            </a:pPr>
            <a:r>
              <a:rPr sz="1350" b="1" i="0">
                <a:solidFill>
                  <a:srgbClr val="DCE8F4"/>
                </a:solidFill>
                <a:latin typeface="Roboto Mono"/>
              </a:rPr>
              <a:t>LinkIsValid</a:t>
            </a:r>
          </a:p>
        </p:txBody>
      </p:sp>
      <p:sp>
        <p:nvSpPr>
          <p:cNvPr id="94" name="Marcador"/>
          <p:cNvSpPr/>
          <p:nvPr/>
        </p:nvSpPr>
        <p:spPr>
          <a:xfrm>
            <a:off x="5020008" y="8671090"/>
            <a:ext cx="61722" cy="61722"/>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904577" y="9766935"/>
            <a:ext cx="2173706" cy="201930"/>
          </a:xfrm>
          <a:prstGeom prst="rect">
            <a:avLst/>
          </a:prstGeom>
          <a:noFill/>
        </p:spPr>
        <p:txBody>
          <a:bodyPr wrap="none" lIns="0" rIns="0" tIns="0" bIns="0" anchor="t">
            <a:spAutoFit/>
          </a:bodyPr>
          <a:lstStyle/>
          <a:p>
            <a:pPr algn="l">
              <a:lnSpc>
                <a:spcPct val="100000"/>
              </a:lnSpc>
            </a:pPr>
            <a:r>
              <a:rPr sz="1200" b="1" i="0" spc="96">
                <a:solidFill>
                  <a:srgbClr val="FFD21F"/>
                </a:solidFill>
                <a:latin typeface="Barlow"/>
              </a:rPr>
              <a:t>IDENTIFICAR ATRIBUTOS</a:t>
            </a:r>
          </a:p>
        </p:txBody>
      </p:sp>
      <p:sp>
        <p:nvSpPr>
          <p:cNvPr id="96" name="TextBox 95"/>
          <p:cNvSpPr txBox="1"/>
          <p:nvPr/>
        </p:nvSpPr>
        <p:spPr>
          <a:xfrm>
            <a:off x="5414962" y="9772650"/>
            <a:ext cx="263217" cy="190500"/>
          </a:xfrm>
          <a:prstGeom prst="rect">
            <a:avLst/>
          </a:prstGeom>
          <a:noFill/>
        </p:spPr>
        <p:txBody>
          <a:bodyPr wrap="none" lIns="0" rIns="0" tIns="0" bIns="0" anchor="t">
            <a:spAutoFit/>
          </a:bodyPr>
          <a:lstStyle/>
          <a:p>
            <a:pPr algn="l">
              <a:lnSpc>
                <a:spcPct val="100000"/>
              </a:lnSpc>
            </a:pPr>
            <a:r>
              <a:rPr sz="1125" b="1" i="0">
                <a:solidFill>
                  <a:srgbClr val="FFD21F"/>
                </a:solidFill>
                <a:latin typeface="Barlow"/>
              </a:rPr>
              <a:t>09</a:t>
            </a:r>
          </a:p>
        </p:txBody>
      </p:sp>
      <p:sp>
        <p:nvSpPr>
          <p:cNvPr id="97" name="TextBox 96"/>
          <p:cNvSpPr txBox="1"/>
          <p:nvPr/>
        </p:nvSpPr>
        <p:spPr>
          <a:xfrm>
            <a:off x="10256788"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10</a:t>
            </a:r>
          </a:p>
        </p:txBody>
      </p:sp>
      <p:sp>
        <p:nvSpPr>
          <p:cNvPr id="98" name="TextBox 97"/>
          <p:cNvSpPr txBox="1"/>
          <p:nvPr/>
        </p:nvSpPr>
        <p:spPr>
          <a:xfrm>
            <a:off x="15098613" y="9772650"/>
            <a:ext cx="263217" cy="190500"/>
          </a:xfrm>
          <a:prstGeom prst="rect">
            <a:avLst/>
          </a:prstGeom>
          <a:noFill/>
        </p:spPr>
        <p:txBody>
          <a:bodyPr wrap="none" lIns="0" rIns="0" tIns="0" bIns="0" anchor="t">
            <a:spAutoFit/>
          </a:bodyPr>
          <a:lstStyle/>
          <a:p>
            <a:pPr algn="l">
              <a:lnSpc>
                <a:spcPct val="100000"/>
              </a:lnSpc>
            </a:pPr>
            <a:r>
              <a:rPr sz="1125" b="1" i="0">
                <a:solidFill>
                  <a:srgbClr val="F3F7FC">
                    <a:alpha val="46000"/>
                  </a:srgbClr>
                </a:solidFill>
                <a:latin typeface="Barlow"/>
              </a:rPr>
              <a:t>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OE2 · ORGANIZAR EL CONJUNTO DE DATOS · IDENTIFICAR ATRIBUTOS</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Las señales que deciden y los filtros de calidad</a:t>
            </a:r>
          </a:p>
        </p:txBody>
      </p:sp>
      <p:sp>
        <p:nvSpPr>
          <p:cNvPr id="9" name="Rectangle 8"/>
          <p:cNvSpPr/>
          <p:nvPr/>
        </p:nvSpPr>
        <p:spPr>
          <a:xfrm>
            <a:off x="914400" y="2628900"/>
            <a:ext cx="4686300" cy="3381375"/>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46863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81100" y="2857500"/>
            <a:ext cx="4152900" cy="38100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Identificadores</a:t>
            </a:r>
          </a:p>
        </p:txBody>
      </p:sp>
      <p:sp>
        <p:nvSpPr>
          <p:cNvPr id="12" name="Rounded Rectangle 11"/>
          <p:cNvSpPr/>
          <p:nvPr/>
        </p:nvSpPr>
        <p:spPr>
          <a:xfrm>
            <a:off x="1181100" y="3467100"/>
            <a:ext cx="2548235"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1100" y="3467100"/>
            <a:ext cx="2548235"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ManufacturerProductId</a:t>
            </a:r>
          </a:p>
        </p:txBody>
      </p:sp>
      <p:sp>
        <p:nvSpPr>
          <p:cNvPr id="14" name="TextBox 13"/>
          <p:cNvSpPr txBox="1"/>
          <p:nvPr/>
        </p:nvSpPr>
        <p:spPr>
          <a:xfrm>
            <a:off x="1181100" y="3886200"/>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17.416 oficiales</a:t>
            </a:r>
          </a:p>
        </p:txBody>
      </p:sp>
      <p:sp>
        <p:nvSpPr>
          <p:cNvPr id="15" name="Rounded Rectangle 14"/>
          <p:cNvSpPr/>
          <p:nvPr/>
        </p:nvSpPr>
        <p:spPr>
          <a:xfrm>
            <a:off x="1181100" y="4572000"/>
            <a:ext cx="2113657"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81100" y="4572000"/>
            <a:ext cx="2113657"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RetailerProductId</a:t>
            </a:r>
          </a:p>
        </p:txBody>
      </p:sp>
      <p:sp>
        <p:nvSpPr>
          <p:cNvPr id="17" name="TextBox 16"/>
          <p:cNvSpPr txBox="1"/>
          <p:nvPr/>
        </p:nvSpPr>
        <p:spPr>
          <a:xfrm>
            <a:off x="1181100" y="4991100"/>
            <a:ext cx="4152900" cy="476250"/>
          </a:xfrm>
          <a:prstGeom prst="rect">
            <a:avLst/>
          </a:prstGeom>
          <a:noFill/>
        </p:spPr>
        <p:txBody>
          <a:bodyPr wrap="square" lIns="0" rIns="0" tIns="0" bIns="0" anchor="t">
            <a:spAutoFit/>
          </a:bodyPr>
          <a:lstStyle/>
          <a:p>
            <a:pPr algn="l">
              <a:lnSpc>
                <a:spcPct val="91700"/>
              </a:lnSpc>
            </a:pPr>
            <a:r>
              <a:rPr sz="2400" b="1" i="0">
                <a:solidFill>
                  <a:srgbClr val="E0566B"/>
                </a:solidFill>
                <a:latin typeface="Montserrat"/>
              </a:rPr>
              <a:t>8.528 reutilizados</a:t>
            </a:r>
          </a:p>
        </p:txBody>
      </p:sp>
      <p:sp>
        <p:nvSpPr>
          <p:cNvPr id="18" name="Rectangle 17"/>
          <p:cNvSpPr/>
          <p:nvPr/>
        </p:nvSpPr>
        <p:spPr>
          <a:xfrm>
            <a:off x="5829300" y="2628900"/>
            <a:ext cx="4686300" cy="3381375"/>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829300" y="2628900"/>
            <a:ext cx="46863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96000" y="2857500"/>
            <a:ext cx="4152900" cy="38100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Nombres</a:t>
            </a:r>
          </a:p>
        </p:txBody>
      </p:sp>
      <p:sp>
        <p:nvSpPr>
          <p:cNvPr id="21" name="Rounded Rectangle 20"/>
          <p:cNvSpPr/>
          <p:nvPr/>
        </p:nvSpPr>
        <p:spPr>
          <a:xfrm>
            <a:off x="6096000" y="3467100"/>
            <a:ext cx="2765524"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96000" y="3467100"/>
            <a:ext cx="2765524"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ManufacturerProductName</a:t>
            </a:r>
          </a:p>
        </p:txBody>
      </p:sp>
      <p:sp>
        <p:nvSpPr>
          <p:cNvPr id="23" name="TextBox 22"/>
          <p:cNvSpPr txBox="1"/>
          <p:nvPr/>
        </p:nvSpPr>
        <p:spPr>
          <a:xfrm>
            <a:off x="6096000" y="3886200"/>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42 caracteres de media</a:t>
            </a:r>
          </a:p>
        </p:txBody>
      </p:sp>
      <p:sp>
        <p:nvSpPr>
          <p:cNvPr id="24" name="Rounded Rectangle 23"/>
          <p:cNvSpPr/>
          <p:nvPr/>
        </p:nvSpPr>
        <p:spPr>
          <a:xfrm>
            <a:off x="6096000" y="4572000"/>
            <a:ext cx="2330946"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96000" y="4572000"/>
            <a:ext cx="2330946"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RetailerProductName</a:t>
            </a:r>
          </a:p>
        </p:txBody>
      </p:sp>
      <p:sp>
        <p:nvSpPr>
          <p:cNvPr id="26" name="TextBox 25"/>
          <p:cNvSpPr txBox="1"/>
          <p:nvPr/>
        </p:nvSpPr>
        <p:spPr>
          <a:xfrm>
            <a:off x="6096000" y="4991100"/>
            <a:ext cx="4152900" cy="87630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61 caracteres de media</a:t>
            </a:r>
          </a:p>
          <a:p>
            <a:pPr algn="l">
              <a:lnSpc>
                <a:spcPct val="91700"/>
              </a:lnSpc>
            </a:pPr>
            <a:r>
              <a:rPr sz="2400" b="1" i="0">
                <a:solidFill>
                  <a:srgbClr val="FFD21F"/>
                </a:solidFill>
                <a:latin typeface="Montserrat"/>
              </a:rPr>
              <a:t>90,19% con código</a:t>
            </a:r>
          </a:p>
        </p:txBody>
      </p:sp>
      <p:sp>
        <p:nvSpPr>
          <p:cNvPr id="27" name="Rectangle 26"/>
          <p:cNvSpPr/>
          <p:nvPr/>
        </p:nvSpPr>
        <p:spPr>
          <a:xfrm>
            <a:off x="914400" y="6238875"/>
            <a:ext cx="4686300" cy="3381375"/>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14400" y="6238875"/>
            <a:ext cx="46863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81100" y="6467475"/>
            <a:ext cx="4152900" cy="38100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Descripción y códigos</a:t>
            </a:r>
          </a:p>
        </p:txBody>
      </p:sp>
      <p:sp>
        <p:nvSpPr>
          <p:cNvPr id="30" name="Rounded Rectangle 29"/>
          <p:cNvSpPr/>
          <p:nvPr/>
        </p:nvSpPr>
        <p:spPr>
          <a:xfrm>
            <a:off x="1181100" y="7077075"/>
            <a:ext cx="3351907"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7077075"/>
            <a:ext cx="3351907"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ManufacturerProductDescription</a:t>
            </a:r>
          </a:p>
        </p:txBody>
      </p:sp>
      <p:sp>
        <p:nvSpPr>
          <p:cNvPr id="32" name="TextBox 31"/>
          <p:cNvSpPr txBox="1"/>
          <p:nvPr/>
        </p:nvSpPr>
        <p:spPr>
          <a:xfrm>
            <a:off x="1181100" y="7496175"/>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5,35% nulos</a:t>
            </a:r>
          </a:p>
        </p:txBody>
      </p:sp>
      <p:sp>
        <p:nvSpPr>
          <p:cNvPr id="33" name="Rounded Rectangle 32"/>
          <p:cNvSpPr/>
          <p:nvPr/>
        </p:nvSpPr>
        <p:spPr>
          <a:xfrm>
            <a:off x="1181100" y="8181975"/>
            <a:ext cx="1244501"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81100" y="8181975"/>
            <a:ext cx="1244501"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ExtraInfo</a:t>
            </a:r>
          </a:p>
        </p:txBody>
      </p:sp>
      <p:sp>
        <p:nvSpPr>
          <p:cNvPr id="35" name="TextBox 34"/>
          <p:cNvSpPr txBox="1"/>
          <p:nvPr/>
        </p:nvSpPr>
        <p:spPr>
          <a:xfrm>
            <a:off x="1181100" y="8601075"/>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67,20% EAN</a:t>
            </a:r>
          </a:p>
        </p:txBody>
      </p:sp>
      <p:sp>
        <p:nvSpPr>
          <p:cNvPr id="36" name="Rectangle 35"/>
          <p:cNvSpPr/>
          <p:nvPr/>
        </p:nvSpPr>
        <p:spPr>
          <a:xfrm>
            <a:off x="5829300" y="6238875"/>
            <a:ext cx="4686300" cy="3381375"/>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829300" y="6238875"/>
            <a:ext cx="46863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096000" y="6467475"/>
            <a:ext cx="4152900" cy="38100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Contexto</a:t>
            </a:r>
          </a:p>
        </p:txBody>
      </p:sp>
      <p:sp>
        <p:nvSpPr>
          <p:cNvPr id="39" name="Rounded Rectangle 38"/>
          <p:cNvSpPr/>
          <p:nvPr/>
        </p:nvSpPr>
        <p:spPr>
          <a:xfrm>
            <a:off x="6096000" y="7077075"/>
            <a:ext cx="809923" cy="307658"/>
          </a:xfrm>
          <a:prstGeom prst="roundRect">
            <a:avLst>
              <a:gd name="adj" fmla="val 1857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96000" y="7077075"/>
            <a:ext cx="809923" cy="307658"/>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Brand</a:t>
            </a:r>
          </a:p>
        </p:txBody>
      </p:sp>
      <p:sp>
        <p:nvSpPr>
          <p:cNvPr id="41" name="TextBox 40"/>
          <p:cNvSpPr txBox="1"/>
          <p:nvPr/>
        </p:nvSpPr>
        <p:spPr>
          <a:xfrm>
            <a:off x="6096000" y="7496175"/>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82,80% presente</a:t>
            </a:r>
          </a:p>
        </p:txBody>
      </p:sp>
      <p:sp>
        <p:nvSpPr>
          <p:cNvPr id="42" name="Rounded Rectangle 41"/>
          <p:cNvSpPr/>
          <p:nvPr/>
        </p:nvSpPr>
        <p:spPr>
          <a:xfrm>
            <a:off x="6096000" y="8181975"/>
            <a:ext cx="3660428"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096000" y="8181975"/>
            <a:ext cx="3660428"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ManufacturerProductMappingCountry</a:t>
            </a:r>
          </a:p>
        </p:txBody>
      </p:sp>
      <p:sp>
        <p:nvSpPr>
          <p:cNvPr id="44" name="TextBox 43"/>
          <p:cNvSpPr txBox="1"/>
          <p:nvPr/>
        </p:nvSpPr>
        <p:spPr>
          <a:xfrm>
            <a:off x="6096000" y="8601075"/>
            <a:ext cx="4152900" cy="476250"/>
          </a:xfrm>
          <a:prstGeom prst="rect">
            <a:avLst/>
          </a:prstGeom>
          <a:noFill/>
        </p:spPr>
        <p:txBody>
          <a:bodyPr wrap="square" lIns="0" rIns="0" tIns="0" bIns="0" anchor="t">
            <a:spAutoFit/>
          </a:bodyPr>
          <a:lstStyle/>
          <a:p>
            <a:pPr algn="l">
              <a:lnSpc>
                <a:spcPct val="91700"/>
              </a:lnSpc>
            </a:pPr>
            <a:r>
              <a:rPr sz="2400" b="1" i="0">
                <a:solidFill>
                  <a:srgbClr val="FFD21F"/>
                </a:solidFill>
                <a:latin typeface="Montserrat"/>
              </a:rPr>
              <a:t>65 países</a:t>
            </a:r>
          </a:p>
        </p:txBody>
      </p:sp>
      <p:sp>
        <p:nvSpPr>
          <p:cNvPr id="45" name="TextBox 44"/>
          <p:cNvSpPr txBox="1"/>
          <p:nvPr/>
        </p:nvSpPr>
        <p:spPr>
          <a:xfrm>
            <a:off x="10896600" y="2628900"/>
            <a:ext cx="6477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FILTRO BASE DE CALIDAD</a:t>
            </a:r>
          </a:p>
        </p:txBody>
      </p:sp>
      <p:sp>
        <p:nvSpPr>
          <p:cNvPr id="46" name="Rectangle 45"/>
          <p:cNvSpPr/>
          <p:nvPr/>
        </p:nvSpPr>
        <p:spPr>
          <a:xfrm>
            <a:off x="10896600" y="3048000"/>
            <a:ext cx="6477000" cy="1314450"/>
          </a:xfrm>
          <a:prstGeom prst="rect">
            <a:avLst/>
          </a:prstGeom>
          <a:solidFill>
            <a:srgbClr val="0C2445"/>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896600" y="3048000"/>
            <a:ext cx="57150" cy="1314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1163300" y="3238500"/>
            <a:ext cx="5943600" cy="381000"/>
          </a:xfrm>
          <a:prstGeom prst="rect">
            <a:avLst/>
          </a:prstGeom>
          <a:noFill/>
        </p:spPr>
        <p:txBody>
          <a:bodyPr wrap="square" lIns="0" rIns="0" tIns="0" bIns="0" anchor="t">
            <a:spAutoFit/>
          </a:bodyPr>
          <a:lstStyle/>
          <a:p>
            <a:pPr algn="l">
              <a:lnSpc>
                <a:spcPct val="100000"/>
              </a:lnSpc>
            </a:pPr>
            <a:r>
              <a:rPr sz="2100" b="1" i="0">
                <a:solidFill>
                  <a:srgbClr val="FFD21F"/>
                </a:solidFill>
                <a:latin typeface="Roboto Mono"/>
              </a:rPr>
              <a:t>Invalid</a:t>
            </a:r>
          </a:p>
        </p:txBody>
      </p:sp>
      <p:sp>
        <p:nvSpPr>
          <p:cNvPr id="49" name="TextBox 48"/>
          <p:cNvSpPr txBox="1"/>
          <p:nvPr/>
        </p:nvSpPr>
        <p:spPr>
          <a:xfrm>
            <a:off x="12416582" y="3257550"/>
            <a:ext cx="1905000" cy="381000"/>
          </a:xfrm>
          <a:prstGeom prst="rect">
            <a:avLst/>
          </a:prstGeom>
          <a:noFill/>
        </p:spPr>
        <p:txBody>
          <a:bodyPr wrap="square" lIns="0" rIns="0" tIns="0" bIns="0" anchor="t">
            <a:spAutoFit/>
          </a:bodyPr>
          <a:lstStyle/>
          <a:p>
            <a:pPr algn="l">
              <a:lnSpc>
                <a:spcPct val="100000"/>
              </a:lnSpc>
            </a:pPr>
            <a:r>
              <a:rPr sz="1950" b="0" i="0">
                <a:solidFill>
                  <a:srgbClr val="F3F7FC"/>
                </a:solidFill>
                <a:latin typeface="Roboto Mono"/>
              </a:rPr>
              <a:t>= "false"</a:t>
            </a:r>
          </a:p>
        </p:txBody>
      </p:sp>
      <p:sp>
        <p:nvSpPr>
          <p:cNvPr id="50" name="TextBox 49"/>
          <p:cNvSpPr txBox="1"/>
          <p:nvPr/>
        </p:nvSpPr>
        <p:spPr>
          <a:xfrm>
            <a:off x="11163300" y="3771900"/>
            <a:ext cx="5943600" cy="381000"/>
          </a:xfrm>
          <a:prstGeom prst="rect">
            <a:avLst/>
          </a:prstGeom>
          <a:noFill/>
        </p:spPr>
        <p:txBody>
          <a:bodyPr wrap="square" lIns="0" rIns="0" tIns="0" bIns="0" anchor="t">
            <a:spAutoFit/>
          </a:bodyPr>
          <a:lstStyle/>
          <a:p>
            <a:pPr algn="l">
              <a:lnSpc>
                <a:spcPct val="100000"/>
              </a:lnSpc>
            </a:pPr>
            <a:r>
              <a:rPr sz="1800" b="0" i="0">
                <a:solidFill>
                  <a:srgbClr val="9FB4CC"/>
                </a:solidFill>
                <a:latin typeface="Barlow"/>
              </a:rPr>
              <a:t>2.136 registros inválidos</a:t>
            </a:r>
          </a:p>
        </p:txBody>
      </p:sp>
      <p:sp>
        <p:nvSpPr>
          <p:cNvPr id="51" name="Rectangle 50"/>
          <p:cNvSpPr/>
          <p:nvPr/>
        </p:nvSpPr>
        <p:spPr>
          <a:xfrm>
            <a:off x="14106525" y="4381500"/>
            <a:ext cx="57150" cy="14859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rot="10800000">
            <a:off x="14020800" y="4507230"/>
            <a:ext cx="228600" cy="160020"/>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896600" y="4686300"/>
            <a:ext cx="6477000" cy="1314450"/>
          </a:xfrm>
          <a:prstGeom prst="rect">
            <a:avLst/>
          </a:prstGeom>
          <a:solidFill>
            <a:srgbClr val="0C2445"/>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896600" y="4686300"/>
            <a:ext cx="57150" cy="1314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1163300" y="4876800"/>
            <a:ext cx="5943600" cy="381000"/>
          </a:xfrm>
          <a:prstGeom prst="rect">
            <a:avLst/>
          </a:prstGeom>
          <a:noFill/>
        </p:spPr>
        <p:txBody>
          <a:bodyPr wrap="square" lIns="0" rIns="0" tIns="0" bIns="0" anchor="t">
            <a:spAutoFit/>
          </a:bodyPr>
          <a:lstStyle/>
          <a:p>
            <a:pPr algn="l">
              <a:lnSpc>
                <a:spcPct val="100000"/>
              </a:lnSpc>
            </a:pPr>
            <a:r>
              <a:rPr sz="2100" b="1" i="0">
                <a:solidFill>
                  <a:srgbClr val="FFD21F"/>
                </a:solidFill>
                <a:latin typeface="Roboto Mono"/>
              </a:rPr>
              <a:t>IsDeleted</a:t>
            </a:r>
          </a:p>
        </p:txBody>
      </p:sp>
      <p:sp>
        <p:nvSpPr>
          <p:cNvPr id="56" name="TextBox 55"/>
          <p:cNvSpPr txBox="1"/>
          <p:nvPr/>
        </p:nvSpPr>
        <p:spPr>
          <a:xfrm>
            <a:off x="12736562" y="4895850"/>
            <a:ext cx="1905000" cy="381000"/>
          </a:xfrm>
          <a:prstGeom prst="rect">
            <a:avLst/>
          </a:prstGeom>
          <a:noFill/>
        </p:spPr>
        <p:txBody>
          <a:bodyPr wrap="square" lIns="0" rIns="0" tIns="0" bIns="0" anchor="t">
            <a:spAutoFit/>
          </a:bodyPr>
          <a:lstStyle/>
          <a:p>
            <a:pPr algn="l">
              <a:lnSpc>
                <a:spcPct val="100000"/>
              </a:lnSpc>
            </a:pPr>
            <a:r>
              <a:rPr sz="1950" b="0" i="0">
                <a:solidFill>
                  <a:srgbClr val="F3F7FC"/>
                </a:solidFill>
                <a:latin typeface="Roboto Mono"/>
              </a:rPr>
              <a:t>= "false"</a:t>
            </a:r>
          </a:p>
        </p:txBody>
      </p:sp>
      <p:sp>
        <p:nvSpPr>
          <p:cNvPr id="57" name="TextBox 56"/>
          <p:cNvSpPr txBox="1"/>
          <p:nvPr/>
        </p:nvSpPr>
        <p:spPr>
          <a:xfrm>
            <a:off x="11163300" y="5410200"/>
            <a:ext cx="5943600" cy="381000"/>
          </a:xfrm>
          <a:prstGeom prst="rect">
            <a:avLst/>
          </a:prstGeom>
          <a:noFill/>
        </p:spPr>
        <p:txBody>
          <a:bodyPr wrap="square" lIns="0" rIns="0" tIns="0" bIns="0" anchor="t">
            <a:spAutoFit/>
          </a:bodyPr>
          <a:lstStyle/>
          <a:p>
            <a:pPr algn="l">
              <a:lnSpc>
                <a:spcPct val="100000"/>
              </a:lnSpc>
            </a:pPr>
            <a:r>
              <a:rPr sz="1800" b="0" i="0">
                <a:solidFill>
                  <a:srgbClr val="9FB4CC"/>
                </a:solidFill>
                <a:latin typeface="Barlow"/>
              </a:rPr>
              <a:t>2.355 registros eliminados</a:t>
            </a:r>
          </a:p>
        </p:txBody>
      </p:sp>
      <p:sp>
        <p:nvSpPr>
          <p:cNvPr id="58" name="Rectangle 57"/>
          <p:cNvSpPr/>
          <p:nvPr/>
        </p:nvSpPr>
        <p:spPr>
          <a:xfrm>
            <a:off x="14106525" y="6019800"/>
            <a:ext cx="57150" cy="14859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Isosceles Triangle 58"/>
          <p:cNvSpPr/>
          <p:nvPr/>
        </p:nvSpPr>
        <p:spPr>
          <a:xfrm rot="10800000">
            <a:off x="14020800" y="6145530"/>
            <a:ext cx="228600" cy="160020"/>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896600" y="6324600"/>
            <a:ext cx="6477000" cy="1314450"/>
          </a:xfrm>
          <a:prstGeom prst="rect">
            <a:avLst/>
          </a:prstGeom>
          <a:solidFill>
            <a:srgbClr val="0C2445"/>
          </a:solidFill>
          <a:ln w="14287">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0896600" y="6324600"/>
            <a:ext cx="57150" cy="1314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1163300" y="6515100"/>
            <a:ext cx="5943600" cy="381000"/>
          </a:xfrm>
          <a:prstGeom prst="rect">
            <a:avLst/>
          </a:prstGeom>
          <a:noFill/>
        </p:spPr>
        <p:txBody>
          <a:bodyPr wrap="square" lIns="0" rIns="0" tIns="0" bIns="0" anchor="t">
            <a:spAutoFit/>
          </a:bodyPr>
          <a:lstStyle/>
          <a:p>
            <a:pPr algn="l">
              <a:lnSpc>
                <a:spcPct val="100000"/>
              </a:lnSpc>
            </a:pPr>
            <a:r>
              <a:rPr sz="2100" b="1" i="0">
                <a:solidFill>
                  <a:srgbClr val="FFD21F"/>
                </a:solidFill>
                <a:latin typeface="Roboto Mono"/>
              </a:rPr>
              <a:t>MatchConfidence</a:t>
            </a:r>
          </a:p>
        </p:txBody>
      </p:sp>
      <p:sp>
        <p:nvSpPr>
          <p:cNvPr id="63" name="TextBox 62"/>
          <p:cNvSpPr txBox="1"/>
          <p:nvPr/>
        </p:nvSpPr>
        <p:spPr>
          <a:xfrm>
            <a:off x="13696504" y="6534150"/>
            <a:ext cx="1905000" cy="381000"/>
          </a:xfrm>
          <a:prstGeom prst="rect">
            <a:avLst/>
          </a:prstGeom>
          <a:noFill/>
        </p:spPr>
        <p:txBody>
          <a:bodyPr wrap="square" lIns="0" rIns="0" tIns="0" bIns="0" anchor="t">
            <a:spAutoFit/>
          </a:bodyPr>
          <a:lstStyle/>
          <a:p>
            <a:pPr algn="l">
              <a:lnSpc>
                <a:spcPct val="100000"/>
              </a:lnSpc>
            </a:pPr>
            <a:r>
              <a:rPr sz="1950" b="0" i="0">
                <a:solidFill>
                  <a:srgbClr val="F3F7FC"/>
                </a:solidFill>
                <a:latin typeface="Roboto Mono"/>
              </a:rPr>
              <a:t>= 100</a:t>
            </a:r>
          </a:p>
        </p:txBody>
      </p:sp>
      <p:sp>
        <p:nvSpPr>
          <p:cNvPr id="64" name="TextBox 63"/>
          <p:cNvSpPr txBox="1"/>
          <p:nvPr/>
        </p:nvSpPr>
        <p:spPr>
          <a:xfrm>
            <a:off x="11163300" y="7048500"/>
            <a:ext cx="5943600" cy="381000"/>
          </a:xfrm>
          <a:prstGeom prst="rect">
            <a:avLst/>
          </a:prstGeom>
          <a:noFill/>
        </p:spPr>
        <p:txBody>
          <a:bodyPr wrap="square" lIns="0" rIns="0" tIns="0" bIns="0" anchor="t">
            <a:spAutoFit/>
          </a:bodyPr>
          <a:lstStyle/>
          <a:p>
            <a:pPr algn="l">
              <a:lnSpc>
                <a:spcPct val="100000"/>
              </a:lnSpc>
            </a:pPr>
            <a:r>
              <a:rPr sz="1800" b="0" i="0">
                <a:solidFill>
                  <a:srgbClr val="9FB4CC"/>
                </a:solidFill>
                <a:latin typeface="Barlow"/>
              </a:rPr>
              <a:t>129.473 con 100 · 34 con −100</a:t>
            </a:r>
          </a:p>
        </p:txBody>
      </p:sp>
      <p:sp>
        <p:nvSpPr>
          <p:cNvPr id="65" name="Rectangle 64"/>
          <p:cNvSpPr/>
          <p:nvPr/>
        </p:nvSpPr>
        <p:spPr>
          <a:xfrm>
            <a:off x="10896600" y="7924800"/>
            <a:ext cx="6477000" cy="1695450"/>
          </a:xfrm>
          <a:prstGeom prst="rect">
            <a:avLst/>
          </a:prstGeom>
          <a:solidFill>
            <a:srgbClr val="0F2C52"/>
          </a:solidFill>
          <a:ln w="19050">
            <a:solidFill>
              <a:srgbClr val="E0566B">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1163300" y="8286750"/>
            <a:ext cx="1905000" cy="381000"/>
          </a:xfrm>
          <a:prstGeom prst="rect">
            <a:avLst/>
          </a:prstGeom>
          <a:noFill/>
        </p:spPr>
        <p:txBody>
          <a:bodyPr wrap="square" lIns="0" rIns="0" tIns="0" bIns="0" anchor="t">
            <a:spAutoFit/>
          </a:bodyPr>
          <a:lstStyle/>
          <a:p>
            <a:pPr algn="l">
              <a:lnSpc>
                <a:spcPct val="100000"/>
              </a:lnSpc>
            </a:pPr>
            <a:r>
              <a:rPr sz="2100" b="1" i="0">
                <a:solidFill>
                  <a:srgbClr val="F3F7FC"/>
                </a:solidFill>
                <a:latin typeface="Roboto Mono"/>
              </a:rPr>
              <a:t>LinkIsValid</a:t>
            </a:r>
          </a:p>
        </p:txBody>
      </p:sp>
      <p:sp>
        <p:nvSpPr>
          <p:cNvPr id="67" name="Rounded Rectangle 66"/>
          <p:cNvSpPr/>
          <p:nvPr/>
        </p:nvSpPr>
        <p:spPr>
          <a:xfrm>
            <a:off x="13075593" y="8305800"/>
            <a:ext cx="20955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3075593" y="8305800"/>
            <a:ext cx="20955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"true" / "false"</a:t>
            </a:r>
          </a:p>
        </p:txBody>
      </p:sp>
      <p:sp>
        <p:nvSpPr>
          <p:cNvPr id="69" name="Rounded Rectangle 68"/>
          <p:cNvSpPr/>
          <p:nvPr/>
        </p:nvSpPr>
        <p:spPr>
          <a:xfrm>
            <a:off x="15419368" y="8305800"/>
            <a:ext cx="1687532" cy="342900"/>
          </a:xfrm>
          <a:prstGeom prst="roundRect">
            <a:avLst>
              <a:gd name="adj" fmla="val 11111"/>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5419368" y="8305800"/>
            <a:ext cx="1687532"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NO ES FILTRO</a:t>
            </a:r>
          </a:p>
        </p:txBody>
      </p:sp>
      <p:sp>
        <p:nvSpPr>
          <p:cNvPr id="71" name="TextBox 70"/>
          <p:cNvSpPr txBox="1"/>
          <p:nvPr/>
        </p:nvSpPr>
        <p:spPr>
          <a:xfrm>
            <a:off x="11163300" y="8915400"/>
            <a:ext cx="5943600" cy="381000"/>
          </a:xfrm>
          <a:prstGeom prst="rect">
            <a:avLst/>
          </a:prstGeom>
          <a:noFill/>
        </p:spPr>
        <p:txBody>
          <a:bodyPr wrap="square" lIns="0" rIns="0" tIns="0" bIns="0" anchor="t">
            <a:spAutoFit/>
          </a:bodyPr>
          <a:lstStyle/>
          <a:p>
            <a:pPr algn="l">
              <a:lnSpc>
                <a:spcPct val="100000"/>
              </a:lnSpc>
            </a:pPr>
            <a:r>
              <a:rPr sz="1800" b="0" i="0">
                <a:solidFill>
                  <a:srgbClr val="F3F7FC"/>
                </a:solidFill>
                <a:latin typeface="Barlow"/>
              </a:rPr>
              <a:t>Solo indica el estado del enlace, no la validez del match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OE2 · ORGANIZAR EL CONJUNTO DE DATOS · EXTRAER PRODUCTOS</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Siete fuentes del corpus: contrato y escala</a:t>
            </a:r>
          </a:p>
        </p:txBody>
      </p:sp>
      <p:sp>
        <p:nvSpPr>
          <p:cNvPr id="9" name="Rectangle 8"/>
          <p:cNvSpPr/>
          <p:nvPr/>
        </p:nvSpPr>
        <p:spPr>
          <a:xfrm>
            <a:off x="914400" y="2628900"/>
            <a:ext cx="16459200" cy="59626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8191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19150" y="83629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86582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17440275" y="83629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7145000" y="86582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19200" y="2819400"/>
            <a:ext cx="2857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FUENTE</a:t>
            </a:r>
          </a:p>
        </p:txBody>
      </p:sp>
      <p:sp>
        <p:nvSpPr>
          <p:cNvPr id="19" name="TextBox 18"/>
          <p:cNvSpPr txBox="1"/>
          <p:nvPr/>
        </p:nvSpPr>
        <p:spPr>
          <a:xfrm>
            <a:off x="4267200" y="2819400"/>
            <a:ext cx="6858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VOLUMEN EN EL CORPUS · A ESCALA</a:t>
            </a:r>
          </a:p>
        </p:txBody>
      </p:sp>
      <p:sp>
        <p:nvSpPr>
          <p:cNvPr id="20" name="TextBox 19"/>
          <p:cNvSpPr txBox="1"/>
          <p:nvPr/>
        </p:nvSpPr>
        <p:spPr>
          <a:xfrm>
            <a:off x="11677650" y="2819400"/>
            <a:ext cx="53911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CONTRATO DEL ARCHIVO</a:t>
            </a:r>
          </a:p>
        </p:txBody>
      </p:sp>
      <p:sp>
        <p:nvSpPr>
          <p:cNvPr id="21" name="Rectangle 20"/>
          <p:cNvSpPr/>
          <p:nvPr/>
        </p:nvSpPr>
        <p:spPr>
          <a:xfrm>
            <a:off x="11391900" y="2838450"/>
            <a:ext cx="14288" cy="55435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 y="3267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Match</a:t>
            </a:r>
          </a:p>
        </p:txBody>
      </p:sp>
      <p:sp>
        <p:nvSpPr>
          <p:cNvPr id="23" name="TextBox 22"/>
          <p:cNvSpPr txBox="1"/>
          <p:nvPr/>
        </p:nvSpPr>
        <p:spPr>
          <a:xfrm>
            <a:off x="1219200" y="3581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pares históricos validados</a:t>
            </a:r>
          </a:p>
        </p:txBody>
      </p:sp>
      <p:sp>
        <p:nvSpPr>
          <p:cNvPr id="24" name="Rectangle 23"/>
          <p:cNvSpPr/>
          <p:nvPr/>
        </p:nvSpPr>
        <p:spPr>
          <a:xfrm>
            <a:off x="4267200" y="3448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267200" y="3448050"/>
            <a:ext cx="5143500" cy="228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486900" y="3324225"/>
            <a:ext cx="1619250" cy="476250"/>
          </a:xfrm>
          <a:prstGeom prst="rect">
            <a:avLst/>
          </a:prstGeom>
          <a:noFill/>
        </p:spPr>
        <p:txBody>
          <a:bodyPr wrap="square" lIns="0" rIns="0" tIns="0" bIns="0" anchor="ctr">
            <a:spAutoFit/>
          </a:bodyPr>
          <a:lstStyle/>
          <a:p>
            <a:pPr algn="r">
              <a:lnSpc>
                <a:spcPct val="100000"/>
              </a:lnSpc>
            </a:pPr>
            <a:r>
              <a:rPr sz="2550" b="1" i="0">
                <a:solidFill>
                  <a:srgbClr val="FFD21F"/>
                </a:solidFill>
                <a:latin typeface="Montserrat"/>
              </a:rPr>
              <a:t>127.093</a:t>
            </a:r>
          </a:p>
        </p:txBody>
      </p:sp>
      <p:sp>
        <p:nvSpPr>
          <p:cNvPr id="27" name="TextBox 26"/>
          <p:cNvSpPr txBox="1"/>
          <p:nvPr/>
        </p:nvSpPr>
        <p:spPr>
          <a:xfrm>
            <a:off x="11677650" y="3419475"/>
            <a:ext cx="3900190"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36 columnas · 12 snapshots de 2025</a:t>
            </a:r>
          </a:p>
        </p:txBody>
      </p:sp>
      <p:sp>
        <p:nvSpPr>
          <p:cNvPr id="28" name="Rectangle 27"/>
          <p:cNvSpPr/>
          <p:nvPr/>
        </p:nvSpPr>
        <p:spPr>
          <a:xfrm>
            <a:off x="1219200" y="3933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1677650" y="3933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19200" y="4029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NIC</a:t>
            </a:r>
          </a:p>
        </p:txBody>
      </p:sp>
      <p:sp>
        <p:nvSpPr>
          <p:cNvPr id="31" name="TextBox 30"/>
          <p:cNvSpPr txBox="1"/>
          <p:nvPr/>
        </p:nvSpPr>
        <p:spPr>
          <a:xfrm>
            <a:off x="1219200" y="4343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no está en catálogo</a:t>
            </a:r>
          </a:p>
        </p:txBody>
      </p:sp>
      <p:sp>
        <p:nvSpPr>
          <p:cNvPr id="32" name="Rectangle 31"/>
          <p:cNvSpPr/>
          <p:nvPr/>
        </p:nvSpPr>
        <p:spPr>
          <a:xfrm>
            <a:off x="4267200" y="4210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267200" y="4210050"/>
            <a:ext cx="1161985"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6900" y="4086225"/>
            <a:ext cx="1619250" cy="476250"/>
          </a:xfrm>
          <a:prstGeom prst="rect">
            <a:avLst/>
          </a:prstGeom>
          <a:noFill/>
        </p:spPr>
        <p:txBody>
          <a:bodyPr wrap="square" lIns="0" rIns="0" tIns="0" bIns="0" anchor="ctr">
            <a:spAutoFit/>
          </a:bodyPr>
          <a:lstStyle/>
          <a:p>
            <a:pPr algn="r">
              <a:lnSpc>
                <a:spcPct val="100000"/>
              </a:lnSpc>
            </a:pPr>
            <a:r>
              <a:rPr sz="2550" b="1" i="0">
                <a:solidFill>
                  <a:srgbClr val="F3F7FC"/>
                </a:solidFill>
                <a:latin typeface="Montserrat"/>
              </a:rPr>
              <a:t>28.712</a:t>
            </a:r>
          </a:p>
        </p:txBody>
      </p:sp>
      <p:sp>
        <p:nvSpPr>
          <p:cNvPr id="35" name="TextBox 34"/>
          <p:cNvSpPr txBox="1"/>
          <p:nvPr/>
        </p:nvSpPr>
        <p:spPr>
          <a:xfrm>
            <a:off x="11677650" y="4000500"/>
            <a:ext cx="4268986"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47.333 filas del archivo · 5 + 8 columnas</a:t>
            </a:r>
          </a:p>
        </p:txBody>
      </p:sp>
      <p:sp>
        <p:nvSpPr>
          <p:cNvPr id="36" name="TextBox 35"/>
          <p:cNvSpPr txBox="1"/>
          <p:nvPr/>
        </p:nvSpPr>
        <p:spPr>
          <a:xfrm>
            <a:off x="11677650" y="4352925"/>
            <a:ext cx="762298" cy="285750"/>
          </a:xfrm>
          <a:prstGeom prst="rect">
            <a:avLst/>
          </a:prstGeom>
          <a:noFill/>
        </p:spPr>
        <p:txBody>
          <a:bodyPr wrap="square" lIns="0" rIns="0" tIns="0" bIns="0" anchor="ctr">
            <a:spAutoFit/>
          </a:bodyPr>
          <a:lstStyle/>
          <a:p>
            <a:pPr algn="l">
              <a:lnSpc>
                <a:spcPct val="100000"/>
              </a:lnSpc>
            </a:pPr>
            <a:r>
              <a:rPr sz="1575" b="1" i="0">
                <a:solidFill>
                  <a:srgbClr val="FFD21F"/>
                </a:solidFill>
                <a:latin typeface="Barlow"/>
              </a:rPr>
              <a:t>83%</a:t>
            </a:r>
          </a:p>
        </p:txBody>
      </p:sp>
      <p:sp>
        <p:nvSpPr>
          <p:cNvPr id="37" name="Rounded Rectangle 36"/>
          <p:cNvSpPr/>
          <p:nvPr/>
        </p:nvSpPr>
        <p:spPr>
          <a:xfrm>
            <a:off x="12154198" y="4362450"/>
            <a:ext cx="1668363"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2154198" y="4362450"/>
            <a:ext cx="1668363"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unknown_review</a:t>
            </a:r>
          </a:p>
        </p:txBody>
      </p:sp>
      <p:sp>
        <p:nvSpPr>
          <p:cNvPr id="39" name="Right Arrow 38"/>
          <p:cNvSpPr/>
          <p:nvPr/>
        </p:nvSpPr>
        <p:spPr>
          <a:xfrm>
            <a:off x="13917811" y="4419600"/>
            <a:ext cx="22860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241661" y="4352925"/>
            <a:ext cx="2469803" cy="2857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entra con peso reducido</a:t>
            </a:r>
          </a:p>
        </p:txBody>
      </p:sp>
      <p:sp>
        <p:nvSpPr>
          <p:cNvPr id="41" name="Rectangle 40"/>
          <p:cNvSpPr/>
          <p:nvPr/>
        </p:nvSpPr>
        <p:spPr>
          <a:xfrm>
            <a:off x="1219200" y="4695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1677650" y="4695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19200" y="4791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Hidden</a:t>
            </a:r>
          </a:p>
        </p:txBody>
      </p:sp>
      <p:sp>
        <p:nvSpPr>
          <p:cNvPr id="44" name="TextBox 43"/>
          <p:cNvSpPr txBox="1"/>
          <p:nvPr/>
        </p:nvSpPr>
        <p:spPr>
          <a:xfrm>
            <a:off x="1219200" y="5105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publicación ocultada</a:t>
            </a:r>
          </a:p>
        </p:txBody>
      </p:sp>
      <p:sp>
        <p:nvSpPr>
          <p:cNvPr id="45" name="Rectangle 44"/>
          <p:cNvSpPr/>
          <p:nvPr/>
        </p:nvSpPr>
        <p:spPr>
          <a:xfrm>
            <a:off x="4267200" y="4972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267200" y="4972050"/>
            <a:ext cx="448290"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486900" y="4848225"/>
            <a:ext cx="1619250" cy="476250"/>
          </a:xfrm>
          <a:prstGeom prst="rect">
            <a:avLst/>
          </a:prstGeom>
          <a:noFill/>
        </p:spPr>
        <p:txBody>
          <a:bodyPr wrap="square" lIns="0" rIns="0" tIns="0" bIns="0" anchor="ctr">
            <a:spAutoFit/>
          </a:bodyPr>
          <a:lstStyle/>
          <a:p>
            <a:pPr algn="r">
              <a:lnSpc>
                <a:spcPct val="100000"/>
              </a:lnSpc>
            </a:pPr>
            <a:r>
              <a:rPr sz="2550" b="1" i="0">
                <a:solidFill>
                  <a:srgbClr val="F3F7FC"/>
                </a:solidFill>
                <a:latin typeface="Montserrat"/>
              </a:rPr>
              <a:t>11.077</a:t>
            </a:r>
          </a:p>
        </p:txBody>
      </p:sp>
      <p:sp>
        <p:nvSpPr>
          <p:cNvPr id="48" name="TextBox 47"/>
          <p:cNvSpPr txBox="1"/>
          <p:nvPr/>
        </p:nvSpPr>
        <p:spPr>
          <a:xfrm>
            <a:off x="11677650" y="4762500"/>
            <a:ext cx="3895427"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15.355 filas del archivo · 4 columnas</a:t>
            </a:r>
          </a:p>
        </p:txBody>
      </p:sp>
      <p:sp>
        <p:nvSpPr>
          <p:cNvPr id="49" name="Rounded Rectangle 48"/>
          <p:cNvSpPr/>
          <p:nvPr/>
        </p:nvSpPr>
        <p:spPr>
          <a:xfrm>
            <a:off x="11677650" y="5124450"/>
            <a:ext cx="1462683"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677650" y="5124450"/>
            <a:ext cx="1462683"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final_status</a:t>
            </a:r>
          </a:p>
        </p:txBody>
      </p:sp>
      <p:sp>
        <p:nvSpPr>
          <p:cNvPr id="51" name="TextBox 50"/>
          <p:cNvSpPr txBox="1"/>
          <p:nvPr/>
        </p:nvSpPr>
        <p:spPr>
          <a:xfrm>
            <a:off x="13235583" y="5114925"/>
            <a:ext cx="3056930" cy="2857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siempre Hidden: una sola clase</a:t>
            </a:r>
          </a:p>
        </p:txBody>
      </p:sp>
      <p:sp>
        <p:nvSpPr>
          <p:cNvPr id="52" name="Rectangle 51"/>
          <p:cNvSpPr/>
          <p:nvPr/>
        </p:nvSpPr>
        <p:spPr>
          <a:xfrm>
            <a:off x="1219200" y="5457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1677650" y="5457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19200" y="5553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Catálogo oficial</a:t>
            </a:r>
          </a:p>
        </p:txBody>
      </p:sp>
      <p:sp>
        <p:nvSpPr>
          <p:cNvPr id="55" name="TextBox 54"/>
          <p:cNvSpPr txBox="1"/>
          <p:nvPr/>
        </p:nvSpPr>
        <p:spPr>
          <a:xfrm>
            <a:off x="1219200" y="5867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productos UA</a:t>
            </a:r>
          </a:p>
        </p:txBody>
      </p:sp>
      <p:sp>
        <p:nvSpPr>
          <p:cNvPr id="56" name="Rectangle 55"/>
          <p:cNvSpPr/>
          <p:nvPr/>
        </p:nvSpPr>
        <p:spPr>
          <a:xfrm>
            <a:off x="4267200" y="5734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267200" y="5734050"/>
            <a:ext cx="174670" cy="228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486900" y="5610225"/>
            <a:ext cx="1619250" cy="476250"/>
          </a:xfrm>
          <a:prstGeom prst="rect">
            <a:avLst/>
          </a:prstGeom>
          <a:noFill/>
        </p:spPr>
        <p:txBody>
          <a:bodyPr wrap="square" lIns="0" rIns="0" tIns="0" bIns="0" anchor="ctr">
            <a:spAutoFit/>
          </a:bodyPr>
          <a:lstStyle/>
          <a:p>
            <a:pPr algn="r">
              <a:lnSpc>
                <a:spcPct val="100000"/>
              </a:lnSpc>
            </a:pPr>
            <a:r>
              <a:rPr sz="2550" b="1" i="0">
                <a:solidFill>
                  <a:srgbClr val="FFD21F"/>
                </a:solidFill>
                <a:latin typeface="Montserrat"/>
              </a:rPr>
              <a:t>4.316</a:t>
            </a:r>
          </a:p>
        </p:txBody>
      </p:sp>
      <p:sp>
        <p:nvSpPr>
          <p:cNvPr id="59" name="TextBox 58"/>
          <p:cNvSpPr txBox="1"/>
          <p:nvPr/>
        </p:nvSpPr>
        <p:spPr>
          <a:xfrm>
            <a:off x="11677650" y="5524500"/>
            <a:ext cx="3450878"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11 columnas · Ucrania y Bélgica</a:t>
            </a:r>
          </a:p>
        </p:txBody>
      </p:sp>
      <p:sp>
        <p:nvSpPr>
          <p:cNvPr id="60" name="TextBox 59"/>
          <p:cNvSpPr txBox="1"/>
          <p:nvPr/>
        </p:nvSpPr>
        <p:spPr>
          <a:xfrm>
            <a:off x="11677650" y="5876925"/>
            <a:ext cx="1273076" cy="2857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Llave real:</a:t>
            </a:r>
          </a:p>
        </p:txBody>
      </p:sp>
      <p:sp>
        <p:nvSpPr>
          <p:cNvPr id="61" name="Rounded Rectangle 60"/>
          <p:cNvSpPr/>
          <p:nvPr/>
        </p:nvSpPr>
        <p:spPr>
          <a:xfrm>
            <a:off x="12664976" y="5886450"/>
            <a:ext cx="1154162"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664976" y="5886450"/>
            <a:ext cx="1154162"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ProductId</a:t>
            </a:r>
          </a:p>
        </p:txBody>
      </p:sp>
      <p:sp>
        <p:nvSpPr>
          <p:cNvPr id="63" name="Rounded Rectangle 62"/>
          <p:cNvSpPr/>
          <p:nvPr/>
        </p:nvSpPr>
        <p:spPr>
          <a:xfrm>
            <a:off x="13914388" y="5886450"/>
            <a:ext cx="1154162"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3914388" y="5886450"/>
            <a:ext cx="1154162"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BAR700/00</a:t>
            </a:r>
          </a:p>
        </p:txBody>
      </p:sp>
      <p:sp>
        <p:nvSpPr>
          <p:cNvPr id="65" name="Rectangle 64"/>
          <p:cNvSpPr/>
          <p:nvPr/>
        </p:nvSpPr>
        <p:spPr>
          <a:xfrm>
            <a:off x="1219200" y="6219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1677650" y="6219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219200" y="6315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Retailer de prueba</a:t>
            </a:r>
          </a:p>
        </p:txBody>
      </p:sp>
      <p:sp>
        <p:nvSpPr>
          <p:cNvPr id="68" name="TextBox 67"/>
          <p:cNvSpPr txBox="1"/>
          <p:nvPr/>
        </p:nvSpPr>
        <p:spPr>
          <a:xfrm>
            <a:off x="1219200" y="6629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gold externo · 14 países</a:t>
            </a:r>
          </a:p>
        </p:txBody>
      </p:sp>
      <p:sp>
        <p:nvSpPr>
          <p:cNvPr id="69" name="Rectangle 68"/>
          <p:cNvSpPr/>
          <p:nvPr/>
        </p:nvSpPr>
        <p:spPr>
          <a:xfrm>
            <a:off x="4267200" y="6496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267200" y="6496050"/>
            <a:ext cx="75113"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9486900" y="6372225"/>
            <a:ext cx="1619250" cy="476250"/>
          </a:xfrm>
          <a:prstGeom prst="rect">
            <a:avLst/>
          </a:prstGeom>
          <a:noFill/>
        </p:spPr>
        <p:txBody>
          <a:bodyPr wrap="square" lIns="0" rIns="0" tIns="0" bIns="0" anchor="ctr">
            <a:spAutoFit/>
          </a:bodyPr>
          <a:lstStyle/>
          <a:p>
            <a:pPr algn="r">
              <a:lnSpc>
                <a:spcPct val="100000"/>
              </a:lnSpc>
            </a:pPr>
            <a:r>
              <a:rPr sz="2550" b="1" i="0">
                <a:solidFill>
                  <a:srgbClr val="F3F7FC"/>
                </a:solidFill>
                <a:latin typeface="Montserrat"/>
              </a:rPr>
              <a:t>1.856</a:t>
            </a:r>
          </a:p>
        </p:txBody>
      </p:sp>
      <p:sp>
        <p:nvSpPr>
          <p:cNvPr id="72" name="TextBox 71"/>
          <p:cNvSpPr txBox="1"/>
          <p:nvPr/>
        </p:nvSpPr>
        <p:spPr>
          <a:xfrm>
            <a:off x="11677650" y="6286500"/>
            <a:ext cx="2364581"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Sin archivo físico en</a:t>
            </a:r>
          </a:p>
        </p:txBody>
      </p:sp>
      <p:sp>
        <p:nvSpPr>
          <p:cNvPr id="73" name="Rounded Rectangle 72"/>
          <p:cNvSpPr/>
          <p:nvPr/>
        </p:nvSpPr>
        <p:spPr>
          <a:xfrm>
            <a:off x="13756481" y="6296025"/>
            <a:ext cx="2593925"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3756481" y="6296025"/>
            <a:ext cx="2593925"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data/raw/retailer_test/</a:t>
            </a:r>
          </a:p>
        </p:txBody>
      </p:sp>
      <p:sp>
        <p:nvSpPr>
          <p:cNvPr id="75" name="Rounded Rectangle 74"/>
          <p:cNvSpPr/>
          <p:nvPr/>
        </p:nvSpPr>
        <p:spPr>
          <a:xfrm>
            <a:off x="11677650" y="6648450"/>
            <a:ext cx="2079724"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1677650" y="6648450"/>
            <a:ext cx="2079724"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validate_columns()</a:t>
            </a:r>
          </a:p>
        </p:txBody>
      </p:sp>
      <p:sp>
        <p:nvSpPr>
          <p:cNvPr id="77" name="TextBox 76"/>
          <p:cNvSpPr txBox="1"/>
          <p:nvPr/>
        </p:nvSpPr>
        <p:spPr>
          <a:xfrm>
            <a:off x="13852624" y="6638925"/>
            <a:ext cx="3011091" cy="2857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valida el contrato antes de leer</a:t>
            </a:r>
          </a:p>
        </p:txBody>
      </p:sp>
      <p:sp>
        <p:nvSpPr>
          <p:cNvPr id="78" name="Rectangle 77"/>
          <p:cNvSpPr/>
          <p:nvPr/>
        </p:nvSpPr>
        <p:spPr>
          <a:xfrm>
            <a:off x="1219200" y="6981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1677650" y="6981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219200" y="7077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Pares negativos</a:t>
            </a:r>
          </a:p>
        </p:txBody>
      </p:sp>
      <p:sp>
        <p:nvSpPr>
          <p:cNvPr id="81" name="TextBox 80"/>
          <p:cNvSpPr txBox="1"/>
          <p:nvPr/>
        </p:nvSpPr>
        <p:spPr>
          <a:xfrm>
            <a:off x="1219200" y="7391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800 elegibles</a:t>
            </a:r>
          </a:p>
        </p:txBody>
      </p:sp>
      <p:sp>
        <p:nvSpPr>
          <p:cNvPr id="82" name="Rectangle 81"/>
          <p:cNvSpPr/>
          <p:nvPr/>
        </p:nvSpPr>
        <p:spPr>
          <a:xfrm>
            <a:off x="4267200" y="7258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4267200" y="7258050"/>
            <a:ext cx="36261"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486900" y="7134225"/>
            <a:ext cx="1619250" cy="476250"/>
          </a:xfrm>
          <a:prstGeom prst="rect">
            <a:avLst/>
          </a:prstGeom>
          <a:noFill/>
        </p:spPr>
        <p:txBody>
          <a:bodyPr wrap="square" lIns="0" rIns="0" tIns="0" bIns="0" anchor="ctr">
            <a:spAutoFit/>
          </a:bodyPr>
          <a:lstStyle/>
          <a:p>
            <a:pPr algn="r">
              <a:lnSpc>
                <a:spcPct val="100000"/>
              </a:lnSpc>
            </a:pPr>
            <a:r>
              <a:rPr sz="2550" b="1" i="0">
                <a:solidFill>
                  <a:srgbClr val="F3F7FC"/>
                </a:solidFill>
                <a:latin typeface="Montserrat"/>
              </a:rPr>
              <a:t>896</a:t>
            </a:r>
          </a:p>
        </p:txBody>
      </p:sp>
      <p:sp>
        <p:nvSpPr>
          <p:cNvPr id="85" name="TextBox 84"/>
          <p:cNvSpPr txBox="1"/>
          <p:nvPr/>
        </p:nvSpPr>
        <p:spPr>
          <a:xfrm>
            <a:off x="11677650" y="7048500"/>
            <a:ext cx="5510212"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7 columnas · única fuente con pares ya etiquetados</a:t>
            </a:r>
          </a:p>
        </p:txBody>
      </p:sp>
      <p:sp>
        <p:nvSpPr>
          <p:cNvPr id="86" name="Rounded Rectangle 85"/>
          <p:cNvSpPr/>
          <p:nvPr/>
        </p:nvSpPr>
        <p:spPr>
          <a:xfrm>
            <a:off x="11677650" y="7410450"/>
            <a:ext cx="1771204"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1677650" y="7410450"/>
            <a:ext cx="1771204"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sufijo_distinto</a:t>
            </a:r>
          </a:p>
        </p:txBody>
      </p:sp>
      <p:sp>
        <p:nvSpPr>
          <p:cNvPr id="88" name="Rounded Rectangle 87"/>
          <p:cNvSpPr/>
          <p:nvPr/>
        </p:nvSpPr>
        <p:spPr>
          <a:xfrm>
            <a:off x="13544104" y="7410450"/>
            <a:ext cx="2079724" cy="266700"/>
          </a:xfrm>
          <a:prstGeom prst="roundRect">
            <a:avLst>
              <a:gd name="adj" fmla="val 21428"/>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3544104" y="7410450"/>
            <a:ext cx="2079724" cy="2667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reacondicionado_r1</a:t>
            </a:r>
          </a:p>
        </p:txBody>
      </p:sp>
      <p:sp>
        <p:nvSpPr>
          <p:cNvPr id="90" name="Rectangle 89"/>
          <p:cNvSpPr/>
          <p:nvPr/>
        </p:nvSpPr>
        <p:spPr>
          <a:xfrm>
            <a:off x="1219200" y="7743825"/>
            <a:ext cx="994410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1677650" y="7743825"/>
            <a:ext cx="5391150" cy="9525"/>
          </a:xfrm>
          <a:prstGeom prst="rect">
            <a:avLst/>
          </a:prstGeom>
          <a:solidFill>
            <a:srgbClr val="2F7B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219200" y="7839075"/>
            <a:ext cx="2857500" cy="304800"/>
          </a:xfrm>
          <a:prstGeom prst="rect">
            <a:avLst/>
          </a:prstGeom>
          <a:noFill/>
        </p:spPr>
        <p:txBody>
          <a:bodyPr wrap="square" lIns="0" rIns="0" tIns="0" bIns="0" anchor="t">
            <a:spAutoFit/>
          </a:bodyPr>
          <a:lstStyle/>
          <a:p>
            <a:pPr algn="l">
              <a:lnSpc>
                <a:spcPct val="100000"/>
              </a:lnSpc>
            </a:pPr>
            <a:r>
              <a:rPr sz="1800" b="1" i="0">
                <a:solidFill>
                  <a:srgbClr val="F3F7FC"/>
                </a:solidFill>
                <a:latin typeface="Montserrat"/>
              </a:rPr>
              <a:t>Acciones de validación</a:t>
            </a:r>
          </a:p>
        </p:txBody>
      </p:sp>
      <p:sp>
        <p:nvSpPr>
          <p:cNvPr id="93" name="TextBox 92"/>
          <p:cNvSpPr txBox="1"/>
          <p:nvPr/>
        </p:nvSpPr>
        <p:spPr>
          <a:xfrm>
            <a:off x="1219200" y="8153400"/>
            <a:ext cx="2857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decisión humana registrada</a:t>
            </a:r>
          </a:p>
        </p:txBody>
      </p:sp>
      <p:sp>
        <p:nvSpPr>
          <p:cNvPr id="94" name="Rectangle 93"/>
          <p:cNvSpPr/>
          <p:nvPr/>
        </p:nvSpPr>
        <p:spPr>
          <a:xfrm>
            <a:off x="4267200" y="8020050"/>
            <a:ext cx="514350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4267200" y="8020050"/>
            <a:ext cx="19050"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486900" y="7896225"/>
            <a:ext cx="1619250" cy="476250"/>
          </a:xfrm>
          <a:prstGeom prst="rect">
            <a:avLst/>
          </a:prstGeom>
          <a:noFill/>
        </p:spPr>
        <p:txBody>
          <a:bodyPr wrap="square" lIns="0" rIns="0" tIns="0" bIns="0" anchor="ctr">
            <a:spAutoFit/>
          </a:bodyPr>
          <a:lstStyle/>
          <a:p>
            <a:pPr algn="r">
              <a:lnSpc>
                <a:spcPct val="100000"/>
              </a:lnSpc>
            </a:pPr>
            <a:r>
              <a:rPr sz="2550" b="1" i="0">
                <a:solidFill>
                  <a:srgbClr val="F3F7FC"/>
                </a:solidFill>
                <a:latin typeface="Montserrat"/>
              </a:rPr>
              <a:t>180</a:t>
            </a:r>
          </a:p>
        </p:txBody>
      </p:sp>
      <p:sp>
        <p:nvSpPr>
          <p:cNvPr id="97" name="TextBox 96"/>
          <p:cNvSpPr txBox="1"/>
          <p:nvPr/>
        </p:nvSpPr>
        <p:spPr>
          <a:xfrm>
            <a:off x="11677650" y="7810500"/>
            <a:ext cx="2407295" cy="285750"/>
          </a:xfrm>
          <a:prstGeom prst="rect">
            <a:avLst/>
          </a:prstGeom>
          <a:noFill/>
        </p:spPr>
        <p:txBody>
          <a:bodyPr wrap="square" lIns="0" rIns="0" tIns="0" bIns="0" anchor="ctr">
            <a:spAutoFit/>
          </a:bodyPr>
          <a:lstStyle/>
          <a:p>
            <a:pPr algn="l">
              <a:lnSpc>
                <a:spcPct val="100000"/>
              </a:lnSpc>
            </a:pPr>
            <a:r>
              <a:rPr sz="1500" b="1" i="0">
                <a:solidFill>
                  <a:srgbClr val="4F9BFF"/>
                </a:solidFill>
                <a:latin typeface="Montserrat"/>
              </a:rPr>
              <a:t>Sin campos de texto</a:t>
            </a:r>
          </a:p>
        </p:txBody>
      </p:sp>
      <p:sp>
        <p:nvSpPr>
          <p:cNvPr id="98" name="TextBox 97"/>
          <p:cNvSpPr txBox="1"/>
          <p:nvPr/>
        </p:nvSpPr>
        <p:spPr>
          <a:xfrm>
            <a:off x="11677650" y="8162925"/>
            <a:ext cx="2993975" cy="2857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Etiquetas sobre publicaciones</a:t>
            </a:r>
          </a:p>
        </p:txBody>
      </p:sp>
      <p:sp>
        <p:nvSpPr>
          <p:cNvPr id="99" name="Rectangle 98"/>
          <p:cNvSpPr/>
          <p:nvPr/>
        </p:nvSpPr>
        <p:spPr>
          <a:xfrm>
            <a:off x="914400" y="8839200"/>
            <a:ext cx="16459200" cy="7810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914400" y="8839200"/>
            <a:ext cx="57150" cy="7810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ounded Rectangle 100"/>
          <p:cNvSpPr/>
          <p:nvPr/>
        </p:nvSpPr>
        <p:spPr>
          <a:xfrm>
            <a:off x="1219200" y="9058275"/>
            <a:ext cx="1899761"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1219200" y="9058275"/>
            <a:ext cx="1899761"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CONSECUENCIA</a:t>
            </a:r>
          </a:p>
        </p:txBody>
      </p:sp>
      <p:sp>
        <p:nvSpPr>
          <p:cNvPr id="103" name="TextBox 102"/>
          <p:cNvSpPr txBox="1"/>
          <p:nvPr/>
        </p:nvSpPr>
        <p:spPr>
          <a:xfrm>
            <a:off x="3347561" y="8839200"/>
            <a:ext cx="13721239" cy="78105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La desproporción obliga a recuperar candidatos, no a comparar todo contra todo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OE2 · ORGANIZAR EL CONJUNTO DE DATOS · SELECCIONAR CAMPOS</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De 36 columnas a dos vistas comparables</a:t>
            </a:r>
          </a:p>
        </p:txBody>
      </p:sp>
      <p:sp>
        <p:nvSpPr>
          <p:cNvPr id="9" name="Rectangle 8"/>
          <p:cNvSpPr/>
          <p:nvPr/>
        </p:nvSpPr>
        <p:spPr>
          <a:xfrm>
            <a:off x="914400" y="2628900"/>
            <a:ext cx="16459200" cy="41719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8191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19150" y="65722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68675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17440275" y="65722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7145000" y="68675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2762250"/>
            <a:ext cx="919014" cy="838200"/>
          </a:xfrm>
          <a:prstGeom prst="rect">
            <a:avLst/>
          </a:prstGeom>
          <a:noFill/>
        </p:spPr>
        <p:txBody>
          <a:bodyPr wrap="none" lIns="0" rIns="0" tIns="0" bIns="0" anchor="ctr">
            <a:spAutoFit/>
          </a:bodyPr>
          <a:lstStyle/>
          <a:p>
            <a:pPr algn="l">
              <a:lnSpc>
                <a:spcPct val="100000"/>
              </a:lnSpc>
            </a:pPr>
            <a:r>
              <a:rPr sz="5400" b="1" i="0">
                <a:solidFill>
                  <a:srgbClr val="FFD21F"/>
                </a:solidFill>
                <a:latin typeface="Montserrat"/>
              </a:rPr>
              <a:t>36</a:t>
            </a:r>
          </a:p>
        </p:txBody>
      </p:sp>
      <p:sp>
        <p:nvSpPr>
          <p:cNvPr id="19" name="TextBox 18"/>
          <p:cNvSpPr txBox="1"/>
          <p:nvPr/>
        </p:nvSpPr>
        <p:spPr>
          <a:xfrm>
            <a:off x="2347764" y="2914650"/>
            <a:ext cx="2476500" cy="571500"/>
          </a:xfrm>
          <a:prstGeom prst="rect">
            <a:avLst/>
          </a:prstGeom>
          <a:noFill/>
        </p:spPr>
        <p:txBody>
          <a:bodyPr wrap="square" lIns="0" rIns="0" tIns="0" bIns="0" anchor="t">
            <a:spAutoFit/>
          </a:bodyPr>
          <a:lstStyle/>
          <a:p>
            <a:pPr algn="l">
              <a:lnSpc>
                <a:spcPct val="104200"/>
              </a:lnSpc>
            </a:pPr>
            <a:r>
              <a:rPr sz="1350" b="1" i="0" spc="150">
                <a:solidFill>
                  <a:srgbClr val="F3F7FC"/>
                </a:solidFill>
                <a:latin typeface="Montserrat"/>
              </a:rPr>
              <a:t>COLUMNAS</a:t>
            </a:r>
          </a:p>
          <a:p>
            <a:pPr algn="l">
              <a:lnSpc>
                <a:spcPct val="104200"/>
              </a:lnSpc>
            </a:pPr>
            <a:r>
              <a:rPr sz="1350" b="1" i="0" spc="150">
                <a:solidFill>
                  <a:srgbClr val="F3F7FC"/>
                </a:solidFill>
                <a:latin typeface="Montserrat"/>
              </a:rPr>
              <a:t>ORIGINALES</a:t>
            </a:r>
          </a:p>
        </p:txBody>
      </p:sp>
      <p:sp>
        <p:nvSpPr>
          <p:cNvPr id="20" name="TextBox 19"/>
          <p:cNvSpPr txBox="1"/>
          <p:nvPr/>
        </p:nvSpPr>
        <p:spPr>
          <a:xfrm>
            <a:off x="5029200" y="2762250"/>
            <a:ext cx="501402" cy="838200"/>
          </a:xfrm>
          <a:prstGeom prst="rect">
            <a:avLst/>
          </a:prstGeom>
          <a:noFill/>
        </p:spPr>
        <p:txBody>
          <a:bodyPr wrap="none" lIns="0" rIns="0" tIns="0" bIns="0" anchor="ctr">
            <a:spAutoFit/>
          </a:bodyPr>
          <a:lstStyle/>
          <a:p>
            <a:pPr algn="l">
              <a:lnSpc>
                <a:spcPct val="100000"/>
              </a:lnSpc>
            </a:pPr>
            <a:r>
              <a:rPr sz="5400" b="1" i="0">
                <a:solidFill>
                  <a:srgbClr val="FFD21F"/>
                </a:solidFill>
                <a:latin typeface="Montserrat"/>
              </a:rPr>
              <a:t>7</a:t>
            </a:r>
          </a:p>
        </p:txBody>
      </p:sp>
      <p:sp>
        <p:nvSpPr>
          <p:cNvPr id="21" name="TextBox 20"/>
          <p:cNvSpPr txBox="1"/>
          <p:nvPr/>
        </p:nvSpPr>
        <p:spPr>
          <a:xfrm>
            <a:off x="5663952" y="2914650"/>
            <a:ext cx="2476500" cy="571500"/>
          </a:xfrm>
          <a:prstGeom prst="rect">
            <a:avLst/>
          </a:prstGeom>
          <a:noFill/>
        </p:spPr>
        <p:txBody>
          <a:bodyPr wrap="square" lIns="0" rIns="0" tIns="0" bIns="0" anchor="t">
            <a:spAutoFit/>
          </a:bodyPr>
          <a:lstStyle/>
          <a:p>
            <a:pPr algn="l">
              <a:lnSpc>
                <a:spcPct val="104200"/>
              </a:lnSpc>
            </a:pPr>
            <a:r>
              <a:rPr sz="1350" b="1" i="0" spc="150">
                <a:solidFill>
                  <a:srgbClr val="F3F7FC"/>
                </a:solidFill>
                <a:latin typeface="Montserrat"/>
              </a:rPr>
              <a:t>CAMPOS</a:t>
            </a:r>
          </a:p>
          <a:p>
            <a:pPr algn="l">
              <a:lnSpc>
                <a:spcPct val="104200"/>
              </a:lnSpc>
            </a:pPr>
            <a:r>
              <a:rPr sz="1350" b="1" i="0" spc="150">
                <a:solidFill>
                  <a:srgbClr val="F3F7FC"/>
                </a:solidFill>
                <a:latin typeface="Montserrat"/>
              </a:rPr>
              <a:t>TEXTUALES</a:t>
            </a:r>
          </a:p>
        </p:txBody>
      </p:sp>
      <p:sp>
        <p:nvSpPr>
          <p:cNvPr id="22" name="TextBox 21"/>
          <p:cNvSpPr txBox="1"/>
          <p:nvPr/>
        </p:nvSpPr>
        <p:spPr>
          <a:xfrm>
            <a:off x="12820650" y="2762250"/>
            <a:ext cx="480864" cy="838200"/>
          </a:xfrm>
          <a:prstGeom prst="rect">
            <a:avLst/>
          </a:prstGeom>
          <a:noFill/>
        </p:spPr>
        <p:txBody>
          <a:bodyPr wrap="none" lIns="0" rIns="0" tIns="0" bIns="0" anchor="ctr">
            <a:spAutoFit/>
          </a:bodyPr>
          <a:lstStyle/>
          <a:p>
            <a:pPr algn="l">
              <a:lnSpc>
                <a:spcPct val="100000"/>
              </a:lnSpc>
            </a:pPr>
            <a:r>
              <a:rPr sz="5400" b="1" i="0">
                <a:solidFill>
                  <a:srgbClr val="FFD21F"/>
                </a:solidFill>
                <a:latin typeface="Montserrat"/>
              </a:rPr>
              <a:t>2</a:t>
            </a:r>
          </a:p>
        </p:txBody>
      </p:sp>
      <p:sp>
        <p:nvSpPr>
          <p:cNvPr id="23" name="TextBox 22"/>
          <p:cNvSpPr txBox="1"/>
          <p:nvPr/>
        </p:nvSpPr>
        <p:spPr>
          <a:xfrm>
            <a:off x="13434864" y="2914650"/>
            <a:ext cx="2476500" cy="571500"/>
          </a:xfrm>
          <a:prstGeom prst="rect">
            <a:avLst/>
          </a:prstGeom>
          <a:noFill/>
        </p:spPr>
        <p:txBody>
          <a:bodyPr wrap="square" lIns="0" rIns="0" tIns="0" bIns="0" anchor="t">
            <a:spAutoFit/>
          </a:bodyPr>
          <a:lstStyle/>
          <a:p>
            <a:pPr algn="l">
              <a:lnSpc>
                <a:spcPct val="104200"/>
              </a:lnSpc>
            </a:pPr>
            <a:r>
              <a:rPr sz="1350" b="1" i="0" spc="150">
                <a:solidFill>
                  <a:srgbClr val="F3F7FC"/>
                </a:solidFill>
                <a:latin typeface="Montserrat"/>
              </a:rPr>
              <a:t>VISTAS</a:t>
            </a:r>
          </a:p>
          <a:p>
            <a:pPr algn="l">
              <a:lnSpc>
                <a:spcPct val="104200"/>
              </a:lnSpc>
            </a:pPr>
            <a:r>
              <a:rPr sz="1350" b="1" i="0" spc="150">
                <a:solidFill>
                  <a:srgbClr val="F3F7FC"/>
                </a:solidFill>
                <a:latin typeface="Montserrat"/>
              </a:rPr>
              <a:t>COMPARABLES</a:t>
            </a:r>
          </a:p>
        </p:txBody>
      </p:sp>
      <p:sp>
        <p:nvSpPr>
          <p:cNvPr id="24" name="Rectangle 23"/>
          <p:cNvSpPr/>
          <p:nvPr/>
        </p:nvSpPr>
        <p:spPr>
          <a:xfrm>
            <a:off x="1219200" y="3695700"/>
            <a:ext cx="15849600" cy="9525"/>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1295400" y="40243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704975" y="4024312"/>
            <a:ext cx="323850"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2114550" y="40243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2524125" y="40243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2933700" y="40243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3343275" y="40243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295400" y="44338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1704975" y="44338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2114550" y="4433888"/>
            <a:ext cx="323850"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2524125" y="44338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2933700" y="4433888"/>
            <a:ext cx="323850"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3343275" y="44338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1295400" y="484346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704975" y="484346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2114550" y="484346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2524125" y="4843462"/>
            <a:ext cx="323850"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2933700" y="484346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3343275" y="484346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295400" y="525303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704975" y="525303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2114550" y="525303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2524125" y="525303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2933700" y="5253038"/>
            <a:ext cx="323850"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3343275" y="525303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1295400" y="56626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1704975" y="56626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2114550" y="56626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2524125" y="5662612"/>
            <a:ext cx="323850" cy="323850"/>
          </a:xfrm>
          <a:prstGeom prst="roundRect">
            <a:avLst>
              <a:gd name="adj" fmla="val 11764"/>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2933700" y="56626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343275" y="5662612"/>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1295400" y="60721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1704975" y="60721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2114550" y="6072188"/>
            <a:ext cx="323850" cy="323850"/>
          </a:xfrm>
          <a:prstGeom prst="roundRect">
            <a:avLst>
              <a:gd name="adj" fmla="val 11764"/>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2524125" y="60721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2933700" y="60721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3343275" y="6072188"/>
            <a:ext cx="323850" cy="323850"/>
          </a:xfrm>
          <a:prstGeom prst="roundRect">
            <a:avLst>
              <a:gd name="adj" fmla="val 11764"/>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5029200" y="3943350"/>
            <a:ext cx="6743700" cy="13525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029200" y="3943350"/>
            <a:ext cx="57150" cy="1352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5276850" y="4076700"/>
            <a:ext cx="62484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FABRICANTE · 5 CAMPOS</a:t>
            </a:r>
          </a:p>
        </p:txBody>
      </p:sp>
      <p:sp>
        <p:nvSpPr>
          <p:cNvPr id="64" name="Rounded Rectangle 63"/>
          <p:cNvSpPr/>
          <p:nvPr/>
        </p:nvSpPr>
        <p:spPr>
          <a:xfrm>
            <a:off x="5276850" y="4419600"/>
            <a:ext cx="8382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5276850" y="4419600"/>
            <a:ext cx="8382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Brand</a:t>
            </a:r>
          </a:p>
        </p:txBody>
      </p:sp>
      <p:sp>
        <p:nvSpPr>
          <p:cNvPr id="66" name="Rounded Rectangle 65"/>
          <p:cNvSpPr/>
          <p:nvPr/>
        </p:nvSpPr>
        <p:spPr>
          <a:xfrm>
            <a:off x="6210300" y="4419600"/>
            <a:ext cx="28956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210300" y="4419600"/>
            <a:ext cx="28956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ManufacturerProductName</a:t>
            </a:r>
          </a:p>
        </p:txBody>
      </p:sp>
      <p:sp>
        <p:nvSpPr>
          <p:cNvPr id="68" name="Rounded Rectangle 67"/>
          <p:cNvSpPr/>
          <p:nvPr/>
        </p:nvSpPr>
        <p:spPr>
          <a:xfrm>
            <a:off x="9201150" y="4419600"/>
            <a:ext cx="12954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9201150" y="4419600"/>
            <a:ext cx="12954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ExtraInfo</a:t>
            </a:r>
          </a:p>
        </p:txBody>
      </p:sp>
      <p:sp>
        <p:nvSpPr>
          <p:cNvPr id="70" name="Rounded Rectangle 69"/>
          <p:cNvSpPr/>
          <p:nvPr/>
        </p:nvSpPr>
        <p:spPr>
          <a:xfrm>
            <a:off x="5276850" y="4838700"/>
            <a:ext cx="36957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5276850" y="4838700"/>
            <a:ext cx="36957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ManufacturerProductDescription</a:t>
            </a:r>
          </a:p>
        </p:txBody>
      </p:sp>
      <p:sp>
        <p:nvSpPr>
          <p:cNvPr id="72" name="Rounded Rectangle 71"/>
          <p:cNvSpPr/>
          <p:nvPr/>
        </p:nvSpPr>
        <p:spPr>
          <a:xfrm>
            <a:off x="9067800" y="4838700"/>
            <a:ext cx="26670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9067800" y="4838700"/>
            <a:ext cx="26670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ManufacturerProductId</a:t>
            </a:r>
          </a:p>
        </p:txBody>
      </p:sp>
      <p:sp>
        <p:nvSpPr>
          <p:cNvPr id="74" name="Rectangle 73"/>
          <p:cNvSpPr/>
          <p:nvPr/>
        </p:nvSpPr>
        <p:spPr>
          <a:xfrm>
            <a:off x="5029200" y="5543550"/>
            <a:ext cx="6743700" cy="9334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5029200" y="5543550"/>
            <a:ext cx="57150" cy="9334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5276850" y="5676900"/>
            <a:ext cx="6248400" cy="257175"/>
          </a:xfrm>
          <a:prstGeom prst="rect">
            <a:avLst/>
          </a:prstGeom>
          <a:noFill/>
        </p:spPr>
        <p:txBody>
          <a:bodyPr wrap="square" lIns="0" rIns="0" tIns="0" bIns="0" anchor="t">
            <a:spAutoFit/>
          </a:bodyPr>
          <a:lstStyle/>
          <a:p>
            <a:pPr algn="l">
              <a:lnSpc>
                <a:spcPct val="100000"/>
              </a:lnSpc>
            </a:pPr>
            <a:r>
              <a:rPr sz="1350" b="1" i="0" spc="150">
                <a:solidFill>
                  <a:srgbClr val="2F7BFF"/>
                </a:solidFill>
                <a:latin typeface="Montserrat"/>
              </a:rPr>
              <a:t>RETAILER · 2 CAMPOS</a:t>
            </a:r>
          </a:p>
        </p:txBody>
      </p:sp>
      <p:sp>
        <p:nvSpPr>
          <p:cNvPr id="77" name="Rounded Rectangle 76"/>
          <p:cNvSpPr/>
          <p:nvPr/>
        </p:nvSpPr>
        <p:spPr>
          <a:xfrm>
            <a:off x="5276850" y="6019800"/>
            <a:ext cx="24384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276850" y="6019800"/>
            <a:ext cx="24384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RetailerProductName</a:t>
            </a:r>
          </a:p>
        </p:txBody>
      </p:sp>
      <p:sp>
        <p:nvSpPr>
          <p:cNvPr id="79" name="Rounded Rectangle 78"/>
          <p:cNvSpPr/>
          <p:nvPr/>
        </p:nvSpPr>
        <p:spPr>
          <a:xfrm>
            <a:off x="7810500" y="6019800"/>
            <a:ext cx="2209800"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7810500" y="6019800"/>
            <a:ext cx="2209800" cy="34290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RetailerProductId</a:t>
            </a:r>
          </a:p>
        </p:txBody>
      </p:sp>
      <p:sp>
        <p:nvSpPr>
          <p:cNvPr id="81" name="Right Arrow 80"/>
          <p:cNvSpPr/>
          <p:nvPr/>
        </p:nvSpPr>
        <p:spPr>
          <a:xfrm>
            <a:off x="3876675" y="5086350"/>
            <a:ext cx="771525"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648200" y="4619625"/>
            <a:ext cx="38100" cy="13906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4648200" y="4600575"/>
            <a:ext cx="381000"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4648200" y="5991225"/>
            <a:ext cx="381000"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ight Arrow 84"/>
          <p:cNvSpPr/>
          <p:nvPr/>
        </p:nvSpPr>
        <p:spPr>
          <a:xfrm>
            <a:off x="11906250" y="4495800"/>
            <a:ext cx="781050"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ight Arrow 85"/>
          <p:cNvSpPr/>
          <p:nvPr/>
        </p:nvSpPr>
        <p:spPr>
          <a:xfrm>
            <a:off x="11906250" y="5886450"/>
            <a:ext cx="781050" cy="247650"/>
          </a:xfrm>
          <a:prstGeom prst="rightArrow">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12820650" y="4295775"/>
            <a:ext cx="2984748" cy="647700"/>
          </a:xfrm>
          <a:prstGeom prst="roundRect">
            <a:avLst>
              <a:gd name="adj" fmla="val 8823"/>
            </a:avLst>
          </a:prstGeom>
          <a:solidFill>
            <a:srgbClr val="0F2C52"/>
          </a:solidFill>
          <a:ln w="23812">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2820650" y="4295775"/>
            <a:ext cx="2984748" cy="647700"/>
          </a:xfrm>
          <a:prstGeom prst="rect">
            <a:avLst/>
          </a:prstGeom>
          <a:noFill/>
        </p:spPr>
        <p:txBody>
          <a:bodyPr wrap="none" lIns="0" rIns="0" tIns="0" bIns="0" anchor="ctr">
            <a:spAutoFit/>
          </a:bodyPr>
          <a:lstStyle/>
          <a:p>
            <a:pPr algn="ctr">
              <a:lnSpc>
                <a:spcPct val="100000"/>
              </a:lnSpc>
            </a:pPr>
            <a:r>
              <a:rPr sz="1950" b="0" i="0">
                <a:solidFill>
                  <a:srgbClr val="FFD21F"/>
                </a:solidFill>
                <a:latin typeface="Roboto Mono"/>
              </a:rPr>
              <a:t>manufacturer_text</a:t>
            </a:r>
          </a:p>
        </p:txBody>
      </p:sp>
      <p:sp>
        <p:nvSpPr>
          <p:cNvPr id="89" name="Rounded Rectangle 88"/>
          <p:cNvSpPr/>
          <p:nvPr/>
        </p:nvSpPr>
        <p:spPr>
          <a:xfrm>
            <a:off x="12820650" y="5686425"/>
            <a:ext cx="2390031" cy="647700"/>
          </a:xfrm>
          <a:prstGeom prst="roundRect">
            <a:avLst>
              <a:gd name="adj" fmla="val 8823"/>
            </a:avLst>
          </a:prstGeom>
          <a:solidFill>
            <a:srgbClr val="0F2C52"/>
          </a:solidFill>
          <a:ln w="23812">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2820650" y="5686425"/>
            <a:ext cx="2390031" cy="647700"/>
          </a:xfrm>
          <a:prstGeom prst="rect">
            <a:avLst/>
          </a:prstGeom>
          <a:noFill/>
        </p:spPr>
        <p:txBody>
          <a:bodyPr wrap="none" lIns="0" rIns="0" tIns="0" bIns="0" anchor="ctr">
            <a:spAutoFit/>
          </a:bodyPr>
          <a:lstStyle/>
          <a:p>
            <a:pPr algn="ctr">
              <a:lnSpc>
                <a:spcPct val="100000"/>
              </a:lnSpc>
            </a:pPr>
            <a:r>
              <a:rPr sz="1950" b="0" i="0">
                <a:solidFill>
                  <a:srgbClr val="FFD21F"/>
                </a:solidFill>
                <a:latin typeface="Roboto Mono"/>
              </a:rPr>
              <a:t>retailer_text</a:t>
            </a:r>
          </a:p>
        </p:txBody>
      </p:sp>
      <p:sp>
        <p:nvSpPr>
          <p:cNvPr id="91" name="TextBox 90"/>
          <p:cNvSpPr txBox="1"/>
          <p:nvPr/>
        </p:nvSpPr>
        <p:spPr>
          <a:xfrm>
            <a:off x="914400" y="6991350"/>
            <a:ext cx="7620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SELECCIÓN TEXTUAL EN LAS OTRAS SEIS FUENTES</a:t>
            </a:r>
          </a:p>
        </p:txBody>
      </p:sp>
      <p:sp>
        <p:nvSpPr>
          <p:cNvPr id="92" name="TextBox 91"/>
          <p:cNvSpPr txBox="1"/>
          <p:nvPr/>
        </p:nvSpPr>
        <p:spPr>
          <a:xfrm>
            <a:off x="12737753" y="6962775"/>
            <a:ext cx="4635847" cy="285750"/>
          </a:xfrm>
          <a:prstGeom prst="rect">
            <a:avLst/>
          </a:prstGeom>
          <a:noFill/>
        </p:spPr>
        <p:txBody>
          <a:bodyPr wrap="square" lIns="0" rIns="0" tIns="0" bIns="0" anchor="ctr">
            <a:spAutoFit/>
          </a:bodyPr>
          <a:lstStyle/>
          <a:p>
            <a:pPr algn="r">
              <a:lnSpc>
                <a:spcPct val="100000"/>
              </a:lnSpc>
            </a:pPr>
            <a:r>
              <a:rPr sz="1500" b="0" i="0">
                <a:solidFill>
                  <a:srgbClr val="9FB4CC"/>
                </a:solidFill>
                <a:latin typeface="Barlow"/>
              </a:rPr>
              <a:t>Cada regla está verificada en su módulo de preparación</a:t>
            </a:r>
          </a:p>
        </p:txBody>
      </p:sp>
      <p:sp>
        <p:nvSpPr>
          <p:cNvPr id="93" name="Rectangle 92"/>
          <p:cNvSpPr/>
          <p:nvPr/>
        </p:nvSpPr>
        <p:spPr>
          <a:xfrm>
            <a:off x="914400" y="7334250"/>
            <a:ext cx="3139440" cy="2286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914400" y="7334250"/>
            <a:ext cx="313944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123950" y="7524750"/>
            <a:ext cx="2720340" cy="30480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Hidden · NIC</a:t>
            </a:r>
          </a:p>
        </p:txBody>
      </p:sp>
      <p:sp>
        <p:nvSpPr>
          <p:cNvPr id="96" name="Rounded Rectangle 95"/>
          <p:cNvSpPr/>
          <p:nvPr/>
        </p:nvSpPr>
        <p:spPr>
          <a:xfrm>
            <a:off x="1123950" y="7943850"/>
            <a:ext cx="1462683"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1123950" y="7943850"/>
            <a:ext cx="1462683"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product_name</a:t>
            </a:r>
          </a:p>
        </p:txBody>
      </p:sp>
      <p:sp>
        <p:nvSpPr>
          <p:cNvPr id="98" name="TextBox 97"/>
          <p:cNvSpPr txBox="1"/>
          <p:nvPr/>
        </p:nvSpPr>
        <p:spPr>
          <a:xfrm>
            <a:off x="2681883" y="7943850"/>
            <a:ext cx="1162407"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 único</a:t>
            </a:r>
          </a:p>
        </p:txBody>
      </p:sp>
      <p:sp>
        <p:nvSpPr>
          <p:cNvPr id="99" name="Rounded Rectangle 98"/>
          <p:cNvSpPr/>
          <p:nvPr/>
        </p:nvSpPr>
        <p:spPr>
          <a:xfrm>
            <a:off x="1123950" y="8572500"/>
            <a:ext cx="1976884"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123950" y="8572500"/>
            <a:ext cx="1976884"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retailer_text_raw</a:t>
            </a:r>
          </a:p>
        </p:txBody>
      </p:sp>
      <p:sp>
        <p:nvSpPr>
          <p:cNvPr id="101" name="Rectangle 100"/>
          <p:cNvSpPr/>
          <p:nvPr/>
        </p:nvSpPr>
        <p:spPr>
          <a:xfrm>
            <a:off x="1266825" y="8286750"/>
            <a:ext cx="57150" cy="15430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Isosceles Triangle 101"/>
          <p:cNvSpPr/>
          <p:nvPr/>
        </p:nvSpPr>
        <p:spPr>
          <a:xfrm rot="10800000">
            <a:off x="1209675" y="8423910"/>
            <a:ext cx="171450" cy="12001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23950" y="9029700"/>
            <a:ext cx="272034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123950" y="9163050"/>
            <a:ext cx="2720340" cy="304800"/>
          </a:xfrm>
          <a:prstGeom prst="rect">
            <a:avLst/>
          </a:prstGeom>
          <a:noFill/>
        </p:spPr>
        <p:txBody>
          <a:bodyPr wrap="square" lIns="0" rIns="0" tIns="0" bIns="0" anchor="ctr">
            <a:spAutoFit/>
          </a:bodyPr>
          <a:lstStyle/>
          <a:p>
            <a:pPr algn="l">
              <a:lnSpc>
                <a:spcPct val="100000"/>
              </a:lnSpc>
            </a:pPr>
            <a:r>
              <a:rPr sz="1500" b="0" i="0">
                <a:solidFill>
                  <a:srgbClr val="F3F7FC"/>
                </a:solidFill>
                <a:latin typeface="Barlow"/>
              </a:rPr>
              <a:t>NIC: 8 etiquetas</a:t>
            </a:r>
          </a:p>
        </p:txBody>
      </p:sp>
      <p:sp>
        <p:nvSpPr>
          <p:cNvPr id="105" name="Right Arrow 104"/>
          <p:cNvSpPr/>
          <p:nvPr/>
        </p:nvSpPr>
        <p:spPr>
          <a:xfrm>
            <a:off x="2536924" y="9239250"/>
            <a:ext cx="22860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860774" y="9163050"/>
            <a:ext cx="983516" cy="304800"/>
          </a:xfrm>
          <a:prstGeom prst="rect">
            <a:avLst/>
          </a:prstGeom>
          <a:noFill/>
        </p:spPr>
        <p:txBody>
          <a:bodyPr wrap="square" lIns="0" rIns="0" tIns="0" bIns="0" anchor="ctr">
            <a:spAutoFit/>
          </a:bodyPr>
          <a:lstStyle/>
          <a:p>
            <a:pPr algn="l">
              <a:lnSpc>
                <a:spcPct val="100000"/>
              </a:lnSpc>
            </a:pPr>
            <a:r>
              <a:rPr sz="1500" b="0" i="0">
                <a:solidFill>
                  <a:srgbClr val="F3F7FC"/>
                </a:solidFill>
                <a:latin typeface="Barlow"/>
              </a:rPr>
              <a:t>metadata</a:t>
            </a:r>
          </a:p>
        </p:txBody>
      </p:sp>
      <p:sp>
        <p:nvSpPr>
          <p:cNvPr id="107" name="Rectangle 106"/>
          <p:cNvSpPr/>
          <p:nvPr/>
        </p:nvSpPr>
        <p:spPr>
          <a:xfrm>
            <a:off x="4244340" y="7334250"/>
            <a:ext cx="3139440" cy="2286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4244340" y="7334250"/>
            <a:ext cx="313944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4453890" y="7524750"/>
            <a:ext cx="2720340" cy="30480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Catálogo oficial</a:t>
            </a:r>
          </a:p>
        </p:txBody>
      </p:sp>
      <p:sp>
        <p:nvSpPr>
          <p:cNvPr id="110" name="TextBox 109"/>
          <p:cNvSpPr txBox="1"/>
          <p:nvPr/>
        </p:nvSpPr>
        <p:spPr>
          <a:xfrm>
            <a:off x="4453890" y="7943850"/>
            <a:ext cx="2720340" cy="3048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Marca + nombres + descripción</a:t>
            </a:r>
          </a:p>
        </p:txBody>
      </p:sp>
      <p:sp>
        <p:nvSpPr>
          <p:cNvPr id="111" name="Rounded Rectangle 110"/>
          <p:cNvSpPr/>
          <p:nvPr/>
        </p:nvSpPr>
        <p:spPr>
          <a:xfrm>
            <a:off x="4453890" y="8572500"/>
            <a:ext cx="1874044"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4453890" y="8572500"/>
            <a:ext cx="1874044"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catalog_text_raw</a:t>
            </a:r>
          </a:p>
        </p:txBody>
      </p:sp>
      <p:sp>
        <p:nvSpPr>
          <p:cNvPr id="113" name="Rectangle 112"/>
          <p:cNvSpPr/>
          <p:nvPr/>
        </p:nvSpPr>
        <p:spPr>
          <a:xfrm>
            <a:off x="4596765" y="8286750"/>
            <a:ext cx="57150" cy="15430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Isosceles Triangle 113"/>
          <p:cNvSpPr/>
          <p:nvPr/>
        </p:nvSpPr>
        <p:spPr>
          <a:xfrm rot="10800000">
            <a:off x="4539615" y="8423910"/>
            <a:ext cx="171450" cy="12001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453890" y="9029700"/>
            <a:ext cx="272034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ounded Rectangle 115"/>
          <p:cNvSpPr/>
          <p:nvPr/>
        </p:nvSpPr>
        <p:spPr>
          <a:xfrm>
            <a:off x="4453890" y="9163050"/>
            <a:ext cx="1154162"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4453890" y="9163050"/>
            <a:ext cx="1154162"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ExtraInfo</a:t>
            </a:r>
          </a:p>
        </p:txBody>
      </p:sp>
      <p:sp>
        <p:nvSpPr>
          <p:cNvPr id="118" name="Right Arrow 117"/>
          <p:cNvSpPr/>
          <p:nvPr/>
        </p:nvSpPr>
        <p:spPr>
          <a:xfrm>
            <a:off x="5703302" y="9239250"/>
            <a:ext cx="22860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027152" y="9163050"/>
            <a:ext cx="1147078" cy="304800"/>
          </a:xfrm>
          <a:prstGeom prst="rect">
            <a:avLst/>
          </a:prstGeom>
          <a:noFill/>
        </p:spPr>
        <p:txBody>
          <a:bodyPr wrap="square" lIns="0" rIns="0" tIns="0" bIns="0" anchor="ctr">
            <a:spAutoFit/>
          </a:bodyPr>
          <a:lstStyle/>
          <a:p>
            <a:pPr algn="l">
              <a:lnSpc>
                <a:spcPct val="100000"/>
              </a:lnSpc>
            </a:pPr>
            <a:r>
              <a:rPr sz="1500" b="0" i="0">
                <a:solidFill>
                  <a:srgbClr val="F3F7FC"/>
                </a:solidFill>
                <a:latin typeface="Barlow"/>
              </a:rPr>
              <a:t>códigos</a:t>
            </a:r>
          </a:p>
        </p:txBody>
      </p:sp>
      <p:sp>
        <p:nvSpPr>
          <p:cNvPr id="120" name="Rectangle 119"/>
          <p:cNvSpPr/>
          <p:nvPr/>
        </p:nvSpPr>
        <p:spPr>
          <a:xfrm>
            <a:off x="7574280" y="7334250"/>
            <a:ext cx="3139440" cy="2286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7574280" y="7334250"/>
            <a:ext cx="313944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7783830" y="7524750"/>
            <a:ext cx="2720340" cy="30480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Retailer de prueba</a:t>
            </a:r>
          </a:p>
        </p:txBody>
      </p:sp>
      <p:sp>
        <p:nvSpPr>
          <p:cNvPr id="123" name="Rounded Rectangle 122"/>
          <p:cNvSpPr/>
          <p:nvPr/>
        </p:nvSpPr>
        <p:spPr>
          <a:xfrm>
            <a:off x="7783830" y="7943850"/>
            <a:ext cx="1359843"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7783830" y="7943850"/>
            <a:ext cx="1359843"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ProductName</a:t>
            </a:r>
          </a:p>
        </p:txBody>
      </p:sp>
      <p:sp>
        <p:nvSpPr>
          <p:cNvPr id="125" name="Rounded Rectangle 124"/>
          <p:cNvSpPr/>
          <p:nvPr/>
        </p:nvSpPr>
        <p:spPr>
          <a:xfrm>
            <a:off x="7783830" y="8572500"/>
            <a:ext cx="2182564"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7783830" y="8572500"/>
            <a:ext cx="2182564"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build_retailer_text</a:t>
            </a:r>
          </a:p>
        </p:txBody>
      </p:sp>
      <p:sp>
        <p:nvSpPr>
          <p:cNvPr id="127" name="Rectangle 126"/>
          <p:cNvSpPr/>
          <p:nvPr/>
        </p:nvSpPr>
        <p:spPr>
          <a:xfrm>
            <a:off x="7926705" y="8286750"/>
            <a:ext cx="57150" cy="15430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Isosceles Triangle 127"/>
          <p:cNvSpPr/>
          <p:nvPr/>
        </p:nvSpPr>
        <p:spPr>
          <a:xfrm rot="10800000">
            <a:off x="7869555" y="8423910"/>
            <a:ext cx="171450" cy="12001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783830" y="9029700"/>
            <a:ext cx="272034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783830" y="9163050"/>
            <a:ext cx="2720340" cy="304800"/>
          </a:xfrm>
          <a:prstGeom prst="rect">
            <a:avLst/>
          </a:prstGeom>
          <a:noFill/>
        </p:spPr>
        <p:txBody>
          <a:bodyPr wrap="square" lIns="0" rIns="0" tIns="0" bIns="0" anchor="ctr">
            <a:spAutoFit/>
          </a:bodyPr>
          <a:lstStyle/>
          <a:p>
            <a:pPr algn="l">
              <a:lnSpc>
                <a:spcPct val="100000"/>
              </a:lnSpc>
            </a:pPr>
            <a:r>
              <a:rPr sz="1500" b="1" i="0">
                <a:solidFill>
                  <a:srgbClr val="FFD21F"/>
                </a:solidFill>
                <a:latin typeface="Barlow"/>
              </a:rPr>
              <a:t>Mismo compositor de Match</a:t>
            </a:r>
          </a:p>
        </p:txBody>
      </p:sp>
      <p:sp>
        <p:nvSpPr>
          <p:cNvPr id="131" name="Rectangle 130"/>
          <p:cNvSpPr/>
          <p:nvPr/>
        </p:nvSpPr>
        <p:spPr>
          <a:xfrm>
            <a:off x="10904220" y="7334250"/>
            <a:ext cx="3139440" cy="2286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10904220" y="7334250"/>
            <a:ext cx="3139440" cy="47625"/>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11113770" y="7524750"/>
            <a:ext cx="2720340" cy="30480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Pares negativos</a:t>
            </a:r>
          </a:p>
        </p:txBody>
      </p:sp>
      <p:sp>
        <p:nvSpPr>
          <p:cNvPr id="134" name="Rounded Rectangle 133"/>
          <p:cNvSpPr/>
          <p:nvPr/>
        </p:nvSpPr>
        <p:spPr>
          <a:xfrm>
            <a:off x="11113770" y="7943850"/>
            <a:ext cx="1565523"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11113770" y="7943850"/>
            <a:ext cx="1565523"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retailer_text</a:t>
            </a:r>
          </a:p>
        </p:txBody>
      </p:sp>
      <p:sp>
        <p:nvSpPr>
          <p:cNvPr id="136" name="Rounded Rectangle 135"/>
          <p:cNvSpPr/>
          <p:nvPr/>
        </p:nvSpPr>
        <p:spPr>
          <a:xfrm>
            <a:off x="11113770" y="8572500"/>
            <a:ext cx="1976884"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11113770" y="8572500"/>
            <a:ext cx="1976884"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manufacturer_text</a:t>
            </a:r>
          </a:p>
        </p:txBody>
      </p:sp>
      <p:sp>
        <p:nvSpPr>
          <p:cNvPr id="138" name="Rectangle 137"/>
          <p:cNvSpPr/>
          <p:nvPr/>
        </p:nvSpPr>
        <p:spPr>
          <a:xfrm>
            <a:off x="11199495" y="8391525"/>
            <a:ext cx="171450"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11266170" y="8324850"/>
            <a:ext cx="3810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11113770" y="9029700"/>
            <a:ext cx="272034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11113770" y="9163050"/>
            <a:ext cx="2720340"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Ya compuestos: sin selección</a:t>
            </a:r>
          </a:p>
        </p:txBody>
      </p:sp>
      <p:sp>
        <p:nvSpPr>
          <p:cNvPr id="142" name="Rectangle 141"/>
          <p:cNvSpPr/>
          <p:nvPr/>
        </p:nvSpPr>
        <p:spPr>
          <a:xfrm>
            <a:off x="14234160" y="7334250"/>
            <a:ext cx="3139440" cy="2286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14234160" y="7334250"/>
            <a:ext cx="3139440" cy="47625"/>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14443710" y="7524750"/>
            <a:ext cx="2720340" cy="30480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Acciones de validación</a:t>
            </a:r>
          </a:p>
        </p:txBody>
      </p:sp>
      <p:sp>
        <p:nvSpPr>
          <p:cNvPr id="145" name="TextBox 144"/>
          <p:cNvSpPr txBox="1"/>
          <p:nvPr/>
        </p:nvSpPr>
        <p:spPr>
          <a:xfrm>
            <a:off x="14443710" y="7943850"/>
            <a:ext cx="2720340" cy="3048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Sin campos de texto</a:t>
            </a:r>
          </a:p>
        </p:txBody>
      </p:sp>
      <p:sp>
        <p:nvSpPr>
          <p:cNvPr id="146" name="TextBox 145"/>
          <p:cNvSpPr txBox="1"/>
          <p:nvPr/>
        </p:nvSpPr>
        <p:spPr>
          <a:xfrm>
            <a:off x="14443710" y="8572500"/>
            <a:ext cx="2720340" cy="30480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Etiquetas sobre publicaciones</a:t>
            </a:r>
          </a:p>
        </p:txBody>
      </p:sp>
      <p:sp>
        <p:nvSpPr>
          <p:cNvPr id="147" name="Rectangle 146"/>
          <p:cNvSpPr/>
          <p:nvPr/>
        </p:nvSpPr>
        <p:spPr>
          <a:xfrm>
            <a:off x="14443710" y="9029700"/>
            <a:ext cx="272034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4443710" y="9163050"/>
            <a:ext cx="2720340" cy="304800"/>
          </a:xfrm>
          <a:prstGeom prst="rect">
            <a:avLst/>
          </a:prstGeom>
          <a:noFill/>
        </p:spPr>
        <p:txBody>
          <a:bodyPr wrap="square" lIns="0" rIns="0" tIns="0" bIns="0" anchor="ctr">
            <a:spAutoFit/>
          </a:bodyPr>
          <a:lstStyle/>
          <a:p>
            <a:pPr algn="l">
              <a:lnSpc>
                <a:spcPct val="100000"/>
              </a:lnSpc>
            </a:pPr>
            <a:r>
              <a:rPr sz="1500" b="1" i="0">
                <a:solidFill>
                  <a:srgbClr val="9FB4CC"/>
                </a:solidFill>
                <a:latin typeface="Barlow"/>
              </a:rPr>
              <a:t>No alimenta el modelo textual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OE2 · ORGANIZAR EL CONJUNTO DE DATOS · ESTRUCTURAR EL CONJUNTO</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Del volcado del portal a la unidad de análisis</a:t>
            </a:r>
          </a:p>
        </p:txBody>
      </p:sp>
      <p:sp>
        <p:nvSpPr>
          <p:cNvPr id="9" name="TextBox 8"/>
          <p:cNvSpPr txBox="1"/>
          <p:nvPr/>
        </p:nvSpPr>
        <p:spPr>
          <a:xfrm>
            <a:off x="914400" y="2628900"/>
            <a:ext cx="7429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FILTRAR Y DEFINIR LA IDENTIDAD</a:t>
            </a:r>
          </a:p>
        </p:txBody>
      </p:sp>
      <p:sp>
        <p:nvSpPr>
          <p:cNvPr id="10" name="Rectangle 9"/>
          <p:cNvSpPr/>
          <p:nvPr/>
        </p:nvSpPr>
        <p:spPr>
          <a:xfrm>
            <a:off x="914400" y="2971800"/>
            <a:ext cx="7429500" cy="1257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14400" y="2971800"/>
            <a:ext cx="57150" cy="1257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19200" y="3143250"/>
            <a:ext cx="4000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VOLCADO DEL PORTAL</a:t>
            </a:r>
          </a:p>
        </p:txBody>
      </p:sp>
      <p:sp>
        <p:nvSpPr>
          <p:cNvPr id="13" name="TextBox 12"/>
          <p:cNvSpPr txBox="1"/>
          <p:nvPr/>
        </p:nvSpPr>
        <p:spPr>
          <a:xfrm>
            <a:off x="1219200" y="3429000"/>
            <a:ext cx="2667000" cy="619125"/>
          </a:xfrm>
          <a:prstGeom prst="rect">
            <a:avLst/>
          </a:prstGeom>
          <a:noFill/>
        </p:spPr>
        <p:txBody>
          <a:bodyPr wrap="square" lIns="0" rIns="0" tIns="0" bIns="0" anchor="t">
            <a:spAutoFit/>
          </a:bodyPr>
          <a:lstStyle/>
          <a:p>
            <a:pPr algn="l">
              <a:lnSpc>
                <a:spcPct val="83300"/>
              </a:lnSpc>
            </a:pPr>
            <a:r>
              <a:rPr sz="3900" b="1" i="0">
                <a:solidFill>
                  <a:srgbClr val="F3F7FC"/>
                </a:solidFill>
                <a:latin typeface="Montserrat"/>
              </a:rPr>
              <a:t>129.507</a:t>
            </a:r>
          </a:p>
        </p:txBody>
      </p:sp>
      <p:sp>
        <p:nvSpPr>
          <p:cNvPr id="14" name="TextBox 13"/>
          <p:cNvSpPr txBox="1"/>
          <p:nvPr/>
        </p:nvSpPr>
        <p:spPr>
          <a:xfrm>
            <a:off x="4057650" y="3409950"/>
            <a:ext cx="4000500" cy="285750"/>
          </a:xfrm>
          <a:prstGeom prst="rect">
            <a:avLst/>
          </a:prstGeom>
          <a:noFill/>
        </p:spPr>
        <p:txBody>
          <a:bodyPr wrap="square" lIns="0" rIns="0" tIns="0" bIns="0" anchor="t">
            <a:spAutoFit/>
          </a:bodyPr>
          <a:lstStyle/>
          <a:p>
            <a:pPr algn="l">
              <a:lnSpc>
                <a:spcPct val="100000"/>
              </a:lnSpc>
            </a:pPr>
            <a:r>
              <a:rPr sz="1800" b="0" i="0">
                <a:solidFill>
                  <a:srgbClr val="F3F7FC"/>
                </a:solidFill>
                <a:latin typeface="Barlow"/>
              </a:rPr>
              <a:t>filas × 36 columnas</a:t>
            </a:r>
          </a:p>
        </p:txBody>
      </p:sp>
      <p:sp>
        <p:nvSpPr>
          <p:cNvPr id="15" name="TextBox 14"/>
          <p:cNvSpPr txBox="1"/>
          <p:nvPr/>
        </p:nvSpPr>
        <p:spPr>
          <a:xfrm>
            <a:off x="4057650" y="3714750"/>
            <a:ext cx="4000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12 snapshots de 2025</a:t>
            </a:r>
          </a:p>
        </p:txBody>
      </p:sp>
      <p:sp>
        <p:nvSpPr>
          <p:cNvPr id="16" name="Rectangle 15"/>
          <p:cNvSpPr/>
          <p:nvPr/>
        </p:nvSpPr>
        <p:spPr>
          <a:xfrm>
            <a:off x="1219200" y="4076700"/>
            <a:ext cx="6819900" cy="571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19200" y="4076700"/>
            <a:ext cx="6819900" cy="571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476375" y="4305300"/>
            <a:ext cx="57150" cy="61341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10800000">
            <a:off x="1381125" y="4893945"/>
            <a:ext cx="247650" cy="17335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1200" y="4324350"/>
            <a:ext cx="4000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FILTRO BASE DE CALIDAD</a:t>
            </a:r>
          </a:p>
        </p:txBody>
      </p:sp>
      <p:sp>
        <p:nvSpPr>
          <p:cNvPr id="21" name="Rounded Rectangle 20"/>
          <p:cNvSpPr/>
          <p:nvPr/>
        </p:nvSpPr>
        <p:spPr>
          <a:xfrm>
            <a:off x="1981200" y="4629150"/>
            <a:ext cx="986582"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981200" y="4629150"/>
            <a:ext cx="986582"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Invalid</a:t>
            </a:r>
          </a:p>
        </p:txBody>
      </p:sp>
      <p:sp>
        <p:nvSpPr>
          <p:cNvPr id="23" name="Rounded Rectangle 22"/>
          <p:cNvSpPr/>
          <p:nvPr/>
        </p:nvSpPr>
        <p:spPr>
          <a:xfrm>
            <a:off x="3082082" y="4629150"/>
            <a:ext cx="1192262"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082082" y="4629150"/>
            <a:ext cx="1192262"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IsDeleted</a:t>
            </a:r>
          </a:p>
        </p:txBody>
      </p:sp>
      <p:sp>
        <p:nvSpPr>
          <p:cNvPr id="25" name="Rounded Rectangle 24"/>
          <p:cNvSpPr/>
          <p:nvPr/>
        </p:nvSpPr>
        <p:spPr>
          <a:xfrm>
            <a:off x="4388644" y="4629150"/>
            <a:ext cx="1809304"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388644" y="4629150"/>
            <a:ext cx="1809304"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MatchConfidence</a:t>
            </a:r>
          </a:p>
        </p:txBody>
      </p:sp>
      <p:sp>
        <p:nvSpPr>
          <p:cNvPr id="27" name="TextBox 26"/>
          <p:cNvSpPr txBox="1"/>
          <p:nvPr/>
        </p:nvSpPr>
        <p:spPr>
          <a:xfrm>
            <a:off x="6134100" y="4591050"/>
            <a:ext cx="1905000" cy="419100"/>
          </a:xfrm>
          <a:prstGeom prst="rect">
            <a:avLst/>
          </a:prstGeom>
          <a:noFill/>
        </p:spPr>
        <p:txBody>
          <a:bodyPr wrap="square" lIns="0" rIns="0" tIns="0" bIns="0" anchor="ctr">
            <a:spAutoFit/>
          </a:bodyPr>
          <a:lstStyle/>
          <a:p>
            <a:pPr algn="r">
              <a:lnSpc>
                <a:spcPct val="100000"/>
              </a:lnSpc>
            </a:pPr>
            <a:r>
              <a:rPr sz="2250" b="1" i="0">
                <a:solidFill>
                  <a:srgbClr val="E0566B"/>
                </a:solidFill>
                <a:latin typeface="Montserrat"/>
              </a:rPr>
              <a:t>−2.414</a:t>
            </a:r>
          </a:p>
        </p:txBody>
      </p:sp>
      <p:sp>
        <p:nvSpPr>
          <p:cNvPr id="28" name="Rectangle 27"/>
          <p:cNvSpPr/>
          <p:nvPr/>
        </p:nvSpPr>
        <p:spPr>
          <a:xfrm>
            <a:off x="914400" y="5143500"/>
            <a:ext cx="7429500" cy="1257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4400" y="5143500"/>
            <a:ext cx="57150" cy="1257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19200" y="5314950"/>
            <a:ext cx="4000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CONJUNTO DE ESTUDIO VÁLIDO</a:t>
            </a:r>
          </a:p>
        </p:txBody>
      </p:sp>
      <p:sp>
        <p:nvSpPr>
          <p:cNvPr id="31" name="TextBox 30"/>
          <p:cNvSpPr txBox="1"/>
          <p:nvPr/>
        </p:nvSpPr>
        <p:spPr>
          <a:xfrm>
            <a:off x="1219200" y="5600700"/>
            <a:ext cx="2667000" cy="619125"/>
          </a:xfrm>
          <a:prstGeom prst="rect">
            <a:avLst/>
          </a:prstGeom>
          <a:noFill/>
        </p:spPr>
        <p:txBody>
          <a:bodyPr wrap="square" lIns="0" rIns="0" tIns="0" bIns="0" anchor="t">
            <a:spAutoFit/>
          </a:bodyPr>
          <a:lstStyle/>
          <a:p>
            <a:pPr algn="l">
              <a:lnSpc>
                <a:spcPct val="83300"/>
              </a:lnSpc>
            </a:pPr>
            <a:r>
              <a:rPr sz="3900" b="1" i="0">
                <a:solidFill>
                  <a:srgbClr val="F3F7FC"/>
                </a:solidFill>
                <a:latin typeface="Montserrat"/>
              </a:rPr>
              <a:t>127.093</a:t>
            </a:r>
          </a:p>
        </p:txBody>
      </p:sp>
      <p:sp>
        <p:nvSpPr>
          <p:cNvPr id="32" name="Rounded Rectangle 31"/>
          <p:cNvSpPr/>
          <p:nvPr/>
        </p:nvSpPr>
        <p:spPr>
          <a:xfrm>
            <a:off x="4057650" y="5676900"/>
            <a:ext cx="2443579"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057650" y="5676900"/>
            <a:ext cx="2443579"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98,14% CONSERVADO</a:t>
            </a:r>
          </a:p>
        </p:txBody>
      </p:sp>
      <p:sp>
        <p:nvSpPr>
          <p:cNvPr id="34" name="Rectangle 33"/>
          <p:cNvSpPr/>
          <p:nvPr/>
        </p:nvSpPr>
        <p:spPr>
          <a:xfrm>
            <a:off x="1219200" y="6248400"/>
            <a:ext cx="6819900" cy="571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219200" y="6248400"/>
            <a:ext cx="6692778" cy="571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476375" y="6477000"/>
            <a:ext cx="57150" cy="61341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rot="10800000">
            <a:off x="1381125" y="7065645"/>
            <a:ext cx="247650" cy="17335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81200" y="6496050"/>
            <a:ext cx="4000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UNIDAD CANÓNICA</a:t>
            </a:r>
          </a:p>
        </p:txBody>
      </p:sp>
      <p:sp>
        <p:nvSpPr>
          <p:cNvPr id="39" name="Rounded Rectangle 38"/>
          <p:cNvSpPr/>
          <p:nvPr/>
        </p:nvSpPr>
        <p:spPr>
          <a:xfrm>
            <a:off x="1981200" y="6800850"/>
            <a:ext cx="3866108" cy="291465"/>
          </a:xfrm>
          <a:prstGeom prst="roundRect">
            <a:avLst>
              <a:gd name="adj" fmla="val 1960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981200" y="6800850"/>
            <a:ext cx="3866108" cy="291465"/>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país + retailer + RetailerProductId</a:t>
            </a:r>
          </a:p>
        </p:txBody>
      </p:sp>
      <p:sp>
        <p:nvSpPr>
          <p:cNvPr id="41" name="TextBox 40"/>
          <p:cNvSpPr txBox="1"/>
          <p:nvPr/>
        </p:nvSpPr>
        <p:spPr>
          <a:xfrm>
            <a:off x="4051846" y="6477000"/>
            <a:ext cx="4006304"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 llave de respaldo en 465 filas (0,37%)</a:t>
            </a:r>
          </a:p>
        </p:txBody>
      </p:sp>
      <p:sp>
        <p:nvSpPr>
          <p:cNvPr id="42" name="Rectangle 41"/>
          <p:cNvSpPr/>
          <p:nvPr/>
        </p:nvSpPr>
        <p:spPr>
          <a:xfrm>
            <a:off x="914400" y="7410450"/>
            <a:ext cx="7429500" cy="21145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914400" y="7410450"/>
            <a:ext cx="74295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Esquinero"/>
          <p:cNvSpPr/>
          <p:nvPr/>
        </p:nvSpPr>
        <p:spPr>
          <a:xfrm>
            <a:off x="819150" y="73152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quinero"/>
          <p:cNvSpPr/>
          <p:nvPr/>
        </p:nvSpPr>
        <p:spPr>
          <a:xfrm>
            <a:off x="819150" y="73152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Esquinero"/>
          <p:cNvSpPr/>
          <p:nvPr/>
        </p:nvSpPr>
        <p:spPr>
          <a:xfrm>
            <a:off x="8115300" y="73152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quinero"/>
          <p:cNvSpPr/>
          <p:nvPr/>
        </p:nvSpPr>
        <p:spPr>
          <a:xfrm>
            <a:off x="8410575" y="73152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quinero"/>
          <p:cNvSpPr/>
          <p:nvPr/>
        </p:nvSpPr>
        <p:spPr>
          <a:xfrm>
            <a:off x="819150"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Esquinero"/>
          <p:cNvSpPr/>
          <p:nvPr/>
        </p:nvSpPr>
        <p:spPr>
          <a:xfrm>
            <a:off x="81915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Esquinero"/>
          <p:cNvSpPr/>
          <p:nvPr/>
        </p:nvSpPr>
        <p:spPr>
          <a:xfrm>
            <a:off x="8410575"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Esquinero"/>
          <p:cNvSpPr/>
          <p:nvPr/>
        </p:nvSpPr>
        <p:spPr>
          <a:xfrm>
            <a:off x="811530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219200" y="7753350"/>
            <a:ext cx="4762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UNIDAD DE ANÁLISIS</a:t>
            </a:r>
          </a:p>
        </p:txBody>
      </p:sp>
      <p:sp>
        <p:nvSpPr>
          <p:cNvPr id="53" name="TextBox 52"/>
          <p:cNvSpPr txBox="1"/>
          <p:nvPr/>
        </p:nvSpPr>
        <p:spPr>
          <a:xfrm>
            <a:off x="1219200" y="8134350"/>
            <a:ext cx="2082800" cy="619125"/>
          </a:xfrm>
          <a:prstGeom prst="rect">
            <a:avLst/>
          </a:prstGeom>
          <a:noFill/>
        </p:spPr>
        <p:txBody>
          <a:bodyPr wrap="square" lIns="0" rIns="0" tIns="0" bIns="0" anchor="t">
            <a:spAutoFit/>
          </a:bodyPr>
          <a:lstStyle/>
          <a:p>
            <a:pPr algn="l">
              <a:lnSpc>
                <a:spcPct val="83300"/>
              </a:lnSpc>
            </a:pPr>
            <a:r>
              <a:rPr sz="3900" b="1" i="0">
                <a:solidFill>
                  <a:srgbClr val="FFD21F"/>
                </a:solidFill>
                <a:latin typeface="Montserrat"/>
              </a:rPr>
              <a:t>111.269</a:t>
            </a:r>
          </a:p>
        </p:txBody>
      </p:sp>
      <p:sp>
        <p:nvSpPr>
          <p:cNvPr id="54" name="TextBox 53"/>
          <p:cNvSpPr txBox="1"/>
          <p:nvPr/>
        </p:nvSpPr>
        <p:spPr>
          <a:xfrm>
            <a:off x="1219200" y="8839200"/>
            <a:ext cx="2044700" cy="30480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pares distintos</a:t>
            </a:r>
          </a:p>
        </p:txBody>
      </p:sp>
      <p:sp>
        <p:nvSpPr>
          <p:cNvPr id="55" name="Rectangle 54"/>
          <p:cNvSpPr/>
          <p:nvPr/>
        </p:nvSpPr>
        <p:spPr>
          <a:xfrm>
            <a:off x="3340100" y="8191500"/>
            <a:ext cx="14288" cy="95250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492500" y="8134350"/>
            <a:ext cx="2082800" cy="619125"/>
          </a:xfrm>
          <a:prstGeom prst="rect">
            <a:avLst/>
          </a:prstGeom>
          <a:noFill/>
        </p:spPr>
        <p:txBody>
          <a:bodyPr wrap="square" lIns="0" rIns="0" tIns="0" bIns="0" anchor="t">
            <a:spAutoFit/>
          </a:bodyPr>
          <a:lstStyle/>
          <a:p>
            <a:pPr algn="l">
              <a:lnSpc>
                <a:spcPct val="83300"/>
              </a:lnSpc>
            </a:pPr>
            <a:r>
              <a:rPr sz="3900" b="1" i="0">
                <a:solidFill>
                  <a:srgbClr val="FFD21F"/>
                </a:solidFill>
                <a:latin typeface="Montserrat"/>
              </a:rPr>
              <a:t>110.706</a:t>
            </a:r>
          </a:p>
        </p:txBody>
      </p:sp>
      <p:sp>
        <p:nvSpPr>
          <p:cNvPr id="57" name="TextBox 56"/>
          <p:cNvSpPr txBox="1"/>
          <p:nvPr/>
        </p:nvSpPr>
        <p:spPr>
          <a:xfrm>
            <a:off x="3492500" y="8839200"/>
            <a:ext cx="2044700" cy="30480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publicaciones retailer</a:t>
            </a:r>
          </a:p>
        </p:txBody>
      </p:sp>
      <p:sp>
        <p:nvSpPr>
          <p:cNvPr id="58" name="Rectangle 57"/>
          <p:cNvSpPr/>
          <p:nvPr/>
        </p:nvSpPr>
        <p:spPr>
          <a:xfrm>
            <a:off x="5613400" y="8191500"/>
            <a:ext cx="14288" cy="95250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5765800" y="8134350"/>
            <a:ext cx="2082800" cy="619125"/>
          </a:xfrm>
          <a:prstGeom prst="rect">
            <a:avLst/>
          </a:prstGeom>
          <a:noFill/>
        </p:spPr>
        <p:txBody>
          <a:bodyPr wrap="square" lIns="0" rIns="0" tIns="0" bIns="0" anchor="t">
            <a:spAutoFit/>
          </a:bodyPr>
          <a:lstStyle/>
          <a:p>
            <a:pPr algn="l">
              <a:lnSpc>
                <a:spcPct val="83300"/>
              </a:lnSpc>
            </a:pPr>
            <a:r>
              <a:rPr sz="3900" b="1" i="0">
                <a:solidFill>
                  <a:srgbClr val="FFD21F"/>
                </a:solidFill>
                <a:latin typeface="Montserrat"/>
              </a:rPr>
              <a:t>17.416</a:t>
            </a:r>
          </a:p>
        </p:txBody>
      </p:sp>
      <p:sp>
        <p:nvSpPr>
          <p:cNvPr id="60" name="TextBox 59"/>
          <p:cNvSpPr txBox="1"/>
          <p:nvPr/>
        </p:nvSpPr>
        <p:spPr>
          <a:xfrm>
            <a:off x="5765800" y="8839200"/>
            <a:ext cx="2044700" cy="30480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productos oficiales</a:t>
            </a:r>
          </a:p>
        </p:txBody>
      </p:sp>
      <p:sp>
        <p:nvSpPr>
          <p:cNvPr id="61" name="TextBox 60"/>
          <p:cNvSpPr txBox="1"/>
          <p:nvPr/>
        </p:nvSpPr>
        <p:spPr>
          <a:xfrm>
            <a:off x="8724900" y="2628900"/>
            <a:ext cx="86487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LO AMBIGUO SE MARCA, NO SE BORRA</a:t>
            </a:r>
          </a:p>
        </p:txBody>
      </p:sp>
      <p:sp>
        <p:nvSpPr>
          <p:cNvPr id="62" name="Rectangle 61"/>
          <p:cNvSpPr/>
          <p:nvPr/>
        </p:nvSpPr>
        <p:spPr>
          <a:xfrm>
            <a:off x="8724900" y="2971800"/>
            <a:ext cx="8648700" cy="990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8724900" y="2971800"/>
            <a:ext cx="57150" cy="9906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010650" y="3086100"/>
            <a:ext cx="2000250" cy="476250"/>
          </a:xfrm>
          <a:prstGeom prst="rect">
            <a:avLst/>
          </a:prstGeom>
          <a:noFill/>
        </p:spPr>
        <p:txBody>
          <a:bodyPr wrap="square" lIns="0" rIns="0" tIns="0" bIns="0" anchor="t">
            <a:spAutoFit/>
          </a:bodyPr>
          <a:lstStyle/>
          <a:p>
            <a:pPr algn="l">
              <a:lnSpc>
                <a:spcPct val="83300"/>
              </a:lnSpc>
            </a:pPr>
            <a:r>
              <a:rPr sz="3000" b="1" i="0">
                <a:solidFill>
                  <a:srgbClr val="E0566B"/>
                </a:solidFill>
                <a:latin typeface="Montserrat"/>
              </a:rPr>
              <a:t>8</a:t>
            </a:r>
          </a:p>
        </p:txBody>
      </p:sp>
      <p:sp>
        <p:nvSpPr>
          <p:cNvPr id="65" name="TextBox 64"/>
          <p:cNvSpPr txBox="1"/>
          <p:nvPr/>
        </p:nvSpPr>
        <p:spPr>
          <a:xfrm>
            <a:off x="9010650" y="3581400"/>
            <a:ext cx="2000250" cy="24765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filas · 0,01%</a:t>
            </a:r>
          </a:p>
        </p:txBody>
      </p:sp>
      <p:sp>
        <p:nvSpPr>
          <p:cNvPr id="66" name="TextBox 65"/>
          <p:cNvSpPr txBox="1"/>
          <p:nvPr/>
        </p:nvSpPr>
        <p:spPr>
          <a:xfrm>
            <a:off x="11163300" y="3143250"/>
            <a:ext cx="4458504" cy="323850"/>
          </a:xfrm>
          <a:prstGeom prst="rect">
            <a:avLst/>
          </a:prstGeom>
          <a:noFill/>
        </p:spPr>
        <p:txBody>
          <a:bodyPr wrap="square" lIns="0" rIns="0" tIns="0" bIns="0" anchor="t">
            <a:spAutoFit/>
          </a:bodyPr>
          <a:lstStyle/>
          <a:p>
            <a:pPr algn="l">
              <a:lnSpc>
                <a:spcPct val="95800"/>
              </a:lnSpc>
            </a:pPr>
            <a:r>
              <a:rPr sz="1800" b="1" i="0">
                <a:solidFill>
                  <a:srgbClr val="F3F7FC"/>
                </a:solidFill>
                <a:latin typeface="Montserrat"/>
              </a:rPr>
              <a:t>Duplicado exacto</a:t>
            </a:r>
          </a:p>
        </p:txBody>
      </p:sp>
      <p:sp>
        <p:nvSpPr>
          <p:cNvPr id="67" name="TextBox 66"/>
          <p:cNvSpPr txBox="1"/>
          <p:nvPr/>
        </p:nvSpPr>
        <p:spPr>
          <a:xfrm>
            <a:off x="11163300" y="3505200"/>
            <a:ext cx="4458504"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las 36 columnas idénticas</a:t>
            </a:r>
          </a:p>
        </p:txBody>
      </p:sp>
      <p:sp>
        <p:nvSpPr>
          <p:cNvPr id="68" name="Rounded Rectangle 67"/>
          <p:cNvSpPr/>
          <p:nvPr/>
        </p:nvSpPr>
        <p:spPr>
          <a:xfrm>
            <a:off x="15812304" y="3286125"/>
            <a:ext cx="1294596" cy="361950"/>
          </a:xfrm>
          <a:prstGeom prst="roundRect">
            <a:avLst>
              <a:gd name="adj" fmla="val 10526"/>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5812304" y="3286125"/>
            <a:ext cx="1294596"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ELIMINAR</a:t>
            </a:r>
          </a:p>
        </p:txBody>
      </p:sp>
      <p:sp>
        <p:nvSpPr>
          <p:cNvPr id="70" name="Rectangle 69"/>
          <p:cNvSpPr/>
          <p:nvPr/>
        </p:nvSpPr>
        <p:spPr>
          <a:xfrm>
            <a:off x="8724900" y="4076700"/>
            <a:ext cx="8648700" cy="990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8724900" y="4076700"/>
            <a:ext cx="57150" cy="990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010650" y="4191000"/>
            <a:ext cx="2000250" cy="476250"/>
          </a:xfrm>
          <a:prstGeom prst="rect">
            <a:avLst/>
          </a:prstGeom>
          <a:noFill/>
        </p:spPr>
        <p:txBody>
          <a:bodyPr wrap="square" lIns="0" rIns="0" tIns="0" bIns="0" anchor="t">
            <a:spAutoFit/>
          </a:bodyPr>
          <a:lstStyle/>
          <a:p>
            <a:pPr algn="l">
              <a:lnSpc>
                <a:spcPct val="83300"/>
              </a:lnSpc>
            </a:pPr>
            <a:r>
              <a:rPr sz="3000" b="1" i="0">
                <a:solidFill>
                  <a:srgbClr val="FFD21F"/>
                </a:solidFill>
                <a:latin typeface="Montserrat"/>
              </a:rPr>
              <a:t>26.592</a:t>
            </a:r>
          </a:p>
        </p:txBody>
      </p:sp>
      <p:sp>
        <p:nvSpPr>
          <p:cNvPr id="73" name="TextBox 72"/>
          <p:cNvSpPr txBox="1"/>
          <p:nvPr/>
        </p:nvSpPr>
        <p:spPr>
          <a:xfrm>
            <a:off x="9010650" y="4686300"/>
            <a:ext cx="2000250" cy="24765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filas · 20,92%</a:t>
            </a:r>
          </a:p>
        </p:txBody>
      </p:sp>
      <p:sp>
        <p:nvSpPr>
          <p:cNvPr id="74" name="TextBox 73"/>
          <p:cNvSpPr txBox="1"/>
          <p:nvPr/>
        </p:nvSpPr>
        <p:spPr>
          <a:xfrm>
            <a:off x="11163300" y="4248150"/>
            <a:ext cx="2941826" cy="323850"/>
          </a:xfrm>
          <a:prstGeom prst="rect">
            <a:avLst/>
          </a:prstGeom>
          <a:noFill/>
        </p:spPr>
        <p:txBody>
          <a:bodyPr wrap="square" lIns="0" rIns="0" tIns="0" bIns="0" anchor="t">
            <a:spAutoFit/>
          </a:bodyPr>
          <a:lstStyle/>
          <a:p>
            <a:pPr algn="l">
              <a:lnSpc>
                <a:spcPct val="95800"/>
              </a:lnSpc>
            </a:pPr>
            <a:r>
              <a:rPr sz="1800" b="1" i="0">
                <a:solidFill>
                  <a:srgbClr val="F3F7FC"/>
                </a:solidFill>
                <a:latin typeface="Montserrat"/>
              </a:rPr>
              <a:t>Repetición histórica</a:t>
            </a:r>
          </a:p>
        </p:txBody>
      </p:sp>
      <p:sp>
        <p:nvSpPr>
          <p:cNvPr id="75" name="TextBox 74"/>
          <p:cNvSpPr txBox="1"/>
          <p:nvPr/>
        </p:nvSpPr>
        <p:spPr>
          <a:xfrm>
            <a:off x="11163300" y="4610100"/>
            <a:ext cx="2941826"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el mismo par hasta en 11 meses</a:t>
            </a:r>
          </a:p>
        </p:txBody>
      </p:sp>
      <p:sp>
        <p:nvSpPr>
          <p:cNvPr id="76" name="Rounded Rectangle 75"/>
          <p:cNvSpPr/>
          <p:nvPr/>
        </p:nvSpPr>
        <p:spPr>
          <a:xfrm>
            <a:off x="14295626" y="4391025"/>
            <a:ext cx="2811274"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4295626" y="4391025"/>
            <a:ext cx="2811274"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COLAPSAR O PONDERAR</a:t>
            </a:r>
          </a:p>
        </p:txBody>
      </p:sp>
      <p:sp>
        <p:nvSpPr>
          <p:cNvPr id="78" name="Rectangle 77"/>
          <p:cNvSpPr/>
          <p:nvPr/>
        </p:nvSpPr>
        <p:spPr>
          <a:xfrm>
            <a:off x="8724900" y="5181600"/>
            <a:ext cx="8648700" cy="990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8724900" y="5181600"/>
            <a:ext cx="57150" cy="990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9010650" y="5295900"/>
            <a:ext cx="2000250" cy="476250"/>
          </a:xfrm>
          <a:prstGeom prst="rect">
            <a:avLst/>
          </a:prstGeom>
          <a:noFill/>
        </p:spPr>
        <p:txBody>
          <a:bodyPr wrap="square" lIns="0" rIns="0" tIns="0" bIns="0" anchor="t">
            <a:spAutoFit/>
          </a:bodyPr>
          <a:lstStyle/>
          <a:p>
            <a:pPr algn="l">
              <a:lnSpc>
                <a:spcPct val="83300"/>
              </a:lnSpc>
            </a:pPr>
            <a:r>
              <a:rPr sz="3000" b="1" i="0">
                <a:solidFill>
                  <a:srgbClr val="4F9BFF"/>
                </a:solidFill>
                <a:latin typeface="Montserrat"/>
              </a:rPr>
              <a:t>36,49%</a:t>
            </a:r>
          </a:p>
        </p:txBody>
      </p:sp>
      <p:sp>
        <p:nvSpPr>
          <p:cNvPr id="81" name="TextBox 80"/>
          <p:cNvSpPr txBox="1"/>
          <p:nvPr/>
        </p:nvSpPr>
        <p:spPr>
          <a:xfrm>
            <a:off x="9010650" y="5791200"/>
            <a:ext cx="2000250" cy="24765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máximo · llave gruesa</a:t>
            </a:r>
          </a:p>
        </p:txBody>
      </p:sp>
      <p:sp>
        <p:nvSpPr>
          <p:cNvPr id="82" name="TextBox 81"/>
          <p:cNvSpPr txBox="1"/>
          <p:nvPr/>
        </p:nvSpPr>
        <p:spPr>
          <a:xfrm>
            <a:off x="11163300" y="5353050"/>
            <a:ext cx="3564850" cy="323850"/>
          </a:xfrm>
          <a:prstGeom prst="rect">
            <a:avLst/>
          </a:prstGeom>
          <a:noFill/>
        </p:spPr>
        <p:txBody>
          <a:bodyPr wrap="square" lIns="0" rIns="0" tIns="0" bIns="0" anchor="t">
            <a:spAutoFit/>
          </a:bodyPr>
          <a:lstStyle/>
          <a:p>
            <a:pPr algn="l">
              <a:lnSpc>
                <a:spcPct val="95800"/>
              </a:lnSpc>
            </a:pPr>
            <a:r>
              <a:rPr sz="1800" b="1" i="0">
                <a:solidFill>
                  <a:srgbClr val="F3F7FC"/>
                </a:solidFill>
                <a:latin typeface="Montserrat"/>
              </a:rPr>
              <a:t>Co-ocurrencia por reuso</a:t>
            </a:r>
          </a:p>
        </p:txBody>
      </p:sp>
      <p:sp>
        <p:nvSpPr>
          <p:cNvPr id="83" name="TextBox 82"/>
          <p:cNvSpPr txBox="1"/>
          <p:nvPr/>
        </p:nvSpPr>
        <p:spPr>
          <a:xfrm>
            <a:off x="11163300" y="5715000"/>
            <a:ext cx="356485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llave gruesa, sin Retailer</a:t>
            </a:r>
          </a:p>
        </p:txBody>
      </p:sp>
      <p:sp>
        <p:nvSpPr>
          <p:cNvPr id="84" name="Rounded Rectangle 83"/>
          <p:cNvSpPr/>
          <p:nvPr/>
        </p:nvSpPr>
        <p:spPr>
          <a:xfrm>
            <a:off x="14918650" y="5495925"/>
            <a:ext cx="2188250" cy="361950"/>
          </a:xfrm>
          <a:prstGeom prst="roundRect">
            <a:avLst>
              <a:gd name="adj" fmla="val 10526"/>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4918650" y="5495925"/>
            <a:ext cx="2188250"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NO ES DUPLICADO</a:t>
            </a:r>
          </a:p>
        </p:txBody>
      </p:sp>
      <p:sp>
        <p:nvSpPr>
          <p:cNvPr id="86" name="TextBox 85"/>
          <p:cNvSpPr txBox="1"/>
          <p:nvPr/>
        </p:nvSpPr>
        <p:spPr>
          <a:xfrm>
            <a:off x="8724900" y="6362700"/>
            <a:ext cx="86487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SE MARCA CON SU SEVERIDAD</a:t>
            </a:r>
          </a:p>
        </p:txBody>
      </p:sp>
      <p:sp>
        <p:nvSpPr>
          <p:cNvPr id="87" name="Rectangle 86"/>
          <p:cNvSpPr/>
          <p:nvPr/>
        </p:nvSpPr>
        <p:spPr>
          <a:xfrm>
            <a:off x="8724900" y="6705600"/>
            <a:ext cx="8648700" cy="28194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9010650" y="6838950"/>
            <a:ext cx="5715000" cy="2667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Id reutilizado entre retailers</a:t>
            </a:r>
          </a:p>
        </p:txBody>
      </p:sp>
      <p:sp>
        <p:nvSpPr>
          <p:cNvPr id="89" name="TextBox 88"/>
          <p:cNvSpPr txBox="1"/>
          <p:nvPr/>
        </p:nvSpPr>
        <p:spPr>
          <a:xfrm>
            <a:off x="9010650" y="7115175"/>
            <a:ext cx="3619500" cy="2476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severidad media</a:t>
            </a:r>
          </a:p>
        </p:txBody>
      </p:sp>
      <p:sp>
        <p:nvSpPr>
          <p:cNvPr id="90" name="Rectangle 89"/>
          <p:cNvSpPr/>
          <p:nvPr/>
        </p:nvSpPr>
        <p:spPr>
          <a:xfrm>
            <a:off x="12725400" y="7010400"/>
            <a:ext cx="33147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2725400" y="7010400"/>
            <a:ext cx="3314700"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6135350" y="6896100"/>
            <a:ext cx="9525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8.528</a:t>
            </a:r>
          </a:p>
        </p:txBody>
      </p:sp>
      <p:sp>
        <p:nvSpPr>
          <p:cNvPr id="93" name="TextBox 92"/>
          <p:cNvSpPr txBox="1"/>
          <p:nvPr/>
        </p:nvSpPr>
        <p:spPr>
          <a:xfrm>
            <a:off x="9010650" y="7486650"/>
            <a:ext cx="735062"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Nombre</a:t>
            </a:r>
          </a:p>
        </p:txBody>
      </p:sp>
      <p:sp>
        <p:nvSpPr>
          <p:cNvPr id="94" name="Right Arrow 93"/>
          <p:cNvSpPr/>
          <p:nvPr/>
        </p:nvSpPr>
        <p:spPr>
          <a:xfrm>
            <a:off x="9802862" y="7553325"/>
            <a:ext cx="209550" cy="1333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088612" y="7486650"/>
            <a:ext cx="1337667"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varios oficiales</a:t>
            </a:r>
          </a:p>
        </p:txBody>
      </p:sp>
      <p:sp>
        <p:nvSpPr>
          <p:cNvPr id="96" name="TextBox 95"/>
          <p:cNvSpPr txBox="1"/>
          <p:nvPr/>
        </p:nvSpPr>
        <p:spPr>
          <a:xfrm>
            <a:off x="9010650" y="7762875"/>
            <a:ext cx="3619500" cy="2476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severidad media</a:t>
            </a:r>
          </a:p>
        </p:txBody>
      </p:sp>
      <p:sp>
        <p:nvSpPr>
          <p:cNvPr id="97" name="Rectangle 96"/>
          <p:cNvSpPr/>
          <p:nvPr/>
        </p:nvSpPr>
        <p:spPr>
          <a:xfrm>
            <a:off x="12725400" y="7658100"/>
            <a:ext cx="33147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2725400" y="7658100"/>
            <a:ext cx="476916"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16135350" y="7543800"/>
            <a:ext cx="9525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1.227</a:t>
            </a:r>
          </a:p>
        </p:txBody>
      </p:sp>
      <p:sp>
        <p:nvSpPr>
          <p:cNvPr id="100" name="TextBox 99"/>
          <p:cNvSpPr txBox="1"/>
          <p:nvPr/>
        </p:nvSpPr>
        <p:spPr>
          <a:xfrm>
            <a:off x="9010650" y="8134350"/>
            <a:ext cx="867519"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Id retailer</a:t>
            </a:r>
          </a:p>
        </p:txBody>
      </p:sp>
      <p:sp>
        <p:nvSpPr>
          <p:cNvPr id="101" name="Right Arrow 100"/>
          <p:cNvSpPr/>
          <p:nvPr/>
        </p:nvSpPr>
        <p:spPr>
          <a:xfrm>
            <a:off x="9935319" y="8201025"/>
            <a:ext cx="209550" cy="1333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221069" y="8134350"/>
            <a:ext cx="1337667"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varios oficiales</a:t>
            </a:r>
          </a:p>
        </p:txBody>
      </p:sp>
      <p:sp>
        <p:nvSpPr>
          <p:cNvPr id="103" name="TextBox 102"/>
          <p:cNvSpPr txBox="1"/>
          <p:nvPr/>
        </p:nvSpPr>
        <p:spPr>
          <a:xfrm>
            <a:off x="9010650" y="8410575"/>
            <a:ext cx="3619500" cy="247650"/>
          </a:xfrm>
          <a:prstGeom prst="rect">
            <a:avLst/>
          </a:prstGeom>
          <a:noFill/>
        </p:spPr>
        <p:txBody>
          <a:bodyPr wrap="square" lIns="0" rIns="0" tIns="0" bIns="0" anchor="t">
            <a:spAutoFit/>
          </a:bodyPr>
          <a:lstStyle/>
          <a:p>
            <a:pPr algn="l">
              <a:lnSpc>
                <a:spcPct val="100000"/>
              </a:lnSpc>
            </a:pPr>
            <a:r>
              <a:rPr sz="1500" b="0" i="0">
                <a:solidFill>
                  <a:srgbClr val="E0566B"/>
                </a:solidFill>
                <a:latin typeface="Barlow"/>
              </a:rPr>
              <a:t>severidad alta</a:t>
            </a:r>
          </a:p>
        </p:txBody>
      </p:sp>
      <p:sp>
        <p:nvSpPr>
          <p:cNvPr id="104" name="Rectangle 103"/>
          <p:cNvSpPr/>
          <p:nvPr/>
        </p:nvSpPr>
        <p:spPr>
          <a:xfrm>
            <a:off x="12725400" y="8305800"/>
            <a:ext cx="33147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2725400" y="8305800"/>
            <a:ext cx="345540" cy="1333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16135350" y="8191500"/>
            <a:ext cx="9525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889</a:t>
            </a:r>
          </a:p>
        </p:txBody>
      </p:sp>
      <p:sp>
        <p:nvSpPr>
          <p:cNvPr id="107" name="TextBox 106"/>
          <p:cNvSpPr txBox="1"/>
          <p:nvPr/>
        </p:nvSpPr>
        <p:spPr>
          <a:xfrm>
            <a:off x="9010650" y="8782050"/>
            <a:ext cx="1472208"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Unidad canónica</a:t>
            </a:r>
          </a:p>
        </p:txBody>
      </p:sp>
      <p:sp>
        <p:nvSpPr>
          <p:cNvPr id="108" name="Right Arrow 107"/>
          <p:cNvSpPr/>
          <p:nvPr/>
        </p:nvSpPr>
        <p:spPr>
          <a:xfrm>
            <a:off x="10540008" y="8848725"/>
            <a:ext cx="209550" cy="1333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825758" y="8782050"/>
            <a:ext cx="1337667" cy="266700"/>
          </a:xfrm>
          <a:prstGeom prst="rect">
            <a:avLst/>
          </a:prstGeom>
          <a:noFill/>
        </p:spPr>
        <p:txBody>
          <a:bodyPr wrap="none" lIns="0" rIns="0" tIns="0" bIns="0" anchor="ctr">
            <a:spAutoFit/>
          </a:bodyPr>
          <a:lstStyle/>
          <a:p>
            <a:pPr algn="l">
              <a:lnSpc>
                <a:spcPct val="100000"/>
              </a:lnSpc>
            </a:pPr>
            <a:r>
              <a:rPr sz="1575" b="0" i="0">
                <a:solidFill>
                  <a:srgbClr val="F3F7FC"/>
                </a:solidFill>
                <a:latin typeface="Barlow"/>
              </a:rPr>
              <a:t>varios oficiales</a:t>
            </a:r>
          </a:p>
        </p:txBody>
      </p:sp>
      <p:sp>
        <p:nvSpPr>
          <p:cNvPr id="110" name="TextBox 109"/>
          <p:cNvSpPr txBox="1"/>
          <p:nvPr/>
        </p:nvSpPr>
        <p:spPr>
          <a:xfrm>
            <a:off x="9010650" y="9058275"/>
            <a:ext cx="3619500" cy="247650"/>
          </a:xfrm>
          <a:prstGeom prst="rect">
            <a:avLst/>
          </a:prstGeom>
          <a:noFill/>
        </p:spPr>
        <p:txBody>
          <a:bodyPr wrap="square" lIns="0" rIns="0" tIns="0" bIns="0" anchor="t">
            <a:spAutoFit/>
          </a:bodyPr>
          <a:lstStyle/>
          <a:p>
            <a:pPr algn="l">
              <a:lnSpc>
                <a:spcPct val="100000"/>
              </a:lnSpc>
            </a:pPr>
            <a:r>
              <a:rPr sz="1500" b="0" i="0">
                <a:solidFill>
                  <a:srgbClr val="E0566B"/>
                </a:solidFill>
                <a:latin typeface="Barlow"/>
              </a:rPr>
              <a:t>severidad alta · 1.001 filas</a:t>
            </a:r>
          </a:p>
        </p:txBody>
      </p:sp>
      <p:sp>
        <p:nvSpPr>
          <p:cNvPr id="111" name="Rectangle 110"/>
          <p:cNvSpPr/>
          <p:nvPr/>
        </p:nvSpPr>
        <p:spPr>
          <a:xfrm>
            <a:off x="12725400" y="8953500"/>
            <a:ext cx="33147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12725400" y="8953500"/>
            <a:ext cx="102224" cy="1333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6135350" y="8839200"/>
            <a:ext cx="9525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263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OE2 · ORGANIZAR EL CONJUNTO DE DATOS · ANÁLISIS EXPLORATORIO</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Los tres hallazgos que condicionan todo lo demás</a:t>
            </a:r>
          </a:p>
        </p:txBody>
      </p:sp>
      <p:sp>
        <p:nvSpPr>
          <p:cNvPr id="9" name="Rectangle 8"/>
          <p:cNvSpPr/>
          <p:nvPr/>
        </p:nvSpPr>
        <p:spPr>
          <a:xfrm>
            <a:off x="914400" y="2628900"/>
            <a:ext cx="5334000" cy="5295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5334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181100" y="289560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289560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13" name="TextBox 12"/>
          <p:cNvSpPr txBox="1"/>
          <p:nvPr/>
        </p:nvSpPr>
        <p:spPr>
          <a:xfrm>
            <a:off x="1676400" y="2895600"/>
            <a:ext cx="4381500" cy="38100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Una fila no es un producto</a:t>
            </a:r>
          </a:p>
        </p:txBody>
      </p:sp>
      <p:sp>
        <p:nvSpPr>
          <p:cNvPr id="14" name="Rectangle 13"/>
          <p:cNvSpPr/>
          <p:nvPr/>
        </p:nvSpPr>
        <p:spPr>
          <a:xfrm>
            <a:off x="3552825" y="8001000"/>
            <a:ext cx="57150" cy="23241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sosceles Triangle 14"/>
          <p:cNvSpPr/>
          <p:nvPr/>
        </p:nvSpPr>
        <p:spPr>
          <a:xfrm rot="10800000">
            <a:off x="3457575" y="8208645"/>
            <a:ext cx="247650" cy="17335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8439150"/>
            <a:ext cx="5334000" cy="1143000"/>
          </a:xfrm>
          <a:prstGeom prst="rect">
            <a:avLst/>
          </a:prstGeom>
          <a:solidFill>
            <a:srgbClr val="0C2445"/>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14400" y="8439150"/>
            <a:ext cx="57150" cy="1143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8572500"/>
            <a:ext cx="48006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CONSECUENCIA</a:t>
            </a:r>
          </a:p>
        </p:txBody>
      </p:sp>
      <p:sp>
        <p:nvSpPr>
          <p:cNvPr id="19" name="TextBox 18"/>
          <p:cNvSpPr txBox="1"/>
          <p:nvPr/>
        </p:nvSpPr>
        <p:spPr>
          <a:xfrm>
            <a:off x="1181100" y="8858250"/>
            <a:ext cx="4800600" cy="628650"/>
          </a:xfrm>
          <a:prstGeom prst="rect">
            <a:avLst/>
          </a:prstGeom>
          <a:noFill/>
        </p:spPr>
        <p:txBody>
          <a:bodyPr wrap="square" lIns="0" rIns="0" tIns="0" bIns="0" anchor="t">
            <a:spAutoFit/>
          </a:bodyPr>
          <a:lstStyle/>
          <a:p>
            <a:pPr algn="l">
              <a:lnSpc>
                <a:spcPct val="95800"/>
              </a:lnSpc>
            </a:pPr>
            <a:r>
              <a:rPr sz="1800" b="0" i="0">
                <a:solidFill>
                  <a:srgbClr val="F3F7FC"/>
                </a:solidFill>
                <a:latin typeface="Barlow"/>
              </a:rPr>
              <a:t>La división train/test se hace por par,</a:t>
            </a:r>
          </a:p>
          <a:p>
            <a:pPr algn="l">
              <a:lnSpc>
                <a:spcPct val="95800"/>
              </a:lnSpc>
            </a:pPr>
            <a:r>
              <a:rPr sz="1800" b="0" i="0">
                <a:solidFill>
                  <a:srgbClr val="F3F7FC"/>
                </a:solidFill>
                <a:latin typeface="Barlow"/>
              </a:rPr>
              <a:t>nunca por fila.</a:t>
            </a:r>
          </a:p>
        </p:txBody>
      </p:sp>
      <p:sp>
        <p:nvSpPr>
          <p:cNvPr id="20" name="Rectangle 19"/>
          <p:cNvSpPr/>
          <p:nvPr/>
        </p:nvSpPr>
        <p:spPr>
          <a:xfrm>
            <a:off x="6477000" y="2628900"/>
            <a:ext cx="5334000" cy="5295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77000" y="2628900"/>
            <a:ext cx="5334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743700" y="289560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43700" y="289560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2</a:t>
            </a:r>
          </a:p>
        </p:txBody>
      </p:sp>
      <p:sp>
        <p:nvSpPr>
          <p:cNvPr id="24" name="TextBox 23"/>
          <p:cNvSpPr txBox="1"/>
          <p:nvPr/>
        </p:nvSpPr>
        <p:spPr>
          <a:xfrm>
            <a:off x="7239000" y="2895600"/>
            <a:ext cx="4381500" cy="38100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El código vive dentro del texto libre</a:t>
            </a:r>
          </a:p>
        </p:txBody>
      </p:sp>
      <p:sp>
        <p:nvSpPr>
          <p:cNvPr id="25" name="Rectangle 24"/>
          <p:cNvSpPr/>
          <p:nvPr/>
        </p:nvSpPr>
        <p:spPr>
          <a:xfrm>
            <a:off x="9115425" y="8001000"/>
            <a:ext cx="57150" cy="23241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9020175" y="8208645"/>
            <a:ext cx="247650" cy="17335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77000" y="8439150"/>
            <a:ext cx="5334000" cy="1143000"/>
          </a:xfrm>
          <a:prstGeom prst="rect">
            <a:avLst/>
          </a:prstGeom>
          <a:solidFill>
            <a:srgbClr val="0C2445"/>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477000" y="8439150"/>
            <a:ext cx="57150" cy="1143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43700" y="8572500"/>
            <a:ext cx="48006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CONSECUENCIA</a:t>
            </a:r>
          </a:p>
        </p:txBody>
      </p:sp>
      <p:sp>
        <p:nvSpPr>
          <p:cNvPr id="30" name="TextBox 29"/>
          <p:cNvSpPr txBox="1"/>
          <p:nvPr/>
        </p:nvSpPr>
        <p:spPr>
          <a:xfrm>
            <a:off x="6743700" y="8858250"/>
            <a:ext cx="4800600" cy="628650"/>
          </a:xfrm>
          <a:prstGeom prst="rect">
            <a:avLst/>
          </a:prstGeom>
          <a:noFill/>
        </p:spPr>
        <p:txBody>
          <a:bodyPr wrap="square" lIns="0" rIns="0" tIns="0" bIns="0" anchor="t">
            <a:spAutoFit/>
          </a:bodyPr>
          <a:lstStyle/>
          <a:p>
            <a:pPr algn="l">
              <a:lnSpc>
                <a:spcPct val="95800"/>
              </a:lnSpc>
            </a:pPr>
            <a:r>
              <a:rPr sz="1800" b="0" i="0">
                <a:solidFill>
                  <a:srgbClr val="F3F7FC"/>
                </a:solidFill>
                <a:latin typeface="Barlow"/>
              </a:rPr>
              <a:t>Los identificadores no se comparan como</a:t>
            </a:r>
          </a:p>
          <a:p>
            <a:pPr algn="l">
              <a:lnSpc>
                <a:spcPct val="95800"/>
              </a:lnSpc>
            </a:pPr>
            <a:r>
              <a:rPr sz="1800" b="0" i="0">
                <a:solidFill>
                  <a:srgbClr val="F3F7FC"/>
                </a:solidFill>
                <a:latin typeface="Barlow"/>
              </a:rPr>
              <a:t>cadenas: se buscan dentro del título.</a:t>
            </a:r>
          </a:p>
        </p:txBody>
      </p:sp>
      <p:sp>
        <p:nvSpPr>
          <p:cNvPr id="31" name="Rectangle 30"/>
          <p:cNvSpPr/>
          <p:nvPr/>
        </p:nvSpPr>
        <p:spPr>
          <a:xfrm>
            <a:off x="12039600" y="2628900"/>
            <a:ext cx="5334000" cy="5295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2039600" y="2628900"/>
            <a:ext cx="5334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2306300" y="289560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06300" y="289560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3</a:t>
            </a:r>
          </a:p>
        </p:txBody>
      </p:sp>
      <p:sp>
        <p:nvSpPr>
          <p:cNvPr id="35" name="TextBox 34"/>
          <p:cNvSpPr txBox="1"/>
          <p:nvPr/>
        </p:nvSpPr>
        <p:spPr>
          <a:xfrm>
            <a:off x="12801600" y="2895600"/>
            <a:ext cx="4381500" cy="38100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Lo que parece ruido es sintaxis</a:t>
            </a:r>
          </a:p>
        </p:txBody>
      </p:sp>
      <p:sp>
        <p:nvSpPr>
          <p:cNvPr id="36" name="Rectangle 35"/>
          <p:cNvSpPr/>
          <p:nvPr/>
        </p:nvSpPr>
        <p:spPr>
          <a:xfrm>
            <a:off x="14678025" y="8001000"/>
            <a:ext cx="57150" cy="23241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rot="10800000">
            <a:off x="14582775" y="8208645"/>
            <a:ext cx="247650" cy="17335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39600" y="8439150"/>
            <a:ext cx="5334000" cy="1143000"/>
          </a:xfrm>
          <a:prstGeom prst="rect">
            <a:avLst/>
          </a:prstGeom>
          <a:solidFill>
            <a:srgbClr val="0C2445"/>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2039600" y="8439150"/>
            <a:ext cx="57150" cy="11430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306300" y="8572500"/>
            <a:ext cx="48006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CONSECUENCIA</a:t>
            </a:r>
          </a:p>
        </p:txBody>
      </p:sp>
      <p:sp>
        <p:nvSpPr>
          <p:cNvPr id="41" name="TextBox 40"/>
          <p:cNvSpPr txBox="1"/>
          <p:nvPr/>
        </p:nvSpPr>
        <p:spPr>
          <a:xfrm>
            <a:off x="12306300" y="8858250"/>
            <a:ext cx="4800600" cy="628650"/>
          </a:xfrm>
          <a:prstGeom prst="rect">
            <a:avLst/>
          </a:prstGeom>
          <a:noFill/>
        </p:spPr>
        <p:txBody>
          <a:bodyPr wrap="square" lIns="0" rIns="0" tIns="0" bIns="0" anchor="t">
            <a:spAutoFit/>
          </a:bodyPr>
          <a:lstStyle/>
          <a:p>
            <a:pPr algn="l">
              <a:lnSpc>
                <a:spcPct val="95800"/>
              </a:lnSpc>
            </a:pPr>
            <a:r>
              <a:rPr sz="1800" b="0" i="0">
                <a:solidFill>
                  <a:srgbClr val="F3F7FC"/>
                </a:solidFill>
                <a:latin typeface="Barlow"/>
              </a:rPr>
              <a:t>Una limpieza estándar destruiría la señal</a:t>
            </a:r>
          </a:p>
          <a:p>
            <a:pPr algn="l">
              <a:lnSpc>
                <a:spcPct val="95800"/>
              </a:lnSpc>
            </a:pPr>
            <a:r>
              <a:rPr sz="1800" b="0" i="0">
                <a:solidFill>
                  <a:srgbClr val="F3F7FC"/>
                </a:solidFill>
                <a:latin typeface="Barlow"/>
              </a:rPr>
              <a:t>y borraría mercados enteros.</a:t>
            </a:r>
          </a:p>
        </p:txBody>
      </p:sp>
      <p:sp>
        <p:nvSpPr>
          <p:cNvPr id="42" name="Rounded Rectangle 41"/>
          <p:cNvSpPr/>
          <p:nvPr/>
        </p:nvSpPr>
        <p:spPr>
          <a:xfrm>
            <a:off x="1181100" y="3790950"/>
            <a:ext cx="14097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81100" y="3790950"/>
            <a:ext cx="14097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NPX150/INT</a:t>
            </a:r>
          </a:p>
        </p:txBody>
      </p:sp>
      <p:sp>
        <p:nvSpPr>
          <p:cNvPr id="44" name="Rectangle 43"/>
          <p:cNvSpPr/>
          <p:nvPr/>
        </p:nvSpPr>
        <p:spPr>
          <a:xfrm>
            <a:off x="118110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39065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60020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80975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201930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222885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2438400" y="43053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8110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39065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60020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80975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201930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222885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2438400" y="45148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18110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39065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60020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80975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201930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222885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2438400" y="47244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18110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39065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60020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80975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201930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222885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2438400" y="49339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18110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9065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60020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80975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201930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222885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2438400" y="514350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18110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39065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60020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80975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201930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222885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2438400" y="5353050"/>
            <a:ext cx="152400" cy="152400"/>
          </a:xfrm>
          <a:prstGeom prst="rect">
            <a:avLst/>
          </a:prstGeom>
          <a:solidFill>
            <a:srgbClr val="2F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181100" y="5600700"/>
            <a:ext cx="2476500" cy="2667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42 filas · llave gruesa</a:t>
            </a:r>
          </a:p>
        </p:txBody>
      </p:sp>
      <p:sp>
        <p:nvSpPr>
          <p:cNvPr id="87" name="Right Arrow 86"/>
          <p:cNvSpPr/>
          <p:nvPr/>
        </p:nvSpPr>
        <p:spPr>
          <a:xfrm>
            <a:off x="2914650" y="4762500"/>
            <a:ext cx="91440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114800" y="4505325"/>
            <a:ext cx="800100" cy="800100"/>
          </a:xfrm>
          <a:prstGeom prst="roundRect">
            <a:avLst>
              <a:gd name="adj" fmla="val 7142"/>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4114800" y="4505325"/>
            <a:ext cx="800100" cy="800100"/>
          </a:xfrm>
          <a:prstGeom prst="rect">
            <a:avLst/>
          </a:prstGeom>
          <a:noFill/>
        </p:spPr>
        <p:txBody>
          <a:bodyPr wrap="none" lIns="0" rIns="0" tIns="0" bIns="0" anchor="ctr">
            <a:spAutoFit/>
          </a:bodyPr>
          <a:lstStyle/>
          <a:p>
            <a:pPr algn="ctr">
              <a:lnSpc>
                <a:spcPct val="100000"/>
              </a:lnSpc>
            </a:pPr>
            <a:r>
              <a:rPr sz="3600" b="1" i="0">
                <a:solidFill>
                  <a:srgbClr val="07172D"/>
                </a:solidFill>
                <a:latin typeface="Montserrat"/>
              </a:rPr>
              <a:t>1</a:t>
            </a:r>
          </a:p>
        </p:txBody>
      </p:sp>
      <p:sp>
        <p:nvSpPr>
          <p:cNvPr id="90" name="TextBox 89"/>
          <p:cNvSpPr txBox="1"/>
          <p:nvPr/>
        </p:nvSpPr>
        <p:spPr>
          <a:xfrm>
            <a:off x="3733800" y="5600700"/>
            <a:ext cx="1562100" cy="266700"/>
          </a:xfrm>
          <a:prstGeom prst="rect">
            <a:avLst/>
          </a:prstGeom>
          <a:noFill/>
        </p:spPr>
        <p:txBody>
          <a:bodyPr wrap="square" lIns="0" rIns="0" tIns="0" bIns="0" anchor="t">
            <a:spAutoFit/>
          </a:bodyPr>
          <a:lstStyle/>
          <a:p>
            <a:pPr algn="ctr">
              <a:lnSpc>
                <a:spcPct val="100000"/>
              </a:lnSpc>
            </a:pPr>
            <a:r>
              <a:rPr sz="1500" b="0" i="0">
                <a:solidFill>
                  <a:srgbClr val="9FB4CC"/>
                </a:solidFill>
                <a:latin typeface="Barlow"/>
              </a:rPr>
              <a:t>producto</a:t>
            </a:r>
          </a:p>
        </p:txBody>
      </p:sp>
      <p:sp>
        <p:nvSpPr>
          <p:cNvPr id="91" name="TextBox 90"/>
          <p:cNvSpPr txBox="1"/>
          <p:nvPr/>
        </p:nvSpPr>
        <p:spPr>
          <a:xfrm>
            <a:off x="1181100" y="6076950"/>
            <a:ext cx="1619250" cy="428625"/>
          </a:xfrm>
          <a:prstGeom prst="rect">
            <a:avLst/>
          </a:prstGeom>
          <a:noFill/>
        </p:spPr>
        <p:txBody>
          <a:bodyPr wrap="square" lIns="0" rIns="0" tIns="0" bIns="0" anchor="t">
            <a:spAutoFit/>
          </a:bodyPr>
          <a:lstStyle/>
          <a:p>
            <a:pPr algn="l">
              <a:lnSpc>
                <a:spcPct val="83300"/>
              </a:lnSpc>
            </a:pPr>
            <a:r>
              <a:rPr sz="2700" b="1" i="0">
                <a:solidFill>
                  <a:srgbClr val="FFD21F"/>
                </a:solidFill>
                <a:latin typeface="Montserrat"/>
              </a:rPr>
              <a:t>20,92%</a:t>
            </a:r>
          </a:p>
        </p:txBody>
      </p:sp>
      <p:sp>
        <p:nvSpPr>
          <p:cNvPr id="92" name="TextBox 91"/>
          <p:cNvSpPr txBox="1"/>
          <p:nvPr/>
        </p:nvSpPr>
        <p:spPr>
          <a:xfrm>
            <a:off x="2819400" y="6153150"/>
            <a:ext cx="3162300" cy="28575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filas en pares repetidos</a:t>
            </a:r>
          </a:p>
        </p:txBody>
      </p:sp>
      <p:sp>
        <p:nvSpPr>
          <p:cNvPr id="93" name="Rectangle 92"/>
          <p:cNvSpPr/>
          <p:nvPr/>
        </p:nvSpPr>
        <p:spPr>
          <a:xfrm>
            <a:off x="1181100" y="6572250"/>
            <a:ext cx="4800600" cy="952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181100" y="6572250"/>
            <a:ext cx="1004286" cy="952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181100" y="6877050"/>
            <a:ext cx="1619250" cy="428625"/>
          </a:xfrm>
          <a:prstGeom prst="rect">
            <a:avLst/>
          </a:prstGeom>
          <a:noFill/>
        </p:spPr>
        <p:txBody>
          <a:bodyPr wrap="square" lIns="0" rIns="0" tIns="0" bIns="0" anchor="t">
            <a:spAutoFit/>
          </a:bodyPr>
          <a:lstStyle/>
          <a:p>
            <a:pPr algn="l">
              <a:lnSpc>
                <a:spcPct val="83300"/>
              </a:lnSpc>
            </a:pPr>
            <a:r>
              <a:rPr sz="2700" b="1" i="0">
                <a:solidFill>
                  <a:srgbClr val="FFD21F"/>
                </a:solidFill>
                <a:latin typeface="Montserrat"/>
              </a:rPr>
              <a:t>11</a:t>
            </a:r>
          </a:p>
        </p:txBody>
      </p:sp>
      <p:sp>
        <p:nvSpPr>
          <p:cNvPr id="96" name="TextBox 95"/>
          <p:cNvSpPr txBox="1"/>
          <p:nvPr/>
        </p:nvSpPr>
        <p:spPr>
          <a:xfrm>
            <a:off x="2819400" y="6953250"/>
            <a:ext cx="3162300" cy="28575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meses distintos para un par</a:t>
            </a:r>
          </a:p>
        </p:txBody>
      </p:sp>
      <p:sp>
        <p:nvSpPr>
          <p:cNvPr id="97" name="Oval 96"/>
          <p:cNvSpPr/>
          <p:nvPr/>
        </p:nvSpPr>
        <p:spPr>
          <a:xfrm>
            <a:off x="12954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69545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0955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49555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8956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29565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6957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09575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4958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89585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295900" y="7400925"/>
            <a:ext cx="171450" cy="1714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695950" y="7400925"/>
            <a:ext cx="171450" cy="171450"/>
          </a:xfrm>
          <a:prstGeom prst="ellipse">
            <a:avLst/>
          </a:prstGeom>
          <a:solidFill>
            <a:srgbClr val="0F2C52"/>
          </a:solidFill>
          <a:ln w="14287">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743700" y="3733800"/>
            <a:ext cx="4800600" cy="857250"/>
          </a:xfrm>
          <a:prstGeom prst="rect">
            <a:avLst/>
          </a:prstGeom>
          <a:noFill/>
        </p:spPr>
        <p:txBody>
          <a:bodyPr wrap="square" lIns="0" rIns="0" tIns="0" bIns="0" anchor="t">
            <a:spAutoFit/>
          </a:bodyPr>
          <a:lstStyle/>
          <a:p>
            <a:pPr algn="l">
              <a:lnSpc>
                <a:spcPct val="83300"/>
              </a:lnSpc>
            </a:pPr>
            <a:r>
              <a:rPr sz="5400" b="1" i="0">
                <a:solidFill>
                  <a:srgbClr val="FFD21F"/>
                </a:solidFill>
                <a:latin typeface="Montserrat"/>
              </a:rPr>
              <a:t>90,19%</a:t>
            </a:r>
          </a:p>
        </p:txBody>
      </p:sp>
      <p:sp>
        <p:nvSpPr>
          <p:cNvPr id="110" name="TextBox 109"/>
          <p:cNvSpPr txBox="1"/>
          <p:nvPr/>
        </p:nvSpPr>
        <p:spPr>
          <a:xfrm>
            <a:off x="6743700" y="4591050"/>
            <a:ext cx="4800600" cy="28575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títulos con token tipo código</a:t>
            </a:r>
          </a:p>
        </p:txBody>
      </p:sp>
      <p:sp>
        <p:nvSpPr>
          <p:cNvPr id="111" name="Rounded Rectangle 110"/>
          <p:cNvSpPr/>
          <p:nvPr/>
        </p:nvSpPr>
        <p:spPr>
          <a:xfrm>
            <a:off x="6743700" y="5162550"/>
            <a:ext cx="4800600" cy="1028700"/>
          </a:xfrm>
          <a:prstGeom prst="roundRect">
            <a:avLst>
              <a:gd name="adj" fmla="val 555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6934200" y="5314950"/>
            <a:ext cx="4419600" cy="800100"/>
          </a:xfrm>
          <a:prstGeom prst="rect">
            <a:avLst/>
          </a:prstGeom>
          <a:noFill/>
        </p:spPr>
        <p:txBody>
          <a:bodyPr wrap="square" lIns="0" rIns="0" tIns="0" bIns="0" anchor="t">
            <a:spAutoFit/>
          </a:bodyPr>
          <a:lstStyle/>
          <a:p>
            <a:pPr algn="l">
              <a:lnSpc>
                <a:spcPct val="112500"/>
              </a:lnSpc>
            </a:pPr>
            <a:r>
              <a:rPr sz="1800" b="0" i="0">
                <a:solidFill>
                  <a:srgbClr val="F3F7FC"/>
                </a:solidFill>
                <a:latin typeface="Roboto Mono"/>
              </a:rPr>
              <a:t>Philips — </a:t>
            </a:r>
            <a:r>
              <a:rPr sz="1800" b="0" i="0">
                <a:solidFill>
                  <a:srgbClr val="FFD21F"/>
                </a:solidFill>
                <a:latin typeface="Roboto Mono"/>
              </a:rPr>
              <a:t>P21 / 5W</a:t>
            </a:r>
            <a:r>
              <a:rPr sz="1800" b="0" i="0">
                <a:solidFill>
                  <a:srgbClr val="F3F7FC"/>
                </a:solidFill>
                <a:latin typeface="Roboto Mono"/>
              </a:rPr>
              <a:t> | GU 10;</a:t>
            </a:r>
          </a:p>
          <a:p>
            <a:pPr algn="l">
              <a:lnSpc>
                <a:spcPct val="112500"/>
              </a:lnSpc>
            </a:pPr>
            <a:r>
              <a:rPr sz="1800" b="0" i="0">
                <a:solidFill>
                  <a:srgbClr val="F3F7FC"/>
                </a:solidFill>
                <a:latin typeface="Roboto Mono"/>
              </a:rPr>
              <a:t>12 V; 4000 K; 55"</a:t>
            </a:r>
          </a:p>
        </p:txBody>
      </p:sp>
      <p:sp>
        <p:nvSpPr>
          <p:cNvPr id="113" name="TextBox 112"/>
          <p:cNvSpPr txBox="1"/>
          <p:nvPr/>
        </p:nvSpPr>
        <p:spPr>
          <a:xfrm>
            <a:off x="6743700" y="6781800"/>
            <a:ext cx="1619250" cy="428625"/>
          </a:xfrm>
          <a:prstGeom prst="rect">
            <a:avLst/>
          </a:prstGeom>
          <a:noFill/>
        </p:spPr>
        <p:txBody>
          <a:bodyPr wrap="square" lIns="0" rIns="0" tIns="0" bIns="0" anchor="t">
            <a:spAutoFit/>
          </a:bodyPr>
          <a:lstStyle/>
          <a:p>
            <a:pPr algn="l">
              <a:lnSpc>
                <a:spcPct val="83300"/>
              </a:lnSpc>
            </a:pPr>
            <a:r>
              <a:rPr sz="2700" b="1" i="0">
                <a:solidFill>
                  <a:srgbClr val="FFD21F"/>
                </a:solidFill>
                <a:latin typeface="Montserrat"/>
              </a:rPr>
              <a:t>58,97%</a:t>
            </a:r>
          </a:p>
        </p:txBody>
      </p:sp>
      <p:sp>
        <p:nvSpPr>
          <p:cNvPr id="114" name="TextBox 113"/>
          <p:cNvSpPr txBox="1"/>
          <p:nvPr/>
        </p:nvSpPr>
        <p:spPr>
          <a:xfrm>
            <a:off x="8382000" y="6858000"/>
            <a:ext cx="3162300" cy="28575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reproducen el id oficial</a:t>
            </a:r>
          </a:p>
        </p:txBody>
      </p:sp>
      <p:sp>
        <p:nvSpPr>
          <p:cNvPr id="115" name="Rectangle 114"/>
          <p:cNvSpPr/>
          <p:nvPr/>
        </p:nvSpPr>
        <p:spPr>
          <a:xfrm>
            <a:off x="6743700" y="7277100"/>
            <a:ext cx="4800600" cy="952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743700" y="7277100"/>
            <a:ext cx="2830914" cy="952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12306300" y="3790950"/>
            <a:ext cx="800100" cy="800100"/>
          </a:xfrm>
          <a:prstGeom prst="roundRect">
            <a:avLst>
              <a:gd name="adj" fmla="val 7142"/>
            </a:avLst>
          </a:prstGeom>
          <a:solidFill>
            <a:srgbClr val="0F2C52"/>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12306300" y="3790950"/>
            <a:ext cx="800100" cy="800100"/>
          </a:xfrm>
          <a:prstGeom prst="rect">
            <a:avLst/>
          </a:prstGeom>
          <a:noFill/>
        </p:spPr>
        <p:txBody>
          <a:bodyPr wrap="none" lIns="0" rIns="0" tIns="0" bIns="0" anchor="ctr">
            <a:spAutoFit/>
          </a:bodyPr>
          <a:lstStyle/>
          <a:p>
            <a:pPr algn="ctr">
              <a:lnSpc>
                <a:spcPct val="100000"/>
              </a:lnSpc>
            </a:pPr>
            <a:r>
              <a:rPr sz="3450" b="1" i="0">
                <a:solidFill>
                  <a:srgbClr val="FFD21F"/>
                </a:solidFill>
                <a:latin typeface="Roboto Mono"/>
              </a:rPr>
              <a:t>/</a:t>
            </a:r>
          </a:p>
        </p:txBody>
      </p:sp>
      <p:sp>
        <p:nvSpPr>
          <p:cNvPr id="119" name="TextBox 118"/>
          <p:cNvSpPr txBox="1"/>
          <p:nvPr/>
        </p:nvSpPr>
        <p:spPr>
          <a:xfrm>
            <a:off x="13335000" y="3752850"/>
            <a:ext cx="1714500" cy="404812"/>
          </a:xfrm>
          <a:prstGeom prst="rect">
            <a:avLst/>
          </a:prstGeom>
          <a:noFill/>
        </p:spPr>
        <p:txBody>
          <a:bodyPr wrap="square" lIns="0" rIns="0" tIns="0" bIns="0" anchor="t">
            <a:spAutoFit/>
          </a:bodyPr>
          <a:lstStyle/>
          <a:p>
            <a:pPr algn="l">
              <a:lnSpc>
                <a:spcPct val="83300"/>
              </a:lnSpc>
            </a:pPr>
            <a:r>
              <a:rPr sz="2550" b="1" i="0">
                <a:solidFill>
                  <a:srgbClr val="FFD21F"/>
                </a:solidFill>
                <a:latin typeface="Montserrat"/>
              </a:rPr>
              <a:t>65,70%</a:t>
            </a:r>
          </a:p>
        </p:txBody>
      </p:sp>
      <p:sp>
        <p:nvSpPr>
          <p:cNvPr id="120" name="TextBox 119"/>
          <p:cNvSpPr txBox="1"/>
          <p:nvPr/>
        </p:nvSpPr>
        <p:spPr>
          <a:xfrm>
            <a:off x="13335000" y="4191000"/>
            <a:ext cx="3771900" cy="266700"/>
          </a:xfrm>
          <a:prstGeom prst="rect">
            <a:avLst/>
          </a:prstGeom>
          <a:noFill/>
        </p:spPr>
        <p:txBody>
          <a:bodyPr wrap="square" lIns="0" rIns="0" tIns="0" bIns="0" anchor="t">
            <a:spAutoFit/>
          </a:bodyPr>
          <a:lstStyle/>
          <a:p>
            <a:pPr algn="l">
              <a:lnSpc>
                <a:spcPct val="100000"/>
              </a:lnSpc>
            </a:pPr>
            <a:r>
              <a:rPr sz="1575" b="0" i="0">
                <a:solidFill>
                  <a:srgbClr val="F3F7FC"/>
                </a:solidFill>
                <a:latin typeface="Barlow"/>
              </a:rPr>
              <a:t>separa variantes de código</a:t>
            </a:r>
          </a:p>
        </p:txBody>
      </p:sp>
      <p:sp>
        <p:nvSpPr>
          <p:cNvPr id="121" name="Rectangle 120"/>
          <p:cNvSpPr/>
          <p:nvPr/>
        </p:nvSpPr>
        <p:spPr>
          <a:xfrm>
            <a:off x="13335000" y="4514850"/>
            <a:ext cx="3771900" cy="762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3335000" y="4514850"/>
            <a:ext cx="2478138" cy="76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12306300" y="5181600"/>
            <a:ext cx="800100" cy="800100"/>
          </a:xfrm>
          <a:prstGeom prst="roundRect">
            <a:avLst>
              <a:gd name="adj" fmla="val 7142"/>
            </a:avLst>
          </a:prstGeom>
          <a:solidFill>
            <a:srgbClr val="0F2C52"/>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2306300" y="5181600"/>
            <a:ext cx="800100" cy="800100"/>
          </a:xfrm>
          <a:prstGeom prst="rect">
            <a:avLst/>
          </a:prstGeom>
          <a:noFill/>
        </p:spPr>
        <p:txBody>
          <a:bodyPr wrap="none" lIns="0" rIns="0" tIns="0" bIns="0" anchor="ctr">
            <a:spAutoFit/>
          </a:bodyPr>
          <a:lstStyle/>
          <a:p>
            <a:pPr algn="ctr">
              <a:lnSpc>
                <a:spcPct val="100000"/>
              </a:lnSpc>
            </a:pPr>
            <a:r>
              <a:rPr sz="3450" b="1" i="0">
                <a:solidFill>
                  <a:srgbClr val="FFD21F"/>
                </a:solidFill>
                <a:latin typeface="Roboto Mono"/>
              </a:rPr>
              <a:t>"</a:t>
            </a:r>
          </a:p>
        </p:txBody>
      </p:sp>
      <p:sp>
        <p:nvSpPr>
          <p:cNvPr id="125" name="TextBox 124"/>
          <p:cNvSpPr txBox="1"/>
          <p:nvPr/>
        </p:nvSpPr>
        <p:spPr>
          <a:xfrm>
            <a:off x="13335000" y="5143500"/>
            <a:ext cx="1714500" cy="404812"/>
          </a:xfrm>
          <a:prstGeom prst="rect">
            <a:avLst/>
          </a:prstGeom>
          <a:noFill/>
        </p:spPr>
        <p:txBody>
          <a:bodyPr wrap="square" lIns="0" rIns="0" tIns="0" bIns="0" anchor="t">
            <a:spAutoFit/>
          </a:bodyPr>
          <a:lstStyle/>
          <a:p>
            <a:pPr algn="l">
              <a:lnSpc>
                <a:spcPct val="83300"/>
              </a:lnSpc>
            </a:pPr>
            <a:r>
              <a:rPr sz="2550" b="1" i="0">
                <a:solidFill>
                  <a:srgbClr val="FFD21F"/>
                </a:solidFill>
                <a:latin typeface="Montserrat"/>
              </a:rPr>
              <a:t>11,02%</a:t>
            </a:r>
          </a:p>
        </p:txBody>
      </p:sp>
      <p:sp>
        <p:nvSpPr>
          <p:cNvPr id="126" name="TextBox 125"/>
          <p:cNvSpPr txBox="1"/>
          <p:nvPr/>
        </p:nvSpPr>
        <p:spPr>
          <a:xfrm>
            <a:off x="13335000" y="5581650"/>
            <a:ext cx="3771900" cy="266700"/>
          </a:xfrm>
          <a:prstGeom prst="rect">
            <a:avLst/>
          </a:prstGeom>
          <a:noFill/>
        </p:spPr>
        <p:txBody>
          <a:bodyPr wrap="square" lIns="0" rIns="0" tIns="0" bIns="0" anchor="t">
            <a:spAutoFit/>
          </a:bodyPr>
          <a:lstStyle/>
          <a:p>
            <a:pPr algn="l">
              <a:lnSpc>
                <a:spcPct val="100000"/>
              </a:lnSpc>
            </a:pPr>
            <a:r>
              <a:rPr sz="1575" b="0" i="0">
                <a:solidFill>
                  <a:srgbClr val="F3F7FC"/>
                </a:solidFill>
                <a:latin typeface="Barlow"/>
              </a:rPr>
              <a:t>comillas que marcan pulgadas</a:t>
            </a:r>
          </a:p>
        </p:txBody>
      </p:sp>
      <p:sp>
        <p:nvSpPr>
          <p:cNvPr id="127" name="Rectangle 126"/>
          <p:cNvSpPr/>
          <p:nvPr/>
        </p:nvSpPr>
        <p:spPr>
          <a:xfrm>
            <a:off x="13335000" y="5905500"/>
            <a:ext cx="3771900" cy="762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13335000" y="5905500"/>
            <a:ext cx="415663" cy="76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12306300" y="6572250"/>
            <a:ext cx="800100" cy="800100"/>
          </a:xfrm>
          <a:prstGeom prst="roundRect">
            <a:avLst>
              <a:gd name="adj" fmla="val 7142"/>
            </a:avLst>
          </a:prstGeom>
          <a:solidFill>
            <a:srgbClr val="0F2C52"/>
          </a:solidFill>
          <a:ln w="14287">
            <a:solidFill>
              <a:srgbClr val="FFD21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12306300" y="6572250"/>
            <a:ext cx="800100" cy="800100"/>
          </a:xfrm>
          <a:prstGeom prst="rect">
            <a:avLst/>
          </a:prstGeom>
          <a:noFill/>
        </p:spPr>
        <p:txBody>
          <a:bodyPr wrap="none" lIns="0" rIns="0" tIns="0" bIns="0" anchor="ctr">
            <a:spAutoFit/>
          </a:bodyPr>
          <a:lstStyle/>
          <a:p>
            <a:pPr algn="ctr">
              <a:lnSpc>
                <a:spcPct val="100000"/>
              </a:lnSpc>
            </a:pPr>
            <a:r>
              <a:rPr sz="3450" b="1" i="0">
                <a:solidFill>
                  <a:srgbClr val="FFD21F"/>
                </a:solidFill>
                <a:latin typeface="Roboto Mono"/>
              </a:rPr>
              <a:t>Ж</a:t>
            </a:r>
          </a:p>
        </p:txBody>
      </p:sp>
      <p:sp>
        <p:nvSpPr>
          <p:cNvPr id="131" name="TextBox 130"/>
          <p:cNvSpPr txBox="1"/>
          <p:nvPr/>
        </p:nvSpPr>
        <p:spPr>
          <a:xfrm>
            <a:off x="13335000" y="6534150"/>
            <a:ext cx="1714500" cy="404812"/>
          </a:xfrm>
          <a:prstGeom prst="rect">
            <a:avLst/>
          </a:prstGeom>
          <a:noFill/>
        </p:spPr>
        <p:txBody>
          <a:bodyPr wrap="square" lIns="0" rIns="0" tIns="0" bIns="0" anchor="t">
            <a:spAutoFit/>
          </a:bodyPr>
          <a:lstStyle/>
          <a:p>
            <a:pPr algn="l">
              <a:lnSpc>
                <a:spcPct val="83300"/>
              </a:lnSpc>
            </a:pPr>
            <a:r>
              <a:rPr sz="2550" b="1" i="0">
                <a:solidFill>
                  <a:srgbClr val="FFD21F"/>
                </a:solidFill>
                <a:latin typeface="Montserrat"/>
              </a:rPr>
              <a:t>13,60%</a:t>
            </a:r>
          </a:p>
        </p:txBody>
      </p:sp>
      <p:sp>
        <p:nvSpPr>
          <p:cNvPr id="132" name="TextBox 131"/>
          <p:cNvSpPr txBox="1"/>
          <p:nvPr/>
        </p:nvSpPr>
        <p:spPr>
          <a:xfrm>
            <a:off x="13335000" y="6972300"/>
            <a:ext cx="3771900" cy="266700"/>
          </a:xfrm>
          <a:prstGeom prst="rect">
            <a:avLst/>
          </a:prstGeom>
          <a:noFill/>
        </p:spPr>
        <p:txBody>
          <a:bodyPr wrap="square" lIns="0" rIns="0" tIns="0" bIns="0" anchor="t">
            <a:spAutoFit/>
          </a:bodyPr>
          <a:lstStyle/>
          <a:p>
            <a:pPr algn="l">
              <a:lnSpc>
                <a:spcPct val="100000"/>
              </a:lnSpc>
            </a:pPr>
            <a:r>
              <a:rPr sz="1575" b="0" i="0">
                <a:solidFill>
                  <a:srgbClr val="F3F7FC"/>
                </a:solidFill>
                <a:latin typeface="Barlow"/>
              </a:rPr>
              <a:t>texto en alfabeto no latino</a:t>
            </a:r>
          </a:p>
        </p:txBody>
      </p:sp>
      <p:sp>
        <p:nvSpPr>
          <p:cNvPr id="133" name="Rectangle 132"/>
          <p:cNvSpPr/>
          <p:nvPr/>
        </p:nvSpPr>
        <p:spPr>
          <a:xfrm>
            <a:off x="13335000" y="7296150"/>
            <a:ext cx="3771900" cy="762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13335000" y="7296150"/>
            <a:ext cx="512978" cy="76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OE3 · PIPELINE DE PROCESAMIENTO TEXTUAL · NORMALIZACIÓN DEL TEXTO</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Cinco fuentes, un solo pipeline</a:t>
            </a:r>
          </a:p>
        </p:txBody>
      </p:sp>
      <p:sp>
        <p:nvSpPr>
          <p:cNvPr id="9" name="TextBox 8"/>
          <p:cNvSpPr txBox="1"/>
          <p:nvPr/>
        </p:nvSpPr>
        <p:spPr>
          <a:xfrm>
            <a:off x="914400" y="2590800"/>
            <a:ext cx="31051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CINCO PREPARADORES</a:t>
            </a:r>
          </a:p>
        </p:txBody>
      </p:sp>
      <p:sp>
        <p:nvSpPr>
          <p:cNvPr id="10" name="Rounded Rectangle 9"/>
          <p:cNvSpPr/>
          <p:nvPr/>
        </p:nvSpPr>
        <p:spPr>
          <a:xfrm>
            <a:off x="914400" y="2952750"/>
            <a:ext cx="272415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2952750"/>
            <a:ext cx="2724150" cy="4191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prepare_match</a:t>
            </a:r>
          </a:p>
        </p:txBody>
      </p:sp>
      <p:cxnSp>
        <p:nvCxnSpPr>
          <p:cNvPr id="12" name="Connector 11"/>
          <p:cNvCxnSpPr/>
          <p:nvPr/>
        </p:nvCxnSpPr>
        <p:spPr>
          <a:xfrm>
            <a:off x="3638550" y="3162300"/>
            <a:ext cx="26670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3505200"/>
            <a:ext cx="272415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505200"/>
            <a:ext cx="2724150" cy="4191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prepare_hidden</a:t>
            </a:r>
          </a:p>
        </p:txBody>
      </p:sp>
      <p:cxnSp>
        <p:nvCxnSpPr>
          <p:cNvPr id="15" name="Connector 14"/>
          <p:cNvCxnSpPr/>
          <p:nvPr/>
        </p:nvCxnSpPr>
        <p:spPr>
          <a:xfrm>
            <a:off x="3638550" y="3714750"/>
            <a:ext cx="26670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4400" y="4057650"/>
            <a:ext cx="272415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4057650"/>
            <a:ext cx="2724150" cy="4191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prepare_nic</a:t>
            </a:r>
          </a:p>
        </p:txBody>
      </p:sp>
      <p:cxnSp>
        <p:nvCxnSpPr>
          <p:cNvPr id="18" name="Connector 17"/>
          <p:cNvCxnSpPr/>
          <p:nvPr/>
        </p:nvCxnSpPr>
        <p:spPr>
          <a:xfrm>
            <a:off x="3638550" y="4267200"/>
            <a:ext cx="26670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4400" y="4610100"/>
            <a:ext cx="272415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4610100"/>
            <a:ext cx="2724150" cy="4191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prepare_catalog</a:t>
            </a:r>
          </a:p>
        </p:txBody>
      </p:sp>
      <p:cxnSp>
        <p:nvCxnSpPr>
          <p:cNvPr id="21" name="Connector 20"/>
          <p:cNvCxnSpPr/>
          <p:nvPr/>
        </p:nvCxnSpPr>
        <p:spPr>
          <a:xfrm>
            <a:off x="3638550" y="4819650"/>
            <a:ext cx="26670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4400" y="5162550"/>
            <a:ext cx="272415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5162550"/>
            <a:ext cx="2724150" cy="4191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prepare_retailer_input</a:t>
            </a:r>
          </a:p>
        </p:txBody>
      </p:sp>
      <p:cxnSp>
        <p:nvCxnSpPr>
          <p:cNvPr id="24" name="Connector 23"/>
          <p:cNvCxnSpPr/>
          <p:nvPr/>
        </p:nvCxnSpPr>
        <p:spPr>
          <a:xfrm>
            <a:off x="3638550" y="5372100"/>
            <a:ext cx="26670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05250" y="3162300"/>
            <a:ext cx="0" cy="220980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26" name="Right Arrow 25"/>
          <p:cNvSpPr/>
          <p:nvPr/>
        </p:nvSpPr>
        <p:spPr>
          <a:xfrm>
            <a:off x="3905250" y="4124325"/>
            <a:ext cx="55245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33900" y="2667000"/>
            <a:ext cx="9639300" cy="320040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533900" y="2667000"/>
            <a:ext cx="96393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quinero"/>
          <p:cNvSpPr/>
          <p:nvPr/>
        </p:nvSpPr>
        <p:spPr>
          <a:xfrm>
            <a:off x="4438650" y="25717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squinero"/>
          <p:cNvSpPr/>
          <p:nvPr/>
        </p:nvSpPr>
        <p:spPr>
          <a:xfrm>
            <a:off x="4438650" y="25717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squinero"/>
          <p:cNvSpPr/>
          <p:nvPr/>
        </p:nvSpPr>
        <p:spPr>
          <a:xfrm>
            <a:off x="13944600" y="25717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squinero"/>
          <p:cNvSpPr/>
          <p:nvPr/>
        </p:nvSpPr>
        <p:spPr>
          <a:xfrm>
            <a:off x="14239875" y="25717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squinero"/>
          <p:cNvSpPr/>
          <p:nvPr/>
        </p:nvSpPr>
        <p:spPr>
          <a:xfrm>
            <a:off x="4438650" y="5638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squinero"/>
          <p:cNvSpPr/>
          <p:nvPr/>
        </p:nvSpPr>
        <p:spPr>
          <a:xfrm>
            <a:off x="4438650" y="59340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squinero"/>
          <p:cNvSpPr/>
          <p:nvPr/>
        </p:nvSpPr>
        <p:spPr>
          <a:xfrm>
            <a:off x="14239875" y="5638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Esquinero"/>
          <p:cNvSpPr/>
          <p:nvPr/>
        </p:nvSpPr>
        <p:spPr>
          <a:xfrm>
            <a:off x="13944600" y="59340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838700" y="2895600"/>
            <a:ext cx="5715000" cy="381000"/>
          </a:xfrm>
          <a:prstGeom prst="rect">
            <a:avLst/>
          </a:prstGeom>
          <a:noFill/>
        </p:spPr>
        <p:txBody>
          <a:bodyPr wrap="square" lIns="0" rIns="0" tIns="0" bIns="0" anchor="t">
            <a:spAutoFit/>
          </a:bodyPr>
          <a:lstStyle/>
          <a:p>
            <a:pPr algn="l">
              <a:lnSpc>
                <a:spcPct val="95800"/>
              </a:lnSpc>
            </a:pPr>
            <a:r>
              <a:rPr sz="2100" b="1" i="0">
                <a:solidFill>
                  <a:srgbClr val="FFD21F"/>
                </a:solidFill>
                <a:latin typeface="Montserrat"/>
              </a:rPr>
              <a:t>El pipeline genérico único</a:t>
            </a:r>
          </a:p>
        </p:txBody>
      </p:sp>
      <p:sp>
        <p:nvSpPr>
          <p:cNvPr id="38" name="Rounded Rectangle 37"/>
          <p:cNvSpPr/>
          <p:nvPr/>
        </p:nvSpPr>
        <p:spPr>
          <a:xfrm>
            <a:off x="11658600" y="2905125"/>
            <a:ext cx="2209800" cy="361950"/>
          </a:xfrm>
          <a:prstGeom prst="roundRect">
            <a:avLst>
              <a:gd name="adj" fmla="val 15789"/>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1658600" y="2905125"/>
            <a:ext cx="2209800" cy="3619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19 pasos · v1.3.1</a:t>
            </a:r>
          </a:p>
        </p:txBody>
      </p:sp>
      <p:sp>
        <p:nvSpPr>
          <p:cNvPr id="40" name="TextBox 39"/>
          <p:cNvSpPr txBox="1"/>
          <p:nvPr/>
        </p:nvSpPr>
        <p:spPr>
          <a:xfrm>
            <a:off x="4838700" y="3409950"/>
            <a:ext cx="5715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FUNCIONES PRINCIPALES</a:t>
            </a:r>
          </a:p>
        </p:txBody>
      </p:sp>
      <p:sp>
        <p:nvSpPr>
          <p:cNvPr id="41" name="Rounded Rectangle 40"/>
          <p:cNvSpPr/>
          <p:nvPr/>
        </p:nvSpPr>
        <p:spPr>
          <a:xfrm>
            <a:off x="4838700" y="3733800"/>
            <a:ext cx="1027212"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838700" y="3733800"/>
            <a:ext cx="1027212"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as_text</a:t>
            </a:r>
          </a:p>
        </p:txBody>
      </p:sp>
      <p:sp>
        <p:nvSpPr>
          <p:cNvPr id="43" name="Isosceles Triangle 42"/>
          <p:cNvSpPr/>
          <p:nvPr/>
        </p:nvSpPr>
        <p:spPr>
          <a:xfrm rot="5400000">
            <a:off x="6008787" y="3867150"/>
            <a:ext cx="133350" cy="152400"/>
          </a:xfrm>
          <a:prstGeom prst="triangle">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85012" y="3733800"/>
            <a:ext cx="146179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285012" y="3733800"/>
            <a:ext cx="1461790"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decode_html</a:t>
            </a:r>
          </a:p>
        </p:txBody>
      </p:sp>
      <p:sp>
        <p:nvSpPr>
          <p:cNvPr id="46" name="Isosceles Triangle 45"/>
          <p:cNvSpPr/>
          <p:nvPr/>
        </p:nvSpPr>
        <p:spPr>
          <a:xfrm rot="5400000">
            <a:off x="7889677" y="3867150"/>
            <a:ext cx="133350" cy="152400"/>
          </a:xfrm>
          <a:prstGeom prst="triangle">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165902" y="3733800"/>
            <a:ext cx="2113657"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165902" y="3733800"/>
            <a:ext cx="2113657"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normalize_unicode</a:t>
            </a:r>
          </a:p>
        </p:txBody>
      </p:sp>
      <p:sp>
        <p:nvSpPr>
          <p:cNvPr id="49" name="Isosceles Triangle 48"/>
          <p:cNvSpPr/>
          <p:nvPr/>
        </p:nvSpPr>
        <p:spPr>
          <a:xfrm rot="5400000">
            <a:off x="10422434" y="3867150"/>
            <a:ext cx="133350" cy="152400"/>
          </a:xfrm>
          <a:prstGeom prst="triangle">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0698659" y="3733800"/>
            <a:ext cx="2330946"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698659" y="3733800"/>
            <a:ext cx="2330946"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normalize_technical</a:t>
            </a:r>
          </a:p>
        </p:txBody>
      </p:sp>
      <p:sp>
        <p:nvSpPr>
          <p:cNvPr id="52" name="Rounded Rectangle 51"/>
          <p:cNvSpPr/>
          <p:nvPr/>
        </p:nvSpPr>
        <p:spPr>
          <a:xfrm>
            <a:off x="4838700" y="4572000"/>
            <a:ext cx="1679079"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838700" y="4572000"/>
            <a:ext cx="1679079"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extract_codes</a:t>
            </a:r>
          </a:p>
        </p:txBody>
      </p:sp>
      <p:sp>
        <p:nvSpPr>
          <p:cNvPr id="54" name="Isosceles Triangle 53"/>
          <p:cNvSpPr/>
          <p:nvPr/>
        </p:nvSpPr>
        <p:spPr>
          <a:xfrm rot="5400000">
            <a:off x="6660654" y="4705350"/>
            <a:ext cx="133350" cy="152400"/>
          </a:xfrm>
          <a:prstGeom prst="triangle">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936879" y="4572000"/>
            <a:ext cx="2113657"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936879" y="4572000"/>
            <a:ext cx="2113657"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canonicalize_code</a:t>
            </a:r>
          </a:p>
        </p:txBody>
      </p:sp>
      <p:sp>
        <p:nvSpPr>
          <p:cNvPr id="57" name="Isosceles Triangle 56"/>
          <p:cNvSpPr/>
          <p:nvPr/>
        </p:nvSpPr>
        <p:spPr>
          <a:xfrm rot="5400000">
            <a:off x="9193411" y="4705350"/>
            <a:ext cx="133350" cy="152400"/>
          </a:xfrm>
          <a:prstGeom prst="triangle">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469636" y="4572000"/>
            <a:ext cx="1679079"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469636" y="4572000"/>
            <a:ext cx="1679079"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quality_flags</a:t>
            </a:r>
          </a:p>
        </p:txBody>
      </p:sp>
      <p:cxnSp>
        <p:nvCxnSpPr>
          <p:cNvPr id="60" name="Connector 59"/>
          <p:cNvCxnSpPr/>
          <p:nvPr/>
        </p:nvCxnSpPr>
        <p:spPr>
          <a:xfrm>
            <a:off x="11864132" y="4152900"/>
            <a:ext cx="0" cy="209550"/>
          </a:xfrm>
          <a:prstGeom prst="line">
            <a:avLst/>
          </a:prstGeom>
          <a:ln w="19050">
            <a:solidFill>
              <a:srgbClr val="9FB4C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678239" y="4362450"/>
            <a:ext cx="6185893" cy="0"/>
          </a:xfrm>
          <a:prstGeom prst="line">
            <a:avLst/>
          </a:prstGeom>
          <a:ln w="19050">
            <a:solidFill>
              <a:srgbClr val="9FB4C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678239" y="4362450"/>
            <a:ext cx="0" cy="190500"/>
          </a:xfrm>
          <a:prstGeom prst="line">
            <a:avLst/>
          </a:prstGeom>
          <a:ln w="19050">
            <a:solidFill>
              <a:srgbClr val="9FB4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838700" y="5181600"/>
            <a:ext cx="9029700" cy="57150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Lo único propio de cada fuente es qué columnas leer. De ahí en adelante, las mismas funciones — eso elimina el </a:t>
            </a:r>
            <a:r>
              <a:rPr sz="1650" b="0" i="1">
                <a:solidFill>
                  <a:srgbClr val="FFD21F"/>
                </a:solidFill>
                <a:latin typeface="Barlow"/>
              </a:rPr>
              <a:t>training-serving skew</a:t>
            </a:r>
            <a:r>
              <a:rPr sz="1650" b="0" i="0">
                <a:solidFill>
                  <a:srgbClr val="F3F7FC"/>
                </a:solidFill>
                <a:latin typeface="Barlow"/>
              </a:rPr>
              <a:t>.</a:t>
            </a:r>
          </a:p>
        </p:txBody>
      </p:sp>
      <p:sp>
        <p:nvSpPr>
          <p:cNvPr id="64" name="Right Arrow 63"/>
          <p:cNvSpPr/>
          <p:nvPr/>
        </p:nvSpPr>
        <p:spPr>
          <a:xfrm>
            <a:off x="14249400" y="4124325"/>
            <a:ext cx="514350" cy="2857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011400" y="2590800"/>
            <a:ext cx="23622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SALIDAS</a:t>
            </a:r>
          </a:p>
        </p:txBody>
      </p:sp>
      <p:sp>
        <p:nvSpPr>
          <p:cNvPr id="66" name="Rounded Rectangle 65"/>
          <p:cNvSpPr/>
          <p:nvPr/>
        </p:nvSpPr>
        <p:spPr>
          <a:xfrm>
            <a:off x="15011400" y="2952750"/>
            <a:ext cx="236220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5011400" y="2952750"/>
            <a:ext cx="2362200"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*_text</a:t>
            </a:r>
          </a:p>
        </p:txBody>
      </p:sp>
      <p:cxnSp>
        <p:nvCxnSpPr>
          <p:cNvPr id="68" name="Connector 67"/>
          <p:cNvCxnSpPr/>
          <p:nvPr/>
        </p:nvCxnSpPr>
        <p:spPr>
          <a:xfrm>
            <a:off x="14763750" y="3162300"/>
            <a:ext cx="24765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15011400" y="3505200"/>
            <a:ext cx="236220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5011400" y="3505200"/>
            <a:ext cx="2362200"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*_codes</a:t>
            </a:r>
          </a:p>
        </p:txBody>
      </p:sp>
      <p:cxnSp>
        <p:nvCxnSpPr>
          <p:cNvPr id="71" name="Connector 70"/>
          <p:cNvCxnSpPr/>
          <p:nvPr/>
        </p:nvCxnSpPr>
        <p:spPr>
          <a:xfrm>
            <a:off x="14763750" y="3714750"/>
            <a:ext cx="24765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5011400" y="4057650"/>
            <a:ext cx="236220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5011400" y="4057650"/>
            <a:ext cx="2362200" cy="4191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*_token_count</a:t>
            </a:r>
          </a:p>
        </p:txBody>
      </p:sp>
      <p:cxnSp>
        <p:nvCxnSpPr>
          <p:cNvPr id="74" name="Connector 73"/>
          <p:cNvCxnSpPr/>
          <p:nvPr/>
        </p:nvCxnSpPr>
        <p:spPr>
          <a:xfrm>
            <a:off x="14763750" y="4267200"/>
            <a:ext cx="24765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15011400" y="4610100"/>
            <a:ext cx="2362200" cy="419100"/>
          </a:xfrm>
          <a:prstGeom prst="roundRect">
            <a:avLst>
              <a:gd name="adj" fmla="val 1363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5011400" y="4610100"/>
            <a:ext cx="2362200" cy="419100"/>
          </a:xfrm>
          <a:prstGeom prst="rect">
            <a:avLst/>
          </a:prstGeom>
          <a:noFill/>
        </p:spPr>
        <p:txBody>
          <a:bodyPr wrap="none" lIns="0" rIns="0" tIns="0" bIns="0" anchor="ctr">
            <a:spAutoFit/>
          </a:bodyPr>
          <a:lstStyle/>
          <a:p>
            <a:pPr algn="ctr">
              <a:lnSpc>
                <a:spcPct val="100000"/>
              </a:lnSpc>
            </a:pPr>
            <a:r>
              <a:rPr sz="1500" b="0" i="0">
                <a:solidFill>
                  <a:srgbClr val="FFD21F"/>
                </a:solidFill>
                <a:latin typeface="Barlow"/>
              </a:rPr>
              <a:t>banderas de calidad</a:t>
            </a:r>
          </a:p>
        </p:txBody>
      </p:sp>
      <p:cxnSp>
        <p:nvCxnSpPr>
          <p:cNvPr id="77" name="Connector 76"/>
          <p:cNvCxnSpPr/>
          <p:nvPr/>
        </p:nvCxnSpPr>
        <p:spPr>
          <a:xfrm>
            <a:off x="14763750" y="4819650"/>
            <a:ext cx="247650" cy="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4763750" y="3162300"/>
            <a:ext cx="0" cy="1657350"/>
          </a:xfrm>
          <a:prstGeom prst="line">
            <a:avLst/>
          </a:prstGeom>
          <a:ln w="19050">
            <a:solidFill>
              <a:srgbClr val="2F7BFF"/>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4935200" y="5143500"/>
            <a:ext cx="2514600" cy="514350"/>
          </a:xfrm>
          <a:prstGeom prst="rect">
            <a:avLst/>
          </a:prstGeom>
          <a:noFill/>
        </p:spPr>
        <p:txBody>
          <a:bodyPr wrap="square" lIns="0" rIns="0" tIns="0" bIns="0" anchor="t">
            <a:spAutoFit/>
          </a:bodyPr>
          <a:lstStyle/>
          <a:p>
            <a:pPr algn="ctr">
              <a:lnSpc>
                <a:spcPct val="100000"/>
              </a:lnSpc>
            </a:pPr>
            <a:r>
              <a:rPr sz="1500" b="0" i="0">
                <a:solidFill>
                  <a:srgbClr val="9FB4CC"/>
                </a:solidFill>
                <a:latin typeface="Barlow"/>
              </a:rPr>
              <a:t>127.093 filas × 53 columnas</a:t>
            </a:r>
          </a:p>
          <a:p>
            <a:pPr algn="ctr">
              <a:lnSpc>
                <a:spcPct val="100000"/>
              </a:lnSpc>
            </a:pPr>
            <a:r>
              <a:rPr sz="1500" b="0" i="0">
                <a:solidFill>
                  <a:srgbClr val="9FB4CC"/>
                </a:solidFill>
                <a:latin typeface="Barlow"/>
              </a:rPr>
              <a:t>33,14 MiB</a:t>
            </a:r>
          </a:p>
        </p:txBody>
      </p:sp>
      <p:sp>
        <p:nvSpPr>
          <p:cNvPr id="80" name="TextBox 79"/>
          <p:cNvSpPr txBox="1"/>
          <p:nvPr/>
        </p:nvSpPr>
        <p:spPr>
          <a:xfrm>
            <a:off x="914400" y="6153150"/>
            <a:ext cx="9525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UN TÍTULO REAL ATRAVESANDO EL PIPELINE</a:t>
            </a:r>
          </a:p>
        </p:txBody>
      </p:sp>
      <p:sp>
        <p:nvSpPr>
          <p:cNvPr id="81" name="Rectangle 80"/>
          <p:cNvSpPr/>
          <p:nvPr/>
        </p:nvSpPr>
        <p:spPr>
          <a:xfrm>
            <a:off x="914400" y="6496050"/>
            <a:ext cx="16459200" cy="609600"/>
          </a:xfrm>
          <a:prstGeom prst="rect">
            <a:avLst/>
          </a:prstGeom>
          <a:solidFill>
            <a:srgbClr val="0C2445"/>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914400" y="6496050"/>
            <a:ext cx="57150" cy="609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181100" y="6581775"/>
            <a:ext cx="3143250" cy="247650"/>
          </a:xfrm>
          <a:prstGeom prst="rect">
            <a:avLst/>
          </a:prstGeom>
          <a:noFill/>
        </p:spPr>
        <p:txBody>
          <a:bodyPr wrap="square" lIns="0" rIns="0" tIns="0" bIns="0" anchor="t">
            <a:spAutoFit/>
          </a:bodyPr>
          <a:lstStyle/>
          <a:p>
            <a:pPr algn="l">
              <a:lnSpc>
                <a:spcPct val="100000"/>
              </a:lnSpc>
            </a:pPr>
            <a:r>
              <a:rPr sz="1425" b="1" i="0" spc="100">
                <a:solidFill>
                  <a:srgbClr val="F3F7FC"/>
                </a:solidFill>
                <a:latin typeface="Montserrat"/>
              </a:rPr>
              <a:t>CRUDO</a:t>
            </a:r>
          </a:p>
        </p:txBody>
      </p:sp>
      <p:sp>
        <p:nvSpPr>
          <p:cNvPr id="84" name="TextBox 83"/>
          <p:cNvSpPr txBox="1"/>
          <p:nvPr/>
        </p:nvSpPr>
        <p:spPr>
          <a:xfrm>
            <a:off x="1181100" y="6829425"/>
            <a:ext cx="3143250" cy="22860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como llega del portal</a:t>
            </a:r>
          </a:p>
        </p:txBody>
      </p:sp>
      <p:sp>
        <p:nvSpPr>
          <p:cNvPr id="85" name="TextBox 84"/>
          <p:cNvSpPr txBox="1"/>
          <p:nvPr/>
        </p:nvSpPr>
        <p:spPr>
          <a:xfrm>
            <a:off x="4572000" y="6496050"/>
            <a:ext cx="12534900" cy="609600"/>
          </a:xfrm>
          <a:prstGeom prst="rect">
            <a:avLst/>
          </a:prstGeom>
          <a:noFill/>
        </p:spPr>
        <p:txBody>
          <a:bodyPr wrap="square" lIns="0" rIns="0" tIns="0" bIns="0" anchor="ctr">
            <a:spAutoFit/>
          </a:bodyPr>
          <a:lstStyle/>
          <a:p>
            <a:pPr algn="l">
              <a:lnSpc>
                <a:spcPct val="100000"/>
              </a:lnSpc>
            </a:pPr>
            <a:r>
              <a:rPr sz="1950" b="0" i="0">
                <a:solidFill>
                  <a:srgbClr val="F3F7FC"/>
                </a:solidFill>
                <a:latin typeface="Roboto Mono"/>
              </a:rPr>
              <a:t>Philips — P21 </a:t>
            </a:r>
            <a:r>
              <a:rPr sz="1950" b="0" i="0">
                <a:solidFill>
                  <a:srgbClr val="FFD21F"/>
                </a:solidFill>
                <a:latin typeface="Roboto Mono"/>
              </a:rPr>
              <a:t>/</a:t>
            </a:r>
            <a:r>
              <a:rPr sz="1950" b="0" i="0">
                <a:solidFill>
                  <a:srgbClr val="F3F7FC"/>
                </a:solidFill>
                <a:latin typeface="Roboto Mono"/>
              </a:rPr>
              <a:t> 5W | GU 10; 12 V; 4000 K; 55</a:t>
            </a:r>
            <a:r>
              <a:rPr sz="1950" b="0" i="0">
                <a:solidFill>
                  <a:srgbClr val="FFD21F"/>
                </a:solidFill>
                <a:latin typeface="Roboto Mono"/>
              </a:rPr>
              <a:t>"</a:t>
            </a:r>
          </a:p>
        </p:txBody>
      </p:sp>
      <p:sp>
        <p:nvSpPr>
          <p:cNvPr id="86" name="Rectangle 85"/>
          <p:cNvSpPr/>
          <p:nvPr/>
        </p:nvSpPr>
        <p:spPr>
          <a:xfrm>
            <a:off x="914400" y="7200900"/>
            <a:ext cx="16459200" cy="609600"/>
          </a:xfrm>
          <a:prstGeom prst="rect">
            <a:avLst/>
          </a:prstGeom>
          <a:solidFill>
            <a:srgbClr val="0C2445"/>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914400" y="7200900"/>
            <a:ext cx="57150" cy="609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181100" y="7286625"/>
            <a:ext cx="3143250" cy="247650"/>
          </a:xfrm>
          <a:prstGeom prst="rect">
            <a:avLst/>
          </a:prstGeom>
          <a:noFill/>
        </p:spPr>
        <p:txBody>
          <a:bodyPr wrap="square" lIns="0" rIns="0" tIns="0" bIns="0" anchor="t">
            <a:spAutoFit/>
          </a:bodyPr>
          <a:lstStyle/>
          <a:p>
            <a:pPr algn="l">
              <a:lnSpc>
                <a:spcPct val="100000"/>
              </a:lnSpc>
            </a:pPr>
            <a:r>
              <a:rPr sz="1425" b="1" i="0" spc="100">
                <a:solidFill>
                  <a:srgbClr val="F3F7FC"/>
                </a:solidFill>
                <a:latin typeface="Montserrat"/>
              </a:rPr>
              <a:t>UNICODE NFKC</a:t>
            </a:r>
          </a:p>
        </p:txBody>
      </p:sp>
      <p:sp>
        <p:nvSpPr>
          <p:cNvPr id="89" name="TextBox 88"/>
          <p:cNvSpPr txBox="1"/>
          <p:nvPr/>
        </p:nvSpPr>
        <p:spPr>
          <a:xfrm>
            <a:off x="1181100" y="7534275"/>
            <a:ext cx="3143250" cy="22860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 casefold</a:t>
            </a:r>
          </a:p>
        </p:txBody>
      </p:sp>
      <p:sp>
        <p:nvSpPr>
          <p:cNvPr id="90" name="TextBox 89"/>
          <p:cNvSpPr txBox="1"/>
          <p:nvPr/>
        </p:nvSpPr>
        <p:spPr>
          <a:xfrm>
            <a:off x="4572000" y="7200900"/>
            <a:ext cx="12534900" cy="609600"/>
          </a:xfrm>
          <a:prstGeom prst="rect">
            <a:avLst/>
          </a:prstGeom>
          <a:noFill/>
        </p:spPr>
        <p:txBody>
          <a:bodyPr wrap="square" lIns="0" rIns="0" tIns="0" bIns="0" anchor="ctr">
            <a:spAutoFit/>
          </a:bodyPr>
          <a:lstStyle/>
          <a:p>
            <a:pPr algn="l">
              <a:lnSpc>
                <a:spcPct val="100000"/>
              </a:lnSpc>
            </a:pPr>
            <a:r>
              <a:rPr sz="1950" b="0" i="0">
                <a:solidFill>
                  <a:srgbClr val="F3F7FC"/>
                </a:solidFill>
                <a:latin typeface="Roboto Mono"/>
              </a:rPr>
              <a:t>philips — p21 </a:t>
            </a:r>
            <a:r>
              <a:rPr sz="1950" b="0" i="0">
                <a:solidFill>
                  <a:srgbClr val="FFD21F"/>
                </a:solidFill>
                <a:latin typeface="Roboto Mono"/>
              </a:rPr>
              <a:t>/</a:t>
            </a:r>
            <a:r>
              <a:rPr sz="1950" b="0" i="0">
                <a:solidFill>
                  <a:srgbClr val="F3F7FC"/>
                </a:solidFill>
                <a:latin typeface="Roboto Mono"/>
              </a:rPr>
              <a:t> 5w | gu 10; 12 v; 4000 k; 55</a:t>
            </a:r>
            <a:r>
              <a:rPr sz="1950" b="0" i="0">
                <a:solidFill>
                  <a:srgbClr val="FFD21F"/>
                </a:solidFill>
                <a:latin typeface="Roboto Mono"/>
              </a:rPr>
              <a:t>"</a:t>
            </a:r>
          </a:p>
        </p:txBody>
      </p:sp>
      <p:sp>
        <p:nvSpPr>
          <p:cNvPr id="91" name="Rectangle 90"/>
          <p:cNvSpPr/>
          <p:nvPr/>
        </p:nvSpPr>
        <p:spPr>
          <a:xfrm>
            <a:off x="914400" y="7905750"/>
            <a:ext cx="16459200" cy="609600"/>
          </a:xfrm>
          <a:prstGeom prst="rect">
            <a:avLst/>
          </a:prstGeom>
          <a:solidFill>
            <a:srgbClr val="0C2445"/>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914400" y="7905750"/>
            <a:ext cx="57150" cy="609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181100" y="7991475"/>
            <a:ext cx="3143250" cy="247650"/>
          </a:xfrm>
          <a:prstGeom prst="rect">
            <a:avLst/>
          </a:prstGeom>
          <a:noFill/>
        </p:spPr>
        <p:txBody>
          <a:bodyPr wrap="square" lIns="0" rIns="0" tIns="0" bIns="0" anchor="t">
            <a:spAutoFit/>
          </a:bodyPr>
          <a:lstStyle/>
          <a:p>
            <a:pPr algn="l">
              <a:lnSpc>
                <a:spcPct val="100000"/>
              </a:lnSpc>
            </a:pPr>
            <a:r>
              <a:rPr sz="1425" b="1" i="0" spc="100">
                <a:solidFill>
                  <a:srgbClr val="F3F7FC"/>
                </a:solidFill>
                <a:latin typeface="Montserrat"/>
              </a:rPr>
              <a:t>NORMALIZACIÓN TÉCNICA</a:t>
            </a:r>
          </a:p>
        </p:txBody>
      </p:sp>
      <p:sp>
        <p:nvSpPr>
          <p:cNvPr id="94" name="TextBox 93"/>
          <p:cNvSpPr txBox="1"/>
          <p:nvPr/>
        </p:nvSpPr>
        <p:spPr>
          <a:xfrm>
            <a:off x="1181100" y="8239125"/>
            <a:ext cx="3143250" cy="22860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10 reglas de dominio</a:t>
            </a:r>
          </a:p>
        </p:txBody>
      </p:sp>
      <p:sp>
        <p:nvSpPr>
          <p:cNvPr id="95" name="TextBox 94"/>
          <p:cNvSpPr txBox="1"/>
          <p:nvPr/>
        </p:nvSpPr>
        <p:spPr>
          <a:xfrm>
            <a:off x="4572000" y="7905750"/>
            <a:ext cx="12534900" cy="609600"/>
          </a:xfrm>
          <a:prstGeom prst="rect">
            <a:avLst/>
          </a:prstGeom>
          <a:noFill/>
        </p:spPr>
        <p:txBody>
          <a:bodyPr wrap="square" lIns="0" rIns="0" tIns="0" bIns="0" anchor="ctr">
            <a:spAutoFit/>
          </a:bodyPr>
          <a:lstStyle/>
          <a:p>
            <a:pPr algn="l">
              <a:lnSpc>
                <a:spcPct val="100000"/>
              </a:lnSpc>
            </a:pPr>
            <a:r>
              <a:rPr sz="1950" b="0" i="0">
                <a:solidFill>
                  <a:srgbClr val="F3F7FC"/>
                </a:solidFill>
                <a:latin typeface="Roboto Mono"/>
              </a:rPr>
              <a:t>philips p21</a:t>
            </a:r>
            <a:r>
              <a:rPr sz="1950" b="0" i="0">
                <a:solidFill>
                  <a:srgbClr val="FFD21F"/>
                </a:solidFill>
                <a:latin typeface="Roboto Mono"/>
              </a:rPr>
              <a:t>/</a:t>
            </a:r>
            <a:r>
              <a:rPr sz="1950" b="0" i="0">
                <a:solidFill>
                  <a:srgbClr val="F3F7FC"/>
                </a:solidFill>
                <a:latin typeface="Roboto Mono"/>
              </a:rPr>
              <a:t>5w gu10 12v 4000k 55</a:t>
            </a:r>
            <a:r>
              <a:rPr sz="1950" b="0" i="0">
                <a:solidFill>
                  <a:srgbClr val="FFD21F"/>
                </a:solidFill>
                <a:latin typeface="Roboto Mono"/>
              </a:rPr>
              <a:t>"</a:t>
            </a:r>
          </a:p>
        </p:txBody>
      </p:sp>
      <p:sp>
        <p:nvSpPr>
          <p:cNvPr id="96" name="Rectangle 95"/>
          <p:cNvSpPr/>
          <p:nvPr/>
        </p:nvSpPr>
        <p:spPr>
          <a:xfrm>
            <a:off x="914400" y="8610600"/>
            <a:ext cx="16459200" cy="609600"/>
          </a:xfrm>
          <a:prstGeom prst="rect">
            <a:avLst/>
          </a:prstGeom>
          <a:solidFill>
            <a:srgbClr val="0C2445"/>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914400" y="8610600"/>
            <a:ext cx="57150" cy="609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181100" y="8696325"/>
            <a:ext cx="3143250" cy="247650"/>
          </a:xfrm>
          <a:prstGeom prst="rect">
            <a:avLst/>
          </a:prstGeom>
          <a:noFill/>
        </p:spPr>
        <p:txBody>
          <a:bodyPr wrap="square" lIns="0" rIns="0" tIns="0" bIns="0" anchor="t">
            <a:spAutoFit/>
          </a:bodyPr>
          <a:lstStyle/>
          <a:p>
            <a:pPr algn="l">
              <a:lnSpc>
                <a:spcPct val="100000"/>
              </a:lnSpc>
            </a:pPr>
            <a:r>
              <a:rPr sz="1425" b="1" i="0" spc="100">
                <a:solidFill>
                  <a:srgbClr val="FFD21F"/>
                </a:solidFill>
                <a:latin typeface="Montserrat"/>
              </a:rPr>
              <a:t>CÓDIGOS APARTE</a:t>
            </a:r>
          </a:p>
        </p:txBody>
      </p:sp>
      <p:sp>
        <p:nvSpPr>
          <p:cNvPr id="99" name="TextBox 98"/>
          <p:cNvSpPr txBox="1"/>
          <p:nvPr/>
        </p:nvSpPr>
        <p:spPr>
          <a:xfrm>
            <a:off x="1181100" y="8943975"/>
            <a:ext cx="3143250" cy="228600"/>
          </a:xfrm>
          <a:prstGeom prst="rect">
            <a:avLst/>
          </a:prstGeom>
          <a:noFill/>
        </p:spPr>
        <p:txBody>
          <a:bodyPr wrap="square" lIns="0" rIns="0" tIns="0" bIns="0" anchor="t">
            <a:spAutoFit/>
          </a:bodyPr>
          <a:lstStyle/>
          <a:p>
            <a:pPr algn="l">
              <a:lnSpc>
                <a:spcPct val="100000"/>
              </a:lnSpc>
            </a:pPr>
            <a:r>
              <a:rPr sz="1350" b="0" i="0">
                <a:solidFill>
                  <a:srgbClr val="9FB4CC"/>
                </a:solidFill>
                <a:latin typeface="Barlow"/>
              </a:rPr>
              <a:t>nunca dentro del texto</a:t>
            </a:r>
          </a:p>
        </p:txBody>
      </p:sp>
      <p:sp>
        <p:nvSpPr>
          <p:cNvPr id="100" name="TextBox 99"/>
          <p:cNvSpPr txBox="1"/>
          <p:nvPr/>
        </p:nvSpPr>
        <p:spPr>
          <a:xfrm>
            <a:off x="4572000" y="8610600"/>
            <a:ext cx="632817" cy="609600"/>
          </a:xfrm>
          <a:prstGeom prst="rect">
            <a:avLst/>
          </a:prstGeom>
          <a:noFill/>
        </p:spPr>
        <p:txBody>
          <a:bodyPr wrap="none" lIns="0" rIns="0" tIns="0" bIns="0" anchor="ctr">
            <a:spAutoFit/>
          </a:bodyPr>
          <a:lstStyle/>
          <a:p>
            <a:pPr algn="l">
              <a:lnSpc>
                <a:spcPct val="100000"/>
              </a:lnSpc>
            </a:pPr>
            <a:r>
              <a:rPr sz="1950" b="0" i="0">
                <a:solidFill>
                  <a:srgbClr val="9FB4CC"/>
                </a:solidFill>
                <a:latin typeface="Roboto Mono"/>
              </a:rPr>
              <a:t>text</a:t>
            </a:r>
          </a:p>
        </p:txBody>
      </p:sp>
      <p:sp>
        <p:nvSpPr>
          <p:cNvPr id="101" name="Right Arrow 100"/>
          <p:cNvSpPr/>
          <p:nvPr/>
        </p:nvSpPr>
        <p:spPr>
          <a:xfrm>
            <a:off x="5300067" y="8829675"/>
            <a:ext cx="266700" cy="1714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681067" y="8610600"/>
            <a:ext cx="3903762" cy="609600"/>
          </a:xfrm>
          <a:prstGeom prst="rect">
            <a:avLst/>
          </a:prstGeom>
          <a:noFill/>
        </p:spPr>
        <p:txBody>
          <a:bodyPr wrap="none" lIns="0" rIns="0" tIns="0" bIns="0" anchor="ctr">
            <a:spAutoFit/>
          </a:bodyPr>
          <a:lstStyle/>
          <a:p>
            <a:pPr algn="l">
              <a:lnSpc>
                <a:spcPct val="100000"/>
              </a:lnSpc>
            </a:pPr>
            <a:r>
              <a:rPr sz="1950" b="0" i="0">
                <a:solidFill>
                  <a:srgbClr val="F3F7FC"/>
                </a:solidFill>
                <a:latin typeface="Roboto Mono"/>
              </a:rPr>
              <a:t>philips gu10 12v 4000k 55</a:t>
            </a:r>
            <a:r>
              <a:rPr sz="1950" b="0" i="0">
                <a:solidFill>
                  <a:srgbClr val="FFD21F"/>
                </a:solidFill>
                <a:latin typeface="Roboto Mono"/>
              </a:rPr>
              <a:t>"</a:t>
            </a:r>
          </a:p>
        </p:txBody>
      </p:sp>
      <p:sp>
        <p:nvSpPr>
          <p:cNvPr id="103" name="TextBox 102"/>
          <p:cNvSpPr txBox="1"/>
          <p:nvPr/>
        </p:nvSpPr>
        <p:spPr>
          <a:xfrm>
            <a:off x="9565779" y="8610600"/>
            <a:ext cx="1116955" cy="609600"/>
          </a:xfrm>
          <a:prstGeom prst="rect">
            <a:avLst/>
          </a:prstGeom>
          <a:noFill/>
        </p:spPr>
        <p:txBody>
          <a:bodyPr wrap="none" lIns="0" rIns="0" tIns="0" bIns="0" anchor="ctr">
            <a:spAutoFit/>
          </a:bodyPr>
          <a:lstStyle/>
          <a:p>
            <a:pPr algn="l">
              <a:lnSpc>
                <a:spcPct val="100000"/>
              </a:lnSpc>
            </a:pPr>
            <a:r>
              <a:rPr sz="1950" b="0" i="0">
                <a:solidFill>
                  <a:srgbClr val="9FB4CC"/>
                </a:solidFill>
                <a:latin typeface="Roboto Mono"/>
              </a:rPr>
              <a:t>   ·   </a:t>
            </a:r>
          </a:p>
        </p:txBody>
      </p:sp>
      <p:sp>
        <p:nvSpPr>
          <p:cNvPr id="104" name="TextBox 103"/>
          <p:cNvSpPr txBox="1"/>
          <p:nvPr/>
        </p:nvSpPr>
        <p:spPr>
          <a:xfrm>
            <a:off x="10606534" y="8610600"/>
            <a:ext cx="781496" cy="609600"/>
          </a:xfrm>
          <a:prstGeom prst="rect">
            <a:avLst/>
          </a:prstGeom>
          <a:noFill/>
        </p:spPr>
        <p:txBody>
          <a:bodyPr wrap="none" lIns="0" rIns="0" tIns="0" bIns="0" anchor="ctr">
            <a:spAutoFit/>
          </a:bodyPr>
          <a:lstStyle/>
          <a:p>
            <a:pPr algn="l">
              <a:lnSpc>
                <a:spcPct val="100000"/>
              </a:lnSpc>
            </a:pPr>
            <a:r>
              <a:rPr sz="1950" b="0" i="0">
                <a:solidFill>
                  <a:srgbClr val="9FB4CC"/>
                </a:solidFill>
                <a:latin typeface="Roboto Mono"/>
              </a:rPr>
              <a:t>codes</a:t>
            </a:r>
          </a:p>
        </p:txBody>
      </p:sp>
      <p:sp>
        <p:nvSpPr>
          <p:cNvPr id="105" name="Right Arrow 104"/>
          <p:cNvSpPr/>
          <p:nvPr/>
        </p:nvSpPr>
        <p:spPr>
          <a:xfrm>
            <a:off x="11483280" y="8829675"/>
            <a:ext cx="266700" cy="1714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864280" y="8610600"/>
            <a:ext cx="1227534" cy="609600"/>
          </a:xfrm>
          <a:prstGeom prst="rect">
            <a:avLst/>
          </a:prstGeom>
          <a:noFill/>
        </p:spPr>
        <p:txBody>
          <a:bodyPr wrap="none" lIns="0" rIns="0" tIns="0" bIns="0" anchor="ctr">
            <a:spAutoFit/>
          </a:bodyPr>
          <a:lstStyle/>
          <a:p>
            <a:pPr algn="l">
              <a:lnSpc>
                <a:spcPct val="100000"/>
              </a:lnSpc>
            </a:pPr>
            <a:r>
              <a:rPr sz="1950" b="0" i="0">
                <a:solidFill>
                  <a:srgbClr val="FFD21F"/>
                </a:solidFill>
                <a:latin typeface="Roboto Mono"/>
              </a:rPr>
              <a:t>[p21/5w]</a:t>
            </a:r>
          </a:p>
        </p:txBody>
      </p:sp>
      <p:sp>
        <p:nvSpPr>
          <p:cNvPr id="107" name="TextBox 106"/>
          <p:cNvSpPr txBox="1"/>
          <p:nvPr/>
        </p:nvSpPr>
        <p:spPr>
          <a:xfrm>
            <a:off x="914400" y="9353550"/>
            <a:ext cx="16459200" cy="285750"/>
          </a:xfrm>
          <a:prstGeom prst="rect">
            <a:avLst/>
          </a:prstGeom>
          <a:noFill/>
        </p:spPr>
        <p:txBody>
          <a:bodyPr wrap="square" lIns="0" rIns="0" tIns="0" bIns="0" anchor="t">
            <a:spAutoFit/>
          </a:bodyPr>
          <a:lstStyle/>
          <a:p>
            <a:pPr algn="l">
              <a:lnSpc>
                <a:spcPct val="100000"/>
              </a:lnSpc>
            </a:pPr>
            <a:r>
              <a:rPr sz="1575" b="0" i="0">
                <a:solidFill>
                  <a:srgbClr val="9FB4CC"/>
                </a:solidFill>
                <a:latin typeface="Barlow"/>
              </a:rPr>
              <a:t>La barra, las comillas y el alfabeto se conservan: son sintaxis del dominio. La normalización es idempotente, verificada sobre 254.186 textos.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OE3 · PIPELINE DE PROCESAMIENTO TEXTUAL · EFECTO DE LA LIMPIEZA</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Qué se destruye, qué se conserva, qué se gana</a:t>
            </a:r>
          </a:p>
        </p:txBody>
      </p:sp>
      <p:sp>
        <p:nvSpPr>
          <p:cNvPr id="9" name="Rectangle 8"/>
          <p:cNvSpPr/>
          <p:nvPr/>
        </p:nvSpPr>
        <p:spPr>
          <a:xfrm>
            <a:off x="914400" y="2628900"/>
            <a:ext cx="5305425" cy="4191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5305425"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181100" y="2914650"/>
            <a:ext cx="1466314" cy="361950"/>
          </a:xfrm>
          <a:prstGeom prst="roundRect">
            <a:avLst>
              <a:gd name="adj" fmla="val 10526"/>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2914650"/>
            <a:ext cx="1466314"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ELIMINADO</a:t>
            </a:r>
          </a:p>
        </p:txBody>
      </p:sp>
      <p:sp>
        <p:nvSpPr>
          <p:cNvPr id="13" name="TextBox 12"/>
          <p:cNvSpPr txBox="1"/>
          <p:nvPr/>
        </p:nvSpPr>
        <p:spPr>
          <a:xfrm>
            <a:off x="1181100" y="3429000"/>
            <a:ext cx="4772025" cy="361950"/>
          </a:xfrm>
          <a:prstGeom prst="rect">
            <a:avLst/>
          </a:prstGeom>
          <a:noFill/>
        </p:spPr>
        <p:txBody>
          <a:bodyPr wrap="square" lIns="0" rIns="0" tIns="0" bIns="0" anchor="t">
            <a:spAutoFit/>
          </a:bodyPr>
          <a:lstStyle/>
          <a:p>
            <a:pPr algn="l">
              <a:lnSpc>
                <a:spcPct val="95800"/>
              </a:lnSpc>
            </a:pPr>
            <a:r>
              <a:rPr sz="1950" b="1" i="0">
                <a:solidFill>
                  <a:srgbClr val="F3F7FC"/>
                </a:solidFill>
                <a:latin typeface="Montserrat"/>
              </a:rPr>
              <a:t>Se destruye lo que sí es ruido</a:t>
            </a:r>
          </a:p>
        </p:txBody>
      </p:sp>
      <p:sp>
        <p:nvSpPr>
          <p:cNvPr id="14" name="TextBox 13"/>
          <p:cNvSpPr txBox="1"/>
          <p:nvPr/>
        </p:nvSpPr>
        <p:spPr>
          <a:xfrm>
            <a:off x="1181100" y="3790950"/>
            <a:ext cx="4772025" cy="285750"/>
          </a:xfrm>
          <a:prstGeom prst="rect">
            <a:avLst/>
          </a:prstGeom>
          <a:noFill/>
        </p:spPr>
        <p:txBody>
          <a:bodyPr wrap="square" lIns="0" rIns="0" tIns="0" bIns="0" anchor="t">
            <a:spAutoFit/>
          </a:bodyPr>
          <a:lstStyle/>
          <a:p>
            <a:pPr algn="l">
              <a:lnSpc>
                <a:spcPct val="100000"/>
              </a:lnSpc>
            </a:pPr>
            <a:r>
              <a:rPr sz="1575" b="0" i="0">
                <a:solidFill>
                  <a:srgbClr val="9FB4CC"/>
                </a:solidFill>
                <a:latin typeface="Barlow"/>
              </a:rPr>
              <a:t>marcado heredado del portal</a:t>
            </a:r>
          </a:p>
        </p:txBody>
      </p:sp>
      <p:sp>
        <p:nvSpPr>
          <p:cNvPr id="15" name="Rectangle 14"/>
          <p:cNvSpPr/>
          <p:nvPr/>
        </p:nvSpPr>
        <p:spPr>
          <a:xfrm>
            <a:off x="1181100" y="4210050"/>
            <a:ext cx="4772025"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81100" y="4343400"/>
            <a:ext cx="4772025"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ENTIDADES HTML</a:t>
            </a:r>
          </a:p>
        </p:txBody>
      </p:sp>
      <p:sp>
        <p:nvSpPr>
          <p:cNvPr id="17" name="TextBox 16"/>
          <p:cNvSpPr txBox="1"/>
          <p:nvPr/>
        </p:nvSpPr>
        <p:spPr>
          <a:xfrm>
            <a:off x="1452562" y="4724400"/>
            <a:ext cx="2095500" cy="404812"/>
          </a:xfrm>
          <a:prstGeom prst="rect">
            <a:avLst/>
          </a:prstGeom>
          <a:noFill/>
        </p:spPr>
        <p:txBody>
          <a:bodyPr wrap="square" lIns="0" rIns="0" tIns="0" bIns="0" anchor="t">
            <a:spAutoFit/>
          </a:bodyPr>
          <a:lstStyle/>
          <a:p>
            <a:pPr algn="ctr">
              <a:lnSpc>
                <a:spcPct val="83300"/>
              </a:lnSpc>
            </a:pPr>
            <a:r>
              <a:rPr sz="2550" b="1" i="0">
                <a:solidFill>
                  <a:srgbClr val="F3F7FC"/>
                </a:solidFill>
                <a:latin typeface="Montserrat"/>
              </a:rPr>
              <a:t>575</a:t>
            </a:r>
          </a:p>
        </p:txBody>
      </p:sp>
      <p:sp>
        <p:nvSpPr>
          <p:cNvPr id="18" name="Rectangle 17"/>
          <p:cNvSpPr/>
          <p:nvPr/>
        </p:nvSpPr>
        <p:spPr>
          <a:xfrm>
            <a:off x="1928812"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28812" y="5238750"/>
            <a:ext cx="1143000" cy="10668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738312"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antes</a:t>
            </a:r>
          </a:p>
        </p:txBody>
      </p:sp>
      <p:sp>
        <p:nvSpPr>
          <p:cNvPr id="21" name="TextBox 20"/>
          <p:cNvSpPr txBox="1"/>
          <p:nvPr/>
        </p:nvSpPr>
        <p:spPr>
          <a:xfrm>
            <a:off x="3586162" y="4724400"/>
            <a:ext cx="2095500" cy="404812"/>
          </a:xfrm>
          <a:prstGeom prst="rect">
            <a:avLst/>
          </a:prstGeom>
          <a:noFill/>
        </p:spPr>
        <p:txBody>
          <a:bodyPr wrap="square" lIns="0" rIns="0" tIns="0" bIns="0" anchor="t">
            <a:spAutoFit/>
          </a:bodyPr>
          <a:lstStyle/>
          <a:p>
            <a:pPr algn="ctr">
              <a:lnSpc>
                <a:spcPct val="83300"/>
              </a:lnSpc>
            </a:pPr>
            <a:r>
              <a:rPr sz="2550" b="1" i="0">
                <a:solidFill>
                  <a:srgbClr val="F3F7FC"/>
                </a:solidFill>
                <a:latin typeface="Montserrat"/>
              </a:rPr>
              <a:t>0</a:t>
            </a:r>
          </a:p>
        </p:txBody>
      </p:sp>
      <p:sp>
        <p:nvSpPr>
          <p:cNvPr id="22" name="Rectangle 21"/>
          <p:cNvSpPr/>
          <p:nvPr/>
        </p:nvSpPr>
        <p:spPr>
          <a:xfrm>
            <a:off x="4062412"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062412" y="6276975"/>
            <a:ext cx="1143000" cy="2857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71912"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después</a:t>
            </a:r>
          </a:p>
        </p:txBody>
      </p:sp>
      <p:sp>
        <p:nvSpPr>
          <p:cNvPr id="25" name="Right Arrow 24"/>
          <p:cNvSpPr/>
          <p:nvPr/>
        </p:nvSpPr>
        <p:spPr>
          <a:xfrm>
            <a:off x="3243262" y="5648325"/>
            <a:ext cx="647700" cy="2476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86525" y="2628900"/>
            <a:ext cx="5305425" cy="4191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486525" y="2628900"/>
            <a:ext cx="5305425"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753225" y="2914650"/>
            <a:ext cx="1187470" cy="361950"/>
          </a:xfrm>
          <a:prstGeom prst="roundRect">
            <a:avLst>
              <a:gd name="adj" fmla="val 10526"/>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53225" y="2914650"/>
            <a:ext cx="1187470"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INTACTO</a:t>
            </a:r>
          </a:p>
        </p:txBody>
      </p:sp>
      <p:sp>
        <p:nvSpPr>
          <p:cNvPr id="30" name="TextBox 29"/>
          <p:cNvSpPr txBox="1"/>
          <p:nvPr/>
        </p:nvSpPr>
        <p:spPr>
          <a:xfrm>
            <a:off x="6753225" y="3429000"/>
            <a:ext cx="4772025" cy="361950"/>
          </a:xfrm>
          <a:prstGeom prst="rect">
            <a:avLst/>
          </a:prstGeom>
          <a:noFill/>
        </p:spPr>
        <p:txBody>
          <a:bodyPr wrap="square" lIns="0" rIns="0" tIns="0" bIns="0" anchor="t">
            <a:spAutoFit/>
          </a:bodyPr>
          <a:lstStyle/>
          <a:p>
            <a:pPr algn="l">
              <a:lnSpc>
                <a:spcPct val="95800"/>
              </a:lnSpc>
            </a:pPr>
            <a:r>
              <a:rPr sz="1950" b="1" i="0">
                <a:solidFill>
                  <a:srgbClr val="F3F7FC"/>
                </a:solidFill>
                <a:latin typeface="Montserrat"/>
              </a:rPr>
              <a:t>Se conserva lo que es señal</a:t>
            </a:r>
          </a:p>
        </p:txBody>
      </p:sp>
      <p:sp>
        <p:nvSpPr>
          <p:cNvPr id="31" name="TextBox 30"/>
          <p:cNvSpPr txBox="1"/>
          <p:nvPr/>
        </p:nvSpPr>
        <p:spPr>
          <a:xfrm>
            <a:off x="6753225" y="3790950"/>
            <a:ext cx="4772025" cy="285750"/>
          </a:xfrm>
          <a:prstGeom prst="rect">
            <a:avLst/>
          </a:prstGeom>
          <a:noFill/>
        </p:spPr>
        <p:txBody>
          <a:bodyPr wrap="square" lIns="0" rIns="0" tIns="0" bIns="0" anchor="t">
            <a:spAutoFit/>
          </a:bodyPr>
          <a:lstStyle/>
          <a:p>
            <a:pPr algn="l">
              <a:lnSpc>
                <a:spcPct val="100000"/>
              </a:lnSpc>
            </a:pPr>
            <a:r>
              <a:rPr sz="1575" b="0" i="0">
                <a:solidFill>
                  <a:srgbClr val="9FB4CC"/>
                </a:solidFill>
                <a:latin typeface="Barlow"/>
              </a:rPr>
              <a:t>0 filas perdidas · 0 excluidos</a:t>
            </a:r>
          </a:p>
        </p:txBody>
      </p:sp>
      <p:sp>
        <p:nvSpPr>
          <p:cNvPr id="32" name="Rectangle 31"/>
          <p:cNvSpPr/>
          <p:nvPr/>
        </p:nvSpPr>
        <p:spPr>
          <a:xfrm>
            <a:off x="6753225" y="4210050"/>
            <a:ext cx="4772025"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53225" y="4343400"/>
            <a:ext cx="4772025"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FILAS NO LATINAS</a:t>
            </a:r>
          </a:p>
        </p:txBody>
      </p:sp>
      <p:sp>
        <p:nvSpPr>
          <p:cNvPr id="34" name="TextBox 33"/>
          <p:cNvSpPr txBox="1"/>
          <p:nvPr/>
        </p:nvSpPr>
        <p:spPr>
          <a:xfrm>
            <a:off x="7024688" y="4724400"/>
            <a:ext cx="2095500" cy="404812"/>
          </a:xfrm>
          <a:prstGeom prst="rect">
            <a:avLst/>
          </a:prstGeom>
          <a:noFill/>
        </p:spPr>
        <p:txBody>
          <a:bodyPr wrap="square" lIns="0" rIns="0" tIns="0" bIns="0" anchor="t">
            <a:spAutoFit/>
          </a:bodyPr>
          <a:lstStyle/>
          <a:p>
            <a:pPr algn="ctr">
              <a:lnSpc>
                <a:spcPct val="83300"/>
              </a:lnSpc>
            </a:pPr>
            <a:r>
              <a:rPr sz="2550" b="1" i="0">
                <a:solidFill>
                  <a:srgbClr val="F3F7FC"/>
                </a:solidFill>
                <a:latin typeface="Montserrat"/>
              </a:rPr>
              <a:t>30.919</a:t>
            </a:r>
          </a:p>
        </p:txBody>
      </p:sp>
      <p:sp>
        <p:nvSpPr>
          <p:cNvPr id="35" name="Rectangle 34"/>
          <p:cNvSpPr/>
          <p:nvPr/>
        </p:nvSpPr>
        <p:spPr>
          <a:xfrm>
            <a:off x="7500938"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500938" y="5238750"/>
            <a:ext cx="1143000" cy="10668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310438"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antes</a:t>
            </a:r>
          </a:p>
        </p:txBody>
      </p:sp>
      <p:sp>
        <p:nvSpPr>
          <p:cNvPr id="38" name="TextBox 37"/>
          <p:cNvSpPr txBox="1"/>
          <p:nvPr/>
        </p:nvSpPr>
        <p:spPr>
          <a:xfrm>
            <a:off x="9158288" y="4724400"/>
            <a:ext cx="2095500" cy="404812"/>
          </a:xfrm>
          <a:prstGeom prst="rect">
            <a:avLst/>
          </a:prstGeom>
          <a:noFill/>
        </p:spPr>
        <p:txBody>
          <a:bodyPr wrap="square" lIns="0" rIns="0" tIns="0" bIns="0" anchor="t">
            <a:spAutoFit/>
          </a:bodyPr>
          <a:lstStyle/>
          <a:p>
            <a:pPr algn="ctr">
              <a:lnSpc>
                <a:spcPct val="83300"/>
              </a:lnSpc>
            </a:pPr>
            <a:r>
              <a:rPr sz="2550" b="1" i="0">
                <a:solidFill>
                  <a:srgbClr val="F3F7FC"/>
                </a:solidFill>
                <a:latin typeface="Montserrat"/>
              </a:rPr>
              <a:t>30.919</a:t>
            </a:r>
          </a:p>
        </p:txBody>
      </p:sp>
      <p:sp>
        <p:nvSpPr>
          <p:cNvPr id="39" name="Rectangle 38"/>
          <p:cNvSpPr/>
          <p:nvPr/>
        </p:nvSpPr>
        <p:spPr>
          <a:xfrm>
            <a:off x="9634538"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9634538" y="5238750"/>
            <a:ext cx="1143000" cy="10668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444038"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después</a:t>
            </a:r>
          </a:p>
        </p:txBody>
      </p:sp>
      <p:sp>
        <p:nvSpPr>
          <p:cNvPr id="42" name="Right Arrow 41"/>
          <p:cNvSpPr/>
          <p:nvPr/>
        </p:nvSpPr>
        <p:spPr>
          <a:xfrm>
            <a:off x="8815388" y="5648325"/>
            <a:ext cx="647700" cy="2476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58650" y="2628900"/>
            <a:ext cx="5305425" cy="4191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2058650" y="2628900"/>
            <a:ext cx="5305425"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quinero"/>
          <p:cNvSpPr/>
          <p:nvPr/>
        </p:nvSpPr>
        <p:spPr>
          <a:xfrm>
            <a:off x="119634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Esquinero"/>
          <p:cNvSpPr/>
          <p:nvPr/>
        </p:nvSpPr>
        <p:spPr>
          <a:xfrm>
            <a:off x="1196340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quinero"/>
          <p:cNvSpPr/>
          <p:nvPr/>
        </p:nvSpPr>
        <p:spPr>
          <a:xfrm>
            <a:off x="17135475"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quinero"/>
          <p:cNvSpPr/>
          <p:nvPr/>
        </p:nvSpPr>
        <p:spPr>
          <a:xfrm>
            <a:off x="174307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Esquinero"/>
          <p:cNvSpPr/>
          <p:nvPr/>
        </p:nvSpPr>
        <p:spPr>
          <a:xfrm>
            <a:off x="11963400" y="65913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Esquinero"/>
          <p:cNvSpPr/>
          <p:nvPr/>
        </p:nvSpPr>
        <p:spPr>
          <a:xfrm>
            <a:off x="11963400" y="68865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Esquinero"/>
          <p:cNvSpPr/>
          <p:nvPr/>
        </p:nvSpPr>
        <p:spPr>
          <a:xfrm>
            <a:off x="17430750" y="65913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Esquinero"/>
          <p:cNvSpPr/>
          <p:nvPr/>
        </p:nvSpPr>
        <p:spPr>
          <a:xfrm>
            <a:off x="17135475" y="68865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12325350" y="2914650"/>
            <a:ext cx="1531471"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325350" y="2914650"/>
            <a:ext cx="1531471"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+32 PUNTOS</a:t>
            </a:r>
          </a:p>
        </p:txBody>
      </p:sp>
      <p:sp>
        <p:nvSpPr>
          <p:cNvPr id="55" name="TextBox 54"/>
          <p:cNvSpPr txBox="1"/>
          <p:nvPr/>
        </p:nvSpPr>
        <p:spPr>
          <a:xfrm>
            <a:off x="12325350" y="3429000"/>
            <a:ext cx="4772025" cy="361950"/>
          </a:xfrm>
          <a:prstGeom prst="rect">
            <a:avLst/>
          </a:prstGeom>
          <a:noFill/>
        </p:spPr>
        <p:txBody>
          <a:bodyPr wrap="square" lIns="0" rIns="0" tIns="0" bIns="0" anchor="t">
            <a:spAutoFit/>
          </a:bodyPr>
          <a:lstStyle/>
          <a:p>
            <a:pPr algn="l">
              <a:lnSpc>
                <a:spcPct val="95800"/>
              </a:lnSpc>
            </a:pPr>
            <a:r>
              <a:rPr sz="1950" b="1" i="0">
                <a:solidFill>
                  <a:srgbClr val="F3F7FC"/>
                </a:solidFill>
                <a:latin typeface="Montserrat"/>
              </a:rPr>
              <a:t>Se gana con los códigos aparte</a:t>
            </a:r>
          </a:p>
        </p:txBody>
      </p:sp>
      <p:sp>
        <p:nvSpPr>
          <p:cNvPr id="56" name="TextBox 55"/>
          <p:cNvSpPr txBox="1"/>
          <p:nvPr/>
        </p:nvSpPr>
        <p:spPr>
          <a:xfrm>
            <a:off x="12325350" y="3790950"/>
            <a:ext cx="4772025" cy="285750"/>
          </a:xfrm>
          <a:prstGeom prst="rect">
            <a:avLst/>
          </a:prstGeom>
          <a:noFill/>
        </p:spPr>
        <p:txBody>
          <a:bodyPr wrap="square" lIns="0" rIns="0" tIns="0" bIns="0" anchor="t">
            <a:spAutoFit/>
          </a:bodyPr>
          <a:lstStyle/>
          <a:p>
            <a:pPr algn="l">
              <a:lnSpc>
                <a:spcPct val="100000"/>
              </a:lnSpc>
            </a:pPr>
            <a:r>
              <a:rPr sz="1575" b="0" i="0">
                <a:solidFill>
                  <a:srgbClr val="9FB4CC"/>
                </a:solidFill>
                <a:latin typeface="Barlow"/>
              </a:rPr>
              <a:t>la vista enriched</a:t>
            </a:r>
          </a:p>
        </p:txBody>
      </p:sp>
      <p:sp>
        <p:nvSpPr>
          <p:cNvPr id="57" name="Rectangle 56"/>
          <p:cNvSpPr/>
          <p:nvPr/>
        </p:nvSpPr>
        <p:spPr>
          <a:xfrm>
            <a:off x="12325350" y="4210050"/>
            <a:ext cx="4772025"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2325350" y="4343400"/>
            <a:ext cx="4772025"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RECALL@1 EN VALIDACIÓN · %</a:t>
            </a:r>
          </a:p>
        </p:txBody>
      </p:sp>
      <p:sp>
        <p:nvSpPr>
          <p:cNvPr id="59" name="TextBox 58"/>
          <p:cNvSpPr txBox="1"/>
          <p:nvPr/>
        </p:nvSpPr>
        <p:spPr>
          <a:xfrm>
            <a:off x="12596812" y="4724400"/>
            <a:ext cx="2095500" cy="404812"/>
          </a:xfrm>
          <a:prstGeom prst="rect">
            <a:avLst/>
          </a:prstGeom>
          <a:noFill/>
        </p:spPr>
        <p:txBody>
          <a:bodyPr wrap="square" lIns="0" rIns="0" tIns="0" bIns="0" anchor="t">
            <a:spAutoFit/>
          </a:bodyPr>
          <a:lstStyle/>
          <a:p>
            <a:pPr algn="ctr">
              <a:lnSpc>
                <a:spcPct val="83300"/>
              </a:lnSpc>
            </a:pPr>
            <a:r>
              <a:rPr sz="2550" b="1" i="0">
                <a:solidFill>
                  <a:srgbClr val="F3F7FC"/>
                </a:solidFill>
                <a:latin typeface="Montserrat"/>
              </a:rPr>
              <a:t>51,17</a:t>
            </a:r>
          </a:p>
        </p:txBody>
      </p:sp>
      <p:sp>
        <p:nvSpPr>
          <p:cNvPr id="60" name="Rectangle 59"/>
          <p:cNvSpPr/>
          <p:nvPr/>
        </p:nvSpPr>
        <p:spPr>
          <a:xfrm>
            <a:off x="13073062"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3073062" y="5759668"/>
            <a:ext cx="1143000" cy="545882"/>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882562"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antes</a:t>
            </a:r>
          </a:p>
        </p:txBody>
      </p:sp>
      <p:sp>
        <p:nvSpPr>
          <p:cNvPr id="63" name="TextBox 62"/>
          <p:cNvSpPr txBox="1"/>
          <p:nvPr/>
        </p:nvSpPr>
        <p:spPr>
          <a:xfrm>
            <a:off x="14730412" y="4724400"/>
            <a:ext cx="2095500" cy="404812"/>
          </a:xfrm>
          <a:prstGeom prst="rect">
            <a:avLst/>
          </a:prstGeom>
          <a:noFill/>
        </p:spPr>
        <p:txBody>
          <a:bodyPr wrap="square" lIns="0" rIns="0" tIns="0" bIns="0" anchor="t">
            <a:spAutoFit/>
          </a:bodyPr>
          <a:lstStyle/>
          <a:p>
            <a:pPr algn="ctr">
              <a:lnSpc>
                <a:spcPct val="83300"/>
              </a:lnSpc>
            </a:pPr>
            <a:r>
              <a:rPr sz="2550" b="1" i="0">
                <a:solidFill>
                  <a:srgbClr val="FFD21F"/>
                </a:solidFill>
                <a:latin typeface="Montserrat"/>
              </a:rPr>
              <a:t>83,18</a:t>
            </a:r>
          </a:p>
        </p:txBody>
      </p:sp>
      <p:sp>
        <p:nvSpPr>
          <p:cNvPr id="64" name="Rectangle 63"/>
          <p:cNvSpPr/>
          <p:nvPr/>
        </p:nvSpPr>
        <p:spPr>
          <a:xfrm>
            <a:off x="15206662" y="5238750"/>
            <a:ext cx="1143000" cy="10668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5206662" y="5418186"/>
            <a:ext cx="1143000" cy="887364"/>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5016162" y="6381750"/>
            <a:ext cx="1524000" cy="247650"/>
          </a:xfrm>
          <a:prstGeom prst="rect">
            <a:avLst/>
          </a:prstGeom>
          <a:noFill/>
        </p:spPr>
        <p:txBody>
          <a:bodyPr wrap="square" lIns="0" rIns="0" tIns="0" bIns="0" anchor="t">
            <a:spAutoFit/>
          </a:bodyPr>
          <a:lstStyle/>
          <a:p>
            <a:pPr algn="ctr">
              <a:lnSpc>
                <a:spcPct val="100000"/>
              </a:lnSpc>
            </a:pPr>
            <a:r>
              <a:rPr sz="1350" b="0" i="0">
                <a:solidFill>
                  <a:srgbClr val="9FB4CC"/>
                </a:solidFill>
                <a:latin typeface="Barlow"/>
              </a:rPr>
              <a:t>después</a:t>
            </a:r>
          </a:p>
        </p:txBody>
      </p:sp>
      <p:sp>
        <p:nvSpPr>
          <p:cNvPr id="67" name="Right Arrow 66"/>
          <p:cNvSpPr/>
          <p:nvPr/>
        </p:nvSpPr>
        <p:spPr>
          <a:xfrm>
            <a:off x="14387512" y="5648325"/>
            <a:ext cx="647700"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14400" y="7086600"/>
            <a:ext cx="16459200" cy="24765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219200" y="7277100"/>
            <a:ext cx="9525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COBERTURA DE CÓDIGOS EXTRAÍDOS · % DE FILAS</a:t>
            </a:r>
          </a:p>
        </p:txBody>
      </p:sp>
      <p:sp>
        <p:nvSpPr>
          <p:cNvPr id="70" name="TextBox 69"/>
          <p:cNvSpPr txBox="1"/>
          <p:nvPr/>
        </p:nvSpPr>
        <p:spPr>
          <a:xfrm>
            <a:off x="1219200" y="7658100"/>
            <a:ext cx="3429000" cy="285750"/>
          </a:xfrm>
          <a:prstGeom prst="rect">
            <a:avLst/>
          </a:prstGeom>
          <a:noFill/>
        </p:spPr>
        <p:txBody>
          <a:bodyPr wrap="square" lIns="0" rIns="0" tIns="0" bIns="0" anchor="t">
            <a:spAutoFit/>
          </a:bodyPr>
          <a:lstStyle/>
          <a:p>
            <a:pPr algn="l">
              <a:lnSpc>
                <a:spcPct val="100000"/>
              </a:lnSpc>
            </a:pPr>
            <a:r>
              <a:rPr sz="1575" b="0" i="0">
                <a:solidFill>
                  <a:srgbClr val="FFD21F"/>
                </a:solidFill>
                <a:latin typeface="Roboto Mono"/>
              </a:rPr>
              <a:t>manufacturer_codes</a:t>
            </a:r>
          </a:p>
        </p:txBody>
      </p:sp>
      <p:sp>
        <p:nvSpPr>
          <p:cNvPr id="71" name="Rectangle 70"/>
          <p:cNvSpPr/>
          <p:nvPr/>
        </p:nvSpPr>
        <p:spPr>
          <a:xfrm>
            <a:off x="4762500" y="7734300"/>
            <a:ext cx="10477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762500" y="7734300"/>
            <a:ext cx="10477500"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5621000" y="7639050"/>
            <a:ext cx="14478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100%</a:t>
            </a:r>
          </a:p>
        </p:txBody>
      </p:sp>
      <p:sp>
        <p:nvSpPr>
          <p:cNvPr id="74" name="TextBox 73"/>
          <p:cNvSpPr txBox="1"/>
          <p:nvPr/>
        </p:nvSpPr>
        <p:spPr>
          <a:xfrm>
            <a:off x="1219200" y="8110538"/>
            <a:ext cx="3429000" cy="285750"/>
          </a:xfrm>
          <a:prstGeom prst="rect">
            <a:avLst/>
          </a:prstGeom>
          <a:noFill/>
        </p:spPr>
        <p:txBody>
          <a:bodyPr wrap="square" lIns="0" rIns="0" tIns="0" bIns="0" anchor="t">
            <a:spAutoFit/>
          </a:bodyPr>
          <a:lstStyle/>
          <a:p>
            <a:pPr algn="l">
              <a:lnSpc>
                <a:spcPct val="100000"/>
              </a:lnSpc>
            </a:pPr>
            <a:r>
              <a:rPr sz="1575" b="0" i="0">
                <a:solidFill>
                  <a:srgbClr val="FFD21F"/>
                </a:solidFill>
                <a:latin typeface="Roboto Mono"/>
              </a:rPr>
              <a:t>retailer_codes</a:t>
            </a:r>
          </a:p>
        </p:txBody>
      </p:sp>
      <p:sp>
        <p:nvSpPr>
          <p:cNvPr id="75" name="Rectangle 74"/>
          <p:cNvSpPr/>
          <p:nvPr/>
        </p:nvSpPr>
        <p:spPr>
          <a:xfrm>
            <a:off x="4762500" y="8186738"/>
            <a:ext cx="10477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4762500" y="8186738"/>
            <a:ext cx="10475404"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5621000" y="8091488"/>
            <a:ext cx="14478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99,98%</a:t>
            </a:r>
          </a:p>
        </p:txBody>
      </p:sp>
      <p:sp>
        <p:nvSpPr>
          <p:cNvPr id="78" name="TextBox 77"/>
          <p:cNvSpPr txBox="1"/>
          <p:nvPr/>
        </p:nvSpPr>
        <p:spPr>
          <a:xfrm>
            <a:off x="1219200" y="8562975"/>
            <a:ext cx="3429000" cy="285750"/>
          </a:xfrm>
          <a:prstGeom prst="rect">
            <a:avLst/>
          </a:prstGeom>
          <a:noFill/>
        </p:spPr>
        <p:txBody>
          <a:bodyPr wrap="square" lIns="0" rIns="0" tIns="0" bIns="0" anchor="t">
            <a:spAutoFit/>
          </a:bodyPr>
          <a:lstStyle/>
          <a:p>
            <a:pPr algn="l">
              <a:lnSpc>
                <a:spcPct val="100000"/>
              </a:lnSpc>
            </a:pPr>
            <a:r>
              <a:rPr sz="1575" b="0" i="0">
                <a:solidFill>
                  <a:srgbClr val="FFD21F"/>
                </a:solidFill>
                <a:latin typeface="Roboto Mono"/>
              </a:rPr>
              <a:t>manufacturer_eans</a:t>
            </a:r>
          </a:p>
        </p:txBody>
      </p:sp>
      <p:sp>
        <p:nvSpPr>
          <p:cNvPr id="79" name="Rectangle 78"/>
          <p:cNvSpPr/>
          <p:nvPr/>
        </p:nvSpPr>
        <p:spPr>
          <a:xfrm>
            <a:off x="4762500" y="8639175"/>
            <a:ext cx="10477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4762500" y="8639175"/>
            <a:ext cx="10180987"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5621000" y="8543925"/>
            <a:ext cx="14478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97,17%</a:t>
            </a:r>
          </a:p>
        </p:txBody>
      </p:sp>
      <p:sp>
        <p:nvSpPr>
          <p:cNvPr id="82" name="TextBox 81"/>
          <p:cNvSpPr txBox="1"/>
          <p:nvPr/>
        </p:nvSpPr>
        <p:spPr>
          <a:xfrm>
            <a:off x="1219200" y="9015412"/>
            <a:ext cx="3429000" cy="285750"/>
          </a:xfrm>
          <a:prstGeom prst="rect">
            <a:avLst/>
          </a:prstGeom>
          <a:noFill/>
        </p:spPr>
        <p:txBody>
          <a:bodyPr wrap="square" lIns="0" rIns="0" tIns="0" bIns="0" anchor="t">
            <a:spAutoFit/>
          </a:bodyPr>
          <a:lstStyle/>
          <a:p>
            <a:pPr algn="l">
              <a:lnSpc>
                <a:spcPct val="100000"/>
              </a:lnSpc>
            </a:pPr>
            <a:r>
              <a:rPr sz="1575" b="0" i="0">
                <a:solidFill>
                  <a:srgbClr val="FFD21F"/>
                </a:solidFill>
                <a:latin typeface="Roboto Mono"/>
              </a:rPr>
              <a:t>retailer_title_codes</a:t>
            </a:r>
          </a:p>
        </p:txBody>
      </p:sp>
      <p:sp>
        <p:nvSpPr>
          <p:cNvPr id="83" name="Rectangle 82"/>
          <p:cNvSpPr/>
          <p:nvPr/>
        </p:nvSpPr>
        <p:spPr>
          <a:xfrm>
            <a:off x="4762500" y="9091612"/>
            <a:ext cx="10477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4762500" y="9091612"/>
            <a:ext cx="9485281"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5621000" y="8996362"/>
            <a:ext cx="1447800" cy="333375"/>
          </a:xfrm>
          <a:prstGeom prst="rect">
            <a:avLst/>
          </a:prstGeom>
          <a:noFill/>
        </p:spPr>
        <p:txBody>
          <a:bodyPr wrap="square" lIns="0" rIns="0" tIns="0" bIns="0" anchor="t">
            <a:spAutoFit/>
          </a:bodyPr>
          <a:lstStyle/>
          <a:p>
            <a:pPr algn="r">
              <a:lnSpc>
                <a:spcPct val="83300"/>
              </a:lnSpc>
            </a:pPr>
            <a:r>
              <a:rPr sz="2100" b="1" i="0">
                <a:solidFill>
                  <a:srgbClr val="F3F7FC"/>
                </a:solidFill>
                <a:latin typeface="Montserrat"/>
              </a:rPr>
              <a:t>90,53%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MODELOS ALGORÍTMICOS</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¿Qué puede mirar cada modelo al comparar dos textos?</a:t>
            </a:r>
          </a:p>
        </p:txBody>
      </p:sp>
      <p:sp>
        <p:nvSpPr>
          <p:cNvPr id="9" name="Rectangle 8"/>
          <p:cNvSpPr/>
          <p:nvPr/>
        </p:nvSpPr>
        <p:spPr>
          <a:xfrm>
            <a:off x="914400" y="2628900"/>
            <a:ext cx="8991600" cy="21717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57150" cy="21717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181100" y="2876550"/>
            <a:ext cx="41910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2876550"/>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1</a:t>
            </a:r>
          </a:p>
        </p:txBody>
      </p:sp>
      <p:sp>
        <p:nvSpPr>
          <p:cNvPr id="13" name="TextBox 12"/>
          <p:cNvSpPr txBox="1"/>
          <p:nvPr/>
        </p:nvSpPr>
        <p:spPr>
          <a:xfrm>
            <a:off x="1752600" y="2857500"/>
            <a:ext cx="2190750" cy="381000"/>
          </a:xfrm>
          <a:prstGeom prst="rect">
            <a:avLst/>
          </a:prstGeom>
          <a:noFill/>
        </p:spPr>
        <p:txBody>
          <a:bodyPr wrap="square" lIns="0" rIns="0" tIns="0" bIns="0" anchor="t">
            <a:spAutoFit/>
          </a:bodyPr>
          <a:lstStyle/>
          <a:p>
            <a:pPr algn="l">
              <a:lnSpc>
                <a:spcPct val="95800"/>
              </a:lnSpc>
            </a:pPr>
            <a:r>
              <a:rPr sz="2100" b="1" i="0">
                <a:solidFill>
                  <a:srgbClr val="F3F7FC"/>
                </a:solidFill>
                <a:latin typeface="Montserrat"/>
              </a:rPr>
              <a:t>TF-IDF</a:t>
            </a:r>
          </a:p>
        </p:txBody>
      </p:sp>
      <p:sp>
        <p:nvSpPr>
          <p:cNvPr id="14" name="TextBox 13"/>
          <p:cNvSpPr txBox="1"/>
          <p:nvPr/>
        </p:nvSpPr>
        <p:spPr>
          <a:xfrm>
            <a:off x="1752600" y="3219450"/>
            <a:ext cx="2190750" cy="285750"/>
          </a:xfrm>
          <a:prstGeom prst="rect">
            <a:avLst/>
          </a:prstGeom>
          <a:noFill/>
        </p:spPr>
        <p:txBody>
          <a:bodyPr wrap="square" lIns="0" rIns="0" tIns="0" bIns="0" anchor="t">
            <a:spAutoFit/>
          </a:bodyPr>
          <a:lstStyle/>
          <a:p>
            <a:pPr algn="l">
              <a:lnSpc>
                <a:spcPct val="104200"/>
              </a:lnSpc>
            </a:pPr>
            <a:r>
              <a:rPr sz="1500" b="0" i="0">
                <a:solidFill>
                  <a:srgbClr val="9FB4CC"/>
                </a:solidFill>
                <a:latin typeface="Barlow"/>
              </a:rPr>
              <a:t>n-gramas de caracteres</a:t>
            </a:r>
          </a:p>
        </p:txBody>
      </p:sp>
      <p:sp>
        <p:nvSpPr>
          <p:cNvPr id="15" name="TextBox 14"/>
          <p:cNvSpPr txBox="1"/>
          <p:nvPr/>
        </p:nvSpPr>
        <p:spPr>
          <a:xfrm>
            <a:off x="1181100" y="3752850"/>
            <a:ext cx="2476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MIRA</a:t>
            </a:r>
          </a:p>
        </p:txBody>
      </p:sp>
      <p:sp>
        <p:nvSpPr>
          <p:cNvPr id="16" name="TextBox 15"/>
          <p:cNvSpPr txBox="1"/>
          <p:nvPr/>
        </p:nvSpPr>
        <p:spPr>
          <a:xfrm>
            <a:off x="1181100" y="3981450"/>
            <a:ext cx="2571750" cy="533400"/>
          </a:xfrm>
          <a:prstGeom prst="rect">
            <a:avLst/>
          </a:prstGeom>
          <a:noFill/>
        </p:spPr>
        <p:txBody>
          <a:bodyPr wrap="square" lIns="0" rIns="0" tIns="0" bIns="0" anchor="t">
            <a:spAutoFit/>
          </a:bodyPr>
          <a:lstStyle/>
          <a:p>
            <a:pPr algn="l">
              <a:lnSpc>
                <a:spcPct val="95800"/>
              </a:lnSpc>
            </a:pPr>
            <a:r>
              <a:rPr sz="3000" b="1" i="0">
                <a:solidFill>
                  <a:srgbClr val="4F9BFF"/>
                </a:solidFill>
                <a:latin typeface="Montserrat"/>
              </a:rPr>
              <a:t>nada</a:t>
            </a:r>
          </a:p>
        </p:txBody>
      </p:sp>
      <p:sp>
        <p:nvSpPr>
          <p:cNvPr id="17" name="Rectangle 16"/>
          <p:cNvSpPr/>
          <p:nvPr/>
        </p:nvSpPr>
        <p:spPr>
          <a:xfrm>
            <a:off x="3886200" y="28575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152900" y="2971800"/>
            <a:ext cx="476250" cy="381000"/>
          </a:xfrm>
          <a:prstGeom prst="roundRect">
            <a:avLst>
              <a:gd name="adj" fmla="val 15000"/>
            </a:avLst>
          </a:prstGeom>
          <a:solidFill>
            <a:srgbClr val="0F2C52"/>
          </a:solidFill>
          <a:ln w="14287">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152900" y="2971800"/>
            <a:ext cx="476250" cy="381000"/>
          </a:xfrm>
          <a:prstGeom prst="rect">
            <a:avLst/>
          </a:prstGeom>
          <a:noFill/>
        </p:spPr>
        <p:txBody>
          <a:bodyPr wrap="square" lIns="0" rIns="0" tIns="0" bIns="0" anchor="ctr">
            <a:spAutoFit/>
          </a:bodyPr>
          <a:lstStyle/>
          <a:p>
            <a:pPr algn="ctr">
              <a:lnSpc>
                <a:spcPct val="95800"/>
              </a:lnSpc>
            </a:pPr>
            <a:r>
              <a:rPr sz="1575" b="1" i="0">
                <a:solidFill>
                  <a:srgbClr val="FFD21F"/>
                </a:solidFill>
                <a:latin typeface="Montserrat"/>
              </a:rPr>
              <a:t>A</a:t>
            </a:r>
          </a:p>
        </p:txBody>
      </p:sp>
      <p:sp>
        <p:nvSpPr>
          <p:cNvPr id="20" name="Rounded Rectangle 19"/>
          <p:cNvSpPr/>
          <p:nvPr/>
        </p:nvSpPr>
        <p:spPr>
          <a:xfrm>
            <a:off x="4152900" y="3752850"/>
            <a:ext cx="476250" cy="381000"/>
          </a:xfrm>
          <a:prstGeom prst="roundRect">
            <a:avLst>
              <a:gd name="adj" fmla="val 15000"/>
            </a:avLst>
          </a:prstGeom>
          <a:solidFill>
            <a:srgbClr val="0F2C52"/>
          </a:solidFill>
          <a:ln w="14287">
            <a:solidFill>
              <a:srgbClr val="4F9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52900" y="3752850"/>
            <a:ext cx="476250" cy="381000"/>
          </a:xfrm>
          <a:prstGeom prst="rect">
            <a:avLst/>
          </a:prstGeom>
          <a:noFill/>
        </p:spPr>
        <p:txBody>
          <a:bodyPr wrap="square" lIns="0" rIns="0" tIns="0" bIns="0" anchor="ctr">
            <a:spAutoFit/>
          </a:bodyPr>
          <a:lstStyle/>
          <a:p>
            <a:pPr algn="ctr">
              <a:lnSpc>
                <a:spcPct val="95800"/>
              </a:lnSpc>
            </a:pPr>
            <a:r>
              <a:rPr sz="1575" b="1" i="0">
                <a:solidFill>
                  <a:srgbClr val="4F9BFF"/>
                </a:solidFill>
                <a:latin typeface="Montserrat"/>
              </a:rPr>
              <a:t>B</a:t>
            </a:r>
          </a:p>
        </p:txBody>
      </p:sp>
      <p:sp>
        <p:nvSpPr>
          <p:cNvPr id="22" name="Right Arrow 21"/>
          <p:cNvSpPr/>
          <p:nvPr/>
        </p:nvSpPr>
        <p:spPr>
          <a:xfrm>
            <a:off x="4686300" y="3095625"/>
            <a:ext cx="285750" cy="13335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48250" y="306705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172075" y="306705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295900" y="306705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19725" y="306705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543550" y="306705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67375" y="306705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791200" y="306705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915025" y="306705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6067425" y="3162300"/>
            <a:ext cx="295275" cy="295275"/>
          </a:xfrm>
          <a:prstGeom prst="line">
            <a:avLst/>
          </a:prstGeom>
          <a:ln w="19050">
            <a:solidFill>
              <a:srgbClr val="6D8F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ight Arrow 31"/>
          <p:cNvSpPr/>
          <p:nvPr/>
        </p:nvSpPr>
        <p:spPr>
          <a:xfrm>
            <a:off x="4686300" y="3876675"/>
            <a:ext cx="285750" cy="13335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48250" y="384810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172075" y="384810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295900" y="384810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19725" y="384810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43550" y="384810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667375" y="384810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791200" y="3848100"/>
            <a:ext cx="9525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915025" y="3848100"/>
            <a:ext cx="95250" cy="1905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1" name="Connector 40"/>
          <p:cNvCxnSpPr/>
          <p:nvPr/>
        </p:nvCxnSpPr>
        <p:spPr>
          <a:xfrm flipV="1">
            <a:off x="6067425" y="3648075"/>
            <a:ext cx="295275" cy="295275"/>
          </a:xfrm>
          <a:prstGeom prst="line">
            <a:avLst/>
          </a:prstGeom>
          <a:ln w="19050">
            <a:solidFill>
              <a:srgbClr val="6D8F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6391275" y="3257550"/>
            <a:ext cx="590550" cy="590550"/>
          </a:xfrm>
          <a:prstGeom prst="ellipse">
            <a:avLst/>
          </a:prstGeom>
          <a:solidFill>
            <a:srgbClr val="0F2C52"/>
          </a:solidFill>
          <a:ln w="19050">
            <a:solidFill>
              <a:srgbClr val="4F9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275" y="3257550"/>
            <a:ext cx="590550" cy="590550"/>
          </a:xfrm>
          <a:prstGeom prst="rect">
            <a:avLst/>
          </a:prstGeom>
          <a:noFill/>
        </p:spPr>
        <p:txBody>
          <a:bodyPr wrap="square" lIns="0" rIns="0" tIns="0" bIns="0" anchor="ctr">
            <a:spAutoFit/>
          </a:bodyPr>
          <a:lstStyle/>
          <a:p>
            <a:pPr algn="ctr">
              <a:lnSpc>
                <a:spcPct val="83300"/>
              </a:lnSpc>
            </a:pPr>
            <a:r>
              <a:rPr sz="1425" b="0" i="0">
                <a:solidFill>
                  <a:srgbClr val="F3F7FC"/>
                </a:solidFill>
                <a:latin typeface="Barlow"/>
              </a:rPr>
              <a:t>cos</a:t>
            </a:r>
          </a:p>
        </p:txBody>
      </p:sp>
      <p:sp>
        <p:nvSpPr>
          <p:cNvPr id="44" name="TextBox 43"/>
          <p:cNvSpPr txBox="1"/>
          <p:nvPr/>
        </p:nvSpPr>
        <p:spPr>
          <a:xfrm>
            <a:off x="3924300" y="4362450"/>
            <a:ext cx="3143250" cy="285750"/>
          </a:xfrm>
          <a:prstGeom prst="rect">
            <a:avLst/>
          </a:prstGeom>
          <a:noFill/>
        </p:spPr>
        <p:txBody>
          <a:bodyPr wrap="square" lIns="0" rIns="0" tIns="0" bIns="0" anchor="t">
            <a:spAutoFit/>
          </a:bodyPr>
          <a:lstStyle/>
          <a:p>
            <a:pPr algn="ctr">
              <a:lnSpc>
                <a:spcPct val="104200"/>
              </a:lnSpc>
            </a:pPr>
            <a:r>
              <a:rPr sz="1500" b="0" i="0">
                <a:solidFill>
                  <a:srgbClr val="9FB4CC"/>
                </a:solidFill>
                <a:latin typeface="Barlow"/>
              </a:rPr>
              <a:t>Vectores dispersos · coseno</a:t>
            </a:r>
          </a:p>
        </p:txBody>
      </p:sp>
      <p:sp>
        <p:nvSpPr>
          <p:cNvPr id="45" name="Rectangle 44"/>
          <p:cNvSpPr/>
          <p:nvPr/>
        </p:nvSpPr>
        <p:spPr>
          <a:xfrm>
            <a:off x="7162800" y="28575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429500" y="2838450"/>
            <a:ext cx="2286000" cy="628650"/>
          </a:xfrm>
          <a:prstGeom prst="rect">
            <a:avLst/>
          </a:prstGeom>
          <a:noFill/>
        </p:spPr>
        <p:txBody>
          <a:bodyPr wrap="square" lIns="0" rIns="0" tIns="0" bIns="0" anchor="t">
            <a:spAutoFit/>
          </a:bodyPr>
          <a:lstStyle/>
          <a:p>
            <a:pPr algn="l">
              <a:lnSpc>
                <a:spcPct val="95800"/>
              </a:lnSpc>
            </a:pPr>
            <a:r>
              <a:rPr sz="3900" b="1" i="0">
                <a:solidFill>
                  <a:srgbClr val="FFD21F"/>
                </a:solidFill>
                <a:latin typeface="Montserrat"/>
              </a:rPr>
              <a:t>91,16%</a:t>
            </a:r>
          </a:p>
        </p:txBody>
      </p:sp>
      <p:sp>
        <p:nvSpPr>
          <p:cNvPr id="47" name="TextBox 46"/>
          <p:cNvSpPr txBox="1"/>
          <p:nvPr/>
        </p:nvSpPr>
        <p:spPr>
          <a:xfrm>
            <a:off x="7429500" y="3505200"/>
            <a:ext cx="2286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RECALL@10</a:t>
            </a:r>
          </a:p>
        </p:txBody>
      </p:sp>
      <p:sp>
        <p:nvSpPr>
          <p:cNvPr id="48" name="Rounded Rectangle 47"/>
          <p:cNvSpPr/>
          <p:nvPr/>
        </p:nvSpPr>
        <p:spPr>
          <a:xfrm>
            <a:off x="7429500" y="4076700"/>
            <a:ext cx="1846213" cy="342900"/>
          </a:xfrm>
          <a:prstGeom prst="roundRect">
            <a:avLst>
              <a:gd name="adj" fmla="val 11111"/>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429500" y="4076700"/>
            <a:ext cx="1846213"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RECUPERADOR</a:t>
            </a:r>
          </a:p>
        </p:txBody>
      </p:sp>
      <p:sp>
        <p:nvSpPr>
          <p:cNvPr id="50" name="Rectangle 49"/>
          <p:cNvSpPr/>
          <p:nvPr/>
        </p:nvSpPr>
        <p:spPr>
          <a:xfrm>
            <a:off x="914400" y="4991100"/>
            <a:ext cx="8991600" cy="21717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14400" y="4991100"/>
            <a:ext cx="57150" cy="21717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1181100" y="5238750"/>
            <a:ext cx="419100" cy="419100"/>
          </a:xfrm>
          <a:prstGeom prst="roundRect">
            <a:avLst>
              <a:gd name="adj" fmla="val 9090"/>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181100" y="5238750"/>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2</a:t>
            </a:r>
          </a:p>
        </p:txBody>
      </p:sp>
      <p:sp>
        <p:nvSpPr>
          <p:cNvPr id="54" name="TextBox 53"/>
          <p:cNvSpPr txBox="1"/>
          <p:nvPr/>
        </p:nvSpPr>
        <p:spPr>
          <a:xfrm>
            <a:off x="1752600" y="5219700"/>
            <a:ext cx="2190750" cy="381000"/>
          </a:xfrm>
          <a:prstGeom prst="rect">
            <a:avLst/>
          </a:prstGeom>
          <a:noFill/>
        </p:spPr>
        <p:txBody>
          <a:bodyPr wrap="square" lIns="0" rIns="0" tIns="0" bIns="0" anchor="t">
            <a:spAutoFit/>
          </a:bodyPr>
          <a:lstStyle/>
          <a:p>
            <a:pPr algn="l">
              <a:lnSpc>
                <a:spcPct val="95800"/>
              </a:lnSpc>
            </a:pPr>
            <a:r>
              <a:rPr sz="2100" b="1" i="0">
                <a:solidFill>
                  <a:srgbClr val="F3F7FC"/>
                </a:solidFill>
                <a:latin typeface="Montserrat"/>
              </a:rPr>
              <a:t>Embeddings</a:t>
            </a:r>
          </a:p>
        </p:txBody>
      </p:sp>
      <p:sp>
        <p:nvSpPr>
          <p:cNvPr id="55" name="TextBox 54"/>
          <p:cNvSpPr txBox="1"/>
          <p:nvPr/>
        </p:nvSpPr>
        <p:spPr>
          <a:xfrm>
            <a:off x="1752600" y="5581650"/>
            <a:ext cx="2190750" cy="285750"/>
          </a:xfrm>
          <a:prstGeom prst="rect">
            <a:avLst/>
          </a:prstGeom>
          <a:noFill/>
        </p:spPr>
        <p:txBody>
          <a:bodyPr wrap="square" lIns="0" rIns="0" tIns="0" bIns="0" anchor="t">
            <a:spAutoFit/>
          </a:bodyPr>
          <a:lstStyle/>
          <a:p>
            <a:pPr algn="l">
              <a:lnSpc>
                <a:spcPct val="104200"/>
              </a:lnSpc>
            </a:pPr>
            <a:r>
              <a:rPr sz="1500" b="0" i="0">
                <a:solidFill>
                  <a:srgbClr val="9FB4CC"/>
                </a:solidFill>
                <a:latin typeface="Barlow"/>
              </a:rPr>
              <a:t>encoders congelados</a:t>
            </a:r>
          </a:p>
        </p:txBody>
      </p:sp>
      <p:sp>
        <p:nvSpPr>
          <p:cNvPr id="56" name="TextBox 55"/>
          <p:cNvSpPr txBox="1"/>
          <p:nvPr/>
        </p:nvSpPr>
        <p:spPr>
          <a:xfrm>
            <a:off x="1181100" y="6115050"/>
            <a:ext cx="2476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MIRA</a:t>
            </a:r>
          </a:p>
        </p:txBody>
      </p:sp>
      <p:sp>
        <p:nvSpPr>
          <p:cNvPr id="57" name="TextBox 56"/>
          <p:cNvSpPr txBox="1"/>
          <p:nvPr/>
        </p:nvSpPr>
        <p:spPr>
          <a:xfrm>
            <a:off x="1181100" y="6343650"/>
            <a:ext cx="2571750" cy="533400"/>
          </a:xfrm>
          <a:prstGeom prst="rect">
            <a:avLst/>
          </a:prstGeom>
          <a:noFill/>
        </p:spPr>
        <p:txBody>
          <a:bodyPr wrap="square" lIns="0" rIns="0" tIns="0" bIns="0" anchor="t">
            <a:spAutoFit/>
          </a:bodyPr>
          <a:lstStyle/>
          <a:p>
            <a:pPr algn="l">
              <a:lnSpc>
                <a:spcPct val="95800"/>
              </a:lnSpc>
            </a:pPr>
            <a:r>
              <a:rPr sz="3000" b="1" i="0">
                <a:solidFill>
                  <a:srgbClr val="E0566B"/>
                </a:solidFill>
                <a:latin typeface="Montserrat"/>
              </a:rPr>
              <a:t>lo propio</a:t>
            </a:r>
          </a:p>
        </p:txBody>
      </p:sp>
      <p:sp>
        <p:nvSpPr>
          <p:cNvPr id="58" name="Rectangle 57"/>
          <p:cNvSpPr/>
          <p:nvPr/>
        </p:nvSpPr>
        <p:spPr>
          <a:xfrm>
            <a:off x="3886200" y="52197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4152900" y="5334000"/>
            <a:ext cx="476250" cy="381000"/>
          </a:xfrm>
          <a:prstGeom prst="roundRect">
            <a:avLst>
              <a:gd name="adj" fmla="val 15000"/>
            </a:avLst>
          </a:prstGeom>
          <a:solidFill>
            <a:srgbClr val="0F2C52"/>
          </a:solidFill>
          <a:ln w="14287">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152900" y="5334000"/>
            <a:ext cx="476250" cy="381000"/>
          </a:xfrm>
          <a:prstGeom prst="rect">
            <a:avLst/>
          </a:prstGeom>
          <a:noFill/>
        </p:spPr>
        <p:txBody>
          <a:bodyPr wrap="square" lIns="0" rIns="0" tIns="0" bIns="0" anchor="ctr">
            <a:spAutoFit/>
          </a:bodyPr>
          <a:lstStyle/>
          <a:p>
            <a:pPr algn="ctr">
              <a:lnSpc>
                <a:spcPct val="95800"/>
              </a:lnSpc>
            </a:pPr>
            <a:r>
              <a:rPr sz="1575" b="1" i="0">
                <a:solidFill>
                  <a:srgbClr val="FFD21F"/>
                </a:solidFill>
                <a:latin typeface="Montserrat"/>
              </a:rPr>
              <a:t>A</a:t>
            </a:r>
          </a:p>
        </p:txBody>
      </p:sp>
      <p:sp>
        <p:nvSpPr>
          <p:cNvPr id="61" name="Rounded Rectangle 60"/>
          <p:cNvSpPr/>
          <p:nvPr/>
        </p:nvSpPr>
        <p:spPr>
          <a:xfrm>
            <a:off x="4152900" y="6115050"/>
            <a:ext cx="476250" cy="381000"/>
          </a:xfrm>
          <a:prstGeom prst="roundRect">
            <a:avLst>
              <a:gd name="adj" fmla="val 15000"/>
            </a:avLst>
          </a:prstGeom>
          <a:solidFill>
            <a:srgbClr val="0F2C52"/>
          </a:solidFill>
          <a:ln w="14287">
            <a:solidFill>
              <a:srgbClr val="4F9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4152900" y="6115050"/>
            <a:ext cx="476250" cy="381000"/>
          </a:xfrm>
          <a:prstGeom prst="rect">
            <a:avLst/>
          </a:prstGeom>
          <a:noFill/>
        </p:spPr>
        <p:txBody>
          <a:bodyPr wrap="square" lIns="0" rIns="0" tIns="0" bIns="0" anchor="ctr">
            <a:spAutoFit/>
          </a:bodyPr>
          <a:lstStyle/>
          <a:p>
            <a:pPr algn="ctr">
              <a:lnSpc>
                <a:spcPct val="95800"/>
              </a:lnSpc>
            </a:pPr>
            <a:r>
              <a:rPr sz="1575" b="1" i="0">
                <a:solidFill>
                  <a:srgbClr val="4F9BFF"/>
                </a:solidFill>
                <a:latin typeface="Montserrat"/>
              </a:rPr>
              <a:t>B</a:t>
            </a:r>
          </a:p>
        </p:txBody>
      </p:sp>
      <p:sp>
        <p:nvSpPr>
          <p:cNvPr id="63" name="Right Arrow 62"/>
          <p:cNvSpPr/>
          <p:nvPr/>
        </p:nvSpPr>
        <p:spPr>
          <a:xfrm>
            <a:off x="4686300" y="5457825"/>
            <a:ext cx="285750" cy="13335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5048250" y="5334000"/>
            <a:ext cx="990600" cy="381000"/>
          </a:xfrm>
          <a:prstGeom prst="roundRect">
            <a:avLst>
              <a:gd name="adj" fmla="val 15000"/>
            </a:avLst>
          </a:prstGeom>
          <a:solidFill>
            <a:srgbClr val="0C2445"/>
          </a:solidFill>
          <a:ln w="14287">
            <a:solidFill>
              <a:srgbClr val="6D8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5048250" y="5334000"/>
            <a:ext cx="990600" cy="381000"/>
          </a:xfrm>
          <a:prstGeom prst="rect">
            <a:avLst/>
          </a:prstGeom>
          <a:noFill/>
        </p:spPr>
        <p:txBody>
          <a:bodyPr wrap="square" lIns="0" rIns="0" tIns="0" bIns="0" anchor="ctr">
            <a:spAutoFit/>
          </a:bodyPr>
          <a:lstStyle/>
          <a:p>
            <a:pPr algn="ctr">
              <a:lnSpc>
                <a:spcPct val="83300"/>
              </a:lnSpc>
            </a:pPr>
            <a:r>
              <a:rPr sz="1425" b="0" i="0">
                <a:solidFill>
                  <a:srgbClr val="9FB4CC"/>
                </a:solidFill>
                <a:latin typeface="Barlow"/>
              </a:rPr>
              <a:t>encoder</a:t>
            </a:r>
          </a:p>
        </p:txBody>
      </p:sp>
      <p:cxnSp>
        <p:nvCxnSpPr>
          <p:cNvPr id="66" name="Connector 65"/>
          <p:cNvCxnSpPr/>
          <p:nvPr/>
        </p:nvCxnSpPr>
        <p:spPr>
          <a:xfrm>
            <a:off x="6096000" y="5524500"/>
            <a:ext cx="266700" cy="295275"/>
          </a:xfrm>
          <a:prstGeom prst="line">
            <a:avLst/>
          </a:prstGeom>
          <a:ln w="19050">
            <a:solidFill>
              <a:srgbClr val="6D8F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ight Arrow 66"/>
          <p:cNvSpPr/>
          <p:nvPr/>
        </p:nvSpPr>
        <p:spPr>
          <a:xfrm>
            <a:off x="4686300" y="6238875"/>
            <a:ext cx="285750" cy="13335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048250" y="6115050"/>
            <a:ext cx="990600" cy="381000"/>
          </a:xfrm>
          <a:prstGeom prst="roundRect">
            <a:avLst>
              <a:gd name="adj" fmla="val 15000"/>
            </a:avLst>
          </a:prstGeom>
          <a:solidFill>
            <a:srgbClr val="0C2445"/>
          </a:solidFill>
          <a:ln w="14287">
            <a:solidFill>
              <a:srgbClr val="6D8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48250" y="6115050"/>
            <a:ext cx="990600" cy="381000"/>
          </a:xfrm>
          <a:prstGeom prst="rect">
            <a:avLst/>
          </a:prstGeom>
          <a:noFill/>
        </p:spPr>
        <p:txBody>
          <a:bodyPr wrap="square" lIns="0" rIns="0" tIns="0" bIns="0" anchor="ctr">
            <a:spAutoFit/>
          </a:bodyPr>
          <a:lstStyle/>
          <a:p>
            <a:pPr algn="ctr">
              <a:lnSpc>
                <a:spcPct val="83300"/>
              </a:lnSpc>
            </a:pPr>
            <a:r>
              <a:rPr sz="1425" b="0" i="0">
                <a:solidFill>
                  <a:srgbClr val="9FB4CC"/>
                </a:solidFill>
                <a:latin typeface="Barlow"/>
              </a:rPr>
              <a:t>encoder</a:t>
            </a:r>
          </a:p>
        </p:txBody>
      </p:sp>
      <p:cxnSp>
        <p:nvCxnSpPr>
          <p:cNvPr id="70" name="Connector 69"/>
          <p:cNvCxnSpPr/>
          <p:nvPr/>
        </p:nvCxnSpPr>
        <p:spPr>
          <a:xfrm flipV="1">
            <a:off x="6096000" y="6010275"/>
            <a:ext cx="266700" cy="295275"/>
          </a:xfrm>
          <a:prstGeom prst="line">
            <a:avLst/>
          </a:prstGeom>
          <a:ln w="19050">
            <a:solidFill>
              <a:srgbClr val="6D8F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6391275" y="5619750"/>
            <a:ext cx="590550" cy="590550"/>
          </a:xfrm>
          <a:prstGeom prst="ellipse">
            <a:avLst/>
          </a:prstGeom>
          <a:solidFill>
            <a:srgbClr val="0F2C52"/>
          </a:solidFill>
          <a:ln w="19050">
            <a:solidFill>
              <a:srgbClr val="E056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91275" y="5619750"/>
            <a:ext cx="590550" cy="590550"/>
          </a:xfrm>
          <a:prstGeom prst="rect">
            <a:avLst/>
          </a:prstGeom>
          <a:noFill/>
        </p:spPr>
        <p:txBody>
          <a:bodyPr wrap="square" lIns="0" rIns="0" tIns="0" bIns="0" anchor="ctr">
            <a:spAutoFit/>
          </a:bodyPr>
          <a:lstStyle/>
          <a:p>
            <a:pPr algn="ctr">
              <a:lnSpc>
                <a:spcPct val="83300"/>
              </a:lnSpc>
            </a:pPr>
            <a:r>
              <a:rPr sz="1425" b="0" i="0">
                <a:solidFill>
                  <a:srgbClr val="F3F7FC"/>
                </a:solidFill>
                <a:latin typeface="Barlow"/>
              </a:rPr>
              <a:t>cos</a:t>
            </a:r>
          </a:p>
        </p:txBody>
      </p:sp>
      <p:sp>
        <p:nvSpPr>
          <p:cNvPr id="73" name="TextBox 72"/>
          <p:cNvSpPr txBox="1"/>
          <p:nvPr/>
        </p:nvSpPr>
        <p:spPr>
          <a:xfrm>
            <a:off x="3924300" y="6724650"/>
            <a:ext cx="3143250" cy="285750"/>
          </a:xfrm>
          <a:prstGeom prst="rect">
            <a:avLst/>
          </a:prstGeom>
          <a:noFill/>
        </p:spPr>
        <p:txBody>
          <a:bodyPr wrap="square" lIns="0" rIns="0" tIns="0" bIns="0" anchor="t">
            <a:spAutoFit/>
          </a:bodyPr>
          <a:lstStyle/>
          <a:p>
            <a:pPr algn="ctr">
              <a:lnSpc>
                <a:spcPct val="104200"/>
              </a:lnSpc>
            </a:pPr>
            <a:r>
              <a:rPr sz="1500" b="0" i="0">
                <a:solidFill>
                  <a:srgbClr val="9FB4CC"/>
                </a:solidFill>
                <a:latin typeface="Barlow"/>
              </a:rPr>
              <a:t>Cada texto por separado</a:t>
            </a:r>
          </a:p>
        </p:txBody>
      </p:sp>
      <p:sp>
        <p:nvSpPr>
          <p:cNvPr id="74" name="Rectangle 73"/>
          <p:cNvSpPr/>
          <p:nvPr/>
        </p:nvSpPr>
        <p:spPr>
          <a:xfrm>
            <a:off x="7162800" y="52197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7429500" y="5200650"/>
            <a:ext cx="2286000" cy="628650"/>
          </a:xfrm>
          <a:prstGeom prst="rect">
            <a:avLst/>
          </a:prstGeom>
          <a:noFill/>
        </p:spPr>
        <p:txBody>
          <a:bodyPr wrap="square" lIns="0" rIns="0" tIns="0" bIns="0" anchor="t">
            <a:spAutoFit/>
          </a:bodyPr>
          <a:lstStyle/>
          <a:p>
            <a:pPr algn="l">
              <a:lnSpc>
                <a:spcPct val="95800"/>
              </a:lnSpc>
            </a:pPr>
            <a:r>
              <a:rPr sz="3900" b="1" i="0">
                <a:solidFill>
                  <a:srgbClr val="E0566B"/>
                </a:solidFill>
                <a:latin typeface="Montserrat"/>
              </a:rPr>
              <a:t>8,84%</a:t>
            </a:r>
          </a:p>
        </p:txBody>
      </p:sp>
      <p:sp>
        <p:nvSpPr>
          <p:cNvPr id="76" name="TextBox 75"/>
          <p:cNvSpPr txBox="1"/>
          <p:nvPr/>
        </p:nvSpPr>
        <p:spPr>
          <a:xfrm>
            <a:off x="7429500" y="5867400"/>
            <a:ext cx="2286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RECALL@1</a:t>
            </a:r>
          </a:p>
        </p:txBody>
      </p:sp>
      <p:sp>
        <p:nvSpPr>
          <p:cNvPr id="77" name="Rounded Rectangle 76"/>
          <p:cNvSpPr/>
          <p:nvPr/>
        </p:nvSpPr>
        <p:spPr>
          <a:xfrm>
            <a:off x="7429500" y="6438900"/>
            <a:ext cx="2293590" cy="342900"/>
          </a:xfrm>
          <a:prstGeom prst="roundRect">
            <a:avLst>
              <a:gd name="adj" fmla="val 11111"/>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429500" y="6438900"/>
            <a:ext cx="2293590"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FRACASO LEGÍTIMO</a:t>
            </a:r>
          </a:p>
        </p:txBody>
      </p:sp>
      <p:sp>
        <p:nvSpPr>
          <p:cNvPr id="79" name="Rectangle 78"/>
          <p:cNvSpPr/>
          <p:nvPr/>
        </p:nvSpPr>
        <p:spPr>
          <a:xfrm>
            <a:off x="914400" y="7353300"/>
            <a:ext cx="8991600" cy="21717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914400" y="7353300"/>
            <a:ext cx="57150" cy="21717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1181100" y="7600950"/>
            <a:ext cx="419100" cy="419100"/>
          </a:xfrm>
          <a:prstGeom prst="roundRect">
            <a:avLst>
              <a:gd name="adj" fmla="val 909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181100" y="7600950"/>
            <a:ext cx="419100" cy="419100"/>
          </a:xfrm>
          <a:prstGeom prst="rect">
            <a:avLst/>
          </a:prstGeom>
          <a:noFill/>
        </p:spPr>
        <p:txBody>
          <a:bodyPr wrap="none" lIns="0" rIns="0" tIns="0" bIns="0" anchor="ctr">
            <a:spAutoFit/>
          </a:bodyPr>
          <a:lstStyle/>
          <a:p>
            <a:pPr algn="ctr">
              <a:lnSpc>
                <a:spcPct val="100000"/>
              </a:lnSpc>
            </a:pPr>
            <a:r>
              <a:rPr sz="1518" b="1" i="0">
                <a:solidFill>
                  <a:srgbClr val="07172D"/>
                </a:solidFill>
                <a:latin typeface="Montserrat"/>
              </a:rPr>
              <a:t>3</a:t>
            </a:r>
          </a:p>
        </p:txBody>
      </p:sp>
      <p:sp>
        <p:nvSpPr>
          <p:cNvPr id="83" name="TextBox 82"/>
          <p:cNvSpPr txBox="1"/>
          <p:nvPr/>
        </p:nvSpPr>
        <p:spPr>
          <a:xfrm>
            <a:off x="1752600" y="7581900"/>
            <a:ext cx="2190750" cy="381000"/>
          </a:xfrm>
          <a:prstGeom prst="rect">
            <a:avLst/>
          </a:prstGeom>
          <a:noFill/>
        </p:spPr>
        <p:txBody>
          <a:bodyPr wrap="square" lIns="0" rIns="0" tIns="0" bIns="0" anchor="t">
            <a:spAutoFit/>
          </a:bodyPr>
          <a:lstStyle/>
          <a:p>
            <a:pPr algn="l">
              <a:lnSpc>
                <a:spcPct val="95800"/>
              </a:lnSpc>
            </a:pPr>
            <a:r>
              <a:rPr sz="2100" b="1" i="0">
                <a:solidFill>
                  <a:srgbClr val="F3F7FC"/>
                </a:solidFill>
                <a:latin typeface="Montserrat"/>
              </a:rPr>
              <a:t>Cross-encoder</a:t>
            </a:r>
          </a:p>
        </p:txBody>
      </p:sp>
      <p:sp>
        <p:nvSpPr>
          <p:cNvPr id="84" name="TextBox 83"/>
          <p:cNvSpPr txBox="1"/>
          <p:nvPr/>
        </p:nvSpPr>
        <p:spPr>
          <a:xfrm>
            <a:off x="1752600" y="7943850"/>
            <a:ext cx="2190750" cy="285750"/>
          </a:xfrm>
          <a:prstGeom prst="rect">
            <a:avLst/>
          </a:prstGeom>
          <a:noFill/>
        </p:spPr>
        <p:txBody>
          <a:bodyPr wrap="square" lIns="0" rIns="0" tIns="0" bIns="0" anchor="t">
            <a:spAutoFit/>
          </a:bodyPr>
          <a:lstStyle/>
          <a:p>
            <a:pPr algn="l">
              <a:lnSpc>
                <a:spcPct val="104200"/>
              </a:lnSpc>
            </a:pPr>
            <a:r>
              <a:rPr sz="1500" b="0" i="0">
                <a:solidFill>
                  <a:srgbClr val="9FB4CC"/>
                </a:solidFill>
                <a:latin typeface="Barlow"/>
              </a:rPr>
              <a:t>fine-tuneado</a:t>
            </a:r>
          </a:p>
        </p:txBody>
      </p:sp>
      <p:sp>
        <p:nvSpPr>
          <p:cNvPr id="85" name="TextBox 84"/>
          <p:cNvSpPr txBox="1"/>
          <p:nvPr/>
        </p:nvSpPr>
        <p:spPr>
          <a:xfrm>
            <a:off x="1181100" y="8477250"/>
            <a:ext cx="2476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MIRA</a:t>
            </a:r>
          </a:p>
        </p:txBody>
      </p:sp>
      <p:sp>
        <p:nvSpPr>
          <p:cNvPr id="86" name="TextBox 85"/>
          <p:cNvSpPr txBox="1"/>
          <p:nvPr/>
        </p:nvSpPr>
        <p:spPr>
          <a:xfrm>
            <a:off x="1181100" y="8705850"/>
            <a:ext cx="2571750" cy="533400"/>
          </a:xfrm>
          <a:prstGeom prst="rect">
            <a:avLst/>
          </a:prstGeom>
          <a:noFill/>
        </p:spPr>
        <p:txBody>
          <a:bodyPr wrap="square" lIns="0" rIns="0" tIns="0" bIns="0" anchor="t">
            <a:spAutoFit/>
          </a:bodyPr>
          <a:lstStyle/>
          <a:p>
            <a:pPr algn="l">
              <a:lnSpc>
                <a:spcPct val="95800"/>
              </a:lnSpc>
            </a:pPr>
            <a:r>
              <a:rPr sz="3000" b="1" i="0">
                <a:solidFill>
                  <a:srgbClr val="FFD21F"/>
                </a:solidFill>
                <a:latin typeface="Montserrat"/>
              </a:rPr>
              <a:t>todo</a:t>
            </a:r>
          </a:p>
        </p:txBody>
      </p:sp>
      <p:sp>
        <p:nvSpPr>
          <p:cNvPr id="87" name="Rectangle 86"/>
          <p:cNvSpPr/>
          <p:nvPr/>
        </p:nvSpPr>
        <p:spPr>
          <a:xfrm>
            <a:off x="3886200" y="75819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ounded Rectangle 87"/>
          <p:cNvSpPr/>
          <p:nvPr/>
        </p:nvSpPr>
        <p:spPr>
          <a:xfrm>
            <a:off x="4076700" y="7600950"/>
            <a:ext cx="628650" cy="1352550"/>
          </a:xfrm>
          <a:prstGeom prst="roundRect">
            <a:avLst>
              <a:gd name="adj" fmla="val 12121"/>
            </a:avLst>
          </a:prstGeom>
          <a:no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unded Rectangle 88"/>
          <p:cNvSpPr/>
          <p:nvPr/>
        </p:nvSpPr>
        <p:spPr>
          <a:xfrm>
            <a:off x="4152900" y="7696200"/>
            <a:ext cx="476250" cy="381000"/>
          </a:xfrm>
          <a:prstGeom prst="roundRect">
            <a:avLst>
              <a:gd name="adj" fmla="val 15000"/>
            </a:avLst>
          </a:prstGeom>
          <a:solidFill>
            <a:srgbClr val="0F2C52"/>
          </a:solidFill>
          <a:ln w="14287">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4152900" y="7696200"/>
            <a:ext cx="476250" cy="381000"/>
          </a:xfrm>
          <a:prstGeom prst="rect">
            <a:avLst/>
          </a:prstGeom>
          <a:noFill/>
        </p:spPr>
        <p:txBody>
          <a:bodyPr wrap="square" lIns="0" rIns="0" tIns="0" bIns="0" anchor="ctr">
            <a:spAutoFit/>
          </a:bodyPr>
          <a:lstStyle/>
          <a:p>
            <a:pPr algn="ctr">
              <a:lnSpc>
                <a:spcPct val="95800"/>
              </a:lnSpc>
            </a:pPr>
            <a:r>
              <a:rPr sz="1575" b="1" i="0">
                <a:solidFill>
                  <a:srgbClr val="FFD21F"/>
                </a:solidFill>
                <a:latin typeface="Montserrat"/>
              </a:rPr>
              <a:t>A</a:t>
            </a:r>
          </a:p>
        </p:txBody>
      </p:sp>
      <p:sp>
        <p:nvSpPr>
          <p:cNvPr id="91" name="Rounded Rectangle 90"/>
          <p:cNvSpPr/>
          <p:nvPr/>
        </p:nvSpPr>
        <p:spPr>
          <a:xfrm>
            <a:off x="4152900" y="8477250"/>
            <a:ext cx="476250" cy="381000"/>
          </a:xfrm>
          <a:prstGeom prst="roundRect">
            <a:avLst>
              <a:gd name="adj" fmla="val 15000"/>
            </a:avLst>
          </a:prstGeom>
          <a:solidFill>
            <a:srgbClr val="0F2C52"/>
          </a:solidFill>
          <a:ln w="14287">
            <a:solidFill>
              <a:srgbClr val="4F9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4152900" y="8477250"/>
            <a:ext cx="476250" cy="381000"/>
          </a:xfrm>
          <a:prstGeom prst="rect">
            <a:avLst/>
          </a:prstGeom>
          <a:noFill/>
        </p:spPr>
        <p:txBody>
          <a:bodyPr wrap="square" lIns="0" rIns="0" tIns="0" bIns="0" anchor="ctr">
            <a:spAutoFit/>
          </a:bodyPr>
          <a:lstStyle/>
          <a:p>
            <a:pPr algn="ctr">
              <a:lnSpc>
                <a:spcPct val="95800"/>
              </a:lnSpc>
            </a:pPr>
            <a:r>
              <a:rPr sz="1575" b="1" i="0">
                <a:solidFill>
                  <a:srgbClr val="4F9BFF"/>
                </a:solidFill>
                <a:latin typeface="Montserrat"/>
              </a:rPr>
              <a:t>B</a:t>
            </a:r>
          </a:p>
        </p:txBody>
      </p:sp>
      <p:sp>
        <p:nvSpPr>
          <p:cNvPr id="93" name="Right Arrow 92"/>
          <p:cNvSpPr/>
          <p:nvPr/>
        </p:nvSpPr>
        <p:spPr>
          <a:xfrm>
            <a:off x="4762500" y="8201025"/>
            <a:ext cx="26670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5086350" y="7743825"/>
            <a:ext cx="1143000" cy="1066800"/>
          </a:xfrm>
          <a:prstGeom prst="roundRect">
            <a:avLst>
              <a:gd name="adj" fmla="val 5357"/>
            </a:avLst>
          </a:prstGeom>
          <a:solidFill>
            <a:srgbClr val="0C2445"/>
          </a:solidFill>
          <a:ln w="14287">
            <a:solidFill>
              <a:srgbClr val="FFD21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5" name="Connector 94"/>
          <p:cNvCxnSpPr/>
          <p:nvPr/>
        </p:nvCxnSpPr>
        <p:spPr>
          <a:xfrm>
            <a:off x="5314950" y="8029575"/>
            <a:ext cx="685800" cy="0"/>
          </a:xfrm>
          <a:prstGeom prst="line">
            <a:avLst/>
          </a:prstGeom>
          <a:ln w="19050">
            <a:solidFill>
              <a:srgbClr val="6D8FB2"/>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314950" y="8524875"/>
            <a:ext cx="685800" cy="0"/>
          </a:xfrm>
          <a:prstGeom prst="line">
            <a:avLst/>
          </a:prstGeom>
          <a:ln w="19050">
            <a:solidFill>
              <a:srgbClr val="6D8FB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314950" y="8029575"/>
            <a:ext cx="685800" cy="495300"/>
          </a:xfrm>
          <a:prstGeom prst="line">
            <a:avLst/>
          </a:prstGeom>
          <a:ln w="28575">
            <a:solidFill>
              <a:srgbClr val="FFD21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314950" y="8029575"/>
            <a:ext cx="685800" cy="495300"/>
          </a:xfrm>
          <a:prstGeom prst="line">
            <a:avLst/>
          </a:prstGeom>
          <a:ln w="28575">
            <a:solidFill>
              <a:srgbClr val="FFD21F"/>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248275" y="7962900"/>
            <a:ext cx="133350" cy="1333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5248275" y="8458200"/>
            <a:ext cx="133350" cy="133350"/>
          </a:xfrm>
          <a:prstGeom prst="ellipse">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934075" y="7962900"/>
            <a:ext cx="133350" cy="133350"/>
          </a:xfrm>
          <a:prstGeom prst="ellips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5934075" y="8458200"/>
            <a:ext cx="133350" cy="133350"/>
          </a:xfrm>
          <a:prstGeom prst="ellipse">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6267450" y="8277225"/>
            <a:ext cx="95250" cy="0"/>
          </a:xfrm>
          <a:prstGeom prst="line">
            <a:avLst/>
          </a:prstGeom>
          <a:ln w="19050">
            <a:solidFill>
              <a:srgbClr val="FFD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6391275" y="7981950"/>
            <a:ext cx="590550" cy="590550"/>
          </a:xfrm>
          <a:prstGeom prst="ellipse">
            <a:avLst/>
          </a:prstGeom>
          <a:solidFill>
            <a:srgbClr val="0F2C52"/>
          </a:solid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391275" y="7981950"/>
            <a:ext cx="590550" cy="590550"/>
          </a:xfrm>
          <a:prstGeom prst="rect">
            <a:avLst/>
          </a:prstGeom>
          <a:noFill/>
        </p:spPr>
        <p:txBody>
          <a:bodyPr wrap="square" lIns="0" rIns="0" tIns="0" bIns="0" anchor="ctr">
            <a:spAutoFit/>
          </a:bodyPr>
          <a:lstStyle/>
          <a:p>
            <a:pPr algn="ctr">
              <a:lnSpc>
                <a:spcPct val="83300"/>
              </a:lnSpc>
            </a:pPr>
            <a:r>
              <a:rPr sz="1425" b="0" i="0">
                <a:solidFill>
                  <a:srgbClr val="F3F7FC"/>
                </a:solidFill>
                <a:latin typeface="Barlow"/>
              </a:rPr>
              <a:t>score</a:t>
            </a:r>
          </a:p>
        </p:txBody>
      </p:sp>
      <p:sp>
        <p:nvSpPr>
          <p:cNvPr id="106" name="TextBox 105"/>
          <p:cNvSpPr txBox="1"/>
          <p:nvPr/>
        </p:nvSpPr>
        <p:spPr>
          <a:xfrm>
            <a:off x="3924300" y="9086850"/>
            <a:ext cx="3143250" cy="285750"/>
          </a:xfrm>
          <a:prstGeom prst="rect">
            <a:avLst/>
          </a:prstGeom>
          <a:noFill/>
        </p:spPr>
        <p:txBody>
          <a:bodyPr wrap="square" lIns="0" rIns="0" tIns="0" bIns="0" anchor="t">
            <a:spAutoFit/>
          </a:bodyPr>
          <a:lstStyle/>
          <a:p>
            <a:pPr algn="ctr">
              <a:lnSpc>
                <a:spcPct val="104200"/>
              </a:lnSpc>
            </a:pPr>
            <a:r>
              <a:rPr sz="1500" b="0" i="0">
                <a:solidFill>
                  <a:srgbClr val="9FB4CC"/>
                </a:solidFill>
                <a:latin typeface="Barlow"/>
              </a:rPr>
              <a:t>Una secuencia · atención cruzada</a:t>
            </a:r>
          </a:p>
        </p:txBody>
      </p:sp>
      <p:sp>
        <p:nvSpPr>
          <p:cNvPr id="107" name="Rectangle 106"/>
          <p:cNvSpPr/>
          <p:nvPr/>
        </p:nvSpPr>
        <p:spPr>
          <a:xfrm>
            <a:off x="7162800" y="7581900"/>
            <a:ext cx="14288" cy="17145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429500" y="7562850"/>
            <a:ext cx="2286000" cy="628650"/>
          </a:xfrm>
          <a:prstGeom prst="rect">
            <a:avLst/>
          </a:prstGeom>
          <a:noFill/>
        </p:spPr>
        <p:txBody>
          <a:bodyPr wrap="square" lIns="0" rIns="0" tIns="0" bIns="0" anchor="t">
            <a:spAutoFit/>
          </a:bodyPr>
          <a:lstStyle/>
          <a:p>
            <a:pPr algn="l">
              <a:lnSpc>
                <a:spcPct val="95800"/>
              </a:lnSpc>
            </a:pPr>
            <a:r>
              <a:rPr sz="3900" b="1" i="0">
                <a:solidFill>
                  <a:srgbClr val="FFD21F"/>
                </a:solidFill>
                <a:latin typeface="Montserrat"/>
              </a:rPr>
              <a:t>97,41%</a:t>
            </a:r>
          </a:p>
        </p:txBody>
      </p:sp>
      <p:sp>
        <p:nvSpPr>
          <p:cNvPr id="109" name="TextBox 108"/>
          <p:cNvSpPr txBox="1"/>
          <p:nvPr/>
        </p:nvSpPr>
        <p:spPr>
          <a:xfrm>
            <a:off x="7429500" y="8229600"/>
            <a:ext cx="2286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F1 DE PARES</a:t>
            </a:r>
          </a:p>
        </p:txBody>
      </p:sp>
      <p:sp>
        <p:nvSpPr>
          <p:cNvPr id="110" name="Rounded Rectangle 109"/>
          <p:cNvSpPr/>
          <p:nvPr/>
        </p:nvSpPr>
        <p:spPr>
          <a:xfrm>
            <a:off x="7429500" y="8801100"/>
            <a:ext cx="1511260"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7429500" y="8801100"/>
            <a:ext cx="1511260"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VALIDADOR</a:t>
            </a:r>
          </a:p>
        </p:txBody>
      </p:sp>
      <p:sp>
        <p:nvSpPr>
          <p:cNvPr id="112" name="Rectangle 111"/>
          <p:cNvSpPr/>
          <p:nvPr/>
        </p:nvSpPr>
        <p:spPr>
          <a:xfrm>
            <a:off x="10210800" y="2628900"/>
            <a:ext cx="7162800" cy="68961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Esquinero"/>
          <p:cNvSpPr/>
          <p:nvPr/>
        </p:nvSpPr>
        <p:spPr>
          <a:xfrm>
            <a:off x="101155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Esquinero"/>
          <p:cNvSpPr/>
          <p:nvPr/>
        </p:nvSpPr>
        <p:spPr>
          <a:xfrm>
            <a:off x="101155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Esquinero"/>
          <p:cNvSpPr/>
          <p:nvPr/>
        </p:nvSpPr>
        <p:spPr>
          <a:xfrm>
            <a:off x="10115550"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Esquinero"/>
          <p:cNvSpPr/>
          <p:nvPr/>
        </p:nvSpPr>
        <p:spPr>
          <a:xfrm>
            <a:off x="1011555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Esquinero"/>
          <p:cNvSpPr/>
          <p:nvPr/>
        </p:nvSpPr>
        <p:spPr>
          <a:xfrm>
            <a:off x="17440275"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Esquinero"/>
          <p:cNvSpPr/>
          <p:nvPr/>
        </p:nvSpPr>
        <p:spPr>
          <a:xfrm>
            <a:off x="1714500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0477500" y="2819400"/>
            <a:ext cx="66294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MODELO 3 · LA LECTURA CONJUNTA</a:t>
            </a:r>
          </a:p>
        </p:txBody>
      </p:sp>
      <p:sp>
        <p:nvSpPr>
          <p:cNvPr id="122" name="Rounded Rectangle 121"/>
          <p:cNvSpPr/>
          <p:nvPr/>
        </p:nvSpPr>
        <p:spPr>
          <a:xfrm>
            <a:off x="10382250" y="3162300"/>
            <a:ext cx="6819900" cy="990600"/>
          </a:xfrm>
          <a:prstGeom prst="roundRect">
            <a:avLst>
              <a:gd name="adj" fmla="val 5769"/>
            </a:avLst>
          </a:prstGeom>
          <a:noFill/>
          <a:ln w="14287">
            <a:solidFill>
              <a:srgbClr val="FFD21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14644152" y="2800350"/>
            <a:ext cx="2557998" cy="295275"/>
          </a:xfrm>
          <a:prstGeom prst="roundRect">
            <a:avLst>
              <a:gd name="adj" fmla="val 12903"/>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4644152" y="2800350"/>
            <a:ext cx="2557998" cy="295275"/>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UNA SOLA SECUENCIA</a:t>
            </a:r>
          </a:p>
        </p:txBody>
      </p:sp>
      <p:sp>
        <p:nvSpPr>
          <p:cNvPr id="125" name="TextBox 124"/>
          <p:cNvSpPr txBox="1"/>
          <p:nvPr/>
        </p:nvSpPr>
        <p:spPr>
          <a:xfrm>
            <a:off x="10515600" y="3257550"/>
            <a:ext cx="285750" cy="361950"/>
          </a:xfrm>
          <a:prstGeom prst="rect">
            <a:avLst/>
          </a:prstGeom>
          <a:noFill/>
        </p:spPr>
        <p:txBody>
          <a:bodyPr wrap="square" lIns="0" rIns="0" tIns="0" bIns="0" anchor="ctr">
            <a:spAutoFit/>
          </a:bodyPr>
          <a:lstStyle/>
          <a:p>
            <a:pPr algn="l">
              <a:lnSpc>
                <a:spcPct val="95800"/>
              </a:lnSpc>
            </a:pPr>
            <a:r>
              <a:rPr sz="1800" b="1" i="0">
                <a:solidFill>
                  <a:srgbClr val="FFD21F"/>
                </a:solidFill>
                <a:latin typeface="Montserrat"/>
              </a:rPr>
              <a:t>A</a:t>
            </a:r>
          </a:p>
        </p:txBody>
      </p:sp>
      <p:sp>
        <p:nvSpPr>
          <p:cNvPr id="126" name="Rounded Rectangle 125"/>
          <p:cNvSpPr/>
          <p:nvPr/>
        </p:nvSpPr>
        <p:spPr>
          <a:xfrm>
            <a:off x="10858500" y="3257550"/>
            <a:ext cx="742801" cy="361950"/>
          </a:xfrm>
          <a:prstGeom prst="roundRect">
            <a:avLst>
              <a:gd name="adj" fmla="val 15789"/>
            </a:avLst>
          </a:prstGeom>
          <a:solidFill>
            <a:srgbClr val="0F2C52"/>
          </a:solidFill>
          <a:ln w="9525">
            <a:solidFill>
              <a:srgbClr val="6D8FB2">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10858500" y="3257550"/>
            <a:ext cx="742801" cy="361950"/>
          </a:xfrm>
          <a:prstGeom prst="rect">
            <a:avLst/>
          </a:prstGeom>
          <a:noFill/>
        </p:spPr>
        <p:txBody>
          <a:bodyPr wrap="none" lIns="0" rIns="0" tIns="0" bIns="0" anchor="ctr">
            <a:spAutoFit/>
          </a:bodyPr>
          <a:lstStyle/>
          <a:p>
            <a:pPr algn="ctr">
              <a:lnSpc>
                <a:spcPct val="100000"/>
              </a:lnSpc>
            </a:pPr>
            <a:r>
              <a:rPr sz="1350" b="0" i="0">
                <a:solidFill>
                  <a:srgbClr val="9FB4CC"/>
                </a:solidFill>
                <a:latin typeface="Roboto Mono"/>
              </a:rPr>
              <a:t>[CLS]</a:t>
            </a:r>
          </a:p>
        </p:txBody>
      </p:sp>
      <p:sp>
        <p:nvSpPr>
          <p:cNvPr id="128" name="Rounded Rectangle 127"/>
          <p:cNvSpPr/>
          <p:nvPr/>
        </p:nvSpPr>
        <p:spPr>
          <a:xfrm>
            <a:off x="11677501" y="3257550"/>
            <a:ext cx="948482" cy="361950"/>
          </a:xfrm>
          <a:prstGeom prst="roundRect">
            <a:avLst>
              <a:gd name="adj" fmla="val 15789"/>
            </a:avLst>
          </a:prstGeom>
          <a:solidFill>
            <a:srgbClr val="0F2C52"/>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11677501" y="3257550"/>
            <a:ext cx="948482" cy="36195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philips</a:t>
            </a:r>
          </a:p>
        </p:txBody>
      </p:sp>
      <p:sp>
        <p:nvSpPr>
          <p:cNvPr id="130" name="Rounded Rectangle 129"/>
          <p:cNvSpPr/>
          <p:nvPr/>
        </p:nvSpPr>
        <p:spPr>
          <a:xfrm>
            <a:off x="12702183" y="3257550"/>
            <a:ext cx="845641" cy="361950"/>
          </a:xfrm>
          <a:prstGeom prst="roundRect">
            <a:avLst>
              <a:gd name="adj" fmla="val 15789"/>
            </a:avLst>
          </a:prstGeom>
          <a:solidFill>
            <a:srgbClr val="0F2C52"/>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12702183" y="3257550"/>
            <a:ext cx="845641" cy="36195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neopix</a:t>
            </a:r>
          </a:p>
        </p:txBody>
      </p:sp>
      <p:sp>
        <p:nvSpPr>
          <p:cNvPr id="132" name="Rounded Rectangle 131"/>
          <p:cNvSpPr/>
          <p:nvPr/>
        </p:nvSpPr>
        <p:spPr>
          <a:xfrm>
            <a:off x="13624024" y="3257550"/>
            <a:ext cx="537121" cy="361950"/>
          </a:xfrm>
          <a:prstGeom prst="roundRect">
            <a:avLst>
              <a:gd name="adj" fmla="val 15789"/>
            </a:avLst>
          </a:prstGeom>
          <a:solidFill>
            <a:srgbClr val="0F2C52"/>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13624024" y="3257550"/>
            <a:ext cx="537121" cy="361950"/>
          </a:xfrm>
          <a:prstGeom prst="rect">
            <a:avLst/>
          </a:prstGeom>
          <a:noFill/>
        </p:spPr>
        <p:txBody>
          <a:bodyPr wrap="none" lIns="0" rIns="0" tIns="0" bIns="0" anchor="ctr">
            <a:spAutoFit/>
          </a:bodyPr>
          <a:lstStyle/>
          <a:p>
            <a:pPr algn="ctr">
              <a:lnSpc>
                <a:spcPct val="100000"/>
              </a:lnSpc>
            </a:pPr>
            <a:r>
              <a:rPr sz="1350" b="0" i="0">
                <a:solidFill>
                  <a:srgbClr val="FFD21F"/>
                </a:solidFill>
                <a:latin typeface="Roboto Mono"/>
              </a:rPr>
              <a:t>150</a:t>
            </a:r>
          </a:p>
        </p:txBody>
      </p:sp>
      <p:sp>
        <p:nvSpPr>
          <p:cNvPr id="134" name="Rounded Rectangle 133"/>
          <p:cNvSpPr/>
          <p:nvPr/>
        </p:nvSpPr>
        <p:spPr>
          <a:xfrm>
            <a:off x="14237345" y="3257550"/>
            <a:ext cx="1257002" cy="361950"/>
          </a:xfrm>
          <a:prstGeom prst="roundRect">
            <a:avLst>
              <a:gd name="adj" fmla="val 15789"/>
            </a:avLst>
          </a:prstGeom>
          <a:solidFill>
            <a:srgbClr val="FFD21F"/>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14237345" y="3257550"/>
            <a:ext cx="1257002" cy="361950"/>
          </a:xfrm>
          <a:prstGeom prst="rect">
            <a:avLst/>
          </a:prstGeom>
          <a:noFill/>
        </p:spPr>
        <p:txBody>
          <a:bodyPr wrap="none" lIns="0" rIns="0" tIns="0" bIns="0" anchor="ctr">
            <a:spAutoFit/>
          </a:bodyPr>
          <a:lstStyle/>
          <a:p>
            <a:pPr algn="ctr">
              <a:lnSpc>
                <a:spcPct val="100000"/>
              </a:lnSpc>
            </a:pPr>
            <a:r>
              <a:rPr sz="1350" b="0" i="0">
                <a:solidFill>
                  <a:srgbClr val="07172D"/>
                </a:solidFill>
                <a:latin typeface="Roboto Mono"/>
              </a:rPr>
              <a:t>npx150/int</a:t>
            </a:r>
          </a:p>
        </p:txBody>
      </p:sp>
      <p:sp>
        <p:nvSpPr>
          <p:cNvPr id="136" name="Rounded Rectangle 135"/>
          <p:cNvSpPr/>
          <p:nvPr/>
        </p:nvSpPr>
        <p:spPr>
          <a:xfrm>
            <a:off x="15570547" y="3257550"/>
            <a:ext cx="742801" cy="361950"/>
          </a:xfrm>
          <a:prstGeom prst="roundRect">
            <a:avLst>
              <a:gd name="adj" fmla="val 15789"/>
            </a:avLst>
          </a:prstGeom>
          <a:solidFill>
            <a:srgbClr val="0F2C52"/>
          </a:solidFill>
          <a:ln w="9525">
            <a:solidFill>
              <a:srgbClr val="6D8FB2">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15570547" y="3257550"/>
            <a:ext cx="742801" cy="361950"/>
          </a:xfrm>
          <a:prstGeom prst="rect">
            <a:avLst/>
          </a:prstGeom>
          <a:noFill/>
        </p:spPr>
        <p:txBody>
          <a:bodyPr wrap="none" lIns="0" rIns="0" tIns="0" bIns="0" anchor="ctr">
            <a:spAutoFit/>
          </a:bodyPr>
          <a:lstStyle/>
          <a:p>
            <a:pPr algn="ctr">
              <a:lnSpc>
                <a:spcPct val="100000"/>
              </a:lnSpc>
            </a:pPr>
            <a:r>
              <a:rPr sz="1350" b="0" i="0">
                <a:solidFill>
                  <a:srgbClr val="9FB4CC"/>
                </a:solidFill>
                <a:latin typeface="Roboto Mono"/>
              </a:rPr>
              <a:t>[SEP]</a:t>
            </a:r>
          </a:p>
        </p:txBody>
      </p:sp>
      <p:sp>
        <p:nvSpPr>
          <p:cNvPr id="138" name="TextBox 137"/>
          <p:cNvSpPr txBox="1"/>
          <p:nvPr/>
        </p:nvSpPr>
        <p:spPr>
          <a:xfrm>
            <a:off x="10515600" y="3695700"/>
            <a:ext cx="285750" cy="361950"/>
          </a:xfrm>
          <a:prstGeom prst="rect">
            <a:avLst/>
          </a:prstGeom>
          <a:noFill/>
        </p:spPr>
        <p:txBody>
          <a:bodyPr wrap="square" lIns="0" rIns="0" tIns="0" bIns="0" anchor="ctr">
            <a:spAutoFit/>
          </a:bodyPr>
          <a:lstStyle/>
          <a:p>
            <a:pPr algn="l">
              <a:lnSpc>
                <a:spcPct val="95800"/>
              </a:lnSpc>
            </a:pPr>
            <a:r>
              <a:rPr sz="1800" b="1" i="0">
                <a:solidFill>
                  <a:srgbClr val="4F9BFF"/>
                </a:solidFill>
                <a:latin typeface="Montserrat"/>
              </a:rPr>
              <a:t>B</a:t>
            </a:r>
          </a:p>
        </p:txBody>
      </p:sp>
      <p:sp>
        <p:nvSpPr>
          <p:cNvPr id="139" name="Rounded Rectangle 138"/>
          <p:cNvSpPr/>
          <p:nvPr/>
        </p:nvSpPr>
        <p:spPr>
          <a:xfrm>
            <a:off x="10858500" y="3695700"/>
            <a:ext cx="1154162" cy="361950"/>
          </a:xfrm>
          <a:prstGeom prst="roundRect">
            <a:avLst>
              <a:gd name="adj" fmla="val 15789"/>
            </a:avLst>
          </a:prstGeom>
          <a:solidFill>
            <a:srgbClr val="0F2C52"/>
          </a:solidFill>
          <a:ln w="9525">
            <a:solidFill>
              <a:srgbClr val="4F9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10858500" y="3695700"/>
            <a:ext cx="1154162" cy="361950"/>
          </a:xfrm>
          <a:prstGeom prst="rect">
            <a:avLst/>
          </a:prstGeom>
          <a:noFill/>
        </p:spPr>
        <p:txBody>
          <a:bodyPr wrap="none" lIns="0" rIns="0" tIns="0" bIns="0" anchor="ctr">
            <a:spAutoFit/>
          </a:bodyPr>
          <a:lstStyle/>
          <a:p>
            <a:pPr algn="ctr">
              <a:lnSpc>
                <a:spcPct val="100000"/>
              </a:lnSpc>
            </a:pPr>
            <a:r>
              <a:rPr sz="1350" b="0" i="0">
                <a:solidFill>
                  <a:srgbClr val="4F9BFF"/>
                </a:solidFill>
                <a:latin typeface="Roboto Mono"/>
              </a:rPr>
              <a:t>proyector</a:t>
            </a:r>
          </a:p>
        </p:txBody>
      </p:sp>
      <p:sp>
        <p:nvSpPr>
          <p:cNvPr id="141" name="Rounded Rectangle 140"/>
          <p:cNvSpPr/>
          <p:nvPr/>
        </p:nvSpPr>
        <p:spPr>
          <a:xfrm>
            <a:off x="12088862" y="3695700"/>
            <a:ext cx="948482" cy="361950"/>
          </a:xfrm>
          <a:prstGeom prst="roundRect">
            <a:avLst>
              <a:gd name="adj" fmla="val 15789"/>
            </a:avLst>
          </a:prstGeom>
          <a:solidFill>
            <a:srgbClr val="0F2C52"/>
          </a:solidFill>
          <a:ln w="9525">
            <a:solidFill>
              <a:srgbClr val="4F9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12088862" y="3695700"/>
            <a:ext cx="948482" cy="361950"/>
          </a:xfrm>
          <a:prstGeom prst="rect">
            <a:avLst/>
          </a:prstGeom>
          <a:noFill/>
        </p:spPr>
        <p:txBody>
          <a:bodyPr wrap="none" lIns="0" rIns="0" tIns="0" bIns="0" anchor="ctr">
            <a:spAutoFit/>
          </a:bodyPr>
          <a:lstStyle/>
          <a:p>
            <a:pPr algn="ctr">
              <a:lnSpc>
                <a:spcPct val="100000"/>
              </a:lnSpc>
            </a:pPr>
            <a:r>
              <a:rPr sz="1350" b="0" i="0">
                <a:solidFill>
                  <a:srgbClr val="4F9BFF"/>
                </a:solidFill>
                <a:latin typeface="Roboto Mono"/>
              </a:rPr>
              <a:t>philips</a:t>
            </a:r>
          </a:p>
        </p:txBody>
      </p:sp>
      <p:sp>
        <p:nvSpPr>
          <p:cNvPr id="143" name="Rounded Rectangle 142"/>
          <p:cNvSpPr/>
          <p:nvPr/>
        </p:nvSpPr>
        <p:spPr>
          <a:xfrm>
            <a:off x="13113544" y="3695700"/>
            <a:ext cx="845641" cy="361950"/>
          </a:xfrm>
          <a:prstGeom prst="roundRect">
            <a:avLst>
              <a:gd name="adj" fmla="val 15789"/>
            </a:avLst>
          </a:prstGeom>
          <a:solidFill>
            <a:srgbClr val="0F2C52"/>
          </a:solidFill>
          <a:ln w="9525">
            <a:solidFill>
              <a:srgbClr val="4F9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13113544" y="3695700"/>
            <a:ext cx="845641" cy="361950"/>
          </a:xfrm>
          <a:prstGeom prst="rect">
            <a:avLst/>
          </a:prstGeom>
          <a:noFill/>
        </p:spPr>
        <p:txBody>
          <a:bodyPr wrap="none" lIns="0" rIns="0" tIns="0" bIns="0" anchor="ctr">
            <a:spAutoFit/>
          </a:bodyPr>
          <a:lstStyle/>
          <a:p>
            <a:pPr algn="ctr">
              <a:lnSpc>
                <a:spcPct val="100000"/>
              </a:lnSpc>
            </a:pPr>
            <a:r>
              <a:rPr sz="1350" b="0" i="0">
                <a:solidFill>
                  <a:srgbClr val="4F9BFF"/>
                </a:solidFill>
                <a:latin typeface="Roboto Mono"/>
              </a:rPr>
              <a:t>neopix</a:t>
            </a:r>
          </a:p>
        </p:txBody>
      </p:sp>
      <p:sp>
        <p:nvSpPr>
          <p:cNvPr id="145" name="Rounded Rectangle 144"/>
          <p:cNvSpPr/>
          <p:nvPr/>
        </p:nvSpPr>
        <p:spPr>
          <a:xfrm>
            <a:off x="14035385" y="3695700"/>
            <a:ext cx="537121" cy="361950"/>
          </a:xfrm>
          <a:prstGeom prst="roundRect">
            <a:avLst>
              <a:gd name="adj" fmla="val 15789"/>
            </a:avLst>
          </a:prstGeom>
          <a:solidFill>
            <a:srgbClr val="0F2C52"/>
          </a:solidFill>
          <a:ln w="9525">
            <a:solidFill>
              <a:srgbClr val="4F9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4035385" y="3695700"/>
            <a:ext cx="537121" cy="361950"/>
          </a:xfrm>
          <a:prstGeom prst="rect">
            <a:avLst/>
          </a:prstGeom>
          <a:noFill/>
        </p:spPr>
        <p:txBody>
          <a:bodyPr wrap="none" lIns="0" rIns="0" tIns="0" bIns="0" anchor="ctr">
            <a:spAutoFit/>
          </a:bodyPr>
          <a:lstStyle/>
          <a:p>
            <a:pPr algn="ctr">
              <a:lnSpc>
                <a:spcPct val="100000"/>
              </a:lnSpc>
            </a:pPr>
            <a:r>
              <a:rPr sz="1350" b="0" i="0">
                <a:solidFill>
                  <a:srgbClr val="4F9BFF"/>
                </a:solidFill>
                <a:latin typeface="Roboto Mono"/>
              </a:rPr>
              <a:t>150</a:t>
            </a:r>
          </a:p>
        </p:txBody>
      </p:sp>
      <p:sp>
        <p:nvSpPr>
          <p:cNvPr id="147" name="Rounded Rectangle 146"/>
          <p:cNvSpPr/>
          <p:nvPr/>
        </p:nvSpPr>
        <p:spPr>
          <a:xfrm>
            <a:off x="14648706" y="3695700"/>
            <a:ext cx="1154162" cy="361950"/>
          </a:xfrm>
          <a:prstGeom prst="roundRect">
            <a:avLst>
              <a:gd name="adj" fmla="val 15789"/>
            </a:avLst>
          </a:prstGeom>
          <a:solidFill>
            <a:srgbClr val="FFD21F"/>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4648706" y="3695700"/>
            <a:ext cx="1154162" cy="361950"/>
          </a:xfrm>
          <a:prstGeom prst="rect">
            <a:avLst/>
          </a:prstGeom>
          <a:noFill/>
        </p:spPr>
        <p:txBody>
          <a:bodyPr wrap="none" lIns="0" rIns="0" tIns="0" bIns="0" anchor="ctr">
            <a:spAutoFit/>
          </a:bodyPr>
          <a:lstStyle/>
          <a:p>
            <a:pPr algn="ctr">
              <a:lnSpc>
                <a:spcPct val="100000"/>
              </a:lnSpc>
            </a:pPr>
            <a:r>
              <a:rPr sz="1350" b="0" i="0">
                <a:solidFill>
                  <a:srgbClr val="07172D"/>
                </a:solidFill>
                <a:latin typeface="Roboto Mono"/>
              </a:rPr>
              <a:t>npx150/90</a:t>
            </a:r>
          </a:p>
        </p:txBody>
      </p:sp>
      <p:sp>
        <p:nvSpPr>
          <p:cNvPr id="149" name="Rounded Rectangle 148"/>
          <p:cNvSpPr/>
          <p:nvPr/>
        </p:nvSpPr>
        <p:spPr>
          <a:xfrm>
            <a:off x="15879068" y="3695700"/>
            <a:ext cx="742801" cy="361950"/>
          </a:xfrm>
          <a:prstGeom prst="roundRect">
            <a:avLst>
              <a:gd name="adj" fmla="val 15789"/>
            </a:avLst>
          </a:prstGeom>
          <a:solidFill>
            <a:srgbClr val="0F2C52"/>
          </a:solidFill>
          <a:ln w="9525">
            <a:solidFill>
              <a:srgbClr val="6D8FB2">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15879068" y="3695700"/>
            <a:ext cx="742801" cy="361950"/>
          </a:xfrm>
          <a:prstGeom prst="rect">
            <a:avLst/>
          </a:prstGeom>
          <a:noFill/>
        </p:spPr>
        <p:txBody>
          <a:bodyPr wrap="none" lIns="0" rIns="0" tIns="0" bIns="0" anchor="ctr">
            <a:spAutoFit/>
          </a:bodyPr>
          <a:lstStyle/>
          <a:p>
            <a:pPr algn="ctr">
              <a:lnSpc>
                <a:spcPct val="100000"/>
              </a:lnSpc>
            </a:pPr>
            <a:r>
              <a:rPr sz="1350" b="0" i="0">
                <a:solidFill>
                  <a:srgbClr val="9FB4CC"/>
                </a:solidFill>
                <a:latin typeface="Roboto Mono"/>
              </a:rPr>
              <a:t>[SEP]</a:t>
            </a:r>
          </a:p>
        </p:txBody>
      </p:sp>
      <p:sp>
        <p:nvSpPr>
          <p:cNvPr id="151" name="Right Arrow 150"/>
          <p:cNvSpPr/>
          <p:nvPr/>
        </p:nvSpPr>
        <p:spPr>
          <a:xfrm rot="5400000">
            <a:off x="10515600" y="4362450"/>
            <a:ext cx="209550" cy="1333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858500" y="4305300"/>
            <a:ext cx="1333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CONSULTA</a:t>
            </a:r>
          </a:p>
        </p:txBody>
      </p:sp>
      <p:sp>
        <p:nvSpPr>
          <p:cNvPr id="153" name="TextBox 152"/>
          <p:cNvSpPr txBox="1"/>
          <p:nvPr/>
        </p:nvSpPr>
        <p:spPr>
          <a:xfrm>
            <a:off x="12136636" y="4305300"/>
            <a:ext cx="285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a:t>
            </a:r>
          </a:p>
        </p:txBody>
      </p:sp>
      <p:sp>
        <p:nvSpPr>
          <p:cNvPr id="154" name="TextBox 153"/>
          <p:cNvSpPr txBox="1"/>
          <p:nvPr/>
        </p:nvSpPr>
        <p:spPr>
          <a:xfrm>
            <a:off x="12384286" y="4305300"/>
            <a:ext cx="1333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ATENDIDO</a:t>
            </a:r>
          </a:p>
        </p:txBody>
      </p:sp>
      <p:sp>
        <p:nvSpPr>
          <p:cNvPr id="155" name="Right Arrow 154"/>
          <p:cNvSpPr/>
          <p:nvPr/>
        </p:nvSpPr>
        <p:spPr>
          <a:xfrm>
            <a:off x="13567767" y="4367212"/>
            <a:ext cx="247650" cy="13335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896600" y="4648200"/>
            <a:ext cx="3048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A · PRODUCTO OFICIAL</a:t>
            </a:r>
          </a:p>
        </p:txBody>
      </p:sp>
      <p:sp>
        <p:nvSpPr>
          <p:cNvPr id="157" name="TextBox 156"/>
          <p:cNvSpPr txBox="1"/>
          <p:nvPr/>
        </p:nvSpPr>
        <p:spPr>
          <a:xfrm>
            <a:off x="14058900" y="4648200"/>
            <a:ext cx="3048000" cy="257175"/>
          </a:xfrm>
          <a:prstGeom prst="rect">
            <a:avLst/>
          </a:prstGeom>
          <a:noFill/>
        </p:spPr>
        <p:txBody>
          <a:bodyPr wrap="square" lIns="0" rIns="0" tIns="0" bIns="0" anchor="t">
            <a:spAutoFit/>
          </a:bodyPr>
          <a:lstStyle/>
          <a:p>
            <a:pPr algn="l">
              <a:lnSpc>
                <a:spcPct val="100000"/>
              </a:lnSpc>
            </a:pPr>
            <a:r>
              <a:rPr sz="1350" b="1" i="0" spc="150">
                <a:solidFill>
                  <a:srgbClr val="4F9BFF"/>
                </a:solidFill>
                <a:latin typeface="Montserrat"/>
              </a:rPr>
              <a:t>B · PUBLICACIÓN RETAILER</a:t>
            </a:r>
          </a:p>
        </p:txBody>
      </p:sp>
      <p:sp>
        <p:nvSpPr>
          <p:cNvPr id="158" name="TextBox 157"/>
          <p:cNvSpPr txBox="1"/>
          <p:nvPr/>
        </p:nvSpPr>
        <p:spPr>
          <a:xfrm>
            <a:off x="10477500" y="4972050"/>
            <a:ext cx="342900" cy="1181100"/>
          </a:xfrm>
          <a:prstGeom prst="rect">
            <a:avLst/>
          </a:prstGeom>
          <a:noFill/>
        </p:spPr>
        <p:txBody>
          <a:bodyPr wrap="square" lIns="0" rIns="0" tIns="0" bIns="0" anchor="ctr">
            <a:spAutoFit/>
          </a:bodyPr>
          <a:lstStyle/>
          <a:p>
            <a:pPr algn="l">
              <a:lnSpc>
                <a:spcPct val="95800"/>
              </a:lnSpc>
            </a:pPr>
            <a:r>
              <a:rPr sz="2250" b="1" i="0">
                <a:solidFill>
                  <a:srgbClr val="FFD21F"/>
                </a:solidFill>
                <a:latin typeface="Montserrat"/>
              </a:rPr>
              <a:t>A</a:t>
            </a:r>
          </a:p>
        </p:txBody>
      </p:sp>
      <p:sp>
        <p:nvSpPr>
          <p:cNvPr id="159" name="Rectangle 158"/>
          <p:cNvSpPr/>
          <p:nvPr/>
        </p:nvSpPr>
        <p:spPr>
          <a:xfrm>
            <a:off x="10896600" y="4972050"/>
            <a:ext cx="3048000" cy="118110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11087100" y="5105400"/>
            <a:ext cx="251371" cy="32385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A</a:t>
            </a:r>
          </a:p>
        </p:txBody>
      </p:sp>
      <p:sp>
        <p:nvSpPr>
          <p:cNvPr id="161" name="Right Arrow 160"/>
          <p:cNvSpPr/>
          <p:nvPr/>
        </p:nvSpPr>
        <p:spPr>
          <a:xfrm>
            <a:off x="11357521" y="5191125"/>
            <a:ext cx="247650" cy="152400"/>
          </a:xfrm>
          <a:prstGeom prst="rightArrow">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681371" y="5105400"/>
            <a:ext cx="251371" cy="32385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A</a:t>
            </a:r>
          </a:p>
        </p:txBody>
      </p:sp>
      <p:sp>
        <p:nvSpPr>
          <p:cNvPr id="163" name="TextBox 162"/>
          <p:cNvSpPr txBox="1"/>
          <p:nvPr/>
        </p:nvSpPr>
        <p:spPr>
          <a:xfrm>
            <a:off x="11087100" y="5505450"/>
            <a:ext cx="2667000" cy="571500"/>
          </a:xfrm>
          <a:prstGeom prst="rect">
            <a:avLst/>
          </a:prstGeom>
          <a:noFill/>
        </p:spPr>
        <p:txBody>
          <a:bodyPr wrap="square" lIns="0" rIns="0" tIns="0" bIns="0" anchor="t">
            <a:spAutoFit/>
          </a:bodyPr>
          <a:lstStyle/>
          <a:p>
            <a:pPr algn="l">
              <a:lnSpc>
                <a:spcPct val="104200"/>
              </a:lnSpc>
            </a:pPr>
            <a:r>
              <a:rPr sz="1500" b="0" i="0">
                <a:solidFill>
                  <a:srgbClr val="9FB4CC"/>
                </a:solidFill>
                <a:latin typeface="Barlow"/>
              </a:rPr>
              <a:t>Se lee a sí mismo. Es lo único que ve el Modelo 2.</a:t>
            </a:r>
          </a:p>
        </p:txBody>
      </p:sp>
      <p:sp>
        <p:nvSpPr>
          <p:cNvPr id="164" name="Rectangle 163"/>
          <p:cNvSpPr/>
          <p:nvPr/>
        </p:nvSpPr>
        <p:spPr>
          <a:xfrm>
            <a:off x="14058900" y="4972050"/>
            <a:ext cx="3048000" cy="1181100"/>
          </a:xfrm>
          <a:prstGeom prst="rect">
            <a:avLst/>
          </a:prstGeom>
          <a:solidFill>
            <a:srgbClr val="0F2C52"/>
          </a:solid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14249400" y="5105400"/>
            <a:ext cx="251371" cy="323850"/>
          </a:xfrm>
          <a:prstGeom prst="rect">
            <a:avLst/>
          </a:prstGeom>
          <a:noFill/>
        </p:spPr>
        <p:txBody>
          <a:bodyPr wrap="square" lIns="0" rIns="0" tIns="0" bIns="0" anchor="ctr">
            <a:spAutoFit/>
          </a:bodyPr>
          <a:lstStyle/>
          <a:p>
            <a:pPr algn="l">
              <a:lnSpc>
                <a:spcPct val="95800"/>
              </a:lnSpc>
            </a:pPr>
            <a:r>
              <a:rPr sz="1800" b="1" i="0">
                <a:solidFill>
                  <a:srgbClr val="FFD21F"/>
                </a:solidFill>
                <a:latin typeface="Montserrat"/>
              </a:rPr>
              <a:t>A</a:t>
            </a:r>
          </a:p>
        </p:txBody>
      </p:sp>
      <p:sp>
        <p:nvSpPr>
          <p:cNvPr id="166" name="Right Arrow 165"/>
          <p:cNvSpPr/>
          <p:nvPr/>
        </p:nvSpPr>
        <p:spPr>
          <a:xfrm>
            <a:off x="14519821" y="5191125"/>
            <a:ext cx="24765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4843671" y="5105400"/>
            <a:ext cx="251073" cy="323850"/>
          </a:xfrm>
          <a:prstGeom prst="rect">
            <a:avLst/>
          </a:prstGeom>
          <a:noFill/>
        </p:spPr>
        <p:txBody>
          <a:bodyPr wrap="square" lIns="0" rIns="0" tIns="0" bIns="0" anchor="ctr">
            <a:spAutoFit/>
          </a:bodyPr>
          <a:lstStyle/>
          <a:p>
            <a:pPr algn="l">
              <a:lnSpc>
                <a:spcPct val="95800"/>
              </a:lnSpc>
            </a:pPr>
            <a:r>
              <a:rPr sz="1800" b="1" i="0">
                <a:solidFill>
                  <a:srgbClr val="FFD21F"/>
                </a:solidFill>
                <a:latin typeface="Montserrat"/>
              </a:rPr>
              <a:t>B</a:t>
            </a:r>
          </a:p>
        </p:txBody>
      </p:sp>
      <p:sp>
        <p:nvSpPr>
          <p:cNvPr id="168" name="Rounded Rectangle 167"/>
          <p:cNvSpPr/>
          <p:nvPr/>
        </p:nvSpPr>
        <p:spPr>
          <a:xfrm>
            <a:off x="15922347" y="5114925"/>
            <a:ext cx="994053" cy="304800"/>
          </a:xfrm>
          <a:prstGeom prst="roundRect">
            <a:avLst>
              <a:gd name="adj" fmla="val 125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15922347" y="5114925"/>
            <a:ext cx="994053" cy="3048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CRUCE</a:t>
            </a:r>
          </a:p>
        </p:txBody>
      </p:sp>
      <p:sp>
        <p:nvSpPr>
          <p:cNvPr id="170" name="TextBox 169"/>
          <p:cNvSpPr txBox="1"/>
          <p:nvPr/>
        </p:nvSpPr>
        <p:spPr>
          <a:xfrm>
            <a:off x="14249400" y="5505450"/>
            <a:ext cx="2667000" cy="571500"/>
          </a:xfrm>
          <a:prstGeom prst="rect">
            <a:avLst/>
          </a:prstGeom>
          <a:noFill/>
        </p:spPr>
        <p:txBody>
          <a:bodyPr wrap="square" lIns="0" rIns="0" tIns="0" bIns="0" anchor="t">
            <a:spAutoFit/>
          </a:bodyPr>
          <a:lstStyle/>
          <a:p>
            <a:pPr algn="l">
              <a:lnSpc>
                <a:spcPct val="104200"/>
              </a:lnSpc>
            </a:pPr>
            <a:r>
              <a:rPr sz="1500" b="0" i="0">
                <a:solidFill>
                  <a:srgbClr val="F3F7FC"/>
                </a:solidFill>
                <a:latin typeface="Barlow"/>
              </a:rPr>
              <a:t>Cada token del catálogo consulta el título del retailer.</a:t>
            </a:r>
          </a:p>
        </p:txBody>
      </p:sp>
      <p:sp>
        <p:nvSpPr>
          <p:cNvPr id="171" name="TextBox 170"/>
          <p:cNvSpPr txBox="1"/>
          <p:nvPr/>
        </p:nvSpPr>
        <p:spPr>
          <a:xfrm>
            <a:off x="10477500" y="6267450"/>
            <a:ext cx="342900" cy="1181100"/>
          </a:xfrm>
          <a:prstGeom prst="rect">
            <a:avLst/>
          </a:prstGeom>
          <a:noFill/>
        </p:spPr>
        <p:txBody>
          <a:bodyPr wrap="square" lIns="0" rIns="0" tIns="0" bIns="0" anchor="ctr">
            <a:spAutoFit/>
          </a:bodyPr>
          <a:lstStyle/>
          <a:p>
            <a:pPr algn="l">
              <a:lnSpc>
                <a:spcPct val="95800"/>
              </a:lnSpc>
            </a:pPr>
            <a:r>
              <a:rPr sz="2250" b="1" i="0">
                <a:solidFill>
                  <a:srgbClr val="4F9BFF"/>
                </a:solidFill>
                <a:latin typeface="Montserrat"/>
              </a:rPr>
              <a:t>B</a:t>
            </a:r>
          </a:p>
        </p:txBody>
      </p:sp>
      <p:sp>
        <p:nvSpPr>
          <p:cNvPr id="172" name="Rectangle 171"/>
          <p:cNvSpPr/>
          <p:nvPr/>
        </p:nvSpPr>
        <p:spPr>
          <a:xfrm>
            <a:off x="10896600" y="6267450"/>
            <a:ext cx="3048000" cy="1181100"/>
          </a:xfrm>
          <a:prstGeom prst="rect">
            <a:avLst/>
          </a:prstGeom>
          <a:solidFill>
            <a:srgbClr val="0F2C52"/>
          </a:solid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11087100" y="6400800"/>
            <a:ext cx="251073" cy="323850"/>
          </a:xfrm>
          <a:prstGeom prst="rect">
            <a:avLst/>
          </a:prstGeom>
          <a:noFill/>
        </p:spPr>
        <p:txBody>
          <a:bodyPr wrap="square" lIns="0" rIns="0" tIns="0" bIns="0" anchor="ctr">
            <a:spAutoFit/>
          </a:bodyPr>
          <a:lstStyle/>
          <a:p>
            <a:pPr algn="l">
              <a:lnSpc>
                <a:spcPct val="95800"/>
              </a:lnSpc>
            </a:pPr>
            <a:r>
              <a:rPr sz="1800" b="1" i="0">
                <a:solidFill>
                  <a:srgbClr val="FFD21F"/>
                </a:solidFill>
                <a:latin typeface="Montserrat"/>
              </a:rPr>
              <a:t>B</a:t>
            </a:r>
          </a:p>
        </p:txBody>
      </p:sp>
      <p:sp>
        <p:nvSpPr>
          <p:cNvPr id="174" name="Right Arrow 173"/>
          <p:cNvSpPr/>
          <p:nvPr/>
        </p:nvSpPr>
        <p:spPr>
          <a:xfrm>
            <a:off x="11357223" y="6486525"/>
            <a:ext cx="247650" cy="1524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681073" y="6400800"/>
            <a:ext cx="251371" cy="323850"/>
          </a:xfrm>
          <a:prstGeom prst="rect">
            <a:avLst/>
          </a:prstGeom>
          <a:noFill/>
        </p:spPr>
        <p:txBody>
          <a:bodyPr wrap="square" lIns="0" rIns="0" tIns="0" bIns="0" anchor="ctr">
            <a:spAutoFit/>
          </a:bodyPr>
          <a:lstStyle/>
          <a:p>
            <a:pPr algn="l">
              <a:lnSpc>
                <a:spcPct val="95800"/>
              </a:lnSpc>
            </a:pPr>
            <a:r>
              <a:rPr sz="1800" b="1" i="0">
                <a:solidFill>
                  <a:srgbClr val="FFD21F"/>
                </a:solidFill>
                <a:latin typeface="Montserrat"/>
              </a:rPr>
              <a:t>A</a:t>
            </a:r>
          </a:p>
        </p:txBody>
      </p:sp>
      <p:sp>
        <p:nvSpPr>
          <p:cNvPr id="176" name="Rounded Rectangle 175"/>
          <p:cNvSpPr/>
          <p:nvPr/>
        </p:nvSpPr>
        <p:spPr>
          <a:xfrm>
            <a:off x="12760047" y="6410325"/>
            <a:ext cx="994053" cy="304800"/>
          </a:xfrm>
          <a:prstGeom prst="roundRect">
            <a:avLst>
              <a:gd name="adj" fmla="val 125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Box 176"/>
          <p:cNvSpPr txBox="1"/>
          <p:nvPr/>
        </p:nvSpPr>
        <p:spPr>
          <a:xfrm>
            <a:off x="12760047" y="6410325"/>
            <a:ext cx="994053" cy="3048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CRUCE</a:t>
            </a:r>
          </a:p>
        </p:txBody>
      </p:sp>
      <p:sp>
        <p:nvSpPr>
          <p:cNvPr id="178" name="TextBox 177"/>
          <p:cNvSpPr txBox="1"/>
          <p:nvPr/>
        </p:nvSpPr>
        <p:spPr>
          <a:xfrm>
            <a:off x="11087100" y="6800850"/>
            <a:ext cx="2667000" cy="571500"/>
          </a:xfrm>
          <a:prstGeom prst="rect">
            <a:avLst/>
          </a:prstGeom>
          <a:noFill/>
        </p:spPr>
        <p:txBody>
          <a:bodyPr wrap="square" lIns="0" rIns="0" tIns="0" bIns="0" anchor="t">
            <a:spAutoFit/>
          </a:bodyPr>
          <a:lstStyle/>
          <a:p>
            <a:pPr algn="l">
              <a:lnSpc>
                <a:spcPct val="104200"/>
              </a:lnSpc>
            </a:pPr>
            <a:r>
              <a:rPr sz="1500" b="0" i="0">
                <a:solidFill>
                  <a:srgbClr val="F3F7FC"/>
                </a:solidFill>
                <a:latin typeface="Barlow"/>
              </a:rPr>
              <a:t>Y al revés: el sufijo </a:t>
            </a:r>
            <a:r>
              <a:rPr sz="1500" b="1" i="0">
                <a:solidFill>
                  <a:srgbClr val="FFD21F"/>
                </a:solidFill>
                <a:latin typeface="Barlow"/>
              </a:rPr>
              <a:t>/90</a:t>
            </a:r>
            <a:r>
              <a:rPr sz="1500" b="0" i="0">
                <a:solidFill>
                  <a:srgbClr val="F3F7FC"/>
                </a:solidFill>
                <a:latin typeface="Barlow"/>
              </a:rPr>
              <a:t> se confronta con </a:t>
            </a:r>
            <a:r>
              <a:rPr sz="1500" b="1" i="0">
                <a:solidFill>
                  <a:srgbClr val="FFD21F"/>
                </a:solidFill>
                <a:latin typeface="Barlow"/>
              </a:rPr>
              <a:t>/INT</a:t>
            </a:r>
            <a:r>
              <a:rPr sz="1500" b="0" i="0">
                <a:solidFill>
                  <a:srgbClr val="F3F7FC"/>
                </a:solidFill>
                <a:latin typeface="Barlow"/>
              </a:rPr>
              <a:t>.</a:t>
            </a:r>
          </a:p>
        </p:txBody>
      </p:sp>
      <p:sp>
        <p:nvSpPr>
          <p:cNvPr id="179" name="Rectangle 178"/>
          <p:cNvSpPr/>
          <p:nvPr/>
        </p:nvSpPr>
        <p:spPr>
          <a:xfrm>
            <a:off x="14058900" y="6267450"/>
            <a:ext cx="3048000" cy="118110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14249400" y="6400800"/>
            <a:ext cx="251073" cy="32385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B</a:t>
            </a:r>
          </a:p>
        </p:txBody>
      </p:sp>
      <p:sp>
        <p:nvSpPr>
          <p:cNvPr id="181" name="Right Arrow 180"/>
          <p:cNvSpPr/>
          <p:nvPr/>
        </p:nvSpPr>
        <p:spPr>
          <a:xfrm>
            <a:off x="14519523" y="6486525"/>
            <a:ext cx="247650" cy="152400"/>
          </a:xfrm>
          <a:prstGeom prst="rightArrow">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4843373" y="6400800"/>
            <a:ext cx="251073" cy="323850"/>
          </a:xfrm>
          <a:prstGeom prst="rect">
            <a:avLst/>
          </a:prstGeom>
          <a:noFill/>
        </p:spPr>
        <p:txBody>
          <a:bodyPr wrap="square" lIns="0" rIns="0" tIns="0" bIns="0" anchor="ctr">
            <a:spAutoFit/>
          </a:bodyPr>
          <a:lstStyle/>
          <a:p>
            <a:pPr algn="l">
              <a:lnSpc>
                <a:spcPct val="95800"/>
              </a:lnSpc>
            </a:pPr>
            <a:r>
              <a:rPr sz="1800" b="1" i="0">
                <a:solidFill>
                  <a:srgbClr val="F3F7FC"/>
                </a:solidFill>
                <a:latin typeface="Montserrat"/>
              </a:rPr>
              <a:t>B</a:t>
            </a:r>
          </a:p>
        </p:txBody>
      </p:sp>
      <p:sp>
        <p:nvSpPr>
          <p:cNvPr id="183" name="TextBox 182"/>
          <p:cNvSpPr txBox="1"/>
          <p:nvPr/>
        </p:nvSpPr>
        <p:spPr>
          <a:xfrm>
            <a:off x="14249400" y="6800850"/>
            <a:ext cx="2667000" cy="571500"/>
          </a:xfrm>
          <a:prstGeom prst="rect">
            <a:avLst/>
          </a:prstGeom>
          <a:noFill/>
        </p:spPr>
        <p:txBody>
          <a:bodyPr wrap="square" lIns="0" rIns="0" tIns="0" bIns="0" anchor="t">
            <a:spAutoFit/>
          </a:bodyPr>
          <a:lstStyle/>
          <a:p>
            <a:pPr algn="l">
              <a:lnSpc>
                <a:spcPct val="104200"/>
              </a:lnSpc>
            </a:pPr>
            <a:r>
              <a:rPr sz="1500" b="0" i="0">
                <a:solidFill>
                  <a:srgbClr val="9FB4CC"/>
                </a:solidFill>
                <a:latin typeface="Barlow"/>
              </a:rPr>
              <a:t>La publicación se lee a sí misma.</a:t>
            </a:r>
          </a:p>
        </p:txBody>
      </p:sp>
      <p:sp>
        <p:nvSpPr>
          <p:cNvPr id="184" name="TextBox 183"/>
          <p:cNvSpPr txBox="1"/>
          <p:nvPr/>
        </p:nvSpPr>
        <p:spPr>
          <a:xfrm>
            <a:off x="10477500" y="7696200"/>
            <a:ext cx="66294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FALSO POSITIVO POR SUFIJO DISTINTO</a:t>
            </a:r>
          </a:p>
        </p:txBody>
      </p:sp>
      <p:sp>
        <p:nvSpPr>
          <p:cNvPr id="185" name="TextBox 184"/>
          <p:cNvSpPr txBox="1"/>
          <p:nvPr/>
        </p:nvSpPr>
        <p:spPr>
          <a:xfrm>
            <a:off x="10477500" y="8058150"/>
            <a:ext cx="1619250" cy="323850"/>
          </a:xfrm>
          <a:prstGeom prst="rect">
            <a:avLst/>
          </a:prstGeom>
          <a:noFill/>
        </p:spPr>
        <p:txBody>
          <a:bodyPr wrap="square" lIns="0" rIns="0" tIns="0" bIns="0" anchor="ctr">
            <a:spAutoFit/>
          </a:bodyPr>
          <a:lstStyle/>
          <a:p>
            <a:pPr algn="l">
              <a:lnSpc>
                <a:spcPct val="104200"/>
              </a:lnSpc>
            </a:pPr>
            <a:r>
              <a:rPr sz="1500" b="0" i="0">
                <a:solidFill>
                  <a:srgbClr val="F3F7FC"/>
                </a:solidFill>
                <a:latin typeface="Barlow"/>
              </a:rPr>
              <a:t>TF-IDF</a:t>
            </a:r>
          </a:p>
        </p:txBody>
      </p:sp>
      <p:sp>
        <p:nvSpPr>
          <p:cNvPr id="186" name="Rectangle 185"/>
          <p:cNvSpPr/>
          <p:nvPr/>
        </p:nvSpPr>
        <p:spPr>
          <a:xfrm>
            <a:off x="12153900" y="8124825"/>
            <a:ext cx="38290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12153900" y="8124825"/>
            <a:ext cx="1401049"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16059150" y="8058150"/>
            <a:ext cx="1047750" cy="323850"/>
          </a:xfrm>
          <a:prstGeom prst="rect">
            <a:avLst/>
          </a:prstGeom>
          <a:noFill/>
        </p:spPr>
        <p:txBody>
          <a:bodyPr wrap="square" lIns="0" rIns="0" tIns="0" bIns="0" anchor="ctr">
            <a:spAutoFit/>
          </a:bodyPr>
          <a:lstStyle/>
          <a:p>
            <a:pPr algn="r">
              <a:lnSpc>
                <a:spcPct val="95800"/>
              </a:lnSpc>
            </a:pPr>
            <a:r>
              <a:rPr sz="1800" b="1" i="0">
                <a:solidFill>
                  <a:srgbClr val="F3F7FC"/>
                </a:solidFill>
                <a:latin typeface="Montserrat"/>
              </a:rPr>
              <a:t>36,59%</a:t>
            </a:r>
          </a:p>
        </p:txBody>
      </p:sp>
      <p:sp>
        <p:nvSpPr>
          <p:cNvPr id="189" name="TextBox 188"/>
          <p:cNvSpPr txBox="1"/>
          <p:nvPr/>
        </p:nvSpPr>
        <p:spPr>
          <a:xfrm>
            <a:off x="10477500" y="8477250"/>
            <a:ext cx="1619250" cy="323850"/>
          </a:xfrm>
          <a:prstGeom prst="rect">
            <a:avLst/>
          </a:prstGeom>
          <a:noFill/>
        </p:spPr>
        <p:txBody>
          <a:bodyPr wrap="square" lIns="0" rIns="0" tIns="0" bIns="0" anchor="ctr">
            <a:spAutoFit/>
          </a:bodyPr>
          <a:lstStyle/>
          <a:p>
            <a:pPr algn="l">
              <a:lnSpc>
                <a:spcPct val="104200"/>
              </a:lnSpc>
            </a:pPr>
            <a:r>
              <a:rPr sz="1500" b="0" i="0">
                <a:solidFill>
                  <a:srgbClr val="F3F7FC"/>
                </a:solidFill>
                <a:latin typeface="Barlow"/>
              </a:rPr>
              <a:t>Embeddings</a:t>
            </a:r>
          </a:p>
        </p:txBody>
      </p:sp>
      <p:sp>
        <p:nvSpPr>
          <p:cNvPr id="190" name="Rectangle 189"/>
          <p:cNvSpPr/>
          <p:nvPr/>
        </p:nvSpPr>
        <p:spPr>
          <a:xfrm>
            <a:off x="12153900" y="8543925"/>
            <a:ext cx="38290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12153900" y="8543925"/>
            <a:ext cx="3455335"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16059150" y="8477250"/>
            <a:ext cx="1047750" cy="323850"/>
          </a:xfrm>
          <a:prstGeom prst="rect">
            <a:avLst/>
          </a:prstGeom>
          <a:noFill/>
        </p:spPr>
        <p:txBody>
          <a:bodyPr wrap="square" lIns="0" rIns="0" tIns="0" bIns="0" anchor="ctr">
            <a:spAutoFit/>
          </a:bodyPr>
          <a:lstStyle/>
          <a:p>
            <a:pPr algn="r">
              <a:lnSpc>
                <a:spcPct val="95800"/>
              </a:lnSpc>
            </a:pPr>
            <a:r>
              <a:rPr sz="1800" b="1" i="0">
                <a:solidFill>
                  <a:srgbClr val="E0566B"/>
                </a:solidFill>
                <a:latin typeface="Montserrat"/>
              </a:rPr>
              <a:t>90,24%</a:t>
            </a:r>
          </a:p>
        </p:txBody>
      </p:sp>
      <p:sp>
        <p:nvSpPr>
          <p:cNvPr id="193" name="TextBox 192"/>
          <p:cNvSpPr txBox="1"/>
          <p:nvPr/>
        </p:nvSpPr>
        <p:spPr>
          <a:xfrm>
            <a:off x="10477500" y="8896350"/>
            <a:ext cx="1619250" cy="323850"/>
          </a:xfrm>
          <a:prstGeom prst="rect">
            <a:avLst/>
          </a:prstGeom>
          <a:noFill/>
        </p:spPr>
        <p:txBody>
          <a:bodyPr wrap="square" lIns="0" rIns="0" tIns="0" bIns="0" anchor="ctr">
            <a:spAutoFit/>
          </a:bodyPr>
          <a:lstStyle/>
          <a:p>
            <a:pPr algn="l">
              <a:lnSpc>
                <a:spcPct val="104200"/>
              </a:lnSpc>
            </a:pPr>
            <a:r>
              <a:rPr sz="1500" b="0" i="0">
                <a:solidFill>
                  <a:srgbClr val="F3F7FC"/>
                </a:solidFill>
                <a:latin typeface="Barlow"/>
              </a:rPr>
              <a:t>Cross-encoder</a:t>
            </a:r>
          </a:p>
        </p:txBody>
      </p:sp>
      <p:sp>
        <p:nvSpPr>
          <p:cNvPr id="194" name="Rectangle 193"/>
          <p:cNvSpPr/>
          <p:nvPr/>
        </p:nvSpPr>
        <p:spPr>
          <a:xfrm>
            <a:off x="12153900" y="8963025"/>
            <a:ext cx="38290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ectangle 194"/>
          <p:cNvSpPr/>
          <p:nvPr/>
        </p:nvSpPr>
        <p:spPr>
          <a:xfrm>
            <a:off x="12153900" y="8963025"/>
            <a:ext cx="186858"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16059150" y="8896350"/>
            <a:ext cx="1047750" cy="323850"/>
          </a:xfrm>
          <a:prstGeom prst="rect">
            <a:avLst/>
          </a:prstGeom>
          <a:noFill/>
        </p:spPr>
        <p:txBody>
          <a:bodyPr wrap="square" lIns="0" rIns="0" tIns="0" bIns="0" anchor="ctr">
            <a:spAutoFit/>
          </a:bodyPr>
          <a:lstStyle/>
          <a:p>
            <a:pPr algn="r">
              <a:lnSpc>
                <a:spcPct val="95800"/>
              </a:lnSpc>
            </a:pPr>
            <a:r>
              <a:rPr sz="1800" b="1" i="0">
                <a:solidFill>
                  <a:srgbClr val="FFD21F"/>
                </a:solidFill>
                <a:latin typeface="Montserrat"/>
              </a:rPr>
              <a:t>4,88%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PROTOCOLO EXPERIMENTAL</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Protocolo sin fuga: lo que decide no es el algoritmo</a:t>
            </a:r>
          </a:p>
        </p:txBody>
      </p:sp>
      <p:sp>
        <p:nvSpPr>
          <p:cNvPr id="9" name="TextBox 8"/>
          <p:cNvSpPr txBox="1"/>
          <p:nvPr/>
        </p:nvSpPr>
        <p:spPr>
          <a:xfrm>
            <a:off x="914400" y="2628900"/>
            <a:ext cx="5905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PROTOCOLO FIJADO ANTES DE EVALUAR</a:t>
            </a:r>
          </a:p>
        </p:txBody>
      </p:sp>
      <p:sp>
        <p:nvSpPr>
          <p:cNvPr id="10" name="Rectangle 9"/>
          <p:cNvSpPr/>
          <p:nvPr/>
        </p:nvSpPr>
        <p:spPr>
          <a:xfrm>
            <a:off x="914400" y="2971800"/>
            <a:ext cx="5905500" cy="990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14400" y="2971800"/>
            <a:ext cx="57150" cy="990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181100" y="3162300"/>
            <a:ext cx="927675" cy="342900"/>
          </a:xfrm>
          <a:prstGeom prst="roundRect">
            <a:avLst>
              <a:gd name="adj" fmla="val 11111"/>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1100" y="3162300"/>
            <a:ext cx="927675"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TRAIN</a:t>
            </a:r>
          </a:p>
        </p:txBody>
      </p:sp>
      <p:sp>
        <p:nvSpPr>
          <p:cNvPr id="14" name="TextBox 13"/>
          <p:cNvSpPr txBox="1"/>
          <p:nvPr/>
        </p:nvSpPr>
        <p:spPr>
          <a:xfrm>
            <a:off x="2280225" y="3124200"/>
            <a:ext cx="2286000" cy="419100"/>
          </a:xfrm>
          <a:prstGeom prst="rect">
            <a:avLst/>
          </a:prstGeom>
          <a:noFill/>
        </p:spPr>
        <p:txBody>
          <a:bodyPr wrap="square" lIns="0" rIns="0" tIns="0" bIns="0" anchor="ctr">
            <a:spAutoFit/>
          </a:bodyPr>
          <a:lstStyle/>
          <a:p>
            <a:pPr algn="l">
              <a:lnSpc>
                <a:spcPct val="95800"/>
              </a:lnSpc>
            </a:pPr>
            <a:r>
              <a:rPr sz="2100" b="1" i="0">
                <a:solidFill>
                  <a:srgbClr val="F3F7FC"/>
                </a:solidFill>
                <a:latin typeface="Montserrat"/>
              </a:rPr>
              <a:t>2025-01 … 10</a:t>
            </a:r>
          </a:p>
        </p:txBody>
      </p:sp>
      <p:sp>
        <p:nvSpPr>
          <p:cNvPr id="15" name="TextBox 14"/>
          <p:cNvSpPr txBox="1"/>
          <p:nvPr/>
        </p:nvSpPr>
        <p:spPr>
          <a:xfrm>
            <a:off x="1181100" y="3562350"/>
            <a:ext cx="5372100" cy="285750"/>
          </a:xfrm>
          <a:prstGeom prst="rect">
            <a:avLst/>
          </a:prstGeom>
          <a:noFill/>
        </p:spPr>
        <p:txBody>
          <a:bodyPr wrap="square" lIns="0" rIns="0" tIns="0" bIns="0" anchor="t">
            <a:spAutoFit/>
          </a:bodyPr>
          <a:lstStyle/>
          <a:p>
            <a:pPr algn="l">
              <a:lnSpc>
                <a:spcPct val="104200"/>
              </a:lnSpc>
            </a:pPr>
            <a:r>
              <a:rPr sz="1575" b="0" i="0">
                <a:solidFill>
                  <a:srgbClr val="9FB4CC"/>
                </a:solidFill>
                <a:latin typeface="Barlow"/>
              </a:rPr>
              <a:t>Ajusta las transformaciones. Nada más.</a:t>
            </a:r>
          </a:p>
        </p:txBody>
      </p:sp>
      <p:sp>
        <p:nvSpPr>
          <p:cNvPr id="16" name="Rectangle 15"/>
          <p:cNvSpPr/>
          <p:nvPr/>
        </p:nvSpPr>
        <p:spPr>
          <a:xfrm>
            <a:off x="3838575" y="3981450"/>
            <a:ext cx="57150" cy="838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10800000">
            <a:off x="3762375" y="4044315"/>
            <a:ext cx="209550" cy="14668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191000"/>
            <a:ext cx="5905500" cy="1752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14400" y="4191000"/>
            <a:ext cx="57150" cy="1752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181100" y="4381500"/>
            <a:ext cx="1549777"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81100" y="4381500"/>
            <a:ext cx="1549777"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VALIDATION</a:t>
            </a:r>
          </a:p>
        </p:txBody>
      </p:sp>
      <p:sp>
        <p:nvSpPr>
          <p:cNvPr id="22" name="TextBox 21"/>
          <p:cNvSpPr txBox="1"/>
          <p:nvPr/>
        </p:nvSpPr>
        <p:spPr>
          <a:xfrm>
            <a:off x="2902327" y="4343400"/>
            <a:ext cx="2286000" cy="419100"/>
          </a:xfrm>
          <a:prstGeom prst="rect">
            <a:avLst/>
          </a:prstGeom>
          <a:noFill/>
        </p:spPr>
        <p:txBody>
          <a:bodyPr wrap="square" lIns="0" rIns="0" tIns="0" bIns="0" anchor="ctr">
            <a:spAutoFit/>
          </a:bodyPr>
          <a:lstStyle/>
          <a:p>
            <a:pPr algn="l">
              <a:lnSpc>
                <a:spcPct val="95800"/>
              </a:lnSpc>
            </a:pPr>
            <a:r>
              <a:rPr sz="2100" b="1" i="0">
                <a:solidFill>
                  <a:srgbClr val="F3F7FC"/>
                </a:solidFill>
                <a:latin typeface="Montserrat"/>
              </a:rPr>
              <a:t>2025-11</a:t>
            </a:r>
          </a:p>
        </p:txBody>
      </p:sp>
      <p:sp>
        <p:nvSpPr>
          <p:cNvPr id="23" name="TextBox 22"/>
          <p:cNvSpPr txBox="1"/>
          <p:nvPr/>
        </p:nvSpPr>
        <p:spPr>
          <a:xfrm>
            <a:off x="4076700" y="4343400"/>
            <a:ext cx="2476500" cy="419100"/>
          </a:xfrm>
          <a:prstGeom prst="rect">
            <a:avLst/>
          </a:prstGeom>
          <a:noFill/>
        </p:spPr>
        <p:txBody>
          <a:bodyPr wrap="square" lIns="0" rIns="0" tIns="0" bIns="0" anchor="ctr">
            <a:spAutoFit/>
          </a:bodyPr>
          <a:lstStyle/>
          <a:p>
            <a:pPr algn="r">
              <a:lnSpc>
                <a:spcPct val="95800"/>
              </a:lnSpc>
            </a:pPr>
            <a:r>
              <a:rPr sz="2100" b="1" i="0">
                <a:solidFill>
                  <a:srgbClr val="FFD21F"/>
                </a:solidFill>
                <a:latin typeface="Montserrat"/>
              </a:rPr>
              <a:t>428 consultas</a:t>
            </a:r>
          </a:p>
        </p:txBody>
      </p:sp>
      <p:sp>
        <p:nvSpPr>
          <p:cNvPr id="24" name="TextBox 23"/>
          <p:cNvSpPr txBox="1"/>
          <p:nvPr/>
        </p:nvSpPr>
        <p:spPr>
          <a:xfrm>
            <a:off x="1181100" y="4781550"/>
            <a:ext cx="5372100" cy="285750"/>
          </a:xfrm>
          <a:prstGeom prst="rect">
            <a:avLst/>
          </a:prstGeom>
          <a:noFill/>
        </p:spPr>
        <p:txBody>
          <a:bodyPr wrap="square" lIns="0" rIns="0" tIns="0" bIns="0" anchor="t">
            <a:spAutoFit/>
          </a:bodyPr>
          <a:lstStyle/>
          <a:p>
            <a:pPr algn="l">
              <a:lnSpc>
                <a:spcPct val="104200"/>
              </a:lnSpc>
            </a:pPr>
            <a:r>
              <a:rPr sz="1575" b="0" i="0">
                <a:solidFill>
                  <a:srgbClr val="9FB4CC"/>
                </a:solidFill>
                <a:latin typeface="Barlow"/>
              </a:rPr>
              <a:t>Selecciona configuración y umbral.</a:t>
            </a:r>
          </a:p>
        </p:txBody>
      </p:sp>
      <p:sp>
        <p:nvSpPr>
          <p:cNvPr id="25" name="TextBox 24"/>
          <p:cNvSpPr txBox="1"/>
          <p:nvPr/>
        </p:nvSpPr>
        <p:spPr>
          <a:xfrm>
            <a:off x="1181100" y="5143500"/>
            <a:ext cx="2476500" cy="257175"/>
          </a:xfrm>
          <a:prstGeom prst="rect">
            <a:avLst/>
          </a:prstGeom>
          <a:noFill/>
        </p:spPr>
        <p:txBody>
          <a:bodyPr wrap="square" lIns="0" rIns="0" tIns="0" bIns="0" anchor="t">
            <a:spAutoFit/>
          </a:bodyPr>
          <a:lstStyle/>
          <a:p>
            <a:pPr algn="l">
              <a:lnSpc>
                <a:spcPct val="100000"/>
              </a:lnSpc>
            </a:pPr>
            <a:r>
              <a:rPr sz="1350" b="1" i="0" spc="150">
                <a:solidFill>
                  <a:srgbClr val="4F9BFF"/>
                </a:solidFill>
                <a:latin typeface="Montserrat"/>
              </a:rPr>
              <a:t>TF-IDF</a:t>
            </a:r>
          </a:p>
        </p:txBody>
      </p:sp>
      <p:sp>
        <p:nvSpPr>
          <p:cNvPr id="26" name="Rounded Rectangle 25"/>
          <p:cNvSpPr/>
          <p:nvPr/>
        </p:nvSpPr>
        <p:spPr>
          <a:xfrm>
            <a:off x="1181100" y="5410200"/>
            <a:ext cx="2113657"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81100" y="5410200"/>
            <a:ext cx="2113657" cy="3429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char_4_6_enriched</a:t>
            </a:r>
          </a:p>
        </p:txBody>
      </p:sp>
      <p:sp>
        <p:nvSpPr>
          <p:cNvPr id="28" name="TextBox 27"/>
          <p:cNvSpPr txBox="1"/>
          <p:nvPr/>
        </p:nvSpPr>
        <p:spPr>
          <a:xfrm>
            <a:off x="3561457" y="5143500"/>
            <a:ext cx="2476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CROSS-ENCODER</a:t>
            </a:r>
          </a:p>
        </p:txBody>
      </p:sp>
      <p:sp>
        <p:nvSpPr>
          <p:cNvPr id="29" name="Rounded Rectangle 28"/>
          <p:cNvSpPr/>
          <p:nvPr/>
        </p:nvSpPr>
        <p:spPr>
          <a:xfrm>
            <a:off x="3561457" y="5410200"/>
            <a:ext cx="1896368" cy="342900"/>
          </a:xfrm>
          <a:prstGeom prst="roundRect">
            <a:avLst>
              <a:gd name="adj" fmla="val 16666"/>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61457" y="5410200"/>
            <a:ext cx="1896368" cy="34290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umbral 0,998844</a:t>
            </a:r>
          </a:p>
        </p:txBody>
      </p:sp>
      <p:sp>
        <p:nvSpPr>
          <p:cNvPr id="31" name="Rectangle 30"/>
          <p:cNvSpPr/>
          <p:nvPr/>
        </p:nvSpPr>
        <p:spPr>
          <a:xfrm>
            <a:off x="3838575" y="5962650"/>
            <a:ext cx="57150" cy="8382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10800000">
            <a:off x="3762375" y="6025515"/>
            <a:ext cx="209550" cy="146685"/>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400" y="6172200"/>
            <a:ext cx="5905500" cy="9906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14400" y="6172200"/>
            <a:ext cx="57150" cy="990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181100" y="6362700"/>
            <a:ext cx="792718"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81100" y="6362700"/>
            <a:ext cx="792718"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TEST</a:t>
            </a:r>
          </a:p>
        </p:txBody>
      </p:sp>
      <p:sp>
        <p:nvSpPr>
          <p:cNvPr id="37" name="TextBox 36"/>
          <p:cNvSpPr txBox="1"/>
          <p:nvPr/>
        </p:nvSpPr>
        <p:spPr>
          <a:xfrm>
            <a:off x="2145268" y="6324600"/>
            <a:ext cx="2286000" cy="419100"/>
          </a:xfrm>
          <a:prstGeom prst="rect">
            <a:avLst/>
          </a:prstGeom>
          <a:noFill/>
        </p:spPr>
        <p:txBody>
          <a:bodyPr wrap="square" lIns="0" rIns="0" tIns="0" bIns="0" anchor="ctr">
            <a:spAutoFit/>
          </a:bodyPr>
          <a:lstStyle/>
          <a:p>
            <a:pPr algn="l">
              <a:lnSpc>
                <a:spcPct val="95800"/>
              </a:lnSpc>
            </a:pPr>
            <a:r>
              <a:rPr sz="2100" b="1" i="0">
                <a:solidFill>
                  <a:srgbClr val="F3F7FC"/>
                </a:solidFill>
                <a:latin typeface="Montserrat"/>
              </a:rPr>
              <a:t>2025-12</a:t>
            </a:r>
          </a:p>
        </p:txBody>
      </p:sp>
      <p:sp>
        <p:nvSpPr>
          <p:cNvPr id="38" name="TextBox 37"/>
          <p:cNvSpPr txBox="1"/>
          <p:nvPr/>
        </p:nvSpPr>
        <p:spPr>
          <a:xfrm>
            <a:off x="4076700" y="6324600"/>
            <a:ext cx="2476500" cy="419100"/>
          </a:xfrm>
          <a:prstGeom prst="rect">
            <a:avLst/>
          </a:prstGeom>
          <a:noFill/>
        </p:spPr>
        <p:txBody>
          <a:bodyPr wrap="square" lIns="0" rIns="0" tIns="0" bIns="0" anchor="ctr">
            <a:spAutoFit/>
          </a:bodyPr>
          <a:lstStyle/>
          <a:p>
            <a:pPr algn="r">
              <a:lnSpc>
                <a:spcPct val="95800"/>
              </a:lnSpc>
            </a:pPr>
            <a:r>
              <a:rPr sz="2100" b="1" i="0">
                <a:solidFill>
                  <a:srgbClr val="FFD21F"/>
                </a:solidFill>
                <a:latin typeface="Montserrat"/>
              </a:rPr>
              <a:t>147 consultas</a:t>
            </a:r>
          </a:p>
        </p:txBody>
      </p:sp>
      <p:sp>
        <p:nvSpPr>
          <p:cNvPr id="39" name="TextBox 38"/>
          <p:cNvSpPr txBox="1"/>
          <p:nvPr/>
        </p:nvSpPr>
        <p:spPr>
          <a:xfrm>
            <a:off x="1181100" y="6762750"/>
            <a:ext cx="5372100" cy="285750"/>
          </a:xfrm>
          <a:prstGeom prst="rect">
            <a:avLst/>
          </a:prstGeom>
          <a:noFill/>
        </p:spPr>
        <p:txBody>
          <a:bodyPr wrap="square" lIns="0" rIns="0" tIns="0" bIns="0" anchor="t">
            <a:spAutoFit/>
          </a:bodyPr>
          <a:lstStyle/>
          <a:p>
            <a:pPr algn="l">
              <a:lnSpc>
                <a:spcPct val="104200"/>
              </a:lnSpc>
            </a:pPr>
            <a:r>
              <a:rPr sz="1575" b="0" i="0">
                <a:solidFill>
                  <a:srgbClr val="9FB4CC"/>
                </a:solidFill>
                <a:latin typeface="Barlow"/>
              </a:rPr>
              <a:t>Se abre una sola vez, al cerrar.</a:t>
            </a:r>
          </a:p>
        </p:txBody>
      </p:sp>
      <p:sp>
        <p:nvSpPr>
          <p:cNvPr id="40" name="Rectangle 39"/>
          <p:cNvSpPr/>
          <p:nvPr/>
        </p:nvSpPr>
        <p:spPr>
          <a:xfrm>
            <a:off x="914400" y="7391400"/>
            <a:ext cx="5905500" cy="213360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181100" y="7562850"/>
            <a:ext cx="53721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CONFIGURACIONES DECLARADAS</a:t>
            </a:r>
          </a:p>
        </p:txBody>
      </p:sp>
      <p:sp>
        <p:nvSpPr>
          <p:cNvPr id="42" name="TextBox 41"/>
          <p:cNvSpPr txBox="1"/>
          <p:nvPr/>
        </p:nvSpPr>
        <p:spPr>
          <a:xfrm>
            <a:off x="1162050" y="8143875"/>
            <a:ext cx="815965"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8 × 2</a:t>
            </a:r>
          </a:p>
        </p:txBody>
      </p:sp>
      <p:sp>
        <p:nvSpPr>
          <p:cNvPr id="43" name="Rectangle 42"/>
          <p:cNvSpPr/>
          <p:nvPr/>
        </p:nvSpPr>
        <p:spPr>
          <a:xfrm>
            <a:off x="1181100" y="8679180"/>
            <a:ext cx="715863" cy="28575"/>
          </a:xfrm>
          <a:prstGeom prst="rect">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81100" y="8602980"/>
            <a:ext cx="28575" cy="104775"/>
          </a:xfrm>
          <a:prstGeom prst="rect">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868388" y="8602980"/>
            <a:ext cx="28575" cy="104775"/>
          </a:xfrm>
          <a:prstGeom prst="rect">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524744" y="8679180"/>
            <a:ext cx="28575" cy="114300"/>
          </a:xfrm>
          <a:prstGeom prst="rect">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53926" y="8850630"/>
            <a:ext cx="970211" cy="285750"/>
          </a:xfrm>
          <a:prstGeom prst="rect">
            <a:avLst/>
          </a:prstGeom>
          <a:noFill/>
        </p:spPr>
        <p:txBody>
          <a:bodyPr wrap="square" lIns="0" rIns="0" tIns="0" bIns="0" anchor="t">
            <a:spAutoFit/>
          </a:bodyPr>
          <a:lstStyle/>
          <a:p>
            <a:pPr algn="ctr">
              <a:lnSpc>
                <a:spcPct val="95800"/>
              </a:lnSpc>
            </a:pPr>
            <a:r>
              <a:rPr sz="1350" b="1" i="0">
                <a:solidFill>
                  <a:srgbClr val="4F9BFF"/>
                </a:solidFill>
                <a:latin typeface="Montserrat"/>
              </a:rPr>
              <a:t>TF-IDF</a:t>
            </a:r>
          </a:p>
        </p:txBody>
      </p:sp>
      <p:sp>
        <p:nvSpPr>
          <p:cNvPr id="48" name="TextBox 47"/>
          <p:cNvSpPr txBox="1"/>
          <p:nvPr/>
        </p:nvSpPr>
        <p:spPr>
          <a:xfrm>
            <a:off x="2342964" y="8143875"/>
            <a:ext cx="259080"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a:t>
            </a:r>
          </a:p>
        </p:txBody>
      </p:sp>
      <p:sp>
        <p:nvSpPr>
          <p:cNvPr id="49" name="TextBox 48"/>
          <p:cNvSpPr txBox="1"/>
          <p:nvPr/>
        </p:nvSpPr>
        <p:spPr>
          <a:xfrm>
            <a:off x="2998515" y="8143875"/>
            <a:ext cx="813441"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3 × 2</a:t>
            </a:r>
          </a:p>
        </p:txBody>
      </p:sp>
      <p:sp>
        <p:nvSpPr>
          <p:cNvPr id="50" name="Rectangle 49"/>
          <p:cNvSpPr/>
          <p:nvPr/>
        </p:nvSpPr>
        <p:spPr>
          <a:xfrm>
            <a:off x="3017565" y="8679180"/>
            <a:ext cx="713482" cy="2857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017565" y="8602980"/>
            <a:ext cx="28575" cy="10477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702472" y="8602980"/>
            <a:ext cx="28575" cy="10477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360018" y="8679180"/>
            <a:ext cx="28575" cy="1143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2613571" y="8850630"/>
            <a:ext cx="1521470" cy="285750"/>
          </a:xfrm>
          <a:prstGeom prst="rect">
            <a:avLst/>
          </a:prstGeom>
          <a:noFill/>
        </p:spPr>
        <p:txBody>
          <a:bodyPr wrap="square" lIns="0" rIns="0" tIns="0" bIns="0" anchor="t">
            <a:spAutoFit/>
          </a:bodyPr>
          <a:lstStyle/>
          <a:p>
            <a:pPr algn="ctr">
              <a:lnSpc>
                <a:spcPct val="95800"/>
              </a:lnSpc>
            </a:pPr>
            <a:r>
              <a:rPr sz="1350" b="1" i="0">
                <a:solidFill>
                  <a:srgbClr val="E0566B"/>
                </a:solidFill>
                <a:latin typeface="Montserrat"/>
              </a:rPr>
              <a:t>Embeddings</a:t>
            </a:r>
          </a:p>
        </p:txBody>
      </p:sp>
      <p:sp>
        <p:nvSpPr>
          <p:cNvPr id="55" name="TextBox 54"/>
          <p:cNvSpPr txBox="1"/>
          <p:nvPr/>
        </p:nvSpPr>
        <p:spPr>
          <a:xfrm>
            <a:off x="4177047" y="8143875"/>
            <a:ext cx="259080"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a:t>
            </a:r>
          </a:p>
        </p:txBody>
      </p:sp>
      <p:sp>
        <p:nvSpPr>
          <p:cNvPr id="56" name="TextBox 55"/>
          <p:cNvSpPr txBox="1"/>
          <p:nvPr/>
        </p:nvSpPr>
        <p:spPr>
          <a:xfrm>
            <a:off x="4832598" y="8143875"/>
            <a:ext cx="198501"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1</a:t>
            </a:r>
          </a:p>
        </p:txBody>
      </p:sp>
      <p:sp>
        <p:nvSpPr>
          <p:cNvPr id="57" name="Rectangle 56"/>
          <p:cNvSpPr/>
          <p:nvPr/>
        </p:nvSpPr>
        <p:spPr>
          <a:xfrm>
            <a:off x="4727823" y="8679180"/>
            <a:ext cx="38100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727823" y="8602980"/>
            <a:ext cx="28575" cy="1047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5080248" y="8602980"/>
            <a:ext cx="28575" cy="1047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904036" y="8679180"/>
            <a:ext cx="28575" cy="1143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4077891" y="8850630"/>
            <a:ext cx="1680865" cy="285750"/>
          </a:xfrm>
          <a:prstGeom prst="rect">
            <a:avLst/>
          </a:prstGeom>
          <a:noFill/>
        </p:spPr>
        <p:txBody>
          <a:bodyPr wrap="square" lIns="0" rIns="0" tIns="0" bIns="0" anchor="t">
            <a:spAutoFit/>
          </a:bodyPr>
          <a:lstStyle/>
          <a:p>
            <a:pPr algn="ctr">
              <a:lnSpc>
                <a:spcPct val="95800"/>
              </a:lnSpc>
            </a:pPr>
            <a:r>
              <a:rPr sz="1350" b="1" i="0">
                <a:solidFill>
                  <a:srgbClr val="FFD21F"/>
                </a:solidFill>
                <a:latin typeface="Montserrat"/>
              </a:rPr>
              <a:t>Cross-encoder</a:t>
            </a:r>
          </a:p>
        </p:txBody>
      </p:sp>
      <p:sp>
        <p:nvSpPr>
          <p:cNvPr id="62" name="TextBox 61"/>
          <p:cNvSpPr txBox="1"/>
          <p:nvPr/>
        </p:nvSpPr>
        <p:spPr>
          <a:xfrm>
            <a:off x="5430999" y="8143875"/>
            <a:ext cx="259080"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a:t>
            </a:r>
          </a:p>
        </p:txBody>
      </p:sp>
      <p:sp>
        <p:nvSpPr>
          <p:cNvPr id="63" name="TextBox 62"/>
          <p:cNvSpPr txBox="1"/>
          <p:nvPr/>
        </p:nvSpPr>
        <p:spPr>
          <a:xfrm>
            <a:off x="6086549" y="8106966"/>
            <a:ext cx="608534" cy="550069"/>
          </a:xfrm>
          <a:prstGeom prst="rect">
            <a:avLst/>
          </a:prstGeom>
          <a:noFill/>
        </p:spPr>
        <p:txBody>
          <a:bodyPr wrap="none" lIns="0" rIns="0" tIns="0" bIns="0" anchor="ctr">
            <a:spAutoFit/>
          </a:bodyPr>
          <a:lstStyle/>
          <a:p>
            <a:pPr algn="l">
              <a:lnSpc>
                <a:spcPct val="83300"/>
              </a:lnSpc>
            </a:pPr>
            <a:r>
              <a:rPr sz="3465" b="1" i="0">
                <a:solidFill>
                  <a:srgbClr val="FFD21F"/>
                </a:solidFill>
                <a:latin typeface="Montserrat"/>
              </a:rPr>
              <a:t>23</a:t>
            </a:r>
          </a:p>
        </p:txBody>
      </p:sp>
      <p:sp>
        <p:nvSpPr>
          <p:cNvPr id="64" name="Rectangle 63"/>
          <p:cNvSpPr/>
          <p:nvPr/>
        </p:nvSpPr>
        <p:spPr>
          <a:xfrm>
            <a:off x="7162800" y="2628900"/>
            <a:ext cx="10210800" cy="68961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Esquinero"/>
          <p:cNvSpPr/>
          <p:nvPr/>
        </p:nvSpPr>
        <p:spPr>
          <a:xfrm>
            <a:off x="70675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Esquinero"/>
          <p:cNvSpPr/>
          <p:nvPr/>
        </p:nvSpPr>
        <p:spPr>
          <a:xfrm>
            <a:off x="70675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Esquinero"/>
          <p:cNvSpPr/>
          <p:nvPr/>
        </p:nvSpPr>
        <p:spPr>
          <a:xfrm>
            <a:off x="7067550"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Esquinero"/>
          <p:cNvSpPr/>
          <p:nvPr/>
        </p:nvSpPr>
        <p:spPr>
          <a:xfrm>
            <a:off x="706755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Esquinero"/>
          <p:cNvSpPr/>
          <p:nvPr/>
        </p:nvSpPr>
        <p:spPr>
          <a:xfrm>
            <a:off x="17440275" y="9296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Esquinero"/>
          <p:cNvSpPr/>
          <p:nvPr/>
        </p:nvSpPr>
        <p:spPr>
          <a:xfrm>
            <a:off x="17145000" y="95916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467600" y="2838450"/>
            <a:ext cx="96012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RECUPERADOR · 17 CONFIGURACIONES EVALUADAS · RECALL@1 EN VALIDACIÓN</a:t>
            </a:r>
          </a:p>
        </p:txBody>
      </p:sp>
      <p:sp>
        <p:nvSpPr>
          <p:cNvPr id="74" name="Rounded Rectangle 73"/>
          <p:cNvSpPr/>
          <p:nvPr/>
        </p:nvSpPr>
        <p:spPr>
          <a:xfrm>
            <a:off x="7467600" y="3276600"/>
            <a:ext cx="171450" cy="171450"/>
          </a:xfrm>
          <a:prstGeom prst="roundRect">
            <a:avLst>
              <a:gd name="adj" fmla="val 16666"/>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7734300" y="3200400"/>
            <a:ext cx="2694682" cy="304800"/>
          </a:xfrm>
          <a:prstGeom prst="rect">
            <a:avLst/>
          </a:prstGeom>
          <a:noFill/>
        </p:spPr>
        <p:txBody>
          <a:bodyPr wrap="square" lIns="0" rIns="0" tIns="0" bIns="0" anchor="ctr">
            <a:spAutoFit/>
          </a:bodyPr>
          <a:lstStyle/>
          <a:p>
            <a:pPr algn="l">
              <a:lnSpc>
                <a:spcPct val="104200"/>
              </a:lnSpc>
            </a:pPr>
            <a:r>
              <a:rPr sz="1500" b="1" i="0">
                <a:solidFill>
                  <a:srgbClr val="F3F7FC"/>
                </a:solidFill>
                <a:latin typeface="Barlow"/>
              </a:rPr>
              <a:t>Texto básico</a:t>
            </a:r>
            <a:r>
              <a:rPr sz="1500" b="0" i="0">
                <a:solidFill>
                  <a:srgbClr val="9FB4CC"/>
                </a:solidFill>
                <a:latin typeface="Barlow"/>
              </a:rPr>
              <a:t>  ·  solo el nombre</a:t>
            </a:r>
          </a:p>
        </p:txBody>
      </p:sp>
      <p:sp>
        <p:nvSpPr>
          <p:cNvPr id="76" name="Rounded Rectangle 75"/>
          <p:cNvSpPr/>
          <p:nvPr/>
        </p:nvSpPr>
        <p:spPr>
          <a:xfrm>
            <a:off x="10771882" y="3276600"/>
            <a:ext cx="171450" cy="171450"/>
          </a:xfrm>
          <a:prstGeom prst="roundRect">
            <a:avLst>
              <a:gd name="adj" fmla="val 16666"/>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1038582" y="3200400"/>
            <a:ext cx="3933825" cy="304800"/>
          </a:xfrm>
          <a:prstGeom prst="rect">
            <a:avLst/>
          </a:prstGeom>
          <a:noFill/>
        </p:spPr>
        <p:txBody>
          <a:bodyPr wrap="square" lIns="0" rIns="0" tIns="0" bIns="0" anchor="ctr">
            <a:spAutoFit/>
          </a:bodyPr>
          <a:lstStyle/>
          <a:p>
            <a:pPr algn="l">
              <a:lnSpc>
                <a:spcPct val="104200"/>
              </a:lnSpc>
            </a:pPr>
            <a:r>
              <a:rPr sz="1500" b="1" i="0">
                <a:solidFill>
                  <a:srgbClr val="F3F7FC"/>
                </a:solidFill>
                <a:latin typeface="Barlow"/>
              </a:rPr>
              <a:t>Texto enriquecido</a:t>
            </a:r>
            <a:r>
              <a:rPr sz="1500" b="0" i="0">
                <a:solidFill>
                  <a:srgbClr val="9FB4CC"/>
                </a:solidFill>
                <a:latin typeface="Barlow"/>
              </a:rPr>
              <a:t>  ·  nombre + códigos + EAN</a:t>
            </a:r>
          </a:p>
        </p:txBody>
      </p:sp>
      <p:sp>
        <p:nvSpPr>
          <p:cNvPr id="78" name="Rectangle 77"/>
          <p:cNvSpPr/>
          <p:nvPr/>
        </p:nvSpPr>
        <p:spPr>
          <a:xfrm>
            <a:off x="10020300" y="3657600"/>
            <a:ext cx="19050" cy="4076700"/>
          </a:xfrm>
          <a:prstGeom prst="rect">
            <a:avLst/>
          </a:prstGeom>
          <a:solidFill>
            <a:srgbClr val="2F7BFF">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7467600" y="3733800"/>
            <a:ext cx="2476500" cy="285750"/>
          </a:xfrm>
          <a:prstGeom prst="rect">
            <a:avLst/>
          </a:prstGeom>
          <a:noFill/>
        </p:spPr>
        <p:txBody>
          <a:bodyPr wrap="square" lIns="0" rIns="0" tIns="0" bIns="0" anchor="t">
            <a:spAutoFit/>
          </a:bodyPr>
          <a:lstStyle/>
          <a:p>
            <a:pPr algn="l">
              <a:lnSpc>
                <a:spcPct val="95800"/>
              </a:lnSpc>
            </a:pPr>
            <a:r>
              <a:rPr sz="1650" b="1" i="0">
                <a:solidFill>
                  <a:srgbClr val="F3F7FC"/>
                </a:solidFill>
                <a:latin typeface="Montserrat"/>
              </a:rPr>
              <a:t>Palabras 1-1</a:t>
            </a:r>
          </a:p>
        </p:txBody>
      </p:sp>
      <p:sp>
        <p:nvSpPr>
          <p:cNvPr id="80" name="TextBox 79"/>
          <p:cNvSpPr txBox="1"/>
          <p:nvPr/>
        </p:nvSpPr>
        <p:spPr>
          <a:xfrm>
            <a:off x="7467600" y="40195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word unigrama</a:t>
            </a:r>
          </a:p>
        </p:txBody>
      </p:sp>
      <p:sp>
        <p:nvSpPr>
          <p:cNvPr id="81" name="Rectangle 80"/>
          <p:cNvSpPr/>
          <p:nvPr/>
        </p:nvSpPr>
        <p:spPr>
          <a:xfrm>
            <a:off x="10039350" y="377190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0039350" y="3771900"/>
            <a:ext cx="1383106"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1517706" y="3724275"/>
            <a:ext cx="85725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0,2593</a:t>
            </a:r>
          </a:p>
        </p:txBody>
      </p:sp>
      <p:sp>
        <p:nvSpPr>
          <p:cNvPr id="84" name="Rectangle 83"/>
          <p:cNvSpPr/>
          <p:nvPr/>
        </p:nvSpPr>
        <p:spPr>
          <a:xfrm>
            <a:off x="10039350" y="40195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0039350" y="4019550"/>
            <a:ext cx="4012768"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4147368" y="3971925"/>
            <a:ext cx="952500" cy="285750"/>
          </a:xfrm>
          <a:prstGeom prst="rect">
            <a:avLst/>
          </a:prstGeom>
          <a:noFill/>
        </p:spPr>
        <p:txBody>
          <a:bodyPr wrap="square" lIns="0" rIns="0" tIns="0" bIns="0" anchor="ctr">
            <a:spAutoFit/>
          </a:bodyPr>
          <a:lstStyle/>
          <a:p>
            <a:pPr algn="l">
              <a:lnSpc>
                <a:spcPct val="95800"/>
              </a:lnSpc>
            </a:pPr>
            <a:r>
              <a:rPr sz="1575" b="1" i="0">
                <a:solidFill>
                  <a:srgbClr val="F3F7FC"/>
                </a:solidFill>
                <a:latin typeface="Montserrat"/>
              </a:rPr>
              <a:t>0,7523</a:t>
            </a:r>
          </a:p>
        </p:txBody>
      </p:sp>
      <p:sp>
        <p:nvSpPr>
          <p:cNvPr id="87" name="TextBox 86"/>
          <p:cNvSpPr txBox="1"/>
          <p:nvPr/>
        </p:nvSpPr>
        <p:spPr>
          <a:xfrm>
            <a:off x="7467600" y="4419600"/>
            <a:ext cx="2476500" cy="285750"/>
          </a:xfrm>
          <a:prstGeom prst="rect">
            <a:avLst/>
          </a:prstGeom>
          <a:noFill/>
        </p:spPr>
        <p:txBody>
          <a:bodyPr wrap="square" lIns="0" rIns="0" tIns="0" bIns="0" anchor="t">
            <a:spAutoFit/>
          </a:bodyPr>
          <a:lstStyle/>
          <a:p>
            <a:pPr algn="l">
              <a:lnSpc>
                <a:spcPct val="95800"/>
              </a:lnSpc>
            </a:pPr>
            <a:r>
              <a:rPr sz="1650" b="1" i="0">
                <a:solidFill>
                  <a:srgbClr val="F3F7FC"/>
                </a:solidFill>
                <a:latin typeface="Montserrat"/>
              </a:rPr>
              <a:t>Palabras 1-3</a:t>
            </a:r>
          </a:p>
        </p:txBody>
      </p:sp>
      <p:sp>
        <p:nvSpPr>
          <p:cNvPr id="88" name="TextBox 87"/>
          <p:cNvSpPr txBox="1"/>
          <p:nvPr/>
        </p:nvSpPr>
        <p:spPr>
          <a:xfrm>
            <a:off x="7467600" y="47053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word trigrama</a:t>
            </a:r>
          </a:p>
        </p:txBody>
      </p:sp>
      <p:sp>
        <p:nvSpPr>
          <p:cNvPr id="89" name="Rectangle 88"/>
          <p:cNvSpPr/>
          <p:nvPr/>
        </p:nvSpPr>
        <p:spPr>
          <a:xfrm>
            <a:off x="10039350" y="445770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0039350" y="4457700"/>
            <a:ext cx="1271092"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1405692" y="4410075"/>
            <a:ext cx="85725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0,2383</a:t>
            </a:r>
          </a:p>
        </p:txBody>
      </p:sp>
      <p:sp>
        <p:nvSpPr>
          <p:cNvPr id="92" name="Rectangle 91"/>
          <p:cNvSpPr/>
          <p:nvPr/>
        </p:nvSpPr>
        <p:spPr>
          <a:xfrm>
            <a:off x="10039350" y="47053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0039350" y="4705350"/>
            <a:ext cx="3950360"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14084960" y="4657725"/>
            <a:ext cx="952500" cy="285750"/>
          </a:xfrm>
          <a:prstGeom prst="rect">
            <a:avLst/>
          </a:prstGeom>
          <a:noFill/>
        </p:spPr>
        <p:txBody>
          <a:bodyPr wrap="square" lIns="0" rIns="0" tIns="0" bIns="0" anchor="ctr">
            <a:spAutoFit/>
          </a:bodyPr>
          <a:lstStyle/>
          <a:p>
            <a:pPr algn="l">
              <a:lnSpc>
                <a:spcPct val="95800"/>
              </a:lnSpc>
            </a:pPr>
            <a:r>
              <a:rPr sz="1575" b="1" i="0">
                <a:solidFill>
                  <a:srgbClr val="F3F7FC"/>
                </a:solidFill>
                <a:latin typeface="Montserrat"/>
              </a:rPr>
              <a:t>0,7406</a:t>
            </a:r>
          </a:p>
        </p:txBody>
      </p:sp>
      <p:sp>
        <p:nvSpPr>
          <p:cNvPr id="95" name="TextBox 94"/>
          <p:cNvSpPr txBox="1"/>
          <p:nvPr/>
        </p:nvSpPr>
        <p:spPr>
          <a:xfrm>
            <a:off x="7467600" y="5105400"/>
            <a:ext cx="2476500" cy="285750"/>
          </a:xfrm>
          <a:prstGeom prst="rect">
            <a:avLst/>
          </a:prstGeom>
          <a:noFill/>
        </p:spPr>
        <p:txBody>
          <a:bodyPr wrap="square" lIns="0" rIns="0" tIns="0" bIns="0" anchor="t">
            <a:spAutoFit/>
          </a:bodyPr>
          <a:lstStyle/>
          <a:p>
            <a:pPr algn="l">
              <a:lnSpc>
                <a:spcPct val="95800"/>
              </a:lnSpc>
            </a:pPr>
            <a:r>
              <a:rPr sz="1650" b="1" i="0">
                <a:solidFill>
                  <a:srgbClr val="F3F7FC"/>
                </a:solidFill>
                <a:latin typeface="Montserrat"/>
              </a:rPr>
              <a:t>Caracteres 3-5</a:t>
            </a:r>
          </a:p>
        </p:txBody>
      </p:sp>
      <p:sp>
        <p:nvSpPr>
          <p:cNvPr id="96" name="TextBox 95"/>
          <p:cNvSpPr txBox="1"/>
          <p:nvPr/>
        </p:nvSpPr>
        <p:spPr>
          <a:xfrm>
            <a:off x="7467600" y="53911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char_wb</a:t>
            </a:r>
          </a:p>
        </p:txBody>
      </p:sp>
      <p:sp>
        <p:nvSpPr>
          <p:cNvPr id="97" name="Rectangle 96"/>
          <p:cNvSpPr/>
          <p:nvPr/>
        </p:nvSpPr>
        <p:spPr>
          <a:xfrm>
            <a:off x="10039350" y="514350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0039350" y="5143500"/>
            <a:ext cx="2641930"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12776530" y="5095875"/>
            <a:ext cx="85725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0,4953</a:t>
            </a:r>
          </a:p>
        </p:txBody>
      </p:sp>
      <p:sp>
        <p:nvSpPr>
          <p:cNvPr id="100" name="Rectangle 99"/>
          <p:cNvSpPr/>
          <p:nvPr/>
        </p:nvSpPr>
        <p:spPr>
          <a:xfrm>
            <a:off x="10039350" y="53911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0039350" y="5391150"/>
            <a:ext cx="4299204"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14433804" y="5343525"/>
            <a:ext cx="952500" cy="285750"/>
          </a:xfrm>
          <a:prstGeom prst="rect">
            <a:avLst/>
          </a:prstGeom>
          <a:noFill/>
        </p:spPr>
        <p:txBody>
          <a:bodyPr wrap="square" lIns="0" rIns="0" tIns="0" bIns="0" anchor="ctr">
            <a:spAutoFit/>
          </a:bodyPr>
          <a:lstStyle/>
          <a:p>
            <a:pPr algn="l">
              <a:lnSpc>
                <a:spcPct val="95800"/>
              </a:lnSpc>
            </a:pPr>
            <a:r>
              <a:rPr sz="1575" b="1" i="0">
                <a:solidFill>
                  <a:srgbClr val="F3F7FC"/>
                </a:solidFill>
                <a:latin typeface="Montserrat"/>
              </a:rPr>
              <a:t>0,8060</a:t>
            </a:r>
          </a:p>
        </p:txBody>
      </p:sp>
      <p:sp>
        <p:nvSpPr>
          <p:cNvPr id="103" name="Rectangle 102"/>
          <p:cNvSpPr/>
          <p:nvPr/>
        </p:nvSpPr>
        <p:spPr>
          <a:xfrm>
            <a:off x="7353300" y="5734050"/>
            <a:ext cx="9829800" cy="647700"/>
          </a:xfrm>
          <a:prstGeom prst="rect">
            <a:avLst/>
          </a:prstGeom>
          <a:solidFill>
            <a:srgbClr val="FFD21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7353300" y="5734050"/>
            <a:ext cx="38100" cy="6477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7467600" y="5791200"/>
            <a:ext cx="2476500" cy="285750"/>
          </a:xfrm>
          <a:prstGeom prst="rect">
            <a:avLst/>
          </a:prstGeom>
          <a:noFill/>
        </p:spPr>
        <p:txBody>
          <a:bodyPr wrap="square" lIns="0" rIns="0" tIns="0" bIns="0" anchor="t">
            <a:spAutoFit/>
          </a:bodyPr>
          <a:lstStyle/>
          <a:p>
            <a:pPr algn="l">
              <a:lnSpc>
                <a:spcPct val="95800"/>
              </a:lnSpc>
            </a:pPr>
            <a:r>
              <a:rPr sz="1650" b="1" i="0">
                <a:solidFill>
                  <a:srgbClr val="FFD21F"/>
                </a:solidFill>
                <a:latin typeface="Montserrat"/>
              </a:rPr>
              <a:t>Caracteres 4-6</a:t>
            </a:r>
          </a:p>
        </p:txBody>
      </p:sp>
      <p:sp>
        <p:nvSpPr>
          <p:cNvPr id="106" name="TextBox 105"/>
          <p:cNvSpPr txBox="1"/>
          <p:nvPr/>
        </p:nvSpPr>
        <p:spPr>
          <a:xfrm>
            <a:off x="7467600" y="60769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char_wb · seleccionada</a:t>
            </a:r>
          </a:p>
        </p:txBody>
      </p:sp>
      <p:sp>
        <p:nvSpPr>
          <p:cNvPr id="107" name="Rectangle 106"/>
          <p:cNvSpPr/>
          <p:nvPr/>
        </p:nvSpPr>
        <p:spPr>
          <a:xfrm>
            <a:off x="10039350" y="582930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10039350" y="5829300"/>
            <a:ext cx="2728874"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2863474" y="5781675"/>
            <a:ext cx="85725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0,5116</a:t>
            </a:r>
          </a:p>
        </p:txBody>
      </p:sp>
      <p:sp>
        <p:nvSpPr>
          <p:cNvPr id="110" name="Rectangle 109"/>
          <p:cNvSpPr/>
          <p:nvPr/>
        </p:nvSpPr>
        <p:spPr>
          <a:xfrm>
            <a:off x="10039350" y="60769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10039350" y="6076950"/>
            <a:ext cx="4436288"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14570888" y="6029325"/>
            <a:ext cx="952500" cy="285750"/>
          </a:xfrm>
          <a:prstGeom prst="rect">
            <a:avLst/>
          </a:prstGeom>
          <a:noFill/>
        </p:spPr>
        <p:txBody>
          <a:bodyPr wrap="square" lIns="0" rIns="0" tIns="0" bIns="0" anchor="ctr">
            <a:spAutoFit/>
          </a:bodyPr>
          <a:lstStyle/>
          <a:p>
            <a:pPr algn="l">
              <a:lnSpc>
                <a:spcPct val="95800"/>
              </a:lnSpc>
            </a:pPr>
            <a:r>
              <a:rPr sz="1575" b="1" i="0">
                <a:solidFill>
                  <a:srgbClr val="FFD21F"/>
                </a:solidFill>
                <a:latin typeface="Montserrat"/>
              </a:rPr>
              <a:t>0,8317</a:t>
            </a:r>
          </a:p>
        </p:txBody>
      </p:sp>
      <p:sp>
        <p:nvSpPr>
          <p:cNvPr id="113" name="Rounded Rectangle 112"/>
          <p:cNvSpPr/>
          <p:nvPr/>
        </p:nvSpPr>
        <p:spPr>
          <a:xfrm>
            <a:off x="15523388" y="6010275"/>
            <a:ext cx="1018282" cy="304800"/>
          </a:xfrm>
          <a:prstGeom prst="roundRect">
            <a:avLst>
              <a:gd name="adj" fmla="val 1875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15523388" y="6010275"/>
            <a:ext cx="1018282" cy="304800"/>
          </a:xfrm>
          <a:prstGeom prst="rect">
            <a:avLst/>
          </a:prstGeom>
          <a:noFill/>
        </p:spPr>
        <p:txBody>
          <a:bodyPr wrap="none" lIns="0" rIns="0" tIns="0" bIns="0" anchor="ctr">
            <a:spAutoFit/>
          </a:bodyPr>
          <a:lstStyle/>
          <a:p>
            <a:pPr algn="ctr">
              <a:lnSpc>
                <a:spcPct val="100000"/>
              </a:lnSpc>
            </a:pPr>
            <a:r>
              <a:rPr sz="1350" b="0" i="0">
                <a:solidFill>
                  <a:srgbClr val="FFD21F"/>
                </a:solidFill>
                <a:latin typeface="Barlow"/>
              </a:rPr>
              <a:t>test 0,8571</a:t>
            </a:r>
          </a:p>
        </p:txBody>
      </p:sp>
      <p:sp>
        <p:nvSpPr>
          <p:cNvPr id="115" name="TextBox 114"/>
          <p:cNvSpPr txBox="1"/>
          <p:nvPr/>
        </p:nvSpPr>
        <p:spPr>
          <a:xfrm>
            <a:off x="7467600" y="6477000"/>
            <a:ext cx="2476500" cy="285750"/>
          </a:xfrm>
          <a:prstGeom prst="rect">
            <a:avLst/>
          </a:prstGeom>
          <a:noFill/>
        </p:spPr>
        <p:txBody>
          <a:bodyPr wrap="square" lIns="0" rIns="0" tIns="0" bIns="0" anchor="t">
            <a:spAutoFit/>
          </a:bodyPr>
          <a:lstStyle/>
          <a:p>
            <a:pPr algn="l">
              <a:lnSpc>
                <a:spcPct val="95800"/>
              </a:lnSpc>
            </a:pPr>
            <a:r>
              <a:rPr sz="1650" b="1" i="0">
                <a:solidFill>
                  <a:srgbClr val="F3F7FC"/>
                </a:solidFill>
                <a:latin typeface="Montserrat"/>
              </a:rPr>
              <a:t>Híbrido w25</a:t>
            </a:r>
          </a:p>
        </p:txBody>
      </p:sp>
      <p:sp>
        <p:nvSpPr>
          <p:cNvPr id="116" name="TextBox 115"/>
          <p:cNvSpPr txBox="1"/>
          <p:nvPr/>
        </p:nvSpPr>
        <p:spPr>
          <a:xfrm>
            <a:off x="7467600" y="67627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word 1-2 + char 3-5</a:t>
            </a:r>
          </a:p>
        </p:txBody>
      </p:sp>
      <p:sp>
        <p:nvSpPr>
          <p:cNvPr id="117" name="Rectangle 116"/>
          <p:cNvSpPr/>
          <p:nvPr/>
        </p:nvSpPr>
        <p:spPr>
          <a:xfrm>
            <a:off x="10039350" y="651510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10039350" y="6515100"/>
            <a:ext cx="2629129"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12763729" y="6467475"/>
            <a:ext cx="85725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0,4929</a:t>
            </a:r>
          </a:p>
        </p:txBody>
      </p:sp>
      <p:sp>
        <p:nvSpPr>
          <p:cNvPr id="120" name="Rectangle 119"/>
          <p:cNvSpPr/>
          <p:nvPr/>
        </p:nvSpPr>
        <p:spPr>
          <a:xfrm>
            <a:off x="10039350" y="67627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0039350" y="6762750"/>
            <a:ext cx="4361612"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14496212" y="6715125"/>
            <a:ext cx="952500" cy="285750"/>
          </a:xfrm>
          <a:prstGeom prst="rect">
            <a:avLst/>
          </a:prstGeom>
          <a:noFill/>
        </p:spPr>
        <p:txBody>
          <a:bodyPr wrap="square" lIns="0" rIns="0" tIns="0" bIns="0" anchor="ctr">
            <a:spAutoFit/>
          </a:bodyPr>
          <a:lstStyle/>
          <a:p>
            <a:pPr algn="l">
              <a:lnSpc>
                <a:spcPct val="95800"/>
              </a:lnSpc>
            </a:pPr>
            <a:r>
              <a:rPr sz="1575" b="1" i="0">
                <a:solidFill>
                  <a:srgbClr val="F3F7FC"/>
                </a:solidFill>
                <a:latin typeface="Montserrat"/>
              </a:rPr>
              <a:t>0,8177</a:t>
            </a:r>
          </a:p>
        </p:txBody>
      </p:sp>
      <p:sp>
        <p:nvSpPr>
          <p:cNvPr id="123" name="TextBox 122"/>
          <p:cNvSpPr txBox="1"/>
          <p:nvPr/>
        </p:nvSpPr>
        <p:spPr>
          <a:xfrm>
            <a:off x="7467600" y="7162800"/>
            <a:ext cx="2476500" cy="285750"/>
          </a:xfrm>
          <a:prstGeom prst="rect">
            <a:avLst/>
          </a:prstGeom>
          <a:noFill/>
        </p:spPr>
        <p:txBody>
          <a:bodyPr wrap="square" lIns="0" rIns="0" tIns="0" bIns="0" anchor="t">
            <a:spAutoFit/>
          </a:bodyPr>
          <a:lstStyle/>
          <a:p>
            <a:pPr algn="l">
              <a:lnSpc>
                <a:spcPct val="95800"/>
              </a:lnSpc>
            </a:pPr>
            <a:r>
              <a:rPr sz="1650" b="1" i="0">
                <a:solidFill>
                  <a:srgbClr val="F3F7FC"/>
                </a:solidFill>
                <a:latin typeface="Montserrat"/>
              </a:rPr>
              <a:t>BM25</a:t>
            </a:r>
          </a:p>
        </p:txBody>
      </p:sp>
      <p:sp>
        <p:nvSpPr>
          <p:cNvPr id="124" name="TextBox 123"/>
          <p:cNvSpPr txBox="1"/>
          <p:nvPr/>
        </p:nvSpPr>
        <p:spPr>
          <a:xfrm>
            <a:off x="7467600" y="7448550"/>
            <a:ext cx="2476500" cy="247650"/>
          </a:xfrm>
          <a:prstGeom prst="rect">
            <a:avLst/>
          </a:prstGeom>
          <a:noFill/>
        </p:spPr>
        <p:txBody>
          <a:bodyPr wrap="square" lIns="0" rIns="0" tIns="0" bIns="0" anchor="t">
            <a:spAutoFit/>
          </a:bodyPr>
          <a:lstStyle/>
          <a:p>
            <a:pPr algn="l">
              <a:lnSpc>
                <a:spcPct val="104200"/>
              </a:lnSpc>
            </a:pPr>
            <a:r>
              <a:rPr sz="1350" b="0" i="0">
                <a:solidFill>
                  <a:srgbClr val="9FB4CC"/>
                </a:solidFill>
                <a:latin typeface="Barlow"/>
              </a:rPr>
              <a:t>ponderación probabilística</a:t>
            </a:r>
          </a:p>
        </p:txBody>
      </p:sp>
      <p:sp>
        <p:nvSpPr>
          <p:cNvPr id="125" name="TextBox 124"/>
          <p:cNvSpPr txBox="1"/>
          <p:nvPr/>
        </p:nvSpPr>
        <p:spPr>
          <a:xfrm>
            <a:off x="10134600" y="7153275"/>
            <a:ext cx="571500" cy="285750"/>
          </a:xfrm>
          <a:prstGeom prst="rect">
            <a:avLst/>
          </a:prstGeom>
          <a:noFill/>
        </p:spPr>
        <p:txBody>
          <a:bodyPr wrap="square" lIns="0" rIns="0" tIns="0" bIns="0" anchor="ctr">
            <a:spAutoFit/>
          </a:bodyPr>
          <a:lstStyle/>
          <a:p>
            <a:pPr algn="l">
              <a:lnSpc>
                <a:spcPct val="104200"/>
              </a:lnSpc>
            </a:pPr>
            <a:r>
              <a:rPr sz="1500" b="0" i="0">
                <a:solidFill>
                  <a:srgbClr val="9FB4CC"/>
                </a:solidFill>
                <a:latin typeface="Barlow"/>
              </a:rPr>
              <a:t>—</a:t>
            </a:r>
          </a:p>
        </p:txBody>
      </p:sp>
      <p:sp>
        <p:nvSpPr>
          <p:cNvPr id="126" name="Rectangle 125"/>
          <p:cNvSpPr/>
          <p:nvPr/>
        </p:nvSpPr>
        <p:spPr>
          <a:xfrm>
            <a:off x="10039350" y="7448550"/>
            <a:ext cx="53340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10039350" y="7448550"/>
            <a:ext cx="3725799"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13860399" y="7400925"/>
            <a:ext cx="952500" cy="285750"/>
          </a:xfrm>
          <a:prstGeom prst="rect">
            <a:avLst/>
          </a:prstGeom>
          <a:noFill/>
        </p:spPr>
        <p:txBody>
          <a:bodyPr wrap="square" lIns="0" rIns="0" tIns="0" bIns="0" anchor="ctr">
            <a:spAutoFit/>
          </a:bodyPr>
          <a:lstStyle/>
          <a:p>
            <a:pPr algn="l">
              <a:lnSpc>
                <a:spcPct val="95800"/>
              </a:lnSpc>
            </a:pPr>
            <a:r>
              <a:rPr sz="1575" b="1" i="0">
                <a:solidFill>
                  <a:srgbClr val="F3F7FC"/>
                </a:solidFill>
                <a:latin typeface="Montserrat"/>
              </a:rPr>
              <a:t>0,6985</a:t>
            </a:r>
          </a:p>
        </p:txBody>
      </p:sp>
      <p:sp>
        <p:nvSpPr>
          <p:cNvPr id="129" name="Rectangle 128"/>
          <p:cNvSpPr/>
          <p:nvPr/>
        </p:nvSpPr>
        <p:spPr>
          <a:xfrm>
            <a:off x="7467600" y="7962900"/>
            <a:ext cx="9601200" cy="14288"/>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467600" y="8134350"/>
            <a:ext cx="96012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LO QUE VALE CADA DECISIÓN · PUNTOS DE RECALL@1</a:t>
            </a:r>
          </a:p>
        </p:txBody>
      </p:sp>
      <p:sp>
        <p:nvSpPr>
          <p:cNvPr id="131" name="TextBox 130"/>
          <p:cNvSpPr txBox="1"/>
          <p:nvPr/>
        </p:nvSpPr>
        <p:spPr>
          <a:xfrm>
            <a:off x="7467600" y="8515350"/>
            <a:ext cx="4476750" cy="34290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Enriquecer el texto con los códigos</a:t>
            </a:r>
          </a:p>
        </p:txBody>
      </p:sp>
      <p:sp>
        <p:nvSpPr>
          <p:cNvPr id="132" name="Rectangle 131"/>
          <p:cNvSpPr/>
          <p:nvPr/>
        </p:nvSpPr>
        <p:spPr>
          <a:xfrm>
            <a:off x="12039600" y="8582025"/>
            <a:ext cx="32385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12039600" y="8582025"/>
            <a:ext cx="3238500"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15411450" y="8515350"/>
            <a:ext cx="1714500" cy="342900"/>
          </a:xfrm>
          <a:prstGeom prst="rect">
            <a:avLst/>
          </a:prstGeom>
          <a:noFill/>
        </p:spPr>
        <p:txBody>
          <a:bodyPr wrap="square" lIns="0" rIns="0" tIns="0" bIns="0" anchor="ctr">
            <a:spAutoFit/>
          </a:bodyPr>
          <a:lstStyle/>
          <a:p>
            <a:pPr algn="l">
              <a:lnSpc>
                <a:spcPct val="95800"/>
              </a:lnSpc>
            </a:pPr>
            <a:r>
              <a:rPr sz="1950" b="1" i="0">
                <a:solidFill>
                  <a:srgbClr val="FFD21F"/>
                </a:solidFill>
                <a:latin typeface="Montserrat"/>
              </a:rPr>
              <a:t>+32 puntos</a:t>
            </a:r>
          </a:p>
        </p:txBody>
      </p:sp>
      <p:sp>
        <p:nvSpPr>
          <p:cNvPr id="135" name="TextBox 134"/>
          <p:cNvSpPr txBox="1"/>
          <p:nvPr/>
        </p:nvSpPr>
        <p:spPr>
          <a:xfrm>
            <a:off x="7467600" y="8972550"/>
            <a:ext cx="4476750" cy="34290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Elegir el mejor analizador dentro de una columna</a:t>
            </a:r>
          </a:p>
        </p:txBody>
      </p:sp>
      <p:sp>
        <p:nvSpPr>
          <p:cNvPr id="136" name="Rectangle 135"/>
          <p:cNvSpPr/>
          <p:nvPr/>
        </p:nvSpPr>
        <p:spPr>
          <a:xfrm>
            <a:off x="12039600" y="9039225"/>
            <a:ext cx="32385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12039600" y="9039225"/>
            <a:ext cx="506016" cy="2095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12678966" y="8972550"/>
            <a:ext cx="1714500" cy="342900"/>
          </a:xfrm>
          <a:prstGeom prst="rect">
            <a:avLst/>
          </a:prstGeom>
          <a:noFill/>
        </p:spPr>
        <p:txBody>
          <a:bodyPr wrap="square" lIns="0" rIns="0" tIns="0" bIns="0" anchor="ctr">
            <a:spAutoFit/>
          </a:bodyPr>
          <a:lstStyle/>
          <a:p>
            <a:pPr algn="l">
              <a:lnSpc>
                <a:spcPct val="95800"/>
              </a:lnSpc>
            </a:pPr>
            <a:r>
              <a:rPr sz="1950" b="1" i="0">
                <a:solidFill>
                  <a:srgbClr val="F3F7FC"/>
                </a:solidFill>
                <a:latin typeface="Montserrat"/>
              </a:rPr>
              <a:t>5 puntos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MEDIDAS DE SIMILITUD</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Siete medidas de similitud, tres funciones distintas</a:t>
            </a:r>
          </a:p>
        </p:txBody>
      </p:sp>
      <p:sp>
        <p:nvSpPr>
          <p:cNvPr id="9" name="Rectangle 8"/>
          <p:cNvSpPr/>
          <p:nvPr/>
        </p:nvSpPr>
        <p:spPr>
          <a:xfrm>
            <a:off x="914400" y="2628900"/>
            <a:ext cx="1752600" cy="53911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17526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410075"/>
            <a:ext cx="1752600" cy="1047750"/>
          </a:xfrm>
          <a:prstGeom prst="rect">
            <a:avLst/>
          </a:prstGeom>
          <a:noFill/>
        </p:spPr>
        <p:txBody>
          <a:bodyPr wrap="square" lIns="0" rIns="0" tIns="0" bIns="0" anchor="ctr">
            <a:spAutoFit/>
          </a:bodyPr>
          <a:lstStyle/>
          <a:p>
            <a:pPr algn="ctr">
              <a:lnSpc>
                <a:spcPct val="83300"/>
              </a:lnSpc>
            </a:pPr>
            <a:r>
              <a:rPr sz="7800" b="1" i="0">
                <a:solidFill>
                  <a:srgbClr val="FFD21F"/>
                </a:solidFill>
                <a:latin typeface="Montserrat"/>
              </a:rPr>
              <a:t>7</a:t>
            </a:r>
          </a:p>
        </p:txBody>
      </p:sp>
      <p:sp>
        <p:nvSpPr>
          <p:cNvPr id="12" name="TextBox 11"/>
          <p:cNvSpPr txBox="1"/>
          <p:nvPr/>
        </p:nvSpPr>
        <p:spPr>
          <a:xfrm>
            <a:off x="1028700" y="5534025"/>
            <a:ext cx="1524000" cy="666750"/>
          </a:xfrm>
          <a:prstGeom prst="rect">
            <a:avLst/>
          </a:prstGeom>
          <a:noFill/>
        </p:spPr>
        <p:txBody>
          <a:bodyPr wrap="square" lIns="0" rIns="0" tIns="0" bIns="0" anchor="t">
            <a:spAutoFit/>
          </a:bodyPr>
          <a:lstStyle/>
          <a:p>
            <a:pPr algn="ctr">
              <a:lnSpc>
                <a:spcPct val="108300"/>
              </a:lnSpc>
            </a:pPr>
            <a:r>
              <a:rPr sz="1350" b="1" i="0">
                <a:solidFill>
                  <a:srgbClr val="F3F7FC"/>
                </a:solidFill>
                <a:latin typeface="Montserrat"/>
              </a:rPr>
              <a:t>MEDIDAS DE</a:t>
            </a:r>
          </a:p>
          <a:p>
            <a:pPr algn="ctr">
              <a:lnSpc>
                <a:spcPct val="108300"/>
              </a:lnSpc>
            </a:pPr>
            <a:r>
              <a:rPr sz="1350" b="1" i="0">
                <a:solidFill>
                  <a:srgbClr val="F3F7FC"/>
                </a:solidFill>
                <a:latin typeface="Montserrat"/>
              </a:rPr>
              <a:t>SIMILITUD</a:t>
            </a:r>
          </a:p>
        </p:txBody>
      </p:sp>
      <p:sp>
        <p:nvSpPr>
          <p:cNvPr id="13" name="Rectangle 12"/>
          <p:cNvSpPr/>
          <p:nvPr/>
        </p:nvSpPr>
        <p:spPr>
          <a:xfrm>
            <a:off x="3086100" y="2628900"/>
            <a:ext cx="14287500" cy="2247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86100" y="2628900"/>
            <a:ext cx="57150" cy="22479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29908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29908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Esquinero"/>
          <p:cNvSpPr/>
          <p:nvPr/>
        </p:nvSpPr>
        <p:spPr>
          <a:xfrm>
            <a:off x="2990850" y="46482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squinero"/>
          <p:cNvSpPr/>
          <p:nvPr/>
        </p:nvSpPr>
        <p:spPr>
          <a:xfrm>
            <a:off x="2990850" y="49434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quinero"/>
          <p:cNvSpPr/>
          <p:nvPr/>
        </p:nvSpPr>
        <p:spPr>
          <a:xfrm>
            <a:off x="17440275" y="46482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squinero"/>
          <p:cNvSpPr/>
          <p:nvPr/>
        </p:nvSpPr>
        <p:spPr>
          <a:xfrm>
            <a:off x="17145000" y="49434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ight Arrow 22"/>
          <p:cNvSpPr/>
          <p:nvPr/>
        </p:nvSpPr>
        <p:spPr>
          <a:xfrm>
            <a:off x="2724150" y="3638550"/>
            <a:ext cx="285750" cy="2286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5650" y="3276600"/>
            <a:ext cx="723900" cy="952500"/>
          </a:xfrm>
          <a:prstGeom prst="rect">
            <a:avLst/>
          </a:prstGeom>
          <a:noFill/>
        </p:spPr>
        <p:txBody>
          <a:bodyPr wrap="square" lIns="0" rIns="0" tIns="0" bIns="0" anchor="ctr">
            <a:spAutoFit/>
          </a:bodyPr>
          <a:lstStyle/>
          <a:p>
            <a:pPr algn="ctr">
              <a:lnSpc>
                <a:spcPct val="83300"/>
              </a:lnSpc>
            </a:pPr>
            <a:r>
              <a:rPr sz="6000" b="1" i="0">
                <a:solidFill>
                  <a:srgbClr val="FFD21F"/>
                </a:solidFill>
                <a:latin typeface="Montserrat"/>
              </a:rPr>
              <a:t>1</a:t>
            </a:r>
          </a:p>
        </p:txBody>
      </p:sp>
      <p:sp>
        <p:nvSpPr>
          <p:cNvPr id="25" name="Rounded Rectangle 24"/>
          <p:cNvSpPr/>
          <p:nvPr/>
        </p:nvSpPr>
        <p:spPr>
          <a:xfrm>
            <a:off x="4076700" y="3581400"/>
            <a:ext cx="1074837"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076700" y="3581400"/>
            <a:ext cx="1074837"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DECIDE</a:t>
            </a:r>
          </a:p>
        </p:txBody>
      </p:sp>
      <p:sp>
        <p:nvSpPr>
          <p:cNvPr id="27" name="Rectangle 26"/>
          <p:cNvSpPr/>
          <p:nvPr/>
        </p:nvSpPr>
        <p:spPr>
          <a:xfrm>
            <a:off x="5676900" y="2838450"/>
            <a:ext cx="14288" cy="18288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2077700" y="2838450"/>
            <a:ext cx="14288" cy="18288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ight Arrow 28"/>
          <p:cNvSpPr/>
          <p:nvPr/>
        </p:nvSpPr>
        <p:spPr>
          <a:xfrm>
            <a:off x="11658600" y="3657600"/>
            <a:ext cx="304800" cy="1905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0" y="2876550"/>
            <a:ext cx="2694236" cy="400050"/>
          </a:xfrm>
          <a:prstGeom prst="roundRect">
            <a:avLst>
              <a:gd name="adj" fmla="val 1428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943600" y="2876550"/>
            <a:ext cx="2694236" cy="400050"/>
          </a:xfrm>
          <a:prstGeom prst="rect">
            <a:avLst/>
          </a:prstGeom>
          <a:noFill/>
        </p:spPr>
        <p:txBody>
          <a:bodyPr wrap="none" lIns="0" rIns="0" tIns="0" bIns="0" anchor="ctr">
            <a:spAutoFit/>
          </a:bodyPr>
          <a:lstStyle/>
          <a:p>
            <a:pPr algn="ctr">
              <a:lnSpc>
                <a:spcPct val="100000"/>
              </a:lnSpc>
            </a:pPr>
            <a:r>
              <a:rPr sz="1650" b="0" i="0">
                <a:solidFill>
                  <a:srgbClr val="FFD21F"/>
                </a:solidFill>
                <a:latin typeface="Roboto Mono"/>
              </a:rPr>
              <a:t>coseno sobre TF-IDF</a:t>
            </a:r>
          </a:p>
        </p:txBody>
      </p:sp>
      <p:sp>
        <p:nvSpPr>
          <p:cNvPr id="32" name="TextBox 31"/>
          <p:cNvSpPr txBox="1"/>
          <p:nvPr/>
        </p:nvSpPr>
        <p:spPr>
          <a:xfrm>
            <a:off x="5924550" y="3838575"/>
            <a:ext cx="1576673"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cos(A, B)</a:t>
            </a:r>
          </a:p>
        </p:txBody>
      </p:sp>
      <p:sp>
        <p:nvSpPr>
          <p:cNvPr id="33" name="TextBox 32"/>
          <p:cNvSpPr txBox="1"/>
          <p:nvPr/>
        </p:nvSpPr>
        <p:spPr>
          <a:xfrm>
            <a:off x="7449502" y="3838575"/>
            <a:ext cx="420624" cy="476250"/>
          </a:xfrm>
          <a:prstGeom prst="rect">
            <a:avLst/>
          </a:prstGeom>
          <a:noFill/>
        </p:spPr>
        <p:txBody>
          <a:bodyPr wrap="none" lIns="0" rIns="0" tIns="0" bIns="0" anchor="ctr">
            <a:spAutoFit/>
          </a:bodyPr>
          <a:lstStyle/>
          <a:p>
            <a:pPr algn="l">
              <a:lnSpc>
                <a:spcPct val="83300"/>
              </a:lnSpc>
            </a:pPr>
            <a:r>
              <a:rPr sz="3000" b="0" i="0">
                <a:solidFill>
                  <a:srgbClr val="F3F7FC"/>
                </a:solidFill>
                <a:latin typeface="Barlow"/>
              </a:rPr>
              <a:t> = </a:t>
            </a:r>
          </a:p>
        </p:txBody>
      </p:sp>
      <p:sp>
        <p:nvSpPr>
          <p:cNvPr id="34" name="Rectangle 33"/>
          <p:cNvSpPr/>
          <p:nvPr/>
        </p:nvSpPr>
        <p:spPr>
          <a:xfrm>
            <a:off x="7940992" y="4062412"/>
            <a:ext cx="1018979"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29370" y="3621900"/>
            <a:ext cx="697521" cy="409575"/>
          </a:xfrm>
          <a:prstGeom prst="rect">
            <a:avLst/>
          </a:prstGeom>
          <a:noFill/>
        </p:spPr>
        <p:txBody>
          <a:bodyPr wrap="none" lIns="0" rIns="0" tIns="0" bIns="0" anchor="ctr">
            <a:spAutoFit/>
          </a:bodyPr>
          <a:lstStyle/>
          <a:p>
            <a:pPr algn="l">
              <a:lnSpc>
                <a:spcPct val="83300"/>
              </a:lnSpc>
            </a:pPr>
            <a:r>
              <a:rPr sz="2579" b="0" i="0">
                <a:solidFill>
                  <a:srgbClr val="F3F7FC"/>
                </a:solidFill>
                <a:latin typeface="Barlow"/>
              </a:rPr>
              <a:t>A · B</a:t>
            </a:r>
          </a:p>
        </p:txBody>
      </p:sp>
      <p:sp>
        <p:nvSpPr>
          <p:cNvPr id="36" name="TextBox 35"/>
          <p:cNvSpPr txBox="1"/>
          <p:nvPr/>
        </p:nvSpPr>
        <p:spPr>
          <a:xfrm>
            <a:off x="7979092" y="4129545"/>
            <a:ext cx="1016110" cy="409575"/>
          </a:xfrm>
          <a:prstGeom prst="rect">
            <a:avLst/>
          </a:prstGeom>
          <a:noFill/>
        </p:spPr>
        <p:txBody>
          <a:bodyPr wrap="none" lIns="0" rIns="0" tIns="0" bIns="0" anchor="ctr">
            <a:spAutoFit/>
          </a:bodyPr>
          <a:lstStyle/>
          <a:p>
            <a:pPr algn="l">
              <a:lnSpc>
                <a:spcPct val="83300"/>
              </a:lnSpc>
            </a:pPr>
            <a:r>
              <a:rPr sz="2579" b="0" i="0">
                <a:solidFill>
                  <a:srgbClr val="F3F7FC"/>
                </a:solidFill>
                <a:latin typeface="Barlow"/>
              </a:rPr>
              <a:t>||A|| ||B||</a:t>
            </a:r>
          </a:p>
        </p:txBody>
      </p:sp>
      <p:sp>
        <p:nvSpPr>
          <p:cNvPr id="37" name="TextBox 36"/>
          <p:cNvSpPr txBox="1"/>
          <p:nvPr/>
        </p:nvSpPr>
        <p:spPr>
          <a:xfrm>
            <a:off x="12382500" y="3067050"/>
            <a:ext cx="4686300" cy="762000"/>
          </a:xfrm>
          <a:prstGeom prst="rect">
            <a:avLst/>
          </a:prstGeom>
          <a:noFill/>
        </p:spPr>
        <p:txBody>
          <a:bodyPr wrap="square" lIns="0" rIns="0" tIns="0" bIns="0" anchor="t">
            <a:spAutoFit/>
          </a:bodyPr>
          <a:lstStyle/>
          <a:p>
            <a:pPr algn="l">
              <a:lnSpc>
                <a:spcPct val="95800"/>
              </a:lnSpc>
            </a:pPr>
            <a:r>
              <a:rPr sz="2100" b="1" i="0">
                <a:solidFill>
                  <a:srgbClr val="F3F7FC"/>
                </a:solidFill>
                <a:latin typeface="Montserrat"/>
              </a:rPr>
              <a:t>El ranking top-10 y el corte por umbral</a:t>
            </a:r>
          </a:p>
        </p:txBody>
      </p:sp>
      <p:sp>
        <p:nvSpPr>
          <p:cNvPr id="38" name="TextBox 37"/>
          <p:cNvSpPr txBox="1"/>
          <p:nvPr/>
        </p:nvSpPr>
        <p:spPr>
          <a:xfrm>
            <a:off x="12382500" y="3943350"/>
            <a:ext cx="4686300" cy="381000"/>
          </a:xfrm>
          <a:prstGeom prst="rect">
            <a:avLst/>
          </a:prstGeom>
          <a:noFill/>
        </p:spPr>
        <p:txBody>
          <a:bodyPr wrap="square" lIns="0" rIns="0" tIns="0" bIns="0" anchor="t">
            <a:spAutoFit/>
          </a:bodyPr>
          <a:lstStyle/>
          <a:p>
            <a:pPr algn="l">
              <a:lnSpc>
                <a:spcPct val="104200"/>
              </a:lnSpc>
            </a:pPr>
            <a:r>
              <a:rPr sz="1650" b="1" i="0">
                <a:solidFill>
                  <a:srgbClr val="FFD21F"/>
                </a:solidFill>
                <a:latin typeface="Barlow"/>
              </a:rPr>
              <a:t>Solo una medida decide.</a:t>
            </a:r>
          </a:p>
        </p:txBody>
      </p:sp>
      <p:sp>
        <p:nvSpPr>
          <p:cNvPr id="39" name="Rectangle 38"/>
          <p:cNvSpPr/>
          <p:nvPr/>
        </p:nvSpPr>
        <p:spPr>
          <a:xfrm>
            <a:off x="3086100" y="5048250"/>
            <a:ext cx="14287500" cy="1219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086100" y="5048250"/>
            <a:ext cx="57150" cy="12192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ight Arrow 40"/>
          <p:cNvSpPr/>
          <p:nvPr/>
        </p:nvSpPr>
        <p:spPr>
          <a:xfrm>
            <a:off x="2724150" y="5543550"/>
            <a:ext cx="285750" cy="228600"/>
          </a:xfrm>
          <a:prstGeom prst="rightArrow">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95650" y="5181600"/>
            <a:ext cx="723900" cy="952500"/>
          </a:xfrm>
          <a:prstGeom prst="rect">
            <a:avLst/>
          </a:prstGeom>
          <a:noFill/>
        </p:spPr>
        <p:txBody>
          <a:bodyPr wrap="square" lIns="0" rIns="0" tIns="0" bIns="0" anchor="ctr">
            <a:spAutoFit/>
          </a:bodyPr>
          <a:lstStyle/>
          <a:p>
            <a:pPr algn="ctr">
              <a:lnSpc>
                <a:spcPct val="83300"/>
              </a:lnSpc>
            </a:pPr>
            <a:r>
              <a:rPr sz="6000" b="1" i="0">
                <a:solidFill>
                  <a:srgbClr val="4F9BFF"/>
                </a:solidFill>
                <a:latin typeface="Montserrat"/>
              </a:rPr>
              <a:t>1</a:t>
            </a:r>
          </a:p>
        </p:txBody>
      </p:sp>
      <p:sp>
        <p:nvSpPr>
          <p:cNvPr id="43" name="Rounded Rectangle 42"/>
          <p:cNvSpPr/>
          <p:nvPr/>
        </p:nvSpPr>
        <p:spPr>
          <a:xfrm>
            <a:off x="4076700" y="5486400"/>
            <a:ext cx="1519446" cy="342900"/>
          </a:xfrm>
          <a:prstGeom prst="roundRect">
            <a:avLst>
              <a:gd name="adj" fmla="val 11111"/>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076700" y="5486400"/>
            <a:ext cx="1519446"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CONTRASTA</a:t>
            </a:r>
          </a:p>
        </p:txBody>
      </p:sp>
      <p:sp>
        <p:nvSpPr>
          <p:cNvPr id="45" name="Rectangle 44"/>
          <p:cNvSpPr/>
          <p:nvPr/>
        </p:nvSpPr>
        <p:spPr>
          <a:xfrm>
            <a:off x="5676900" y="5257800"/>
            <a:ext cx="14288" cy="8001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2077700" y="5257800"/>
            <a:ext cx="14288" cy="80010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ight Arrow 46"/>
          <p:cNvSpPr/>
          <p:nvPr/>
        </p:nvSpPr>
        <p:spPr>
          <a:xfrm>
            <a:off x="11658600" y="5562600"/>
            <a:ext cx="304800" cy="190500"/>
          </a:xfrm>
          <a:prstGeom prst="rightArrow">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943600" y="5457825"/>
            <a:ext cx="1562398" cy="400050"/>
          </a:xfrm>
          <a:prstGeom prst="roundRect">
            <a:avLst>
              <a:gd name="adj" fmla="val 14285"/>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943600" y="5457825"/>
            <a:ext cx="1562398" cy="400050"/>
          </a:xfrm>
          <a:prstGeom prst="rect">
            <a:avLst/>
          </a:prstGeom>
          <a:noFill/>
        </p:spPr>
        <p:txBody>
          <a:bodyPr wrap="none" lIns="0" rIns="0" tIns="0" bIns="0" anchor="ctr">
            <a:spAutoFit/>
          </a:bodyPr>
          <a:lstStyle/>
          <a:p>
            <a:pPr algn="ctr">
              <a:lnSpc>
                <a:spcPct val="100000"/>
              </a:lnSpc>
            </a:pPr>
            <a:r>
              <a:rPr sz="1650" b="0" i="0">
                <a:solidFill>
                  <a:srgbClr val="F3F7FC"/>
                </a:solidFill>
                <a:latin typeface="Roboto Mono"/>
              </a:rPr>
              <a:t>BM25 Okapi</a:t>
            </a:r>
          </a:p>
        </p:txBody>
      </p:sp>
      <p:sp>
        <p:nvSpPr>
          <p:cNvPr id="50" name="TextBox 49"/>
          <p:cNvSpPr txBox="1"/>
          <p:nvPr/>
        </p:nvSpPr>
        <p:spPr>
          <a:xfrm>
            <a:off x="12382500" y="5219700"/>
            <a:ext cx="4686300" cy="876300"/>
          </a:xfrm>
          <a:prstGeom prst="rect">
            <a:avLst/>
          </a:prstGeom>
          <a:noFill/>
        </p:spPr>
        <p:txBody>
          <a:bodyPr wrap="square" lIns="0" rIns="0" tIns="0" bIns="0" anchor="ctr">
            <a:spAutoFit/>
          </a:bodyPr>
          <a:lstStyle/>
          <a:p>
            <a:pPr algn="l">
              <a:lnSpc>
                <a:spcPct val="95800"/>
              </a:lnSpc>
            </a:pPr>
            <a:r>
              <a:rPr sz="1950" b="1" i="0">
                <a:solidFill>
                  <a:srgbClr val="F3F7FC"/>
                </a:solidFill>
                <a:latin typeface="Montserrat"/>
              </a:rPr>
              <a:t>Segundo ranking independiente de control</a:t>
            </a:r>
          </a:p>
        </p:txBody>
      </p:sp>
      <p:sp>
        <p:nvSpPr>
          <p:cNvPr id="51" name="Rectangle 50"/>
          <p:cNvSpPr/>
          <p:nvPr/>
        </p:nvSpPr>
        <p:spPr>
          <a:xfrm>
            <a:off x="3086100" y="6438900"/>
            <a:ext cx="14287500" cy="15811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086100" y="6438900"/>
            <a:ext cx="57150" cy="158115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ight Arrow 52"/>
          <p:cNvSpPr/>
          <p:nvPr/>
        </p:nvSpPr>
        <p:spPr>
          <a:xfrm>
            <a:off x="2724150" y="7115175"/>
            <a:ext cx="285750" cy="22860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95650" y="6753225"/>
            <a:ext cx="723900" cy="952500"/>
          </a:xfrm>
          <a:prstGeom prst="rect">
            <a:avLst/>
          </a:prstGeom>
          <a:noFill/>
        </p:spPr>
        <p:txBody>
          <a:bodyPr wrap="square" lIns="0" rIns="0" tIns="0" bIns="0" anchor="ctr">
            <a:spAutoFit/>
          </a:bodyPr>
          <a:lstStyle/>
          <a:p>
            <a:pPr algn="ctr">
              <a:lnSpc>
                <a:spcPct val="83300"/>
              </a:lnSpc>
            </a:pPr>
            <a:r>
              <a:rPr sz="6000" b="1" i="0">
                <a:solidFill>
                  <a:srgbClr val="F3F7FC"/>
                </a:solidFill>
                <a:latin typeface="Montserrat"/>
              </a:rPr>
              <a:t>5</a:t>
            </a:r>
          </a:p>
        </p:txBody>
      </p:sp>
      <p:sp>
        <p:nvSpPr>
          <p:cNvPr id="55" name="Rounded Rectangle 54"/>
          <p:cNvSpPr/>
          <p:nvPr/>
        </p:nvSpPr>
        <p:spPr>
          <a:xfrm>
            <a:off x="4076700" y="7058025"/>
            <a:ext cx="1162020" cy="342900"/>
          </a:xfrm>
          <a:prstGeom prst="roundRect">
            <a:avLst>
              <a:gd name="adj" fmla="val 11111"/>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076700" y="7058025"/>
            <a:ext cx="1162020"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EXPLICA</a:t>
            </a:r>
          </a:p>
        </p:txBody>
      </p:sp>
      <p:sp>
        <p:nvSpPr>
          <p:cNvPr id="57" name="Rectangle 56"/>
          <p:cNvSpPr/>
          <p:nvPr/>
        </p:nvSpPr>
        <p:spPr>
          <a:xfrm>
            <a:off x="5676900" y="6648450"/>
            <a:ext cx="14288" cy="116205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2077700" y="6648450"/>
            <a:ext cx="14288" cy="1162050"/>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ight Arrow 58"/>
          <p:cNvSpPr/>
          <p:nvPr/>
        </p:nvSpPr>
        <p:spPr>
          <a:xfrm>
            <a:off x="11658600" y="7134225"/>
            <a:ext cx="304800" cy="190500"/>
          </a:xfrm>
          <a:prstGeom prst="rightArrow">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943600" y="6743700"/>
            <a:ext cx="989112"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5943600" y="6743700"/>
            <a:ext cx="989112"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Jaccard</a:t>
            </a:r>
          </a:p>
        </p:txBody>
      </p:sp>
      <p:sp>
        <p:nvSpPr>
          <p:cNvPr id="62" name="Rounded Rectangle 61"/>
          <p:cNvSpPr/>
          <p:nvPr/>
        </p:nvSpPr>
        <p:spPr>
          <a:xfrm>
            <a:off x="7027962" y="6743700"/>
            <a:ext cx="1423690"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027962" y="6743700"/>
            <a:ext cx="1423690"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Levenshtein</a:t>
            </a:r>
          </a:p>
        </p:txBody>
      </p:sp>
      <p:sp>
        <p:nvSpPr>
          <p:cNvPr id="64" name="Rounded Rectangle 63"/>
          <p:cNvSpPr/>
          <p:nvPr/>
        </p:nvSpPr>
        <p:spPr>
          <a:xfrm>
            <a:off x="8546902" y="6743700"/>
            <a:ext cx="1423690"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546902" y="6743700"/>
            <a:ext cx="1423690"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fuzzy ratio</a:t>
            </a:r>
          </a:p>
        </p:txBody>
      </p:sp>
      <p:sp>
        <p:nvSpPr>
          <p:cNvPr id="66" name="Rounded Rectangle 65"/>
          <p:cNvSpPr/>
          <p:nvPr/>
        </p:nvSpPr>
        <p:spPr>
          <a:xfrm>
            <a:off x="10065841" y="6743700"/>
            <a:ext cx="1315045"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0065841" y="6743700"/>
            <a:ext cx="1315045"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token_sort</a:t>
            </a:r>
          </a:p>
        </p:txBody>
      </p:sp>
      <p:sp>
        <p:nvSpPr>
          <p:cNvPr id="68" name="Rounded Rectangle 67"/>
          <p:cNvSpPr/>
          <p:nvPr/>
        </p:nvSpPr>
        <p:spPr>
          <a:xfrm>
            <a:off x="5943600" y="7239000"/>
            <a:ext cx="1206401"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943600" y="7239000"/>
            <a:ext cx="1206401"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token_set</a:t>
            </a:r>
          </a:p>
        </p:txBody>
      </p:sp>
      <p:sp>
        <p:nvSpPr>
          <p:cNvPr id="70" name="Rounded Rectangle 69"/>
          <p:cNvSpPr/>
          <p:nvPr/>
        </p:nvSpPr>
        <p:spPr>
          <a:xfrm>
            <a:off x="7245251" y="7239000"/>
            <a:ext cx="1423690"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245251" y="7239000"/>
            <a:ext cx="1423690"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BoW overlap</a:t>
            </a:r>
          </a:p>
        </p:txBody>
      </p:sp>
      <p:sp>
        <p:nvSpPr>
          <p:cNvPr id="72" name="Rounded Rectangle 71"/>
          <p:cNvSpPr/>
          <p:nvPr/>
        </p:nvSpPr>
        <p:spPr>
          <a:xfrm>
            <a:off x="8764191" y="7239000"/>
            <a:ext cx="1097756"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764191" y="7239000"/>
            <a:ext cx="1097756" cy="381000"/>
          </a:xfrm>
          <a:prstGeom prst="rect">
            <a:avLst/>
          </a:prstGeom>
          <a:noFill/>
        </p:spPr>
        <p:txBody>
          <a:bodyPr wrap="none" lIns="0" rIns="0" tIns="0" bIns="0" anchor="ctr">
            <a:spAutoFit/>
          </a:bodyPr>
          <a:lstStyle/>
          <a:p>
            <a:pPr algn="ctr">
              <a:lnSpc>
                <a:spcPct val="100000"/>
              </a:lnSpc>
            </a:pPr>
            <a:r>
              <a:rPr sz="1425" b="0" i="0">
                <a:solidFill>
                  <a:srgbClr val="F3F7FC"/>
                </a:solidFill>
                <a:latin typeface="Roboto Mono"/>
              </a:rPr>
              <a:t>BoW Dice</a:t>
            </a:r>
          </a:p>
        </p:txBody>
      </p:sp>
      <p:sp>
        <p:nvSpPr>
          <p:cNvPr id="74" name="TextBox 73"/>
          <p:cNvSpPr txBox="1"/>
          <p:nvPr/>
        </p:nvSpPr>
        <p:spPr>
          <a:xfrm>
            <a:off x="12382500" y="6705600"/>
            <a:ext cx="4686300" cy="666750"/>
          </a:xfrm>
          <a:prstGeom prst="rect">
            <a:avLst/>
          </a:prstGeom>
          <a:noFill/>
        </p:spPr>
        <p:txBody>
          <a:bodyPr wrap="square" lIns="0" rIns="0" tIns="0" bIns="0" anchor="t">
            <a:spAutoFit/>
          </a:bodyPr>
          <a:lstStyle/>
          <a:p>
            <a:pPr algn="l">
              <a:lnSpc>
                <a:spcPct val="95800"/>
              </a:lnSpc>
            </a:pPr>
            <a:r>
              <a:rPr sz="1950" b="1" i="0">
                <a:solidFill>
                  <a:srgbClr val="F3F7FC"/>
                </a:solidFill>
                <a:latin typeface="Montserrat"/>
              </a:rPr>
              <a:t>Auditoría por par y features candidatas</a:t>
            </a:r>
          </a:p>
        </p:txBody>
      </p:sp>
      <p:sp>
        <p:nvSpPr>
          <p:cNvPr id="75" name="Rounded Rectangle 74"/>
          <p:cNvSpPr/>
          <p:nvPr/>
        </p:nvSpPr>
        <p:spPr>
          <a:xfrm>
            <a:off x="12382500" y="7410450"/>
            <a:ext cx="2723317" cy="342900"/>
          </a:xfrm>
          <a:prstGeom prst="roundRect">
            <a:avLst>
              <a:gd name="adj" fmla="val 11111"/>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2382500" y="7410450"/>
            <a:ext cx="2723317"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NUNCA DECIDEN SOLAS</a:t>
            </a:r>
          </a:p>
        </p:txBody>
      </p:sp>
      <p:sp>
        <p:nvSpPr>
          <p:cNvPr id="77" name="Rectangle 76"/>
          <p:cNvSpPr/>
          <p:nvPr/>
        </p:nvSpPr>
        <p:spPr>
          <a:xfrm>
            <a:off x="914400" y="8229600"/>
            <a:ext cx="16459200" cy="13906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914400" y="8229600"/>
            <a:ext cx="57150" cy="13906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1219200" y="8477250"/>
            <a:ext cx="2043053"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219200" y="8477250"/>
            <a:ext cx="2043053"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CROSS-ENCODER</a:t>
            </a:r>
          </a:p>
        </p:txBody>
      </p:sp>
      <p:sp>
        <p:nvSpPr>
          <p:cNvPr id="81" name="TextBox 80"/>
          <p:cNvSpPr txBox="1"/>
          <p:nvPr/>
        </p:nvSpPr>
        <p:spPr>
          <a:xfrm>
            <a:off x="1219200" y="8934450"/>
            <a:ext cx="5334000" cy="381000"/>
          </a:xfrm>
          <a:prstGeom prst="rect">
            <a:avLst/>
          </a:prstGeom>
          <a:noFill/>
        </p:spPr>
        <p:txBody>
          <a:bodyPr wrap="square" lIns="0" rIns="0" tIns="0" bIns="0" anchor="t">
            <a:spAutoFit/>
          </a:bodyPr>
          <a:lstStyle/>
          <a:p>
            <a:pPr algn="l">
              <a:lnSpc>
                <a:spcPct val="95800"/>
              </a:lnSpc>
            </a:pPr>
            <a:r>
              <a:rPr sz="1800" b="1" i="0">
                <a:solidFill>
                  <a:srgbClr val="F3F7FC"/>
                </a:solidFill>
                <a:latin typeface="Montserrat"/>
              </a:rPr>
              <a:t>Su score no es una similitud simétrica</a:t>
            </a:r>
          </a:p>
        </p:txBody>
      </p:sp>
      <p:sp>
        <p:nvSpPr>
          <p:cNvPr id="82" name="TextBox 81"/>
          <p:cNvSpPr txBox="1"/>
          <p:nvPr/>
        </p:nvSpPr>
        <p:spPr>
          <a:xfrm>
            <a:off x="7130760" y="8710612"/>
            <a:ext cx="942171"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score</a:t>
            </a:r>
          </a:p>
        </p:txBody>
      </p:sp>
      <p:sp>
        <p:nvSpPr>
          <p:cNvPr id="83" name="TextBox 82"/>
          <p:cNvSpPr txBox="1"/>
          <p:nvPr/>
        </p:nvSpPr>
        <p:spPr>
          <a:xfrm>
            <a:off x="8102846" y="8710612"/>
            <a:ext cx="238887"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a:t>
            </a:r>
          </a:p>
        </p:txBody>
      </p:sp>
      <p:sp>
        <p:nvSpPr>
          <p:cNvPr id="84" name="TextBox 83"/>
          <p:cNvSpPr txBox="1"/>
          <p:nvPr/>
        </p:nvSpPr>
        <p:spPr>
          <a:xfrm>
            <a:off x="8411456" y="8710612"/>
            <a:ext cx="275329"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Roboto Mono"/>
              </a:rPr>
              <a:t>σ</a:t>
            </a:r>
          </a:p>
        </p:txBody>
      </p:sp>
      <p:sp>
        <p:nvSpPr>
          <p:cNvPr id="85" name="TextBox 84"/>
          <p:cNvSpPr txBox="1"/>
          <p:nvPr/>
        </p:nvSpPr>
        <p:spPr>
          <a:xfrm>
            <a:off x="8626810" y="8710612"/>
            <a:ext cx="948166"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(logit)</a:t>
            </a:r>
          </a:p>
        </p:txBody>
      </p:sp>
      <p:sp>
        <p:nvSpPr>
          <p:cNvPr id="86" name="TextBox 85"/>
          <p:cNvSpPr txBox="1"/>
          <p:nvPr/>
        </p:nvSpPr>
        <p:spPr>
          <a:xfrm>
            <a:off x="9604551" y="8710612"/>
            <a:ext cx="238887"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a:t>
            </a:r>
          </a:p>
        </p:txBody>
      </p:sp>
      <p:sp>
        <p:nvSpPr>
          <p:cNvPr id="87" name="Rectangle 86"/>
          <p:cNvSpPr/>
          <p:nvPr/>
        </p:nvSpPr>
        <p:spPr>
          <a:xfrm>
            <a:off x="9932211" y="8910638"/>
            <a:ext cx="1210681"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0466925" y="8515605"/>
            <a:ext cx="166493"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1</a:t>
            </a:r>
          </a:p>
        </p:txBody>
      </p:sp>
      <p:sp>
        <p:nvSpPr>
          <p:cNvPr id="89" name="TextBox 88"/>
          <p:cNvSpPr txBox="1"/>
          <p:nvPr/>
        </p:nvSpPr>
        <p:spPr>
          <a:xfrm>
            <a:off x="9964596" y="9055056"/>
            <a:ext cx="166493"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1</a:t>
            </a:r>
          </a:p>
        </p:txBody>
      </p:sp>
      <p:sp>
        <p:nvSpPr>
          <p:cNvPr id="90" name="TextBox 89"/>
          <p:cNvSpPr txBox="1"/>
          <p:nvPr/>
        </p:nvSpPr>
        <p:spPr>
          <a:xfrm>
            <a:off x="10138524" y="9055056"/>
            <a:ext cx="213444"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a:t>
            </a:r>
          </a:p>
        </p:txBody>
      </p:sp>
      <p:sp>
        <p:nvSpPr>
          <p:cNvPr id="91" name="TextBox 90"/>
          <p:cNvSpPr txBox="1"/>
          <p:nvPr/>
        </p:nvSpPr>
        <p:spPr>
          <a:xfrm>
            <a:off x="10356746" y="9055056"/>
            <a:ext cx="223685"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e</a:t>
            </a:r>
          </a:p>
        </p:txBody>
      </p:sp>
      <p:sp>
        <p:nvSpPr>
          <p:cNvPr id="92" name="TextBox 91"/>
          <p:cNvSpPr txBox="1"/>
          <p:nvPr/>
        </p:nvSpPr>
        <p:spPr>
          <a:xfrm>
            <a:off x="10542429" y="8992391"/>
            <a:ext cx="588638" cy="258032"/>
          </a:xfrm>
          <a:prstGeom prst="rect">
            <a:avLst/>
          </a:prstGeom>
          <a:noFill/>
        </p:spPr>
        <p:txBody>
          <a:bodyPr wrap="none" lIns="0" rIns="0" tIns="0" bIns="0" anchor="ctr">
            <a:spAutoFit/>
          </a:bodyPr>
          <a:lstStyle/>
          <a:p>
            <a:pPr algn="l">
              <a:lnSpc>
                <a:spcPct val="83300"/>
              </a:lnSpc>
            </a:pPr>
            <a:r>
              <a:rPr sz="1625" b="0" i="0">
                <a:solidFill>
                  <a:srgbClr val="F3F7FC"/>
                </a:solidFill>
                <a:latin typeface="Barlow"/>
              </a:rPr>
              <a:t>−logit</a:t>
            </a:r>
          </a:p>
        </p:txBody>
      </p:sp>
      <p:sp>
        <p:nvSpPr>
          <p:cNvPr id="93" name="TextBox 92"/>
          <p:cNvSpPr txBox="1"/>
          <p:nvPr/>
        </p:nvSpPr>
        <p:spPr>
          <a:xfrm>
            <a:off x="12573000" y="8420100"/>
            <a:ext cx="4533900" cy="1009650"/>
          </a:xfrm>
          <a:prstGeom prst="rect">
            <a:avLst/>
          </a:prstGeom>
          <a:noFill/>
        </p:spPr>
        <p:txBody>
          <a:bodyPr wrap="square" lIns="0" rIns="0" tIns="0" bIns="0" anchor="ctr">
            <a:spAutoFit/>
          </a:bodyPr>
          <a:lstStyle/>
          <a:p>
            <a:pPr algn="l">
              <a:lnSpc>
                <a:spcPct val="104200"/>
              </a:lnSpc>
            </a:pPr>
            <a:r>
              <a:rPr sz="1650" b="0" i="0">
                <a:solidFill>
                  <a:srgbClr val="9FB4CC"/>
                </a:solidFill>
                <a:latin typeface="Barlow"/>
              </a:rPr>
              <a:t>Una probabilidad no calibrada de que el par sea correspondencia.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ARQUITECTURA</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La cascada dentro de la escalera de decisión</a:t>
            </a:r>
          </a:p>
        </p:txBody>
      </p:sp>
      <p:sp>
        <p:nvSpPr>
          <p:cNvPr id="9" name="TextBox 8"/>
          <p:cNvSpPr txBox="1"/>
          <p:nvPr/>
        </p:nvSpPr>
        <p:spPr>
          <a:xfrm>
            <a:off x="914400" y="2628900"/>
            <a:ext cx="97536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ESCALERA DE DECISIÓN · MEDIDA SOBRE 2.365 PUBLICACIONES</a:t>
            </a:r>
          </a:p>
        </p:txBody>
      </p:sp>
      <p:sp>
        <p:nvSpPr>
          <p:cNvPr id="10" name="Rectangle 9"/>
          <p:cNvSpPr/>
          <p:nvPr/>
        </p:nvSpPr>
        <p:spPr>
          <a:xfrm>
            <a:off x="914400" y="2990850"/>
            <a:ext cx="9753600" cy="78105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085850" y="3171825"/>
            <a:ext cx="41910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85850" y="3171825"/>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0</a:t>
            </a:r>
          </a:p>
        </p:txBody>
      </p:sp>
      <p:sp>
        <p:nvSpPr>
          <p:cNvPr id="13" name="TextBox 12"/>
          <p:cNvSpPr txBox="1"/>
          <p:nvPr/>
        </p:nvSpPr>
        <p:spPr>
          <a:xfrm>
            <a:off x="1676400" y="3028950"/>
            <a:ext cx="4914900" cy="7048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El enrutador de estados indica publicación ocultada</a:t>
            </a:r>
          </a:p>
        </p:txBody>
      </p:sp>
      <p:sp>
        <p:nvSpPr>
          <p:cNvPr id="14" name="Rounded Rectangle 13"/>
          <p:cNvSpPr/>
          <p:nvPr/>
        </p:nvSpPr>
        <p:spPr>
          <a:xfrm>
            <a:off x="6705600" y="3219450"/>
            <a:ext cx="1112788" cy="323850"/>
          </a:xfrm>
          <a:prstGeom prst="roundRect">
            <a:avLst>
              <a:gd name="adj" fmla="val 11764"/>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05600" y="3219450"/>
            <a:ext cx="1112788" cy="3238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HIDDEN</a:t>
            </a:r>
          </a:p>
        </p:txBody>
      </p:sp>
      <p:sp>
        <p:nvSpPr>
          <p:cNvPr id="16" name="Rectangle 15"/>
          <p:cNvSpPr/>
          <p:nvPr/>
        </p:nvSpPr>
        <p:spPr>
          <a:xfrm>
            <a:off x="8001000" y="32861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01000" y="3286125"/>
            <a:ext cx="224871" cy="1905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72600" y="2990850"/>
            <a:ext cx="1123950" cy="781050"/>
          </a:xfrm>
          <a:prstGeom prst="rect">
            <a:avLst/>
          </a:prstGeom>
          <a:noFill/>
        </p:spPr>
        <p:txBody>
          <a:bodyPr wrap="square" lIns="0" rIns="0" tIns="0" bIns="0" anchor="ctr">
            <a:spAutoFit/>
          </a:bodyPr>
          <a:lstStyle/>
          <a:p>
            <a:pPr algn="r">
              <a:lnSpc>
                <a:spcPct val="95800"/>
              </a:lnSpc>
            </a:pPr>
            <a:r>
              <a:rPr sz="2250" b="1" i="0">
                <a:solidFill>
                  <a:srgbClr val="F3F7FC"/>
                </a:solidFill>
                <a:latin typeface="Montserrat"/>
              </a:rPr>
              <a:t>188</a:t>
            </a:r>
          </a:p>
        </p:txBody>
      </p:sp>
      <p:sp>
        <p:nvSpPr>
          <p:cNvPr id="19" name="Rectangle 18"/>
          <p:cNvSpPr/>
          <p:nvPr/>
        </p:nvSpPr>
        <p:spPr>
          <a:xfrm>
            <a:off x="914400" y="3867150"/>
            <a:ext cx="9753600" cy="78105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085850" y="4048125"/>
            <a:ext cx="41910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85850" y="4048125"/>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1</a:t>
            </a:r>
          </a:p>
        </p:txBody>
      </p:sp>
      <p:sp>
        <p:nvSpPr>
          <p:cNvPr id="22" name="TextBox 21"/>
          <p:cNvSpPr txBox="1"/>
          <p:nvPr/>
        </p:nvSpPr>
        <p:spPr>
          <a:xfrm>
            <a:off x="1676400" y="3905250"/>
            <a:ext cx="4914900" cy="7048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El código de la consulta no existe en el catálogo del país</a:t>
            </a:r>
          </a:p>
        </p:txBody>
      </p:sp>
      <p:sp>
        <p:nvSpPr>
          <p:cNvPr id="23" name="Rounded Rectangle 22"/>
          <p:cNvSpPr/>
          <p:nvPr/>
        </p:nvSpPr>
        <p:spPr>
          <a:xfrm>
            <a:off x="6705600" y="4095750"/>
            <a:ext cx="665649" cy="323850"/>
          </a:xfrm>
          <a:prstGeom prst="roundRect">
            <a:avLst>
              <a:gd name="adj" fmla="val 11764"/>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05600" y="4095750"/>
            <a:ext cx="665649" cy="32385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NIC</a:t>
            </a:r>
          </a:p>
        </p:txBody>
      </p:sp>
      <p:sp>
        <p:nvSpPr>
          <p:cNvPr id="25" name="Rectangle 24"/>
          <p:cNvSpPr/>
          <p:nvPr/>
        </p:nvSpPr>
        <p:spPr>
          <a:xfrm>
            <a:off x="8001000" y="41624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01000" y="4162425"/>
            <a:ext cx="1064548"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72600" y="3867150"/>
            <a:ext cx="1123950" cy="781050"/>
          </a:xfrm>
          <a:prstGeom prst="rect">
            <a:avLst/>
          </a:prstGeom>
          <a:noFill/>
        </p:spPr>
        <p:txBody>
          <a:bodyPr wrap="square" lIns="0" rIns="0" tIns="0" bIns="0" anchor="ctr">
            <a:spAutoFit/>
          </a:bodyPr>
          <a:lstStyle/>
          <a:p>
            <a:pPr algn="r">
              <a:lnSpc>
                <a:spcPct val="95800"/>
              </a:lnSpc>
            </a:pPr>
            <a:r>
              <a:rPr sz="2250" b="1" i="0">
                <a:solidFill>
                  <a:srgbClr val="F3F7FC"/>
                </a:solidFill>
                <a:latin typeface="Montserrat"/>
              </a:rPr>
              <a:t>890</a:t>
            </a:r>
          </a:p>
        </p:txBody>
      </p:sp>
      <p:sp>
        <p:nvSpPr>
          <p:cNvPr id="28" name="Rectangle 27"/>
          <p:cNvSpPr/>
          <p:nvPr/>
        </p:nvSpPr>
        <p:spPr>
          <a:xfrm>
            <a:off x="914400" y="4743450"/>
            <a:ext cx="9753600" cy="78105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1085850" y="4924425"/>
            <a:ext cx="41910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85850" y="4924425"/>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2</a:t>
            </a:r>
          </a:p>
        </p:txBody>
      </p:sp>
      <p:sp>
        <p:nvSpPr>
          <p:cNvPr id="31" name="TextBox 30"/>
          <p:cNvSpPr txBox="1"/>
          <p:nvPr/>
        </p:nvSpPr>
        <p:spPr>
          <a:xfrm>
            <a:off x="1676400" y="4781550"/>
            <a:ext cx="4914900" cy="7048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El enrutador de estados indica ausencia de catálogo</a:t>
            </a:r>
          </a:p>
        </p:txBody>
      </p:sp>
      <p:sp>
        <p:nvSpPr>
          <p:cNvPr id="32" name="Rounded Rectangle 31"/>
          <p:cNvSpPr/>
          <p:nvPr/>
        </p:nvSpPr>
        <p:spPr>
          <a:xfrm>
            <a:off x="6705600" y="4972050"/>
            <a:ext cx="665649" cy="323850"/>
          </a:xfrm>
          <a:prstGeom prst="roundRect">
            <a:avLst>
              <a:gd name="adj" fmla="val 11764"/>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05600" y="4972050"/>
            <a:ext cx="665649" cy="32385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NIC</a:t>
            </a:r>
          </a:p>
        </p:txBody>
      </p:sp>
      <p:sp>
        <p:nvSpPr>
          <p:cNvPr id="34" name="Rectangle 33"/>
          <p:cNvSpPr/>
          <p:nvPr/>
        </p:nvSpPr>
        <p:spPr>
          <a:xfrm>
            <a:off x="8001000" y="50387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001000" y="5038725"/>
            <a:ext cx="99278"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72600" y="4743450"/>
            <a:ext cx="1123950" cy="781050"/>
          </a:xfrm>
          <a:prstGeom prst="rect">
            <a:avLst/>
          </a:prstGeom>
          <a:noFill/>
        </p:spPr>
        <p:txBody>
          <a:bodyPr wrap="square" lIns="0" rIns="0" tIns="0" bIns="0" anchor="ctr">
            <a:spAutoFit/>
          </a:bodyPr>
          <a:lstStyle/>
          <a:p>
            <a:pPr algn="r">
              <a:lnSpc>
                <a:spcPct val="95800"/>
              </a:lnSpc>
            </a:pPr>
            <a:r>
              <a:rPr sz="2250" b="1" i="0">
                <a:solidFill>
                  <a:srgbClr val="F3F7FC"/>
                </a:solidFill>
                <a:latin typeface="Montserrat"/>
              </a:rPr>
              <a:t>83</a:t>
            </a:r>
          </a:p>
        </p:txBody>
      </p:sp>
      <p:sp>
        <p:nvSpPr>
          <p:cNvPr id="37" name="Rectangle 36"/>
          <p:cNvSpPr/>
          <p:nvPr/>
        </p:nvSpPr>
        <p:spPr>
          <a:xfrm>
            <a:off x="914400" y="5619750"/>
            <a:ext cx="9753600" cy="78105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085850" y="5800725"/>
            <a:ext cx="41910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85850" y="5800725"/>
            <a:ext cx="419100" cy="419100"/>
          </a:xfrm>
          <a:prstGeom prst="rect">
            <a:avLst/>
          </a:prstGeom>
          <a:noFill/>
        </p:spPr>
        <p:txBody>
          <a:bodyPr wrap="none" lIns="0" rIns="0" tIns="0" bIns="0" anchor="ctr">
            <a:spAutoFit/>
          </a:bodyPr>
          <a:lstStyle/>
          <a:p>
            <a:pPr algn="ctr">
              <a:lnSpc>
                <a:spcPct val="100000"/>
              </a:lnSpc>
            </a:pPr>
            <a:r>
              <a:rPr sz="1518" b="1" i="0">
                <a:solidFill>
                  <a:srgbClr val="F3F7FC"/>
                </a:solidFill>
                <a:latin typeface="Montserrat"/>
              </a:rPr>
              <a:t>3</a:t>
            </a:r>
          </a:p>
        </p:txBody>
      </p:sp>
      <p:sp>
        <p:nvSpPr>
          <p:cNvPr id="40" name="TextBox 39"/>
          <p:cNvSpPr txBox="1"/>
          <p:nvPr/>
        </p:nvSpPr>
        <p:spPr>
          <a:xfrm>
            <a:off x="1676400" y="5657850"/>
            <a:ext cx="4914900" cy="7048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Regla exacta de código y el título no es multipack</a:t>
            </a:r>
          </a:p>
        </p:txBody>
      </p:sp>
      <p:sp>
        <p:nvSpPr>
          <p:cNvPr id="41" name="Rounded Rectangle 40"/>
          <p:cNvSpPr/>
          <p:nvPr/>
        </p:nvSpPr>
        <p:spPr>
          <a:xfrm>
            <a:off x="6705600" y="5848350"/>
            <a:ext cx="1025456"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05600" y="5848350"/>
            <a:ext cx="1025456" cy="3238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MATCH</a:t>
            </a:r>
          </a:p>
        </p:txBody>
      </p:sp>
      <p:sp>
        <p:nvSpPr>
          <p:cNvPr id="43" name="Rectangle 42"/>
          <p:cNvSpPr/>
          <p:nvPr/>
        </p:nvSpPr>
        <p:spPr>
          <a:xfrm>
            <a:off x="8001000" y="59150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001000" y="5915025"/>
            <a:ext cx="135162"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72600" y="5619750"/>
            <a:ext cx="1123950" cy="781050"/>
          </a:xfrm>
          <a:prstGeom prst="rect">
            <a:avLst/>
          </a:prstGeom>
          <a:noFill/>
        </p:spPr>
        <p:txBody>
          <a:bodyPr wrap="square" lIns="0" rIns="0" tIns="0" bIns="0" anchor="ctr">
            <a:spAutoFit/>
          </a:bodyPr>
          <a:lstStyle/>
          <a:p>
            <a:pPr algn="r">
              <a:lnSpc>
                <a:spcPct val="95800"/>
              </a:lnSpc>
            </a:pPr>
            <a:r>
              <a:rPr sz="2250" b="1" i="0">
                <a:solidFill>
                  <a:srgbClr val="FFD21F"/>
                </a:solidFill>
                <a:latin typeface="Montserrat"/>
              </a:rPr>
              <a:t>113</a:t>
            </a:r>
          </a:p>
        </p:txBody>
      </p:sp>
      <p:sp>
        <p:nvSpPr>
          <p:cNvPr id="46" name="Rectangle 45"/>
          <p:cNvSpPr/>
          <p:nvPr/>
        </p:nvSpPr>
        <p:spPr>
          <a:xfrm>
            <a:off x="914400" y="6496050"/>
            <a:ext cx="9753600" cy="781050"/>
          </a:xfrm>
          <a:prstGeom prst="rect">
            <a:avLst/>
          </a:prstGeom>
          <a:solidFill>
            <a:srgbClr val="0F2C52"/>
          </a:solid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1085850" y="6677025"/>
            <a:ext cx="419100" cy="419100"/>
          </a:xfrm>
          <a:prstGeom prst="roundRect">
            <a:avLst>
              <a:gd name="adj" fmla="val 909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85850" y="6677025"/>
            <a:ext cx="419100" cy="419100"/>
          </a:xfrm>
          <a:prstGeom prst="rect">
            <a:avLst/>
          </a:prstGeom>
          <a:noFill/>
        </p:spPr>
        <p:txBody>
          <a:bodyPr wrap="none" lIns="0" rIns="0" tIns="0" bIns="0" anchor="ctr">
            <a:spAutoFit/>
          </a:bodyPr>
          <a:lstStyle/>
          <a:p>
            <a:pPr algn="ctr">
              <a:lnSpc>
                <a:spcPct val="100000"/>
              </a:lnSpc>
            </a:pPr>
            <a:r>
              <a:rPr sz="1518" b="1" i="0">
                <a:solidFill>
                  <a:srgbClr val="07172D"/>
                </a:solidFill>
                <a:latin typeface="Montserrat"/>
              </a:rPr>
              <a:t>4</a:t>
            </a:r>
          </a:p>
        </p:txBody>
      </p:sp>
      <p:sp>
        <p:nvSpPr>
          <p:cNvPr id="49" name="TextBox 48"/>
          <p:cNvSpPr txBox="1"/>
          <p:nvPr/>
        </p:nvSpPr>
        <p:spPr>
          <a:xfrm>
            <a:off x="1676400" y="6534150"/>
            <a:ext cx="4914900" cy="7048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TF-IDF recupera · el cross-encoder puntúa · compuerta de score, margen y código</a:t>
            </a:r>
          </a:p>
        </p:txBody>
      </p:sp>
      <p:sp>
        <p:nvSpPr>
          <p:cNvPr id="50" name="Rounded Rectangle 49"/>
          <p:cNvSpPr/>
          <p:nvPr/>
        </p:nvSpPr>
        <p:spPr>
          <a:xfrm>
            <a:off x="6705600" y="6724650"/>
            <a:ext cx="1025456"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705600" y="6724650"/>
            <a:ext cx="1025456" cy="3238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MATCH</a:t>
            </a:r>
          </a:p>
        </p:txBody>
      </p:sp>
      <p:sp>
        <p:nvSpPr>
          <p:cNvPr id="52" name="Rectangle 51"/>
          <p:cNvSpPr/>
          <p:nvPr/>
        </p:nvSpPr>
        <p:spPr>
          <a:xfrm>
            <a:off x="8001000" y="67913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001000" y="6791325"/>
            <a:ext cx="19050"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372600" y="6496050"/>
            <a:ext cx="1123950" cy="781050"/>
          </a:xfrm>
          <a:prstGeom prst="rect">
            <a:avLst/>
          </a:prstGeom>
          <a:noFill/>
        </p:spPr>
        <p:txBody>
          <a:bodyPr wrap="square" lIns="0" rIns="0" tIns="0" bIns="0" anchor="ctr">
            <a:spAutoFit/>
          </a:bodyPr>
          <a:lstStyle/>
          <a:p>
            <a:pPr algn="r">
              <a:lnSpc>
                <a:spcPct val="95800"/>
              </a:lnSpc>
            </a:pPr>
            <a:r>
              <a:rPr sz="2250" b="1" i="0">
                <a:solidFill>
                  <a:srgbClr val="FFD21F"/>
                </a:solidFill>
                <a:latin typeface="Montserrat"/>
              </a:rPr>
              <a:t>8</a:t>
            </a:r>
          </a:p>
        </p:txBody>
      </p:sp>
      <p:sp>
        <p:nvSpPr>
          <p:cNvPr id="55" name="Rectangle 54"/>
          <p:cNvSpPr/>
          <p:nvPr/>
        </p:nvSpPr>
        <p:spPr>
          <a:xfrm>
            <a:off x="914400" y="7372350"/>
            <a:ext cx="9753600" cy="781050"/>
          </a:xfrm>
          <a:prstGeom prst="rect">
            <a:avLst/>
          </a:prstGeom>
          <a:solidFill>
            <a:srgbClr val="0C2445"/>
          </a:solidFill>
          <a:ln w="11429">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1085850" y="7553325"/>
            <a:ext cx="419100" cy="419100"/>
          </a:xfrm>
          <a:prstGeom prst="roundRect">
            <a:avLst>
              <a:gd name="adj" fmla="val 9090"/>
            </a:avLst>
          </a:prstGeom>
          <a:solidFill>
            <a:srgbClr val="0F2C52"/>
          </a:solidFill>
          <a:ln w="14287">
            <a:solidFill>
              <a:srgbClr val="F3F7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85850" y="7553325"/>
            <a:ext cx="419100" cy="419100"/>
          </a:xfrm>
          <a:prstGeom prst="rect">
            <a:avLst/>
          </a:prstGeom>
          <a:noFill/>
        </p:spPr>
        <p:txBody>
          <a:bodyPr wrap="square" lIns="0" rIns="0" tIns="0" bIns="0" anchor="ctr">
            <a:spAutoFit/>
          </a:bodyPr>
          <a:lstStyle/>
          <a:p>
            <a:pPr algn="ctr">
              <a:lnSpc>
                <a:spcPct val="83300"/>
              </a:lnSpc>
            </a:pPr>
            <a:r>
              <a:rPr sz="1500" b="1" i="0">
                <a:solidFill>
                  <a:srgbClr val="F3F7FC"/>
                </a:solidFill>
                <a:latin typeface="Montserrat"/>
              </a:rPr>
              <a:t>5</a:t>
            </a:r>
          </a:p>
        </p:txBody>
      </p:sp>
      <p:sp>
        <p:nvSpPr>
          <p:cNvPr id="58" name="TextBox 57"/>
          <p:cNvSpPr txBox="1"/>
          <p:nvPr/>
        </p:nvSpPr>
        <p:spPr>
          <a:xfrm>
            <a:off x="1676400" y="7410450"/>
            <a:ext cx="4914900" cy="704850"/>
          </a:xfrm>
          <a:prstGeom prst="rect">
            <a:avLst/>
          </a:prstGeom>
          <a:noFill/>
        </p:spPr>
        <p:txBody>
          <a:bodyPr wrap="square" lIns="0" rIns="0" tIns="0" bIns="0" anchor="ctr">
            <a:spAutoFit/>
          </a:bodyPr>
          <a:lstStyle/>
          <a:p>
            <a:pPr algn="l">
              <a:lnSpc>
                <a:spcPct val="104200"/>
              </a:lnSpc>
            </a:pPr>
            <a:r>
              <a:rPr sz="1575" b="0" i="0">
                <a:solidFill>
                  <a:srgbClr val="9FB4CC"/>
                </a:solidFill>
                <a:latin typeface="Barlow"/>
              </a:rPr>
              <a:t>Todo lo demás: llega al revisor con los candidatos ya ordenados</a:t>
            </a:r>
          </a:p>
        </p:txBody>
      </p:sp>
      <p:sp>
        <p:nvSpPr>
          <p:cNvPr id="59" name="Rounded Rectangle 58"/>
          <p:cNvSpPr/>
          <p:nvPr/>
        </p:nvSpPr>
        <p:spPr>
          <a:xfrm>
            <a:off x="6705600" y="7600950"/>
            <a:ext cx="1114574" cy="323850"/>
          </a:xfrm>
          <a:prstGeom prst="roundRect">
            <a:avLst>
              <a:gd name="adj" fmla="val 11764"/>
            </a:avLst>
          </a:prstGeom>
          <a:solidFill>
            <a:srgbClr val="0F2C52"/>
          </a:solidFill>
          <a:ln w="14287">
            <a:solidFill>
              <a:srgbClr val="F3F7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705600" y="7600950"/>
            <a:ext cx="1114574" cy="32385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REVIEW</a:t>
            </a:r>
          </a:p>
        </p:txBody>
      </p:sp>
      <p:sp>
        <p:nvSpPr>
          <p:cNvPr id="61" name="Rectangle 60"/>
          <p:cNvSpPr/>
          <p:nvPr/>
        </p:nvSpPr>
        <p:spPr>
          <a:xfrm>
            <a:off x="8001000" y="7667625"/>
            <a:ext cx="1295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8001000" y="7667625"/>
            <a:ext cx="1295400" cy="190500"/>
          </a:xfrm>
          <a:prstGeom prst="rect">
            <a:avLst/>
          </a:prstGeom>
          <a:solidFill>
            <a:srgbClr val="F3F7FC">
              <a:alpha val="15000"/>
            </a:srgbClr>
          </a:solidFill>
          <a:ln w="14287">
            <a:solidFill>
              <a:srgbClr val="F3F7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372600" y="7372350"/>
            <a:ext cx="1123950" cy="781050"/>
          </a:xfrm>
          <a:prstGeom prst="rect">
            <a:avLst/>
          </a:prstGeom>
          <a:noFill/>
        </p:spPr>
        <p:txBody>
          <a:bodyPr wrap="square" lIns="0" rIns="0" tIns="0" bIns="0" anchor="ctr">
            <a:spAutoFit/>
          </a:bodyPr>
          <a:lstStyle/>
          <a:p>
            <a:pPr algn="r">
              <a:lnSpc>
                <a:spcPct val="95800"/>
              </a:lnSpc>
            </a:pPr>
            <a:r>
              <a:rPr sz="2250" b="1" i="0">
                <a:solidFill>
                  <a:srgbClr val="F3F7FC"/>
                </a:solidFill>
                <a:latin typeface="Montserrat"/>
              </a:rPr>
              <a:t>1.083</a:t>
            </a:r>
          </a:p>
        </p:txBody>
      </p:sp>
      <p:cxnSp>
        <p:nvCxnSpPr>
          <p:cNvPr id="64" name="Connector 63"/>
          <p:cNvCxnSpPr/>
          <p:nvPr/>
        </p:nvCxnSpPr>
        <p:spPr>
          <a:xfrm flipV="1">
            <a:off x="10706100" y="2638425"/>
            <a:ext cx="723900" cy="3857625"/>
          </a:xfrm>
          <a:prstGeom prst="line">
            <a:avLst/>
          </a:prstGeom>
          <a:ln w="14287">
            <a:solidFill>
              <a:srgbClr val="FFD21F">
                <a:alpha val="70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706100" y="7277100"/>
            <a:ext cx="723900" cy="866775"/>
          </a:xfrm>
          <a:prstGeom prst="line">
            <a:avLst/>
          </a:prstGeom>
          <a:ln w="14287">
            <a:solidFill>
              <a:srgbClr val="FFD21F">
                <a:alpha val="70000"/>
              </a:srgbClr>
            </a:solidFill>
            <a:prstDash val="dash"/>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1430000" y="2628900"/>
            <a:ext cx="5943600" cy="55245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Esquinero"/>
          <p:cNvSpPr/>
          <p:nvPr/>
        </p:nvSpPr>
        <p:spPr>
          <a:xfrm>
            <a:off x="113347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Esquinero"/>
          <p:cNvSpPr/>
          <p:nvPr/>
        </p:nvSpPr>
        <p:spPr>
          <a:xfrm>
            <a:off x="113347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Esquinero"/>
          <p:cNvSpPr/>
          <p:nvPr/>
        </p:nvSpPr>
        <p:spPr>
          <a:xfrm>
            <a:off x="11334750" y="7924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Esquinero"/>
          <p:cNvSpPr/>
          <p:nvPr/>
        </p:nvSpPr>
        <p:spPr>
          <a:xfrm>
            <a:off x="11334750" y="82200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Esquinero"/>
          <p:cNvSpPr/>
          <p:nvPr/>
        </p:nvSpPr>
        <p:spPr>
          <a:xfrm>
            <a:off x="17440275" y="7924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Esquinero"/>
          <p:cNvSpPr/>
          <p:nvPr/>
        </p:nvSpPr>
        <p:spPr>
          <a:xfrm>
            <a:off x="17145000" y="82200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1696700" y="2819400"/>
            <a:ext cx="54102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CAPA 4 · LA CASCADA</a:t>
            </a:r>
          </a:p>
        </p:txBody>
      </p:sp>
      <p:sp>
        <p:nvSpPr>
          <p:cNvPr id="76" name="Rounded Rectangle 75"/>
          <p:cNvSpPr/>
          <p:nvPr/>
        </p:nvSpPr>
        <p:spPr>
          <a:xfrm>
            <a:off x="11830050" y="3181350"/>
            <a:ext cx="5143500" cy="952500"/>
          </a:xfrm>
          <a:prstGeom prst="roundRect">
            <a:avLst>
              <a:gd name="adj" fmla="val 6000"/>
            </a:avLst>
          </a:prstGeom>
          <a:solidFill>
            <a:srgbClr val="0C2445"/>
          </a:solidFill>
          <a:ln w="14287">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1830050" y="3257550"/>
            <a:ext cx="5143500" cy="247650"/>
          </a:xfrm>
          <a:prstGeom prst="rect">
            <a:avLst/>
          </a:prstGeom>
          <a:noFill/>
        </p:spPr>
        <p:txBody>
          <a:bodyPr wrap="square" lIns="0" rIns="0" tIns="0" bIns="0" anchor="t">
            <a:spAutoFit/>
          </a:bodyPr>
          <a:lstStyle/>
          <a:p>
            <a:pPr algn="ctr">
              <a:lnSpc>
                <a:spcPct val="95800"/>
              </a:lnSpc>
            </a:pPr>
            <a:r>
              <a:rPr sz="1500" b="1" i="0">
                <a:solidFill>
                  <a:srgbClr val="F3F7FC"/>
                </a:solidFill>
                <a:latin typeface="Montserrat"/>
              </a:rPr>
              <a:t>Catálogo del país</a:t>
            </a:r>
          </a:p>
        </p:txBody>
      </p:sp>
      <p:sp>
        <p:nvSpPr>
          <p:cNvPr id="78" name="TextBox 77"/>
          <p:cNvSpPr txBox="1"/>
          <p:nvPr/>
        </p:nvSpPr>
        <p:spPr>
          <a:xfrm>
            <a:off x="11830050" y="3486150"/>
            <a:ext cx="5143500" cy="419100"/>
          </a:xfrm>
          <a:prstGeom prst="rect">
            <a:avLst/>
          </a:prstGeom>
          <a:noFill/>
        </p:spPr>
        <p:txBody>
          <a:bodyPr wrap="square" lIns="0" rIns="0" tIns="0" bIns="0" anchor="ctr">
            <a:spAutoFit/>
          </a:bodyPr>
          <a:lstStyle/>
          <a:p>
            <a:pPr algn="ctr">
              <a:lnSpc>
                <a:spcPct val="83300"/>
              </a:lnSpc>
            </a:pPr>
            <a:r>
              <a:rPr sz="3000" b="1" i="0">
                <a:solidFill>
                  <a:srgbClr val="FFD21F"/>
                </a:solidFill>
                <a:latin typeface="Montserrat"/>
              </a:rPr>
              <a:t>4.316</a:t>
            </a:r>
          </a:p>
        </p:txBody>
      </p:sp>
      <p:sp>
        <p:nvSpPr>
          <p:cNvPr id="79" name="TextBox 78"/>
          <p:cNvSpPr txBox="1"/>
          <p:nvPr/>
        </p:nvSpPr>
        <p:spPr>
          <a:xfrm>
            <a:off x="11982450" y="3886200"/>
            <a:ext cx="4838700" cy="228600"/>
          </a:xfrm>
          <a:prstGeom prst="rect">
            <a:avLst/>
          </a:prstGeom>
          <a:noFill/>
        </p:spPr>
        <p:txBody>
          <a:bodyPr wrap="square" lIns="0" rIns="0" tIns="0" bIns="0" anchor="t">
            <a:spAutoFit/>
          </a:bodyPr>
          <a:lstStyle/>
          <a:p>
            <a:pPr algn="ctr">
              <a:lnSpc>
                <a:spcPct val="104200"/>
              </a:lnSpc>
            </a:pPr>
            <a:r>
              <a:rPr sz="1425" b="0" i="0">
                <a:solidFill>
                  <a:srgbClr val="9FB4CC"/>
                </a:solidFill>
                <a:latin typeface="Barlow"/>
              </a:rPr>
              <a:t>productos oficiales por consulta</a:t>
            </a:r>
          </a:p>
        </p:txBody>
      </p:sp>
      <p:sp>
        <p:nvSpPr>
          <p:cNvPr id="80" name="Rectangle 79"/>
          <p:cNvSpPr/>
          <p:nvPr/>
        </p:nvSpPr>
        <p:spPr>
          <a:xfrm>
            <a:off x="14373225" y="4152900"/>
            <a:ext cx="57150" cy="1333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Isosceles Triangle 80"/>
          <p:cNvSpPr/>
          <p:nvPr/>
        </p:nvSpPr>
        <p:spPr>
          <a:xfrm rot="10800000">
            <a:off x="14306550" y="4267200"/>
            <a:ext cx="190500" cy="133350"/>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630400" y="4152900"/>
            <a:ext cx="1238250" cy="247650"/>
          </a:xfrm>
          <a:prstGeom prst="rect">
            <a:avLst/>
          </a:prstGeom>
          <a:noFill/>
        </p:spPr>
        <p:txBody>
          <a:bodyPr wrap="square" lIns="0" rIns="0" tIns="0" bIns="0" anchor="ctr">
            <a:spAutoFit/>
          </a:bodyPr>
          <a:lstStyle/>
          <a:p>
            <a:pPr algn="l">
              <a:lnSpc>
                <a:spcPct val="95800"/>
              </a:lnSpc>
            </a:pPr>
            <a:r>
              <a:rPr sz="1350" b="1" i="0">
                <a:solidFill>
                  <a:srgbClr val="FFD21F"/>
                </a:solidFill>
                <a:latin typeface="Montserrat"/>
              </a:rPr>
              <a:t>Modelo 1</a:t>
            </a:r>
          </a:p>
        </p:txBody>
      </p:sp>
      <p:sp>
        <p:nvSpPr>
          <p:cNvPr id="83" name="TextBox 82"/>
          <p:cNvSpPr txBox="1"/>
          <p:nvPr/>
        </p:nvSpPr>
        <p:spPr>
          <a:xfrm>
            <a:off x="12268200" y="4152900"/>
            <a:ext cx="1905000" cy="247650"/>
          </a:xfrm>
          <a:prstGeom prst="rect">
            <a:avLst/>
          </a:prstGeom>
          <a:noFill/>
        </p:spPr>
        <p:txBody>
          <a:bodyPr wrap="square" lIns="0" rIns="0" tIns="0" bIns="0" anchor="ctr">
            <a:spAutoFit/>
          </a:bodyPr>
          <a:lstStyle/>
          <a:p>
            <a:pPr algn="r">
              <a:lnSpc>
                <a:spcPct val="104200"/>
              </a:lnSpc>
            </a:pPr>
            <a:r>
              <a:rPr sz="1425" b="0" i="0">
                <a:solidFill>
                  <a:srgbClr val="9FB4CC"/>
                </a:solidFill>
                <a:latin typeface="Barlow"/>
              </a:rPr>
              <a:t>recuperar barato</a:t>
            </a:r>
          </a:p>
        </p:txBody>
      </p:sp>
      <p:sp>
        <p:nvSpPr>
          <p:cNvPr id="84" name="Rounded Rectangle 83"/>
          <p:cNvSpPr/>
          <p:nvPr/>
        </p:nvSpPr>
        <p:spPr>
          <a:xfrm>
            <a:off x="12163425" y="4419600"/>
            <a:ext cx="4476750" cy="1181100"/>
          </a:xfrm>
          <a:prstGeom prst="roundRect">
            <a:avLst>
              <a:gd name="adj" fmla="val 4838"/>
            </a:avLst>
          </a:prstGeom>
          <a:solidFill>
            <a:srgbClr val="0C2445"/>
          </a:solidFill>
          <a:ln w="14287">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2163425" y="4495800"/>
            <a:ext cx="4476750" cy="247650"/>
          </a:xfrm>
          <a:prstGeom prst="rect">
            <a:avLst/>
          </a:prstGeom>
          <a:noFill/>
        </p:spPr>
        <p:txBody>
          <a:bodyPr wrap="square" lIns="0" rIns="0" tIns="0" bIns="0" anchor="t">
            <a:spAutoFit/>
          </a:bodyPr>
          <a:lstStyle/>
          <a:p>
            <a:pPr algn="ctr">
              <a:lnSpc>
                <a:spcPct val="95800"/>
              </a:lnSpc>
            </a:pPr>
            <a:r>
              <a:rPr sz="1500" b="1" i="0">
                <a:solidFill>
                  <a:srgbClr val="F3F7FC"/>
                </a:solidFill>
                <a:latin typeface="Montserrat"/>
              </a:rPr>
              <a:t>Recuperación TF-IDF</a:t>
            </a:r>
          </a:p>
        </p:txBody>
      </p:sp>
      <p:sp>
        <p:nvSpPr>
          <p:cNvPr id="86" name="TextBox 85"/>
          <p:cNvSpPr txBox="1"/>
          <p:nvPr/>
        </p:nvSpPr>
        <p:spPr>
          <a:xfrm>
            <a:off x="12163425" y="4724400"/>
            <a:ext cx="4476750" cy="419100"/>
          </a:xfrm>
          <a:prstGeom prst="rect">
            <a:avLst/>
          </a:prstGeom>
          <a:noFill/>
        </p:spPr>
        <p:txBody>
          <a:bodyPr wrap="square" lIns="0" rIns="0" tIns="0" bIns="0" anchor="ctr">
            <a:spAutoFit/>
          </a:bodyPr>
          <a:lstStyle/>
          <a:p>
            <a:pPr algn="ctr">
              <a:lnSpc>
                <a:spcPct val="83300"/>
              </a:lnSpc>
            </a:pPr>
            <a:r>
              <a:rPr sz="3000" b="1" i="0">
                <a:solidFill>
                  <a:srgbClr val="FFD21F"/>
                </a:solidFill>
                <a:latin typeface="Montserrat"/>
              </a:rPr>
              <a:t>top 20</a:t>
            </a:r>
          </a:p>
        </p:txBody>
      </p:sp>
      <p:sp>
        <p:nvSpPr>
          <p:cNvPr id="87" name="TextBox 86"/>
          <p:cNvSpPr txBox="1"/>
          <p:nvPr/>
        </p:nvSpPr>
        <p:spPr>
          <a:xfrm>
            <a:off x="12315825" y="5124450"/>
            <a:ext cx="4171950" cy="457200"/>
          </a:xfrm>
          <a:prstGeom prst="rect">
            <a:avLst/>
          </a:prstGeom>
          <a:noFill/>
        </p:spPr>
        <p:txBody>
          <a:bodyPr wrap="square" lIns="0" rIns="0" tIns="0" bIns="0" anchor="t">
            <a:spAutoFit/>
          </a:bodyPr>
          <a:lstStyle/>
          <a:p>
            <a:pPr algn="ctr">
              <a:lnSpc>
                <a:spcPct val="104200"/>
              </a:lnSpc>
            </a:pPr>
            <a:r>
              <a:rPr sz="1425" b="0" i="0">
                <a:solidFill>
                  <a:srgbClr val="9FB4CC"/>
                </a:solidFill>
                <a:latin typeface="Barlow"/>
              </a:rPr>
              <a:t>candidatos con la verdad dentro</a:t>
            </a:r>
          </a:p>
          <a:p>
            <a:pPr algn="ctr">
              <a:lnSpc>
                <a:spcPct val="104200"/>
              </a:lnSpc>
            </a:pPr>
            <a:r>
              <a:rPr sz="1425" b="0" i="0">
                <a:solidFill>
                  <a:srgbClr val="9FB4CC"/>
                </a:solidFill>
                <a:latin typeface="Barlow"/>
              </a:rPr>
              <a:t>el 91,84% de las veces — el techo del pool</a:t>
            </a:r>
          </a:p>
        </p:txBody>
      </p:sp>
      <p:sp>
        <p:nvSpPr>
          <p:cNvPr id="88" name="Rectangle 87"/>
          <p:cNvSpPr/>
          <p:nvPr/>
        </p:nvSpPr>
        <p:spPr>
          <a:xfrm>
            <a:off x="14373225" y="5619750"/>
            <a:ext cx="57150" cy="1333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Isosceles Triangle 88"/>
          <p:cNvSpPr/>
          <p:nvPr/>
        </p:nvSpPr>
        <p:spPr>
          <a:xfrm rot="10800000">
            <a:off x="14306550" y="5734050"/>
            <a:ext cx="190500" cy="133350"/>
          </a:xfrm>
          <a:prstGeom prst="triangle">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4630400" y="5619750"/>
            <a:ext cx="1238250" cy="247650"/>
          </a:xfrm>
          <a:prstGeom prst="rect">
            <a:avLst/>
          </a:prstGeom>
          <a:noFill/>
        </p:spPr>
        <p:txBody>
          <a:bodyPr wrap="square" lIns="0" rIns="0" tIns="0" bIns="0" anchor="ctr">
            <a:spAutoFit/>
          </a:bodyPr>
          <a:lstStyle/>
          <a:p>
            <a:pPr algn="l">
              <a:lnSpc>
                <a:spcPct val="95800"/>
              </a:lnSpc>
            </a:pPr>
            <a:r>
              <a:rPr sz="1350" b="1" i="0">
                <a:solidFill>
                  <a:srgbClr val="FFD21F"/>
                </a:solidFill>
                <a:latin typeface="Montserrat"/>
              </a:rPr>
              <a:t>Modelo 3</a:t>
            </a:r>
          </a:p>
        </p:txBody>
      </p:sp>
      <p:sp>
        <p:nvSpPr>
          <p:cNvPr id="91" name="TextBox 90"/>
          <p:cNvSpPr txBox="1"/>
          <p:nvPr/>
        </p:nvSpPr>
        <p:spPr>
          <a:xfrm>
            <a:off x="12268200" y="5619750"/>
            <a:ext cx="1905000" cy="247650"/>
          </a:xfrm>
          <a:prstGeom prst="rect">
            <a:avLst/>
          </a:prstGeom>
          <a:noFill/>
        </p:spPr>
        <p:txBody>
          <a:bodyPr wrap="square" lIns="0" rIns="0" tIns="0" bIns="0" anchor="ctr">
            <a:spAutoFit/>
          </a:bodyPr>
          <a:lstStyle/>
          <a:p>
            <a:pPr algn="r">
              <a:lnSpc>
                <a:spcPct val="104200"/>
              </a:lnSpc>
            </a:pPr>
            <a:r>
              <a:rPr sz="1425" b="0" i="0">
                <a:solidFill>
                  <a:srgbClr val="9FB4CC"/>
                </a:solidFill>
                <a:latin typeface="Barlow"/>
              </a:rPr>
              <a:t>validar caro</a:t>
            </a:r>
          </a:p>
        </p:txBody>
      </p:sp>
      <p:sp>
        <p:nvSpPr>
          <p:cNvPr id="92" name="Rounded Rectangle 91"/>
          <p:cNvSpPr/>
          <p:nvPr/>
        </p:nvSpPr>
        <p:spPr>
          <a:xfrm>
            <a:off x="12496800" y="5886450"/>
            <a:ext cx="3810000" cy="952500"/>
          </a:xfrm>
          <a:prstGeom prst="roundRect">
            <a:avLst>
              <a:gd name="adj" fmla="val 6000"/>
            </a:avLst>
          </a:prstGeom>
          <a:solidFill>
            <a:srgbClr val="0C2445"/>
          </a:solidFill>
          <a:ln w="14287">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2496800" y="5962650"/>
            <a:ext cx="3810000" cy="247650"/>
          </a:xfrm>
          <a:prstGeom prst="rect">
            <a:avLst/>
          </a:prstGeom>
          <a:noFill/>
        </p:spPr>
        <p:txBody>
          <a:bodyPr wrap="square" lIns="0" rIns="0" tIns="0" bIns="0" anchor="t">
            <a:spAutoFit/>
          </a:bodyPr>
          <a:lstStyle/>
          <a:p>
            <a:pPr algn="ctr">
              <a:lnSpc>
                <a:spcPct val="95800"/>
              </a:lnSpc>
            </a:pPr>
            <a:r>
              <a:rPr sz="1500" b="1" i="0">
                <a:solidFill>
                  <a:srgbClr val="F3F7FC"/>
                </a:solidFill>
                <a:latin typeface="Montserrat"/>
              </a:rPr>
              <a:t>Validación cruzada</a:t>
            </a:r>
          </a:p>
        </p:txBody>
      </p:sp>
      <p:sp>
        <p:nvSpPr>
          <p:cNvPr id="94" name="TextBox 93"/>
          <p:cNvSpPr txBox="1"/>
          <p:nvPr/>
        </p:nvSpPr>
        <p:spPr>
          <a:xfrm>
            <a:off x="12496800" y="6191250"/>
            <a:ext cx="3810000" cy="419100"/>
          </a:xfrm>
          <a:prstGeom prst="rect">
            <a:avLst/>
          </a:prstGeom>
          <a:noFill/>
        </p:spPr>
        <p:txBody>
          <a:bodyPr wrap="square" lIns="0" rIns="0" tIns="0" bIns="0" anchor="ctr">
            <a:spAutoFit/>
          </a:bodyPr>
          <a:lstStyle/>
          <a:p>
            <a:pPr algn="ctr">
              <a:lnSpc>
                <a:spcPct val="83300"/>
              </a:lnSpc>
            </a:pPr>
            <a:r>
              <a:rPr sz="3000" b="1" i="0">
                <a:solidFill>
                  <a:srgbClr val="FFD21F"/>
                </a:solidFill>
                <a:latin typeface="Montserrat"/>
              </a:rPr>
              <a:t>1 decisión</a:t>
            </a:r>
          </a:p>
        </p:txBody>
      </p:sp>
      <p:sp>
        <p:nvSpPr>
          <p:cNvPr id="95" name="TextBox 94"/>
          <p:cNvSpPr txBox="1"/>
          <p:nvPr/>
        </p:nvSpPr>
        <p:spPr>
          <a:xfrm>
            <a:off x="12649200" y="6591300"/>
            <a:ext cx="3505200" cy="228600"/>
          </a:xfrm>
          <a:prstGeom prst="rect">
            <a:avLst/>
          </a:prstGeom>
          <a:noFill/>
        </p:spPr>
        <p:txBody>
          <a:bodyPr wrap="square" lIns="0" rIns="0" tIns="0" bIns="0" anchor="t">
            <a:spAutoFit/>
          </a:bodyPr>
          <a:lstStyle/>
          <a:p>
            <a:pPr algn="ctr">
              <a:lnSpc>
                <a:spcPct val="104200"/>
              </a:lnSpc>
            </a:pPr>
            <a:r>
              <a:rPr sz="1425" b="0" i="0">
                <a:solidFill>
                  <a:srgbClr val="9FB4CC"/>
                </a:solidFill>
                <a:latin typeface="Barlow"/>
              </a:rPr>
              <a:t>exige margen y soporte de código</a:t>
            </a:r>
          </a:p>
        </p:txBody>
      </p:sp>
      <p:sp>
        <p:nvSpPr>
          <p:cNvPr id="96" name="Rectangle 95"/>
          <p:cNvSpPr/>
          <p:nvPr/>
        </p:nvSpPr>
        <p:spPr>
          <a:xfrm>
            <a:off x="11696700" y="6991350"/>
            <a:ext cx="5410200" cy="14288"/>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11696700" y="7105650"/>
            <a:ext cx="5410200" cy="933450"/>
          </a:xfrm>
          <a:prstGeom prst="rect">
            <a:avLst/>
          </a:prstGeom>
          <a:noFill/>
        </p:spPr>
        <p:txBody>
          <a:bodyPr wrap="square" lIns="0" rIns="0" tIns="0" bIns="0" anchor="t">
            <a:spAutoFit/>
          </a:bodyPr>
          <a:lstStyle/>
          <a:p>
            <a:pPr algn="l">
              <a:lnSpc>
                <a:spcPct val="104200"/>
              </a:lnSpc>
            </a:pPr>
            <a:r>
              <a:rPr sz="1500" b="1" i="0">
                <a:solidFill>
                  <a:srgbClr val="F3F7FC"/>
                </a:solidFill>
                <a:latin typeface="Barlow"/>
              </a:rPr>
              <a:t>Ninguno de los dos puede hacer el trabajo del otro:</a:t>
            </a:r>
            <a:r>
              <a:rPr sz="1500" b="0" i="0">
                <a:solidFill>
                  <a:srgbClr val="9FB4CC"/>
                </a:solidFill>
                <a:latin typeface="Barlow"/>
              </a:rPr>
              <a:t> el recuperador no distingue variantes casi homónimas y el validador es demasiado caro para recorrer 4.316 productos por consulta.</a:t>
            </a:r>
          </a:p>
        </p:txBody>
      </p:sp>
      <p:sp>
        <p:nvSpPr>
          <p:cNvPr id="98" name="Rectangle 97"/>
          <p:cNvSpPr/>
          <p:nvPr/>
        </p:nvSpPr>
        <p:spPr>
          <a:xfrm>
            <a:off x="914400" y="8382000"/>
            <a:ext cx="16459200" cy="12382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914400" y="8382000"/>
            <a:ext cx="57150" cy="12382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219200" y="8382000"/>
            <a:ext cx="1959918" cy="1238250"/>
          </a:xfrm>
          <a:prstGeom prst="rect">
            <a:avLst/>
          </a:prstGeom>
          <a:noFill/>
        </p:spPr>
        <p:txBody>
          <a:bodyPr wrap="square" lIns="0" rIns="0" tIns="0" bIns="0" anchor="ctr">
            <a:spAutoFit/>
          </a:bodyPr>
          <a:lstStyle/>
          <a:p>
            <a:pPr algn="l">
              <a:lnSpc>
                <a:spcPct val="83300"/>
              </a:lnSpc>
            </a:pPr>
            <a:r>
              <a:rPr sz="4800" b="1" i="0">
                <a:solidFill>
                  <a:srgbClr val="FFD21F"/>
                </a:solidFill>
                <a:latin typeface="Montserrat"/>
              </a:rPr>
              <a:t>99,4%</a:t>
            </a:r>
          </a:p>
        </p:txBody>
      </p:sp>
      <p:sp>
        <p:nvSpPr>
          <p:cNvPr id="101" name="TextBox 100"/>
          <p:cNvSpPr txBox="1"/>
          <p:nvPr/>
        </p:nvSpPr>
        <p:spPr>
          <a:xfrm>
            <a:off x="3369618" y="8477250"/>
            <a:ext cx="5279082" cy="1047750"/>
          </a:xfrm>
          <a:prstGeom prst="rect">
            <a:avLst/>
          </a:prstGeom>
          <a:noFill/>
        </p:spPr>
        <p:txBody>
          <a:bodyPr wrap="square" lIns="0" rIns="0" tIns="0" bIns="0" anchor="ctr">
            <a:spAutoFit/>
          </a:bodyPr>
          <a:lstStyle/>
          <a:p>
            <a:pPr algn="l">
              <a:lnSpc>
                <a:spcPct val="104200"/>
              </a:lnSpc>
            </a:pPr>
            <a:r>
              <a:rPr sz="1650" b="1" i="0">
                <a:solidFill>
                  <a:srgbClr val="F3F7FC"/>
                </a:solidFill>
                <a:latin typeface="Barlow"/>
              </a:rPr>
              <a:t>1.274 de las 1.282</a:t>
            </a:r>
            <a:r>
              <a:rPr sz="1650" b="0" i="0">
                <a:solidFill>
                  <a:srgbClr val="9FB4CC"/>
                </a:solidFill>
                <a:latin typeface="Barlow"/>
              </a:rPr>
              <a:t> decisiones automáticas salen de las capas 0–3: reglas deterministas, sin GPU.</a:t>
            </a:r>
          </a:p>
        </p:txBody>
      </p:sp>
      <p:sp>
        <p:nvSpPr>
          <p:cNvPr id="102" name="Rectangle 101"/>
          <p:cNvSpPr/>
          <p:nvPr/>
        </p:nvSpPr>
        <p:spPr>
          <a:xfrm>
            <a:off x="8953500" y="8572500"/>
            <a:ext cx="14288" cy="857250"/>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9258300" y="8572500"/>
            <a:ext cx="3143250" cy="342900"/>
          </a:xfrm>
          <a:prstGeom prst="rect">
            <a:avLst/>
          </a:prstGeom>
          <a:noFill/>
        </p:spPr>
        <p:txBody>
          <a:bodyPr wrap="square" lIns="0" rIns="0" tIns="0" bIns="0" anchor="t">
            <a:spAutoFit/>
          </a:bodyPr>
          <a:lstStyle/>
          <a:p>
            <a:pPr algn="l">
              <a:lnSpc>
                <a:spcPct val="95800"/>
              </a:lnSpc>
            </a:pPr>
            <a:r>
              <a:rPr sz="1800" b="1" i="0">
                <a:solidFill>
                  <a:srgbClr val="F3F7FC"/>
                </a:solidFill>
                <a:latin typeface="Montserrat"/>
              </a:rPr>
              <a:t>No Match automático</a:t>
            </a:r>
          </a:p>
        </p:txBody>
      </p:sp>
      <p:sp>
        <p:nvSpPr>
          <p:cNvPr id="104" name="Rounded Rectangle 103"/>
          <p:cNvSpPr/>
          <p:nvPr/>
        </p:nvSpPr>
        <p:spPr>
          <a:xfrm>
            <a:off x="12016383" y="8572500"/>
            <a:ext cx="1961793"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12016383" y="8572500"/>
            <a:ext cx="1961793" cy="32385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DESHABILITADO</a:t>
            </a:r>
          </a:p>
        </p:txBody>
      </p:sp>
      <p:sp>
        <p:nvSpPr>
          <p:cNvPr id="106" name="TextBox 105"/>
          <p:cNvSpPr txBox="1"/>
          <p:nvPr/>
        </p:nvSpPr>
        <p:spPr>
          <a:xfrm>
            <a:off x="9258300" y="8972550"/>
            <a:ext cx="7810500" cy="552450"/>
          </a:xfrm>
          <a:prstGeom prst="rect">
            <a:avLst/>
          </a:prstGeom>
          <a:noFill/>
        </p:spPr>
        <p:txBody>
          <a:bodyPr wrap="square" lIns="0" rIns="0" tIns="0" bIns="0" anchor="t">
            <a:spAutoFit/>
          </a:bodyPr>
          <a:lstStyle/>
          <a:p>
            <a:pPr algn="l">
              <a:lnSpc>
                <a:spcPct val="104200"/>
              </a:lnSpc>
            </a:pPr>
            <a:r>
              <a:rPr sz="1575" b="0" i="0">
                <a:solidFill>
                  <a:srgbClr val="9FB4CC"/>
                </a:solidFill>
                <a:latin typeface="Barlow"/>
              </a:rPr>
              <a:t>El sistema nunca afirma la ausencia de correspondencia sin verdad que la respalde.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RECUPERADOR TF-IDF</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El recuperador en dos casos reales</a:t>
            </a:r>
          </a:p>
        </p:txBody>
      </p:sp>
      <p:sp>
        <p:nvSpPr>
          <p:cNvPr id="9" name="Rectangle 8"/>
          <p:cNvSpPr/>
          <p:nvPr/>
        </p:nvSpPr>
        <p:spPr>
          <a:xfrm>
            <a:off x="914400" y="2647950"/>
            <a:ext cx="3180197" cy="6667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3950" y="2724150"/>
            <a:ext cx="2799197"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CONSULTA</a:t>
            </a:r>
          </a:p>
        </p:txBody>
      </p:sp>
      <p:sp>
        <p:nvSpPr>
          <p:cNvPr id="11" name="TextBox 10"/>
          <p:cNvSpPr txBox="1"/>
          <p:nvPr/>
        </p:nvSpPr>
        <p:spPr>
          <a:xfrm>
            <a:off x="1123950" y="2971800"/>
            <a:ext cx="2894447" cy="285750"/>
          </a:xfrm>
          <a:prstGeom prst="rect">
            <a:avLst/>
          </a:prstGeom>
          <a:noFill/>
        </p:spPr>
        <p:txBody>
          <a:bodyPr wrap="square" lIns="0" rIns="0" tIns="0" bIns="0" anchor="ctr">
            <a:spAutoFit/>
          </a:bodyPr>
          <a:lstStyle/>
          <a:p>
            <a:pPr algn="l">
              <a:lnSpc>
                <a:spcPct val="83300"/>
              </a:lnSpc>
            </a:pPr>
            <a:r>
              <a:rPr sz="1650" b="0" i="0">
                <a:solidFill>
                  <a:srgbClr val="F3F7FC"/>
                </a:solidFill>
                <a:latin typeface="Barlow"/>
              </a:rPr>
              <a:t>publicación de retailer</a:t>
            </a:r>
          </a:p>
        </p:txBody>
      </p:sp>
      <p:sp>
        <p:nvSpPr>
          <p:cNvPr id="12" name="Right Arrow 11"/>
          <p:cNvSpPr/>
          <p:nvPr/>
        </p:nvSpPr>
        <p:spPr>
          <a:xfrm>
            <a:off x="4208897" y="2857500"/>
            <a:ext cx="381000"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4197" y="2647950"/>
            <a:ext cx="4780248" cy="666750"/>
          </a:xfrm>
          <a:prstGeom prst="rect">
            <a:avLst/>
          </a:prstGeom>
          <a:solidFill>
            <a:srgbClr val="0F2C52"/>
          </a:solidFill>
          <a:ln w="19050">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3747" y="2724150"/>
            <a:ext cx="4399248"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RECUPERADOR</a:t>
            </a:r>
          </a:p>
        </p:txBody>
      </p:sp>
      <p:sp>
        <p:nvSpPr>
          <p:cNvPr id="15" name="TextBox 14"/>
          <p:cNvSpPr txBox="1"/>
          <p:nvPr/>
        </p:nvSpPr>
        <p:spPr>
          <a:xfrm>
            <a:off x="4913747" y="2971800"/>
            <a:ext cx="4494498"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Barlow"/>
              </a:rPr>
              <a:t>TF-IDF char_wb 4-6 · texto enriquecido</a:t>
            </a:r>
          </a:p>
        </p:txBody>
      </p:sp>
      <p:sp>
        <p:nvSpPr>
          <p:cNvPr id="16" name="Right Arrow 15"/>
          <p:cNvSpPr/>
          <p:nvPr/>
        </p:nvSpPr>
        <p:spPr>
          <a:xfrm>
            <a:off x="9598744" y="2857500"/>
            <a:ext cx="381000"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044" y="2647950"/>
            <a:ext cx="2596344" cy="6667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303594" y="2724150"/>
            <a:ext cx="2215344"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CATÁLOGO</a:t>
            </a:r>
          </a:p>
        </p:txBody>
      </p:sp>
      <p:sp>
        <p:nvSpPr>
          <p:cNvPr id="19" name="TextBox 18"/>
          <p:cNvSpPr txBox="1"/>
          <p:nvPr/>
        </p:nvSpPr>
        <p:spPr>
          <a:xfrm>
            <a:off x="10303594" y="2971800"/>
            <a:ext cx="2310594" cy="285750"/>
          </a:xfrm>
          <a:prstGeom prst="rect">
            <a:avLst/>
          </a:prstGeom>
          <a:noFill/>
        </p:spPr>
        <p:txBody>
          <a:bodyPr wrap="square" lIns="0" rIns="0" tIns="0" bIns="0" anchor="ctr">
            <a:spAutoFit/>
          </a:bodyPr>
          <a:lstStyle/>
          <a:p>
            <a:pPr algn="l">
              <a:lnSpc>
                <a:spcPct val="83300"/>
              </a:lnSpc>
            </a:pPr>
            <a:r>
              <a:rPr sz="1650" b="0" i="0">
                <a:solidFill>
                  <a:srgbClr val="F3F7FC"/>
                </a:solidFill>
                <a:latin typeface="Barlow"/>
              </a:rPr>
              <a:t>4.316 productos</a:t>
            </a:r>
          </a:p>
        </p:txBody>
      </p:sp>
      <p:sp>
        <p:nvSpPr>
          <p:cNvPr id="20" name="Right Arrow 19"/>
          <p:cNvSpPr/>
          <p:nvPr/>
        </p:nvSpPr>
        <p:spPr>
          <a:xfrm>
            <a:off x="12804688" y="2857500"/>
            <a:ext cx="381000" cy="2476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299988" y="2647950"/>
            <a:ext cx="4073612" cy="66675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509538" y="2724150"/>
            <a:ext cx="3692612"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DEVUELVE</a:t>
            </a:r>
          </a:p>
        </p:txBody>
      </p:sp>
      <p:sp>
        <p:nvSpPr>
          <p:cNvPr id="23" name="TextBox 22"/>
          <p:cNvSpPr txBox="1"/>
          <p:nvPr/>
        </p:nvSpPr>
        <p:spPr>
          <a:xfrm>
            <a:off x="13509538" y="2971800"/>
            <a:ext cx="3787862" cy="285750"/>
          </a:xfrm>
          <a:prstGeom prst="rect">
            <a:avLst/>
          </a:prstGeom>
          <a:noFill/>
        </p:spPr>
        <p:txBody>
          <a:bodyPr wrap="square" lIns="0" rIns="0" tIns="0" bIns="0" anchor="ctr">
            <a:spAutoFit/>
          </a:bodyPr>
          <a:lstStyle/>
          <a:p>
            <a:pPr algn="l">
              <a:lnSpc>
                <a:spcPct val="83300"/>
              </a:lnSpc>
            </a:pPr>
            <a:r>
              <a:rPr sz="1650" b="0" i="0">
                <a:solidFill>
                  <a:srgbClr val="F3F7FC"/>
                </a:solidFill>
                <a:latin typeface="Barlow"/>
              </a:rPr>
              <a:t>candidatos ordenados por score</a:t>
            </a:r>
          </a:p>
        </p:txBody>
      </p:sp>
      <p:sp>
        <p:nvSpPr>
          <p:cNvPr id="24" name="Rectangle 23"/>
          <p:cNvSpPr/>
          <p:nvPr/>
        </p:nvSpPr>
        <p:spPr>
          <a:xfrm>
            <a:off x="914400" y="3562350"/>
            <a:ext cx="8115300" cy="6057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14400" y="3562350"/>
            <a:ext cx="81153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181100" y="377190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81100" y="377190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28" name="TextBox 27"/>
          <p:cNvSpPr txBox="1"/>
          <p:nvPr/>
        </p:nvSpPr>
        <p:spPr>
          <a:xfrm>
            <a:off x="1714500" y="3771900"/>
            <a:ext cx="7048500" cy="3810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El código cruza el idioma</a:t>
            </a:r>
          </a:p>
        </p:txBody>
      </p:sp>
      <p:sp>
        <p:nvSpPr>
          <p:cNvPr id="29" name="Rounded Rectangle 28"/>
          <p:cNvSpPr/>
          <p:nvPr/>
        </p:nvSpPr>
        <p:spPr>
          <a:xfrm>
            <a:off x="7093893" y="3790950"/>
            <a:ext cx="1669107"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93893" y="3790950"/>
            <a:ext cx="1669107"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LO RESUELVE</a:t>
            </a:r>
          </a:p>
        </p:txBody>
      </p:sp>
      <p:sp>
        <p:nvSpPr>
          <p:cNvPr id="31" name="TextBox 30"/>
          <p:cNvSpPr txBox="1"/>
          <p:nvPr/>
        </p:nvSpPr>
        <p:spPr>
          <a:xfrm>
            <a:off x="1714500" y="4171950"/>
            <a:ext cx="7048500"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Consulta en cirílico, candidatos en inglés</a:t>
            </a:r>
          </a:p>
        </p:txBody>
      </p:sp>
      <p:sp>
        <p:nvSpPr>
          <p:cNvPr id="32" name="Rectangle 31"/>
          <p:cNvSpPr/>
          <p:nvPr/>
        </p:nvSpPr>
        <p:spPr>
          <a:xfrm>
            <a:off x="1181100" y="4552950"/>
            <a:ext cx="7581900" cy="7620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181100" y="4552950"/>
            <a:ext cx="47625" cy="7620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90650" y="4629150"/>
            <a:ext cx="72009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CONSULTA · UCRANIA</a:t>
            </a:r>
          </a:p>
        </p:txBody>
      </p:sp>
      <p:sp>
        <p:nvSpPr>
          <p:cNvPr id="35" name="TextBox 34"/>
          <p:cNvSpPr txBox="1"/>
          <p:nvPr/>
        </p:nvSpPr>
        <p:spPr>
          <a:xfrm>
            <a:off x="1390650" y="4905375"/>
            <a:ext cx="7296150" cy="323850"/>
          </a:xfrm>
          <a:prstGeom prst="rect">
            <a:avLst/>
          </a:prstGeom>
          <a:noFill/>
        </p:spPr>
        <p:txBody>
          <a:bodyPr wrap="square" lIns="0" rIns="0" tIns="0" bIns="0" anchor="ctr">
            <a:spAutoFit/>
          </a:bodyPr>
          <a:lstStyle/>
          <a:p>
            <a:pPr algn="l">
              <a:lnSpc>
                <a:spcPct val="83300"/>
              </a:lnSpc>
            </a:pPr>
            <a:r>
              <a:rPr sz="1800" b="0" i="0">
                <a:solidFill>
                  <a:srgbClr val="F3F7FC"/>
                </a:solidFill>
                <a:latin typeface="Roboto Mono"/>
              </a:rPr>
              <a:t>монітор philips 27" </a:t>
            </a:r>
            <a:r>
              <a:rPr sz="1800" b="0" i="0">
                <a:solidFill>
                  <a:srgbClr val="FFD21F"/>
                </a:solidFill>
                <a:latin typeface="Roboto Mono"/>
              </a:rPr>
              <a:t>27e2n1100l/00</a:t>
            </a:r>
            <a:r>
              <a:rPr sz="1800" b="0" i="0">
                <a:solidFill>
                  <a:srgbClr val="F3F7FC"/>
                </a:solidFill>
                <a:latin typeface="Roboto Mono"/>
              </a:rPr>
              <a:t> black/va/100 гц</a:t>
            </a:r>
          </a:p>
        </p:txBody>
      </p:sp>
      <p:sp>
        <p:nvSpPr>
          <p:cNvPr id="36" name="Rounded Rectangle 35"/>
          <p:cNvSpPr/>
          <p:nvPr/>
        </p:nvSpPr>
        <p:spPr>
          <a:xfrm>
            <a:off x="1181100" y="5514975"/>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81100" y="5514975"/>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38" name="TextBox 37"/>
          <p:cNvSpPr txBox="1"/>
          <p:nvPr/>
        </p:nvSpPr>
        <p:spPr>
          <a:xfrm>
            <a:off x="1714500" y="5524500"/>
            <a:ext cx="5429250" cy="342900"/>
          </a:xfrm>
          <a:prstGeom prst="rect">
            <a:avLst/>
          </a:prstGeom>
          <a:noFill/>
        </p:spPr>
        <p:txBody>
          <a:bodyPr wrap="square" lIns="0" rIns="0" tIns="0" bIns="0" anchor="ctr">
            <a:spAutoFit/>
          </a:bodyPr>
          <a:lstStyle/>
          <a:p>
            <a:pPr algn="l">
              <a:lnSpc>
                <a:spcPct val="83300"/>
              </a:lnSpc>
            </a:pPr>
            <a:r>
              <a:rPr sz="1950" b="0" i="0">
                <a:solidFill>
                  <a:srgbClr val="FFD21F"/>
                </a:solidFill>
                <a:latin typeface="Roboto Mono"/>
              </a:rPr>
              <a:t>27E2N1100L/00</a:t>
            </a:r>
          </a:p>
        </p:txBody>
      </p:sp>
      <p:sp>
        <p:nvSpPr>
          <p:cNvPr id="39" name="TextBox 38"/>
          <p:cNvSpPr txBox="1"/>
          <p:nvPr/>
        </p:nvSpPr>
        <p:spPr>
          <a:xfrm>
            <a:off x="7143750" y="5524500"/>
            <a:ext cx="1619250" cy="342900"/>
          </a:xfrm>
          <a:prstGeom prst="rect">
            <a:avLst/>
          </a:prstGeom>
          <a:noFill/>
        </p:spPr>
        <p:txBody>
          <a:bodyPr wrap="square" lIns="0" rIns="0" tIns="0" bIns="0" anchor="ctr">
            <a:spAutoFit/>
          </a:bodyPr>
          <a:lstStyle/>
          <a:p>
            <a:pPr algn="r">
              <a:lnSpc>
                <a:spcPct val="100000"/>
              </a:lnSpc>
            </a:pPr>
            <a:r>
              <a:rPr sz="2100" b="1" i="0">
                <a:solidFill>
                  <a:srgbClr val="FFD21F"/>
                </a:solidFill>
                <a:latin typeface="Montserrat"/>
              </a:rPr>
              <a:t>0,691793</a:t>
            </a:r>
          </a:p>
        </p:txBody>
      </p:sp>
      <p:sp>
        <p:nvSpPr>
          <p:cNvPr id="40" name="TextBox 39"/>
          <p:cNvSpPr txBox="1"/>
          <p:nvPr/>
        </p:nvSpPr>
        <p:spPr>
          <a:xfrm>
            <a:off x="1714500" y="5895975"/>
            <a:ext cx="5619750"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philips monitor </a:t>
            </a:r>
            <a:r>
              <a:rPr sz="1500" b="0" i="0">
                <a:solidFill>
                  <a:srgbClr val="FFD21F"/>
                </a:solidFill>
                <a:latin typeface="Barlow"/>
              </a:rPr>
              <a:t>27e2n1100l</a:t>
            </a:r>
            <a:r>
              <a:rPr sz="1500" b="0" i="0">
                <a:solidFill>
                  <a:srgbClr val="9FB4CC"/>
                </a:solidFill>
                <a:latin typeface="Barlow"/>
              </a:rPr>
              <a:t> full hd lcd monitor</a:t>
            </a:r>
          </a:p>
        </p:txBody>
      </p:sp>
      <p:sp>
        <p:nvSpPr>
          <p:cNvPr id="41" name="Rounded Rectangle 40"/>
          <p:cNvSpPr/>
          <p:nvPr/>
        </p:nvSpPr>
        <p:spPr>
          <a:xfrm>
            <a:off x="7434024" y="5886450"/>
            <a:ext cx="1328976" cy="285750"/>
          </a:xfrm>
          <a:prstGeom prst="roundRect">
            <a:avLst>
              <a:gd name="adj" fmla="val 13333"/>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434024" y="5886450"/>
            <a:ext cx="1328976" cy="2857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CORRECTO</a:t>
            </a:r>
          </a:p>
        </p:txBody>
      </p:sp>
      <p:sp>
        <p:nvSpPr>
          <p:cNvPr id="43" name="Rectangle 42"/>
          <p:cNvSpPr/>
          <p:nvPr/>
        </p:nvSpPr>
        <p:spPr>
          <a:xfrm>
            <a:off x="1714500" y="62293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714500" y="6229350"/>
            <a:ext cx="6965861" cy="1333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181100" y="6467475"/>
            <a:ext cx="381000" cy="381000"/>
          </a:xfrm>
          <a:prstGeom prst="roundRect">
            <a:avLst>
              <a:gd name="adj" fmla="val 100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81100" y="6467475"/>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47" name="TextBox 46"/>
          <p:cNvSpPr txBox="1"/>
          <p:nvPr/>
        </p:nvSpPr>
        <p:spPr>
          <a:xfrm>
            <a:off x="1714500" y="6477000"/>
            <a:ext cx="5429250" cy="342900"/>
          </a:xfrm>
          <a:prstGeom prst="rect">
            <a:avLst/>
          </a:prstGeom>
          <a:noFill/>
        </p:spPr>
        <p:txBody>
          <a:bodyPr wrap="square" lIns="0" rIns="0" tIns="0" bIns="0" anchor="ctr">
            <a:spAutoFit/>
          </a:bodyPr>
          <a:lstStyle/>
          <a:p>
            <a:pPr algn="l">
              <a:lnSpc>
                <a:spcPct val="83300"/>
              </a:lnSpc>
            </a:pPr>
            <a:r>
              <a:rPr sz="1950" b="0" i="0">
                <a:solidFill>
                  <a:srgbClr val="F3F7FC"/>
                </a:solidFill>
                <a:latin typeface="Roboto Mono"/>
              </a:rPr>
              <a:t>27E2N1110/00</a:t>
            </a:r>
          </a:p>
        </p:txBody>
      </p:sp>
      <p:sp>
        <p:nvSpPr>
          <p:cNvPr id="48" name="TextBox 47"/>
          <p:cNvSpPr txBox="1"/>
          <p:nvPr/>
        </p:nvSpPr>
        <p:spPr>
          <a:xfrm>
            <a:off x="7143750" y="6477000"/>
            <a:ext cx="1619250" cy="342900"/>
          </a:xfrm>
          <a:prstGeom prst="rect">
            <a:avLst/>
          </a:prstGeom>
          <a:noFill/>
        </p:spPr>
        <p:txBody>
          <a:bodyPr wrap="square" lIns="0" rIns="0" tIns="0" bIns="0" anchor="ctr">
            <a:spAutoFit/>
          </a:bodyPr>
          <a:lstStyle/>
          <a:p>
            <a:pPr algn="r">
              <a:lnSpc>
                <a:spcPct val="100000"/>
              </a:lnSpc>
            </a:pPr>
            <a:r>
              <a:rPr sz="2100" b="1" i="0">
                <a:solidFill>
                  <a:srgbClr val="F3F7FC"/>
                </a:solidFill>
                <a:latin typeface="Montserrat"/>
              </a:rPr>
              <a:t>0,344748</a:t>
            </a:r>
          </a:p>
        </p:txBody>
      </p:sp>
      <p:sp>
        <p:nvSpPr>
          <p:cNvPr id="49" name="TextBox 48"/>
          <p:cNvSpPr txBox="1"/>
          <p:nvPr/>
        </p:nvSpPr>
        <p:spPr>
          <a:xfrm>
            <a:off x="1714500" y="6848475"/>
            <a:ext cx="5619750"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philips monitor 27e2n1110 full hd lcd monitor</a:t>
            </a:r>
          </a:p>
        </p:txBody>
      </p:sp>
      <p:sp>
        <p:nvSpPr>
          <p:cNvPr id="50" name="Rectangle 49"/>
          <p:cNvSpPr/>
          <p:nvPr/>
        </p:nvSpPr>
        <p:spPr>
          <a:xfrm>
            <a:off x="1714500" y="71818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714500" y="7181850"/>
            <a:ext cx="3471366"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1181100" y="7419975"/>
            <a:ext cx="381000" cy="381000"/>
          </a:xfrm>
          <a:prstGeom prst="roundRect">
            <a:avLst>
              <a:gd name="adj" fmla="val 100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181100" y="7419975"/>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3</a:t>
            </a:r>
          </a:p>
        </p:txBody>
      </p:sp>
      <p:sp>
        <p:nvSpPr>
          <p:cNvPr id="54" name="TextBox 53"/>
          <p:cNvSpPr txBox="1"/>
          <p:nvPr/>
        </p:nvSpPr>
        <p:spPr>
          <a:xfrm>
            <a:off x="1714500" y="7429500"/>
            <a:ext cx="5429250" cy="342900"/>
          </a:xfrm>
          <a:prstGeom prst="rect">
            <a:avLst/>
          </a:prstGeom>
          <a:noFill/>
        </p:spPr>
        <p:txBody>
          <a:bodyPr wrap="square" lIns="0" rIns="0" tIns="0" bIns="0" anchor="ctr">
            <a:spAutoFit/>
          </a:bodyPr>
          <a:lstStyle/>
          <a:p>
            <a:pPr algn="l">
              <a:lnSpc>
                <a:spcPct val="83300"/>
              </a:lnSpc>
            </a:pPr>
            <a:r>
              <a:rPr sz="1950" b="0" i="0">
                <a:solidFill>
                  <a:srgbClr val="F3F7FC"/>
                </a:solidFill>
                <a:latin typeface="Roboto Mono"/>
              </a:rPr>
              <a:t>27E2N1500L/00</a:t>
            </a:r>
          </a:p>
        </p:txBody>
      </p:sp>
      <p:sp>
        <p:nvSpPr>
          <p:cNvPr id="55" name="TextBox 54"/>
          <p:cNvSpPr txBox="1"/>
          <p:nvPr/>
        </p:nvSpPr>
        <p:spPr>
          <a:xfrm>
            <a:off x="7143750" y="7429500"/>
            <a:ext cx="1619250" cy="342900"/>
          </a:xfrm>
          <a:prstGeom prst="rect">
            <a:avLst/>
          </a:prstGeom>
          <a:noFill/>
        </p:spPr>
        <p:txBody>
          <a:bodyPr wrap="square" lIns="0" rIns="0" tIns="0" bIns="0" anchor="ctr">
            <a:spAutoFit/>
          </a:bodyPr>
          <a:lstStyle/>
          <a:p>
            <a:pPr algn="r">
              <a:lnSpc>
                <a:spcPct val="100000"/>
              </a:lnSpc>
            </a:pPr>
            <a:r>
              <a:rPr sz="2100" b="1" i="0">
                <a:solidFill>
                  <a:srgbClr val="F3F7FC"/>
                </a:solidFill>
                <a:latin typeface="Montserrat"/>
              </a:rPr>
              <a:t>0,316991</a:t>
            </a:r>
          </a:p>
        </p:txBody>
      </p:sp>
      <p:sp>
        <p:nvSpPr>
          <p:cNvPr id="56" name="TextBox 55"/>
          <p:cNvSpPr txBox="1"/>
          <p:nvPr/>
        </p:nvSpPr>
        <p:spPr>
          <a:xfrm>
            <a:off x="1714500" y="7800975"/>
            <a:ext cx="5619750"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philips monitor 27e2n1500l quad hd monitor</a:t>
            </a:r>
          </a:p>
        </p:txBody>
      </p:sp>
      <p:sp>
        <p:nvSpPr>
          <p:cNvPr id="57" name="Rectangle 56"/>
          <p:cNvSpPr/>
          <p:nvPr/>
        </p:nvSpPr>
        <p:spPr>
          <a:xfrm>
            <a:off x="1714500" y="81343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714500" y="8134350"/>
            <a:ext cx="3191873"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181100" y="8401050"/>
            <a:ext cx="7581900" cy="1028700"/>
          </a:xfrm>
          <a:prstGeom prst="rect">
            <a:avLst/>
          </a:prstGeom>
          <a:solidFill>
            <a:srgbClr val="0C2445"/>
          </a:solidFill>
          <a:ln w="14287">
            <a:solidFill>
              <a:srgbClr val="FFD21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409700" y="8515350"/>
            <a:ext cx="1733401" cy="533400"/>
          </a:xfrm>
          <a:prstGeom prst="rect">
            <a:avLst/>
          </a:prstGeom>
          <a:noFill/>
        </p:spPr>
        <p:txBody>
          <a:bodyPr wrap="square" lIns="0" rIns="0" tIns="0" bIns="0" anchor="ctr">
            <a:spAutoFit/>
          </a:bodyPr>
          <a:lstStyle/>
          <a:p>
            <a:pPr algn="l">
              <a:lnSpc>
                <a:spcPct val="83300"/>
              </a:lnSpc>
            </a:pPr>
            <a:r>
              <a:rPr sz="3600" b="1" i="0">
                <a:solidFill>
                  <a:srgbClr val="FFD21F"/>
                </a:solidFill>
                <a:latin typeface="Montserrat"/>
              </a:rPr>
              <a:t>×2</a:t>
            </a:r>
          </a:p>
        </p:txBody>
      </p:sp>
      <p:sp>
        <p:nvSpPr>
          <p:cNvPr id="61" name="TextBox 60"/>
          <p:cNvSpPr txBox="1"/>
          <p:nvPr/>
        </p:nvSpPr>
        <p:spPr>
          <a:xfrm>
            <a:off x="1409700" y="9048750"/>
            <a:ext cx="1733401"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FRENTE AL 2.º</a:t>
            </a:r>
          </a:p>
        </p:txBody>
      </p:sp>
      <p:sp>
        <p:nvSpPr>
          <p:cNvPr id="62" name="Rectangle 61"/>
          <p:cNvSpPr/>
          <p:nvPr/>
        </p:nvSpPr>
        <p:spPr>
          <a:xfrm>
            <a:off x="3047851" y="8572500"/>
            <a:ext cx="14288" cy="685800"/>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3238351" y="8401050"/>
            <a:ext cx="5353199" cy="1028700"/>
          </a:xfrm>
          <a:prstGeom prst="rect">
            <a:avLst/>
          </a:prstGeom>
          <a:noFill/>
        </p:spPr>
        <p:txBody>
          <a:bodyPr wrap="square" lIns="0" rIns="0" tIns="0" bIns="0" anchor="ctr">
            <a:spAutoFit/>
          </a:bodyPr>
          <a:lstStyle/>
          <a:p>
            <a:pPr algn="l">
              <a:lnSpc>
                <a:spcPct val="104200"/>
              </a:lnSpc>
            </a:pPr>
            <a:r>
              <a:rPr sz="1650" b="0" i="0">
                <a:solidFill>
                  <a:srgbClr val="F3F7FC"/>
                </a:solidFill>
                <a:latin typeface="Barlow"/>
              </a:rPr>
              <a:t>El correcto queda primero con el doble de puntuación:</a:t>
            </a:r>
          </a:p>
          <a:p>
            <a:pPr algn="l">
              <a:lnSpc>
                <a:spcPct val="104200"/>
              </a:lnSpc>
            </a:pPr>
            <a:r>
              <a:rPr sz="1650" b="0" i="0">
                <a:solidFill>
                  <a:srgbClr val="F3F7FC"/>
                </a:solidFill>
                <a:latin typeface="Barlow"/>
              </a:rPr>
              <a:t>el código es la parte que ambos textos comparten.</a:t>
            </a:r>
          </a:p>
        </p:txBody>
      </p:sp>
      <p:sp>
        <p:nvSpPr>
          <p:cNvPr id="64" name="Rectangle 63"/>
          <p:cNvSpPr/>
          <p:nvPr/>
        </p:nvSpPr>
        <p:spPr>
          <a:xfrm>
            <a:off x="9258300" y="3562350"/>
            <a:ext cx="8115300" cy="6057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9258300" y="3562350"/>
            <a:ext cx="8115300"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9525000" y="3771900"/>
            <a:ext cx="381000" cy="381000"/>
          </a:xfrm>
          <a:prstGeom prst="roundRect">
            <a:avLst>
              <a:gd name="adj" fmla="val 10000"/>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525000" y="377190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68" name="TextBox 67"/>
          <p:cNvSpPr txBox="1"/>
          <p:nvPr/>
        </p:nvSpPr>
        <p:spPr>
          <a:xfrm>
            <a:off x="10058400" y="3771900"/>
            <a:ext cx="7048500" cy="3810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Solo cambia el sufijo</a:t>
            </a:r>
          </a:p>
        </p:txBody>
      </p:sp>
      <p:sp>
        <p:nvSpPr>
          <p:cNvPr id="69" name="Rounded Rectangle 68"/>
          <p:cNvSpPr/>
          <p:nvPr/>
        </p:nvSpPr>
        <p:spPr>
          <a:xfrm>
            <a:off x="14258151" y="3790950"/>
            <a:ext cx="2848749" cy="342900"/>
          </a:xfrm>
          <a:prstGeom prst="roundRect">
            <a:avLst>
              <a:gd name="adj" fmla="val 11111"/>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4258151" y="3790950"/>
            <a:ext cx="2848749"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NO PUEDE CERRAR SOLO</a:t>
            </a:r>
          </a:p>
        </p:txBody>
      </p:sp>
      <p:sp>
        <p:nvSpPr>
          <p:cNvPr id="71" name="TextBox 70"/>
          <p:cNvSpPr txBox="1"/>
          <p:nvPr/>
        </p:nvSpPr>
        <p:spPr>
          <a:xfrm>
            <a:off x="10058400" y="4171950"/>
            <a:ext cx="7048500"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Misma clase de consulta: los dos primeros son el mismo texto</a:t>
            </a:r>
          </a:p>
        </p:txBody>
      </p:sp>
      <p:sp>
        <p:nvSpPr>
          <p:cNvPr id="72" name="Rectangle 71"/>
          <p:cNvSpPr/>
          <p:nvPr/>
        </p:nvSpPr>
        <p:spPr>
          <a:xfrm>
            <a:off x="9525000" y="4552950"/>
            <a:ext cx="7581900" cy="7620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9525000" y="4552950"/>
            <a:ext cx="47625" cy="7620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734550" y="4629150"/>
            <a:ext cx="72009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CONSULTA · UCRANIA</a:t>
            </a:r>
          </a:p>
        </p:txBody>
      </p:sp>
      <p:sp>
        <p:nvSpPr>
          <p:cNvPr id="75" name="TextBox 74"/>
          <p:cNvSpPr txBox="1"/>
          <p:nvPr/>
        </p:nvSpPr>
        <p:spPr>
          <a:xfrm>
            <a:off x="9734550" y="4905375"/>
            <a:ext cx="7296150" cy="323850"/>
          </a:xfrm>
          <a:prstGeom prst="rect">
            <a:avLst/>
          </a:prstGeom>
          <a:noFill/>
        </p:spPr>
        <p:txBody>
          <a:bodyPr wrap="square" lIns="0" rIns="0" tIns="0" bIns="0" anchor="ctr">
            <a:spAutoFit/>
          </a:bodyPr>
          <a:lstStyle/>
          <a:p>
            <a:pPr algn="l">
              <a:lnSpc>
                <a:spcPct val="83300"/>
              </a:lnSpc>
            </a:pPr>
            <a:r>
              <a:rPr sz="1800" b="0" i="0">
                <a:solidFill>
                  <a:srgbClr val="F3F7FC"/>
                </a:solidFill>
                <a:latin typeface="Roboto Mono"/>
              </a:rPr>
              <a:t>монітор philips </a:t>
            </a:r>
            <a:r>
              <a:rPr sz="1800" b="0" i="0">
                <a:solidFill>
                  <a:srgbClr val="FFD21F"/>
                </a:solidFill>
                <a:latin typeface="Roboto Mono"/>
              </a:rPr>
              <a:t>27m2c5500w/00</a:t>
            </a:r>
          </a:p>
        </p:txBody>
      </p:sp>
      <p:sp>
        <p:nvSpPr>
          <p:cNvPr id="76" name="Rounded Rectangle 75"/>
          <p:cNvSpPr/>
          <p:nvPr/>
        </p:nvSpPr>
        <p:spPr>
          <a:xfrm>
            <a:off x="9525000" y="5514975"/>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9525000" y="5514975"/>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78" name="TextBox 77"/>
          <p:cNvSpPr txBox="1"/>
          <p:nvPr/>
        </p:nvSpPr>
        <p:spPr>
          <a:xfrm>
            <a:off x="10058400" y="5524500"/>
            <a:ext cx="5429250" cy="342900"/>
          </a:xfrm>
          <a:prstGeom prst="rect">
            <a:avLst/>
          </a:prstGeom>
          <a:noFill/>
        </p:spPr>
        <p:txBody>
          <a:bodyPr wrap="square" lIns="0" rIns="0" tIns="0" bIns="0" anchor="ctr">
            <a:spAutoFit/>
          </a:bodyPr>
          <a:lstStyle/>
          <a:p>
            <a:pPr algn="l">
              <a:lnSpc>
                <a:spcPct val="83300"/>
              </a:lnSpc>
            </a:pPr>
            <a:r>
              <a:rPr sz="1950" b="0" i="0">
                <a:solidFill>
                  <a:srgbClr val="F3F7FC"/>
                </a:solidFill>
                <a:latin typeface="Roboto Mono"/>
              </a:rPr>
              <a:t>27M2C5500W/</a:t>
            </a:r>
            <a:r>
              <a:rPr sz="1950" b="0" i="0">
                <a:solidFill>
                  <a:srgbClr val="FFD21F"/>
                </a:solidFill>
                <a:latin typeface="Roboto Mono"/>
              </a:rPr>
              <a:t>00</a:t>
            </a:r>
          </a:p>
        </p:txBody>
      </p:sp>
      <p:sp>
        <p:nvSpPr>
          <p:cNvPr id="79" name="TextBox 78"/>
          <p:cNvSpPr txBox="1"/>
          <p:nvPr/>
        </p:nvSpPr>
        <p:spPr>
          <a:xfrm>
            <a:off x="15487650" y="5524500"/>
            <a:ext cx="1619250" cy="342900"/>
          </a:xfrm>
          <a:prstGeom prst="rect">
            <a:avLst/>
          </a:prstGeom>
          <a:noFill/>
        </p:spPr>
        <p:txBody>
          <a:bodyPr wrap="square" lIns="0" rIns="0" tIns="0" bIns="0" anchor="ctr">
            <a:spAutoFit/>
          </a:bodyPr>
          <a:lstStyle/>
          <a:p>
            <a:pPr algn="r">
              <a:lnSpc>
                <a:spcPct val="100000"/>
              </a:lnSpc>
            </a:pPr>
            <a:r>
              <a:rPr sz="2100" b="1" i="0">
                <a:solidFill>
                  <a:srgbClr val="FFD21F"/>
                </a:solidFill>
                <a:latin typeface="Montserrat"/>
              </a:rPr>
              <a:t>0,668532</a:t>
            </a:r>
          </a:p>
        </p:txBody>
      </p:sp>
      <p:sp>
        <p:nvSpPr>
          <p:cNvPr id="80" name="TextBox 79"/>
          <p:cNvSpPr txBox="1"/>
          <p:nvPr/>
        </p:nvSpPr>
        <p:spPr>
          <a:xfrm>
            <a:off x="10058400" y="5895975"/>
            <a:ext cx="5619750" cy="266700"/>
          </a:xfrm>
          <a:prstGeom prst="rect">
            <a:avLst/>
          </a:prstGeom>
          <a:noFill/>
        </p:spPr>
        <p:txBody>
          <a:bodyPr wrap="square" lIns="0" rIns="0" tIns="0" bIns="0" anchor="ctr">
            <a:spAutoFit/>
          </a:bodyPr>
          <a:lstStyle/>
          <a:p>
            <a:pPr algn="l">
              <a:lnSpc>
                <a:spcPct val="83300"/>
              </a:lnSpc>
            </a:pPr>
            <a:r>
              <a:rPr sz="1500" b="0" i="0">
                <a:solidFill>
                  <a:srgbClr val="F3F7FC"/>
                </a:solidFill>
                <a:latin typeface="Barlow"/>
              </a:rPr>
              <a:t>philips curved gaming monitor 27m2c5500w quad hd</a:t>
            </a:r>
          </a:p>
        </p:txBody>
      </p:sp>
      <p:sp>
        <p:nvSpPr>
          <p:cNvPr id="81" name="Rounded Rectangle 80"/>
          <p:cNvSpPr/>
          <p:nvPr/>
        </p:nvSpPr>
        <p:spPr>
          <a:xfrm>
            <a:off x="15777924" y="5886450"/>
            <a:ext cx="1328976" cy="285750"/>
          </a:xfrm>
          <a:prstGeom prst="roundRect">
            <a:avLst>
              <a:gd name="adj" fmla="val 13333"/>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5777924" y="5886450"/>
            <a:ext cx="1328976" cy="2857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CORRECTO</a:t>
            </a:r>
          </a:p>
        </p:txBody>
      </p:sp>
      <p:sp>
        <p:nvSpPr>
          <p:cNvPr id="83" name="Rectangle 82"/>
          <p:cNvSpPr/>
          <p:nvPr/>
        </p:nvSpPr>
        <p:spPr>
          <a:xfrm>
            <a:off x="10058400" y="62293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0058400" y="6229350"/>
            <a:ext cx="6731640" cy="1333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unded Rectangle 84"/>
          <p:cNvSpPr/>
          <p:nvPr/>
        </p:nvSpPr>
        <p:spPr>
          <a:xfrm>
            <a:off x="9525000" y="6467475"/>
            <a:ext cx="381000" cy="381000"/>
          </a:xfrm>
          <a:prstGeom prst="roundRect">
            <a:avLst>
              <a:gd name="adj" fmla="val 100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9525000" y="6467475"/>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87" name="TextBox 86"/>
          <p:cNvSpPr txBox="1"/>
          <p:nvPr/>
        </p:nvSpPr>
        <p:spPr>
          <a:xfrm>
            <a:off x="10058400" y="6477000"/>
            <a:ext cx="5429250" cy="342900"/>
          </a:xfrm>
          <a:prstGeom prst="rect">
            <a:avLst/>
          </a:prstGeom>
          <a:noFill/>
        </p:spPr>
        <p:txBody>
          <a:bodyPr wrap="square" lIns="0" rIns="0" tIns="0" bIns="0" anchor="ctr">
            <a:spAutoFit/>
          </a:bodyPr>
          <a:lstStyle/>
          <a:p>
            <a:pPr algn="l">
              <a:lnSpc>
                <a:spcPct val="83300"/>
              </a:lnSpc>
            </a:pPr>
            <a:r>
              <a:rPr sz="1950" b="0" i="0">
                <a:solidFill>
                  <a:srgbClr val="F3F7FC"/>
                </a:solidFill>
                <a:latin typeface="Roboto Mono"/>
              </a:rPr>
              <a:t>27M2C5500W/</a:t>
            </a:r>
            <a:r>
              <a:rPr sz="1950" b="0" i="0">
                <a:solidFill>
                  <a:srgbClr val="E0566B"/>
                </a:solidFill>
                <a:latin typeface="Roboto Mono"/>
              </a:rPr>
              <a:t>01</a:t>
            </a:r>
          </a:p>
        </p:txBody>
      </p:sp>
      <p:sp>
        <p:nvSpPr>
          <p:cNvPr id="88" name="TextBox 87"/>
          <p:cNvSpPr txBox="1"/>
          <p:nvPr/>
        </p:nvSpPr>
        <p:spPr>
          <a:xfrm>
            <a:off x="15487650" y="6477000"/>
            <a:ext cx="1619250" cy="342900"/>
          </a:xfrm>
          <a:prstGeom prst="rect">
            <a:avLst/>
          </a:prstGeom>
          <a:noFill/>
        </p:spPr>
        <p:txBody>
          <a:bodyPr wrap="square" lIns="0" rIns="0" tIns="0" bIns="0" anchor="ctr">
            <a:spAutoFit/>
          </a:bodyPr>
          <a:lstStyle/>
          <a:p>
            <a:pPr algn="r">
              <a:lnSpc>
                <a:spcPct val="100000"/>
              </a:lnSpc>
            </a:pPr>
            <a:r>
              <a:rPr sz="2100" b="1" i="0">
                <a:solidFill>
                  <a:srgbClr val="F3F7FC"/>
                </a:solidFill>
                <a:latin typeface="Montserrat"/>
              </a:rPr>
              <a:t>0,614145</a:t>
            </a:r>
          </a:p>
        </p:txBody>
      </p:sp>
      <p:sp>
        <p:nvSpPr>
          <p:cNvPr id="89" name="TextBox 88"/>
          <p:cNvSpPr txBox="1"/>
          <p:nvPr/>
        </p:nvSpPr>
        <p:spPr>
          <a:xfrm>
            <a:off x="10058400" y="6848475"/>
            <a:ext cx="5619750" cy="266700"/>
          </a:xfrm>
          <a:prstGeom prst="rect">
            <a:avLst/>
          </a:prstGeom>
          <a:noFill/>
        </p:spPr>
        <p:txBody>
          <a:bodyPr wrap="square" lIns="0" rIns="0" tIns="0" bIns="0" anchor="ctr">
            <a:spAutoFit/>
          </a:bodyPr>
          <a:lstStyle/>
          <a:p>
            <a:pPr algn="l">
              <a:lnSpc>
                <a:spcPct val="83300"/>
              </a:lnSpc>
            </a:pPr>
            <a:r>
              <a:rPr sz="1500" b="0" i="0">
                <a:solidFill>
                  <a:srgbClr val="F3F7FC"/>
                </a:solidFill>
                <a:latin typeface="Barlow"/>
              </a:rPr>
              <a:t>philips curved gaming monitor 27m2c5500w quad hd</a:t>
            </a:r>
          </a:p>
        </p:txBody>
      </p:sp>
      <p:sp>
        <p:nvSpPr>
          <p:cNvPr id="90" name="Rounded Rectangle 89"/>
          <p:cNvSpPr/>
          <p:nvPr/>
        </p:nvSpPr>
        <p:spPr>
          <a:xfrm>
            <a:off x="15472618" y="6838950"/>
            <a:ext cx="1634282" cy="285750"/>
          </a:xfrm>
          <a:prstGeom prst="roundRect">
            <a:avLst>
              <a:gd name="adj" fmla="val 13333"/>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5472618" y="6838950"/>
            <a:ext cx="1634282" cy="28575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MISMO TEXTO</a:t>
            </a:r>
          </a:p>
        </p:txBody>
      </p:sp>
      <p:sp>
        <p:nvSpPr>
          <p:cNvPr id="92" name="Rectangle 91"/>
          <p:cNvSpPr/>
          <p:nvPr/>
        </p:nvSpPr>
        <p:spPr>
          <a:xfrm>
            <a:off x="10058400" y="71818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0058400" y="7181850"/>
            <a:ext cx="6184001" cy="1333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9525000" y="7419975"/>
            <a:ext cx="381000" cy="381000"/>
          </a:xfrm>
          <a:prstGeom prst="roundRect">
            <a:avLst>
              <a:gd name="adj" fmla="val 100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9525000" y="7419975"/>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3</a:t>
            </a:r>
          </a:p>
        </p:txBody>
      </p:sp>
      <p:sp>
        <p:nvSpPr>
          <p:cNvPr id="96" name="TextBox 95"/>
          <p:cNvSpPr txBox="1"/>
          <p:nvPr/>
        </p:nvSpPr>
        <p:spPr>
          <a:xfrm>
            <a:off x="10058400" y="7429500"/>
            <a:ext cx="5429250" cy="342900"/>
          </a:xfrm>
          <a:prstGeom prst="rect">
            <a:avLst/>
          </a:prstGeom>
          <a:noFill/>
        </p:spPr>
        <p:txBody>
          <a:bodyPr wrap="square" lIns="0" rIns="0" tIns="0" bIns="0" anchor="ctr">
            <a:spAutoFit/>
          </a:bodyPr>
          <a:lstStyle/>
          <a:p>
            <a:pPr algn="l">
              <a:lnSpc>
                <a:spcPct val="83300"/>
              </a:lnSpc>
            </a:pPr>
            <a:r>
              <a:rPr sz="1950" b="0" i="0">
                <a:solidFill>
                  <a:srgbClr val="F3F7FC"/>
                </a:solidFill>
                <a:latin typeface="Roboto Mono"/>
              </a:rPr>
              <a:t>32M2C5500W/00</a:t>
            </a:r>
          </a:p>
        </p:txBody>
      </p:sp>
      <p:sp>
        <p:nvSpPr>
          <p:cNvPr id="97" name="TextBox 96"/>
          <p:cNvSpPr txBox="1"/>
          <p:nvPr/>
        </p:nvSpPr>
        <p:spPr>
          <a:xfrm>
            <a:off x="15487650" y="7429500"/>
            <a:ext cx="1619250" cy="342900"/>
          </a:xfrm>
          <a:prstGeom prst="rect">
            <a:avLst/>
          </a:prstGeom>
          <a:noFill/>
        </p:spPr>
        <p:txBody>
          <a:bodyPr wrap="square" lIns="0" rIns="0" tIns="0" bIns="0" anchor="ctr">
            <a:spAutoFit/>
          </a:bodyPr>
          <a:lstStyle/>
          <a:p>
            <a:pPr algn="r">
              <a:lnSpc>
                <a:spcPct val="100000"/>
              </a:lnSpc>
            </a:pPr>
            <a:r>
              <a:rPr sz="2100" b="1" i="0">
                <a:solidFill>
                  <a:srgbClr val="F3F7FC"/>
                </a:solidFill>
                <a:latin typeface="Montserrat"/>
              </a:rPr>
              <a:t>0,456400</a:t>
            </a:r>
          </a:p>
        </p:txBody>
      </p:sp>
      <p:sp>
        <p:nvSpPr>
          <p:cNvPr id="98" name="TextBox 97"/>
          <p:cNvSpPr txBox="1"/>
          <p:nvPr/>
        </p:nvSpPr>
        <p:spPr>
          <a:xfrm>
            <a:off x="10058400" y="7800975"/>
            <a:ext cx="5619750"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philips gaming monitor 32m2c5500w quad hd</a:t>
            </a:r>
          </a:p>
        </p:txBody>
      </p:sp>
      <p:sp>
        <p:nvSpPr>
          <p:cNvPr id="99" name="Rectangle 98"/>
          <p:cNvSpPr/>
          <p:nvPr/>
        </p:nvSpPr>
        <p:spPr>
          <a:xfrm>
            <a:off x="10058400" y="8134350"/>
            <a:ext cx="704850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0058400" y="8134350"/>
            <a:ext cx="4595622"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9525000" y="8401050"/>
            <a:ext cx="7581900" cy="1028700"/>
          </a:xfrm>
          <a:prstGeom prst="rect">
            <a:avLst/>
          </a:prstGeom>
          <a:solidFill>
            <a:srgbClr val="0C2445"/>
          </a:solidFill>
          <a:ln w="14287">
            <a:solidFill>
              <a:srgbClr val="E0566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9753600" y="8515350"/>
            <a:ext cx="2473523" cy="533400"/>
          </a:xfrm>
          <a:prstGeom prst="rect">
            <a:avLst/>
          </a:prstGeom>
          <a:noFill/>
        </p:spPr>
        <p:txBody>
          <a:bodyPr wrap="square" lIns="0" rIns="0" tIns="0" bIns="0" anchor="ctr">
            <a:spAutoFit/>
          </a:bodyPr>
          <a:lstStyle/>
          <a:p>
            <a:pPr algn="l">
              <a:lnSpc>
                <a:spcPct val="83300"/>
              </a:lnSpc>
            </a:pPr>
            <a:r>
              <a:rPr sz="3600" b="1" i="0">
                <a:solidFill>
                  <a:srgbClr val="E0566B"/>
                </a:solidFill>
                <a:latin typeface="Montserrat"/>
              </a:rPr>
              <a:t>0,054387</a:t>
            </a:r>
          </a:p>
        </p:txBody>
      </p:sp>
      <p:sp>
        <p:nvSpPr>
          <p:cNvPr id="103" name="TextBox 102"/>
          <p:cNvSpPr txBox="1"/>
          <p:nvPr/>
        </p:nvSpPr>
        <p:spPr>
          <a:xfrm>
            <a:off x="9753600" y="9048750"/>
            <a:ext cx="2473523"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DE SEPARACIÓN</a:t>
            </a:r>
          </a:p>
        </p:txBody>
      </p:sp>
      <p:sp>
        <p:nvSpPr>
          <p:cNvPr id="104" name="Rectangle 103"/>
          <p:cNvSpPr/>
          <p:nvPr/>
        </p:nvSpPr>
        <p:spPr>
          <a:xfrm>
            <a:off x="12131873" y="8572500"/>
            <a:ext cx="14288" cy="685800"/>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12322373" y="8401050"/>
            <a:ext cx="4613077" cy="1028700"/>
          </a:xfrm>
          <a:prstGeom prst="rect">
            <a:avLst/>
          </a:prstGeom>
          <a:noFill/>
        </p:spPr>
        <p:txBody>
          <a:bodyPr wrap="square" lIns="0" rIns="0" tIns="0" bIns="0" anchor="ctr">
            <a:spAutoFit/>
          </a:bodyPr>
          <a:lstStyle/>
          <a:p>
            <a:pPr algn="l">
              <a:lnSpc>
                <a:spcPct val="104200"/>
              </a:lnSpc>
            </a:pPr>
            <a:r>
              <a:rPr sz="1650" b="0" i="0">
                <a:solidFill>
                  <a:srgbClr val="F3F7FC"/>
                </a:solidFill>
                <a:latin typeface="Barlow"/>
              </a:rPr>
              <a:t>Una bolsa de n-gramas no separa /00 de /01:</a:t>
            </a:r>
          </a:p>
          <a:p>
            <a:pPr algn="l">
              <a:lnSpc>
                <a:spcPct val="104200"/>
              </a:lnSpc>
            </a:pPr>
            <a:r>
              <a:rPr sz="1650" b="0" i="0">
                <a:solidFill>
                  <a:srgbClr val="F3F7FC"/>
                </a:solidFill>
                <a:latin typeface="Barlow"/>
              </a:rPr>
              <a:t>hace falta un segundo modelo que lea</a:t>
            </a:r>
          </a:p>
          <a:p>
            <a:pPr algn="l">
              <a:lnSpc>
                <a:spcPct val="104200"/>
              </a:lnSpc>
            </a:pPr>
            <a:r>
              <a:rPr sz="1650" b="0" i="0">
                <a:solidFill>
                  <a:srgbClr val="F3F7FC"/>
                </a:solidFill>
                <a:latin typeface="Barlow"/>
              </a:rPr>
              <a:t>los dos textos juntos.</a:t>
            </a:r>
          </a:p>
        </p:txBody>
      </p:sp>
      <p:sp>
        <p:nvSpPr>
          <p:cNvPr id="106" name="Esquinero"/>
          <p:cNvSpPr/>
          <p:nvPr/>
        </p:nvSpPr>
        <p:spPr>
          <a:xfrm>
            <a:off x="819150" y="34671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Esquinero"/>
          <p:cNvSpPr/>
          <p:nvPr/>
        </p:nvSpPr>
        <p:spPr>
          <a:xfrm>
            <a:off x="819150" y="34671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Esquinero"/>
          <p:cNvSpPr/>
          <p:nvPr/>
        </p:nvSpPr>
        <p:spPr>
          <a:xfrm>
            <a:off x="17145000" y="34671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Esquinero"/>
          <p:cNvSpPr/>
          <p:nvPr/>
        </p:nvSpPr>
        <p:spPr>
          <a:xfrm>
            <a:off x="17440275" y="34671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Esquinero"/>
          <p:cNvSpPr/>
          <p:nvPr/>
        </p:nvSpPr>
        <p:spPr>
          <a:xfrm>
            <a:off x="174402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Esquinero"/>
          <p:cNvSpPr/>
          <p:nvPr/>
        </p:nvSpPr>
        <p:spPr>
          <a:xfrm>
            <a:off x="171450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OE4 · DISEÑAR LOS MODELOS · CROSS-ENCODER</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Dónde duda el modelo: el margen y los falsos positivos</a:t>
            </a:r>
          </a:p>
        </p:txBody>
      </p:sp>
      <p:sp>
        <p:nvSpPr>
          <p:cNvPr id="9" name="Rectangle 8"/>
          <p:cNvSpPr/>
          <p:nvPr/>
        </p:nvSpPr>
        <p:spPr>
          <a:xfrm>
            <a:off x="914400" y="2686050"/>
            <a:ext cx="4572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86050"/>
            <a:ext cx="45720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143000" y="2914650"/>
            <a:ext cx="381000" cy="381000"/>
          </a:xfrm>
          <a:prstGeom prst="roundRect">
            <a:avLst>
              <a:gd name="adj" fmla="val 1000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2914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13" name="TextBox 12"/>
          <p:cNvSpPr txBox="1"/>
          <p:nvPr/>
        </p:nvSpPr>
        <p:spPr>
          <a:xfrm>
            <a:off x="1676400" y="2914650"/>
            <a:ext cx="358140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El score se dispara</a:t>
            </a:r>
          </a:p>
        </p:txBody>
      </p:sp>
      <p:sp>
        <p:nvSpPr>
          <p:cNvPr id="14" name="TextBox 13"/>
          <p:cNvSpPr txBox="1"/>
          <p:nvPr/>
        </p:nvSpPr>
        <p:spPr>
          <a:xfrm>
            <a:off x="1143000" y="3524250"/>
            <a:ext cx="41148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RETAILER · UCRANIANO</a:t>
            </a:r>
          </a:p>
        </p:txBody>
      </p:sp>
      <p:sp>
        <p:nvSpPr>
          <p:cNvPr id="15" name="TextBox 14"/>
          <p:cNvSpPr txBox="1"/>
          <p:nvPr/>
        </p:nvSpPr>
        <p:spPr>
          <a:xfrm>
            <a:off x="1143000" y="3810000"/>
            <a:ext cx="4114800" cy="495300"/>
          </a:xfrm>
          <a:prstGeom prst="rect">
            <a:avLst/>
          </a:prstGeom>
          <a:noFill/>
        </p:spPr>
        <p:txBody>
          <a:bodyPr wrap="square" lIns="0" rIns="0" tIns="0" bIns="0" anchor="t">
            <a:spAutoFit/>
          </a:bodyPr>
          <a:lstStyle/>
          <a:p>
            <a:pPr algn="l">
              <a:lnSpc>
                <a:spcPct val="104200"/>
              </a:lnSpc>
            </a:pPr>
            <a:r>
              <a:rPr sz="1500" b="0" i="0">
                <a:solidFill>
                  <a:srgbClr val="F3F7FC"/>
                </a:solidFill>
                <a:latin typeface="Roboto Mono"/>
              </a:rPr>
              <a:t>пустушка avent ultra soft 6-18 міс.</a:t>
            </a:r>
          </a:p>
          <a:p>
            <a:pPr algn="l">
              <a:lnSpc>
                <a:spcPct val="104200"/>
              </a:lnSpc>
            </a:pPr>
            <a:r>
              <a:rPr sz="1500" b="0" i="0">
                <a:solidFill>
                  <a:srgbClr val="F3F7FC"/>
                </a:solidFill>
                <a:latin typeface="Roboto Mono"/>
              </a:rPr>
              <a:t>дизайн для дівчат 2 шт.</a:t>
            </a:r>
          </a:p>
        </p:txBody>
      </p:sp>
      <p:sp>
        <p:nvSpPr>
          <p:cNvPr id="16" name="TextBox 15"/>
          <p:cNvSpPr txBox="1"/>
          <p:nvPr/>
        </p:nvSpPr>
        <p:spPr>
          <a:xfrm>
            <a:off x="1143000" y="4419600"/>
            <a:ext cx="41148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CATÁLOGO · ESPAÑOL</a:t>
            </a:r>
          </a:p>
        </p:txBody>
      </p:sp>
      <p:sp>
        <p:nvSpPr>
          <p:cNvPr id="17" name="TextBox 16"/>
          <p:cNvSpPr txBox="1"/>
          <p:nvPr/>
        </p:nvSpPr>
        <p:spPr>
          <a:xfrm>
            <a:off x="1143000" y="4705350"/>
            <a:ext cx="4114800" cy="742950"/>
          </a:xfrm>
          <a:prstGeom prst="rect">
            <a:avLst/>
          </a:prstGeom>
          <a:noFill/>
        </p:spPr>
        <p:txBody>
          <a:bodyPr wrap="square" lIns="0" rIns="0" tIns="0" bIns="0" anchor="t">
            <a:spAutoFit/>
          </a:bodyPr>
          <a:lstStyle/>
          <a:p>
            <a:pPr algn="l">
              <a:lnSpc>
                <a:spcPct val="104200"/>
              </a:lnSpc>
            </a:pPr>
            <a:r>
              <a:rPr sz="1500" b="0" i="0">
                <a:solidFill>
                  <a:srgbClr val="FFD21F"/>
                </a:solidFill>
                <a:latin typeface="Roboto Mono"/>
              </a:rPr>
              <a:t>philips chupete ultrasuave y</a:t>
            </a:r>
          </a:p>
          <a:p>
            <a:pPr algn="l">
              <a:lnSpc>
                <a:spcPct val="104200"/>
              </a:lnSpc>
            </a:pPr>
            <a:r>
              <a:rPr sz="1500" b="0" i="0">
                <a:solidFill>
                  <a:srgbClr val="FFD21F"/>
                </a:solidFill>
                <a:latin typeface="Roboto Mono"/>
              </a:rPr>
              <a:t>flexible 6-18 meses ultra</a:t>
            </a:r>
          </a:p>
          <a:p>
            <a:pPr algn="l">
              <a:lnSpc>
                <a:spcPct val="104200"/>
              </a:lnSpc>
            </a:pPr>
            <a:r>
              <a:rPr sz="1500" b="0" i="0">
                <a:solidFill>
                  <a:srgbClr val="FFD21F"/>
                </a:solidFill>
                <a:latin typeface="Roboto Mono"/>
              </a:rPr>
              <a:t>soft-fopspeen</a:t>
            </a:r>
          </a:p>
        </p:txBody>
      </p:sp>
      <p:sp>
        <p:nvSpPr>
          <p:cNvPr id="18" name="TextBox 17"/>
          <p:cNvSpPr txBox="1"/>
          <p:nvPr/>
        </p:nvSpPr>
        <p:spPr>
          <a:xfrm>
            <a:off x="1143000" y="5562600"/>
            <a:ext cx="1714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ELEGIDO</a:t>
            </a:r>
          </a:p>
        </p:txBody>
      </p:sp>
      <p:sp>
        <p:nvSpPr>
          <p:cNvPr id="19" name="TextBox 18"/>
          <p:cNvSpPr txBox="1"/>
          <p:nvPr/>
        </p:nvSpPr>
        <p:spPr>
          <a:xfrm>
            <a:off x="2952750" y="5562600"/>
            <a:ext cx="23050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 CORRECTO ERA</a:t>
            </a:r>
          </a:p>
        </p:txBody>
      </p:sp>
      <p:sp>
        <p:nvSpPr>
          <p:cNvPr id="20" name="Rounded Rectangle 19"/>
          <p:cNvSpPr/>
          <p:nvPr/>
        </p:nvSpPr>
        <p:spPr>
          <a:xfrm>
            <a:off x="1143000" y="5829300"/>
            <a:ext cx="12954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43000" y="5829300"/>
            <a:ext cx="1295400" cy="323850"/>
          </a:xfrm>
          <a:prstGeom prst="rect">
            <a:avLst/>
          </a:prstGeom>
          <a:noFill/>
        </p:spPr>
        <p:txBody>
          <a:bodyPr wrap="none" lIns="0" rIns="0" tIns="0" bIns="0" anchor="ctr">
            <a:spAutoFit/>
          </a:bodyPr>
          <a:lstStyle/>
          <a:p>
            <a:pPr algn="ctr">
              <a:lnSpc>
                <a:spcPct val="100000"/>
              </a:lnSpc>
            </a:pPr>
            <a:r>
              <a:rPr sz="1500" b="0" i="0">
                <a:solidFill>
                  <a:srgbClr val="E0566B"/>
                </a:solidFill>
                <a:latin typeface="Roboto Mono"/>
              </a:rPr>
              <a:t>SCF227/22</a:t>
            </a:r>
          </a:p>
        </p:txBody>
      </p:sp>
      <p:sp>
        <p:nvSpPr>
          <p:cNvPr id="22" name="Rounded Rectangle 21"/>
          <p:cNvSpPr/>
          <p:nvPr/>
        </p:nvSpPr>
        <p:spPr>
          <a:xfrm>
            <a:off x="2952750" y="5829300"/>
            <a:ext cx="12954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52750" y="5829300"/>
            <a:ext cx="12954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SCF091/18</a:t>
            </a:r>
          </a:p>
        </p:txBody>
      </p:sp>
      <p:sp>
        <p:nvSpPr>
          <p:cNvPr id="24" name="TextBox 23"/>
          <p:cNvSpPr txBox="1"/>
          <p:nvPr/>
        </p:nvSpPr>
        <p:spPr>
          <a:xfrm>
            <a:off x="1143000" y="6362700"/>
            <a:ext cx="29718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TF-IDF COSENO</a:t>
            </a:r>
          </a:p>
        </p:txBody>
      </p:sp>
      <p:sp>
        <p:nvSpPr>
          <p:cNvPr id="25" name="TextBox 24"/>
          <p:cNvSpPr txBox="1"/>
          <p:nvPr/>
        </p:nvSpPr>
        <p:spPr>
          <a:xfrm>
            <a:off x="3924300" y="6305550"/>
            <a:ext cx="1333500" cy="323850"/>
          </a:xfrm>
          <a:prstGeom prst="rect">
            <a:avLst/>
          </a:prstGeom>
          <a:noFill/>
        </p:spPr>
        <p:txBody>
          <a:bodyPr wrap="square" lIns="0" rIns="0" tIns="0" bIns="0" anchor="ctr">
            <a:spAutoFit/>
          </a:bodyPr>
          <a:lstStyle/>
          <a:p>
            <a:pPr algn="r">
              <a:lnSpc>
                <a:spcPct val="100000"/>
              </a:lnSpc>
            </a:pPr>
            <a:r>
              <a:rPr sz="1950" b="1" i="0">
                <a:solidFill>
                  <a:srgbClr val="F3F7FC"/>
                </a:solidFill>
                <a:latin typeface="Montserrat"/>
              </a:rPr>
              <a:t>0,1643</a:t>
            </a:r>
          </a:p>
        </p:txBody>
      </p:sp>
      <p:sp>
        <p:nvSpPr>
          <p:cNvPr id="26" name="Rectangle 25"/>
          <p:cNvSpPr/>
          <p:nvPr/>
        </p:nvSpPr>
        <p:spPr>
          <a:xfrm>
            <a:off x="1143000" y="6648450"/>
            <a:ext cx="4114800" cy="1143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143000" y="6648450"/>
            <a:ext cx="676062" cy="114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43000" y="6877050"/>
            <a:ext cx="29718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JACCARD</a:t>
            </a:r>
          </a:p>
        </p:txBody>
      </p:sp>
      <p:sp>
        <p:nvSpPr>
          <p:cNvPr id="29" name="TextBox 28"/>
          <p:cNvSpPr txBox="1"/>
          <p:nvPr/>
        </p:nvSpPr>
        <p:spPr>
          <a:xfrm>
            <a:off x="3924300" y="6819900"/>
            <a:ext cx="1333500" cy="323850"/>
          </a:xfrm>
          <a:prstGeom prst="rect">
            <a:avLst/>
          </a:prstGeom>
          <a:noFill/>
        </p:spPr>
        <p:txBody>
          <a:bodyPr wrap="square" lIns="0" rIns="0" tIns="0" bIns="0" anchor="ctr">
            <a:spAutoFit/>
          </a:bodyPr>
          <a:lstStyle/>
          <a:p>
            <a:pPr algn="r">
              <a:lnSpc>
                <a:spcPct val="100000"/>
              </a:lnSpc>
            </a:pPr>
            <a:r>
              <a:rPr sz="1950" b="1" i="0">
                <a:solidFill>
                  <a:srgbClr val="F3F7FC"/>
                </a:solidFill>
                <a:latin typeface="Montserrat"/>
              </a:rPr>
              <a:t>0,0870</a:t>
            </a:r>
          </a:p>
        </p:txBody>
      </p:sp>
      <p:sp>
        <p:nvSpPr>
          <p:cNvPr id="30" name="Rectangle 29"/>
          <p:cNvSpPr/>
          <p:nvPr/>
        </p:nvSpPr>
        <p:spPr>
          <a:xfrm>
            <a:off x="1143000" y="7162800"/>
            <a:ext cx="4114800" cy="1143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143000" y="7162800"/>
            <a:ext cx="357988" cy="114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3000" y="7391400"/>
            <a:ext cx="29718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EMBEDDINGS</a:t>
            </a:r>
          </a:p>
        </p:txBody>
      </p:sp>
      <p:sp>
        <p:nvSpPr>
          <p:cNvPr id="33" name="TextBox 32"/>
          <p:cNvSpPr txBox="1"/>
          <p:nvPr/>
        </p:nvSpPr>
        <p:spPr>
          <a:xfrm>
            <a:off x="3924300" y="7334250"/>
            <a:ext cx="1333500" cy="323850"/>
          </a:xfrm>
          <a:prstGeom prst="rect">
            <a:avLst/>
          </a:prstGeom>
          <a:noFill/>
        </p:spPr>
        <p:txBody>
          <a:bodyPr wrap="square" lIns="0" rIns="0" tIns="0" bIns="0" anchor="ctr">
            <a:spAutoFit/>
          </a:bodyPr>
          <a:lstStyle/>
          <a:p>
            <a:pPr algn="r">
              <a:lnSpc>
                <a:spcPct val="100000"/>
              </a:lnSpc>
            </a:pPr>
            <a:r>
              <a:rPr sz="1950" b="1" i="0">
                <a:solidFill>
                  <a:srgbClr val="F3F7FC"/>
                </a:solidFill>
                <a:latin typeface="Montserrat"/>
              </a:rPr>
              <a:t>0,4899</a:t>
            </a:r>
          </a:p>
        </p:txBody>
      </p:sp>
      <p:sp>
        <p:nvSpPr>
          <p:cNvPr id="34" name="Rectangle 33"/>
          <p:cNvSpPr/>
          <p:nvPr/>
        </p:nvSpPr>
        <p:spPr>
          <a:xfrm>
            <a:off x="1143000" y="7677150"/>
            <a:ext cx="4114800" cy="1143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143000" y="7677150"/>
            <a:ext cx="2015841" cy="114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43000" y="7905750"/>
            <a:ext cx="29718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CROSS-ENCODER</a:t>
            </a:r>
          </a:p>
        </p:txBody>
      </p:sp>
      <p:sp>
        <p:nvSpPr>
          <p:cNvPr id="37" name="TextBox 36"/>
          <p:cNvSpPr txBox="1"/>
          <p:nvPr/>
        </p:nvSpPr>
        <p:spPr>
          <a:xfrm>
            <a:off x="3924300" y="7848600"/>
            <a:ext cx="1333500" cy="323850"/>
          </a:xfrm>
          <a:prstGeom prst="rect">
            <a:avLst/>
          </a:prstGeom>
          <a:noFill/>
        </p:spPr>
        <p:txBody>
          <a:bodyPr wrap="square" lIns="0" rIns="0" tIns="0" bIns="0" anchor="ctr">
            <a:spAutoFit/>
          </a:bodyPr>
          <a:lstStyle/>
          <a:p>
            <a:pPr algn="r">
              <a:lnSpc>
                <a:spcPct val="100000"/>
              </a:lnSpc>
            </a:pPr>
            <a:r>
              <a:rPr sz="1950" b="1" i="0">
                <a:solidFill>
                  <a:srgbClr val="E0566B"/>
                </a:solidFill>
                <a:latin typeface="Montserrat"/>
              </a:rPr>
              <a:t>0,99927</a:t>
            </a:r>
          </a:p>
        </p:txBody>
      </p:sp>
      <p:sp>
        <p:nvSpPr>
          <p:cNvPr id="38" name="Rectangle 37"/>
          <p:cNvSpPr/>
          <p:nvPr/>
        </p:nvSpPr>
        <p:spPr>
          <a:xfrm>
            <a:off x="1143000" y="8191500"/>
            <a:ext cx="4114800" cy="1143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43000" y="8191500"/>
            <a:ext cx="4111796" cy="1143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43000" y="8477250"/>
            <a:ext cx="4114800" cy="952500"/>
          </a:xfrm>
          <a:prstGeom prst="rect">
            <a:avLst/>
          </a:prstGeom>
          <a:noFill/>
        </p:spPr>
        <p:txBody>
          <a:bodyPr wrap="square" lIns="0" rIns="0" tIns="0" bIns="0" anchor="t">
            <a:spAutoFit/>
          </a:bodyPr>
          <a:lstStyle/>
          <a:p>
            <a:pPr algn="l">
              <a:lnSpc>
                <a:spcPct val="104200"/>
              </a:lnSpc>
            </a:pPr>
            <a:r>
              <a:rPr sz="1650" b="0" i="0">
                <a:solidFill>
                  <a:srgbClr val="F3F7FC"/>
                </a:solidFill>
                <a:latin typeface="Barlow"/>
              </a:rPr>
              <a:t>Ningún token compartido, pero el</a:t>
            </a:r>
          </a:p>
          <a:p>
            <a:pPr algn="l">
              <a:lnSpc>
                <a:spcPct val="104200"/>
              </a:lnSpc>
            </a:pPr>
            <a:r>
              <a:rPr sz="1650" b="0" i="0">
                <a:solidFill>
                  <a:srgbClr val="F3F7FC"/>
                </a:solidFill>
                <a:latin typeface="Barlow"/>
              </a:rPr>
              <a:t>cross-encoder se dispara: acierta el</a:t>
            </a:r>
          </a:p>
          <a:p>
            <a:pPr algn="l">
              <a:lnSpc>
                <a:spcPct val="104200"/>
              </a:lnSpc>
            </a:pPr>
            <a:r>
              <a:rPr sz="1650" b="0" i="0">
                <a:solidFill>
                  <a:srgbClr val="F3F7FC"/>
                </a:solidFill>
                <a:latin typeface="Barlow"/>
              </a:rPr>
              <a:t>concepto y falla el modelo exacto.</a:t>
            </a:r>
          </a:p>
        </p:txBody>
      </p:sp>
      <p:sp>
        <p:nvSpPr>
          <p:cNvPr id="41" name="Rectangle 40"/>
          <p:cNvSpPr/>
          <p:nvPr/>
        </p:nvSpPr>
        <p:spPr>
          <a:xfrm>
            <a:off x="5905500" y="2686050"/>
            <a:ext cx="6477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5905500" y="2686050"/>
            <a:ext cx="6477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Esquinero"/>
          <p:cNvSpPr/>
          <p:nvPr/>
        </p:nvSpPr>
        <p:spPr>
          <a:xfrm>
            <a:off x="581025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Esquinero"/>
          <p:cNvSpPr/>
          <p:nvPr/>
        </p:nvSpPr>
        <p:spPr>
          <a:xfrm>
            <a:off x="5810250"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quinero"/>
          <p:cNvSpPr/>
          <p:nvPr/>
        </p:nvSpPr>
        <p:spPr>
          <a:xfrm>
            <a:off x="1215390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Esquinero"/>
          <p:cNvSpPr/>
          <p:nvPr/>
        </p:nvSpPr>
        <p:spPr>
          <a:xfrm>
            <a:off x="12449175"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quinero"/>
          <p:cNvSpPr/>
          <p:nvPr/>
        </p:nvSpPr>
        <p:spPr>
          <a:xfrm>
            <a:off x="58102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quinero"/>
          <p:cNvSpPr/>
          <p:nvPr/>
        </p:nvSpPr>
        <p:spPr>
          <a:xfrm>
            <a:off x="58102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Esquinero"/>
          <p:cNvSpPr/>
          <p:nvPr/>
        </p:nvSpPr>
        <p:spPr>
          <a:xfrm>
            <a:off x="124491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Esquinero"/>
          <p:cNvSpPr/>
          <p:nvPr/>
        </p:nvSpPr>
        <p:spPr>
          <a:xfrm>
            <a:off x="121539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172200" y="291465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172200" y="2914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2</a:t>
            </a:r>
          </a:p>
        </p:txBody>
      </p:sp>
      <p:sp>
        <p:nvSpPr>
          <p:cNvPr id="53" name="TextBox 52"/>
          <p:cNvSpPr txBox="1"/>
          <p:nvPr/>
        </p:nvSpPr>
        <p:spPr>
          <a:xfrm>
            <a:off x="6705600" y="2914650"/>
            <a:ext cx="541020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El margen delata la duda</a:t>
            </a:r>
          </a:p>
        </p:txBody>
      </p:sp>
      <p:sp>
        <p:nvSpPr>
          <p:cNvPr id="54" name="Rectangle 53"/>
          <p:cNvSpPr/>
          <p:nvPr/>
        </p:nvSpPr>
        <p:spPr>
          <a:xfrm>
            <a:off x="6172200" y="3524250"/>
            <a:ext cx="5943600" cy="876300"/>
          </a:xfrm>
          <a:prstGeom prst="rect">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419850" y="3717131"/>
            <a:ext cx="1322052" cy="452438"/>
          </a:xfrm>
          <a:prstGeom prst="rect">
            <a:avLst/>
          </a:prstGeom>
          <a:noFill/>
        </p:spPr>
        <p:txBody>
          <a:bodyPr wrap="none" lIns="0" rIns="0" tIns="0" bIns="0" anchor="ctr">
            <a:spAutoFit/>
          </a:bodyPr>
          <a:lstStyle/>
          <a:p>
            <a:pPr algn="l">
              <a:lnSpc>
                <a:spcPct val="83300"/>
              </a:lnSpc>
            </a:pPr>
            <a:r>
              <a:rPr sz="2850" b="0" i="1">
                <a:solidFill>
                  <a:srgbClr val="F3F7FC"/>
                </a:solidFill>
                <a:latin typeface="Barlow"/>
              </a:rPr>
              <a:t>margen</a:t>
            </a:r>
          </a:p>
        </p:txBody>
      </p:sp>
      <p:sp>
        <p:nvSpPr>
          <p:cNvPr id="56" name="TextBox 55"/>
          <p:cNvSpPr txBox="1"/>
          <p:nvPr/>
        </p:nvSpPr>
        <p:spPr>
          <a:xfrm>
            <a:off x="7807815" y="3717131"/>
            <a:ext cx="248984" cy="452438"/>
          </a:xfrm>
          <a:prstGeom prst="rect">
            <a:avLst/>
          </a:prstGeom>
          <a:noFill/>
        </p:spPr>
        <p:txBody>
          <a:bodyPr wrap="none" lIns="0" rIns="0" tIns="0" bIns="0" anchor="ctr">
            <a:spAutoFit/>
          </a:bodyPr>
          <a:lstStyle/>
          <a:p>
            <a:pPr algn="l">
              <a:lnSpc>
                <a:spcPct val="83300"/>
              </a:lnSpc>
            </a:pPr>
            <a:r>
              <a:rPr sz="2850" b="0" i="0">
                <a:solidFill>
                  <a:srgbClr val="F3F7FC"/>
                </a:solidFill>
                <a:latin typeface="Barlow"/>
              </a:rPr>
              <a:t>=</a:t>
            </a:r>
          </a:p>
        </p:txBody>
      </p:sp>
      <p:sp>
        <p:nvSpPr>
          <p:cNvPr id="57" name="TextBox 56"/>
          <p:cNvSpPr txBox="1"/>
          <p:nvPr/>
        </p:nvSpPr>
        <p:spPr>
          <a:xfrm>
            <a:off x="8075658" y="3717131"/>
            <a:ext cx="241727" cy="452438"/>
          </a:xfrm>
          <a:prstGeom prst="rect">
            <a:avLst/>
          </a:prstGeom>
          <a:noFill/>
        </p:spPr>
        <p:txBody>
          <a:bodyPr wrap="none" lIns="0" rIns="0" tIns="0" bIns="0" anchor="ctr">
            <a:spAutoFit/>
          </a:bodyPr>
          <a:lstStyle/>
          <a:p>
            <a:pPr algn="l">
              <a:lnSpc>
                <a:spcPct val="83300"/>
              </a:lnSpc>
            </a:pPr>
            <a:r>
              <a:rPr sz="2850" b="0" i="1">
                <a:solidFill>
                  <a:srgbClr val="F3F7FC"/>
                </a:solidFill>
                <a:latin typeface="Barlow"/>
              </a:rPr>
              <a:t>s</a:t>
            </a:r>
          </a:p>
        </p:txBody>
      </p:sp>
      <p:sp>
        <p:nvSpPr>
          <p:cNvPr id="58" name="TextBox 57"/>
          <p:cNvSpPr txBox="1"/>
          <p:nvPr/>
        </p:nvSpPr>
        <p:spPr>
          <a:xfrm>
            <a:off x="8259312" y="3911679"/>
            <a:ext cx="140468" cy="280511"/>
          </a:xfrm>
          <a:prstGeom prst="rect">
            <a:avLst/>
          </a:prstGeom>
          <a:noFill/>
        </p:spPr>
        <p:txBody>
          <a:bodyPr wrap="none" lIns="0" rIns="0" tIns="0" bIns="0" anchor="ctr">
            <a:spAutoFit/>
          </a:bodyPr>
          <a:lstStyle/>
          <a:p>
            <a:pPr algn="l">
              <a:lnSpc>
                <a:spcPct val="83300"/>
              </a:lnSpc>
            </a:pPr>
            <a:r>
              <a:rPr sz="1766" b="0" i="1">
                <a:solidFill>
                  <a:srgbClr val="F3F7FC"/>
                </a:solidFill>
                <a:latin typeface="Barlow"/>
              </a:rPr>
              <a:t>1</a:t>
            </a:r>
          </a:p>
        </p:txBody>
      </p:sp>
      <p:sp>
        <p:nvSpPr>
          <p:cNvPr id="59" name="TextBox 58"/>
          <p:cNvSpPr txBox="1"/>
          <p:nvPr/>
        </p:nvSpPr>
        <p:spPr>
          <a:xfrm>
            <a:off x="8434307" y="3717131"/>
            <a:ext cx="325654" cy="452438"/>
          </a:xfrm>
          <a:prstGeom prst="rect">
            <a:avLst/>
          </a:prstGeom>
          <a:noFill/>
        </p:spPr>
        <p:txBody>
          <a:bodyPr wrap="none" lIns="0" rIns="0" tIns="0" bIns="0" anchor="ctr">
            <a:spAutoFit/>
          </a:bodyPr>
          <a:lstStyle/>
          <a:p>
            <a:pPr algn="l">
              <a:lnSpc>
                <a:spcPct val="83300"/>
              </a:lnSpc>
            </a:pPr>
            <a:r>
              <a:rPr sz="2850" b="0" i="0">
                <a:solidFill>
                  <a:srgbClr val="F3F7FC"/>
                </a:solidFill>
                <a:latin typeface="Barlow"/>
              </a:rPr>
              <a:t> −</a:t>
            </a:r>
          </a:p>
        </p:txBody>
      </p:sp>
      <p:sp>
        <p:nvSpPr>
          <p:cNvPr id="60" name="TextBox 59"/>
          <p:cNvSpPr txBox="1"/>
          <p:nvPr/>
        </p:nvSpPr>
        <p:spPr>
          <a:xfrm>
            <a:off x="8774480" y="3717131"/>
            <a:ext cx="241727" cy="452438"/>
          </a:xfrm>
          <a:prstGeom prst="rect">
            <a:avLst/>
          </a:prstGeom>
          <a:noFill/>
        </p:spPr>
        <p:txBody>
          <a:bodyPr wrap="none" lIns="0" rIns="0" tIns="0" bIns="0" anchor="ctr">
            <a:spAutoFit/>
          </a:bodyPr>
          <a:lstStyle/>
          <a:p>
            <a:pPr algn="l">
              <a:lnSpc>
                <a:spcPct val="83300"/>
              </a:lnSpc>
            </a:pPr>
            <a:r>
              <a:rPr sz="2850" b="0" i="1">
                <a:solidFill>
                  <a:srgbClr val="F3F7FC"/>
                </a:solidFill>
                <a:latin typeface="Barlow"/>
              </a:rPr>
              <a:t>s</a:t>
            </a:r>
          </a:p>
        </p:txBody>
      </p:sp>
      <p:sp>
        <p:nvSpPr>
          <p:cNvPr id="61" name="TextBox 60"/>
          <p:cNvSpPr txBox="1"/>
          <p:nvPr/>
        </p:nvSpPr>
        <p:spPr>
          <a:xfrm>
            <a:off x="8958134" y="3911679"/>
            <a:ext cx="184604" cy="280511"/>
          </a:xfrm>
          <a:prstGeom prst="rect">
            <a:avLst/>
          </a:prstGeom>
          <a:noFill/>
        </p:spPr>
        <p:txBody>
          <a:bodyPr wrap="none" lIns="0" rIns="0" tIns="0" bIns="0" anchor="ctr">
            <a:spAutoFit/>
          </a:bodyPr>
          <a:lstStyle/>
          <a:p>
            <a:pPr algn="l">
              <a:lnSpc>
                <a:spcPct val="83300"/>
              </a:lnSpc>
            </a:pPr>
            <a:r>
              <a:rPr sz="1766" b="0" i="1">
                <a:solidFill>
                  <a:srgbClr val="F3F7FC"/>
                </a:solidFill>
                <a:latin typeface="Barlow"/>
              </a:rPr>
              <a:t>2</a:t>
            </a:r>
          </a:p>
        </p:txBody>
      </p:sp>
      <p:sp>
        <p:nvSpPr>
          <p:cNvPr id="62" name="TextBox 61"/>
          <p:cNvSpPr txBox="1"/>
          <p:nvPr/>
        </p:nvSpPr>
        <p:spPr>
          <a:xfrm>
            <a:off x="9449849" y="3524250"/>
            <a:ext cx="2399251" cy="8763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score del 1.º menos score del 2.º candidato</a:t>
            </a:r>
          </a:p>
        </p:txBody>
      </p:sp>
      <p:sp>
        <p:nvSpPr>
          <p:cNvPr id="63" name="TextBox 62"/>
          <p:cNvSpPr txBox="1"/>
          <p:nvPr/>
        </p:nvSpPr>
        <p:spPr>
          <a:xfrm>
            <a:off x="6172200" y="4591050"/>
            <a:ext cx="59436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LOS CUATRO ERRORES DE RANKING MÁS GRAVES</a:t>
            </a:r>
          </a:p>
        </p:txBody>
      </p:sp>
      <p:sp>
        <p:nvSpPr>
          <p:cNvPr id="64" name="TextBox 63"/>
          <p:cNvSpPr txBox="1"/>
          <p:nvPr/>
        </p:nvSpPr>
        <p:spPr>
          <a:xfrm>
            <a:off x="6172200" y="4991100"/>
            <a:ext cx="1314450" cy="266700"/>
          </a:xfrm>
          <a:prstGeom prst="rect">
            <a:avLst/>
          </a:prstGeom>
          <a:noFill/>
        </p:spPr>
        <p:txBody>
          <a:bodyPr wrap="square" lIns="0" rIns="0" tIns="0" bIns="0" anchor="ctr">
            <a:spAutoFit/>
          </a:bodyPr>
          <a:lstStyle/>
          <a:p>
            <a:pPr algn="l">
              <a:lnSpc>
                <a:spcPct val="83300"/>
              </a:lnSpc>
            </a:pPr>
            <a:r>
              <a:rPr sz="1500" b="0" i="0">
                <a:solidFill>
                  <a:srgbClr val="FFD21F"/>
                </a:solidFill>
                <a:latin typeface="Roboto Mono"/>
              </a:rPr>
              <a:t>SCF091/46</a:t>
            </a:r>
          </a:p>
        </p:txBody>
      </p:sp>
      <p:sp>
        <p:nvSpPr>
          <p:cNvPr id="65" name="TextBox 64"/>
          <p:cNvSpPr txBox="1"/>
          <p:nvPr/>
        </p:nvSpPr>
        <p:spPr>
          <a:xfrm>
            <a:off x="7277100" y="4991100"/>
            <a:ext cx="732086"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eligió</a:t>
            </a:r>
          </a:p>
        </p:txBody>
      </p:sp>
      <p:sp>
        <p:nvSpPr>
          <p:cNvPr id="66" name="TextBox 65"/>
          <p:cNvSpPr txBox="1"/>
          <p:nvPr/>
        </p:nvSpPr>
        <p:spPr>
          <a:xfrm>
            <a:off x="7799636" y="4991100"/>
            <a:ext cx="1314450" cy="266700"/>
          </a:xfrm>
          <a:prstGeom prst="rect">
            <a:avLst/>
          </a:prstGeom>
          <a:noFill/>
        </p:spPr>
        <p:txBody>
          <a:bodyPr wrap="square" lIns="0" rIns="0" tIns="0" bIns="0" anchor="ctr">
            <a:spAutoFit/>
          </a:bodyPr>
          <a:lstStyle/>
          <a:p>
            <a:pPr algn="l">
              <a:lnSpc>
                <a:spcPct val="83300"/>
              </a:lnSpc>
            </a:pPr>
            <a:r>
              <a:rPr sz="1500" b="0" i="0">
                <a:solidFill>
                  <a:srgbClr val="E0566B"/>
                </a:solidFill>
                <a:latin typeface="Roboto Mono"/>
              </a:rPr>
              <a:t>SCF227/22</a:t>
            </a:r>
          </a:p>
        </p:txBody>
      </p:sp>
      <p:sp>
        <p:nvSpPr>
          <p:cNvPr id="67" name="TextBox 66"/>
          <p:cNvSpPr txBox="1"/>
          <p:nvPr/>
        </p:nvSpPr>
        <p:spPr>
          <a:xfrm>
            <a:off x="10306050" y="4991100"/>
            <a:ext cx="1809750" cy="266700"/>
          </a:xfrm>
          <a:prstGeom prst="rect">
            <a:avLst/>
          </a:prstGeom>
          <a:noFill/>
        </p:spPr>
        <p:txBody>
          <a:bodyPr wrap="square" lIns="0" rIns="0" tIns="0" bIns="0" anchor="ctr">
            <a:spAutoFit/>
          </a:bodyPr>
          <a:lstStyle/>
          <a:p>
            <a:pPr algn="r">
              <a:lnSpc>
                <a:spcPct val="100000"/>
              </a:lnSpc>
            </a:pPr>
            <a:r>
              <a:rPr sz="1500" b="0" i="0">
                <a:solidFill>
                  <a:srgbClr val="9FB4CC"/>
                </a:solidFill>
                <a:latin typeface="Barlow"/>
              </a:rPr>
              <a:t>score 0,99931</a:t>
            </a:r>
          </a:p>
        </p:txBody>
      </p:sp>
      <p:sp>
        <p:nvSpPr>
          <p:cNvPr id="68" name="Rectangle 67"/>
          <p:cNvSpPr/>
          <p:nvPr/>
        </p:nvSpPr>
        <p:spPr>
          <a:xfrm>
            <a:off x="6172200" y="5353050"/>
            <a:ext cx="4191000" cy="1714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172200" y="5324475"/>
            <a:ext cx="28575" cy="2286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0515600" y="5257800"/>
            <a:ext cx="1600200" cy="361950"/>
          </a:xfrm>
          <a:prstGeom prst="rect">
            <a:avLst/>
          </a:prstGeom>
          <a:noFill/>
        </p:spPr>
        <p:txBody>
          <a:bodyPr wrap="square" lIns="0" rIns="0" tIns="0" bIns="0" anchor="ctr">
            <a:spAutoFit/>
          </a:bodyPr>
          <a:lstStyle/>
          <a:p>
            <a:pPr algn="r">
              <a:lnSpc>
                <a:spcPct val="100000"/>
              </a:lnSpc>
            </a:pPr>
            <a:r>
              <a:rPr sz="1950" b="1" i="0">
                <a:solidFill>
                  <a:srgbClr val="E0566B"/>
                </a:solidFill>
                <a:latin typeface="Montserrat"/>
              </a:rPr>
              <a:t>0,0000000</a:t>
            </a:r>
          </a:p>
        </p:txBody>
      </p:sp>
      <p:sp>
        <p:nvSpPr>
          <p:cNvPr id="71" name="TextBox 70"/>
          <p:cNvSpPr txBox="1"/>
          <p:nvPr/>
        </p:nvSpPr>
        <p:spPr>
          <a:xfrm>
            <a:off x="6172200" y="5753100"/>
            <a:ext cx="1771650" cy="266700"/>
          </a:xfrm>
          <a:prstGeom prst="rect">
            <a:avLst/>
          </a:prstGeom>
          <a:noFill/>
        </p:spPr>
        <p:txBody>
          <a:bodyPr wrap="square" lIns="0" rIns="0" tIns="0" bIns="0" anchor="ctr">
            <a:spAutoFit/>
          </a:bodyPr>
          <a:lstStyle/>
          <a:p>
            <a:pPr algn="l">
              <a:lnSpc>
                <a:spcPct val="83300"/>
              </a:lnSpc>
            </a:pPr>
            <a:r>
              <a:rPr sz="1500" b="0" i="0">
                <a:solidFill>
                  <a:srgbClr val="FFD21F"/>
                </a:solidFill>
                <a:latin typeface="Roboto Mono"/>
              </a:rPr>
              <a:t>27M2N3200S/00</a:t>
            </a:r>
          </a:p>
        </p:txBody>
      </p:sp>
      <p:sp>
        <p:nvSpPr>
          <p:cNvPr id="72" name="TextBox 71"/>
          <p:cNvSpPr txBox="1"/>
          <p:nvPr/>
        </p:nvSpPr>
        <p:spPr>
          <a:xfrm>
            <a:off x="7734300" y="5753100"/>
            <a:ext cx="732086"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eligió</a:t>
            </a:r>
          </a:p>
        </p:txBody>
      </p:sp>
      <p:sp>
        <p:nvSpPr>
          <p:cNvPr id="73" name="TextBox 72"/>
          <p:cNvSpPr txBox="1"/>
          <p:nvPr/>
        </p:nvSpPr>
        <p:spPr>
          <a:xfrm>
            <a:off x="8256836" y="5753100"/>
            <a:ext cx="1771650" cy="266700"/>
          </a:xfrm>
          <a:prstGeom prst="rect">
            <a:avLst/>
          </a:prstGeom>
          <a:noFill/>
        </p:spPr>
        <p:txBody>
          <a:bodyPr wrap="square" lIns="0" rIns="0" tIns="0" bIns="0" anchor="ctr">
            <a:spAutoFit/>
          </a:bodyPr>
          <a:lstStyle/>
          <a:p>
            <a:pPr algn="l">
              <a:lnSpc>
                <a:spcPct val="83300"/>
              </a:lnSpc>
            </a:pPr>
            <a:r>
              <a:rPr sz="1500" b="0" i="0">
                <a:solidFill>
                  <a:srgbClr val="E0566B"/>
                </a:solidFill>
                <a:latin typeface="Roboto Mono"/>
              </a:rPr>
              <a:t>27M2N3200A/00</a:t>
            </a:r>
          </a:p>
        </p:txBody>
      </p:sp>
      <p:sp>
        <p:nvSpPr>
          <p:cNvPr id="74" name="TextBox 73"/>
          <p:cNvSpPr txBox="1"/>
          <p:nvPr/>
        </p:nvSpPr>
        <p:spPr>
          <a:xfrm>
            <a:off x="10306050" y="5753100"/>
            <a:ext cx="1809750" cy="266700"/>
          </a:xfrm>
          <a:prstGeom prst="rect">
            <a:avLst/>
          </a:prstGeom>
          <a:noFill/>
        </p:spPr>
        <p:txBody>
          <a:bodyPr wrap="square" lIns="0" rIns="0" tIns="0" bIns="0" anchor="ctr">
            <a:spAutoFit/>
          </a:bodyPr>
          <a:lstStyle/>
          <a:p>
            <a:pPr algn="r">
              <a:lnSpc>
                <a:spcPct val="100000"/>
              </a:lnSpc>
            </a:pPr>
            <a:r>
              <a:rPr sz="1500" b="0" i="0">
                <a:solidFill>
                  <a:srgbClr val="9FB4CC"/>
                </a:solidFill>
                <a:latin typeface="Barlow"/>
              </a:rPr>
              <a:t>score 0,99973</a:t>
            </a:r>
          </a:p>
        </p:txBody>
      </p:sp>
      <p:sp>
        <p:nvSpPr>
          <p:cNvPr id="75" name="Rectangle 74"/>
          <p:cNvSpPr/>
          <p:nvPr/>
        </p:nvSpPr>
        <p:spPr>
          <a:xfrm>
            <a:off x="6172200" y="6115050"/>
            <a:ext cx="4191000" cy="1714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6172200" y="6115050"/>
            <a:ext cx="58674" cy="1714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0515600" y="6019800"/>
            <a:ext cx="1600200" cy="361950"/>
          </a:xfrm>
          <a:prstGeom prst="rect">
            <a:avLst/>
          </a:prstGeom>
          <a:noFill/>
        </p:spPr>
        <p:txBody>
          <a:bodyPr wrap="square" lIns="0" rIns="0" tIns="0" bIns="0" anchor="ctr">
            <a:spAutoFit/>
          </a:bodyPr>
          <a:lstStyle/>
          <a:p>
            <a:pPr algn="r">
              <a:lnSpc>
                <a:spcPct val="100000"/>
              </a:lnSpc>
            </a:pPr>
            <a:r>
              <a:rPr sz="1950" b="1" i="0">
                <a:solidFill>
                  <a:srgbClr val="E0566B"/>
                </a:solidFill>
                <a:latin typeface="Montserrat"/>
              </a:rPr>
              <a:t>0,0000021</a:t>
            </a:r>
          </a:p>
        </p:txBody>
      </p:sp>
      <p:sp>
        <p:nvSpPr>
          <p:cNvPr id="78" name="TextBox 77"/>
          <p:cNvSpPr txBox="1"/>
          <p:nvPr/>
        </p:nvSpPr>
        <p:spPr>
          <a:xfrm>
            <a:off x="6172200" y="6515100"/>
            <a:ext cx="1771650" cy="266700"/>
          </a:xfrm>
          <a:prstGeom prst="rect">
            <a:avLst/>
          </a:prstGeom>
          <a:noFill/>
        </p:spPr>
        <p:txBody>
          <a:bodyPr wrap="square" lIns="0" rIns="0" tIns="0" bIns="0" anchor="ctr">
            <a:spAutoFit/>
          </a:bodyPr>
          <a:lstStyle/>
          <a:p>
            <a:pPr algn="l">
              <a:lnSpc>
                <a:spcPct val="83300"/>
              </a:lnSpc>
            </a:pPr>
            <a:r>
              <a:rPr sz="1500" b="0" i="0">
                <a:solidFill>
                  <a:srgbClr val="FFD21F"/>
                </a:solidFill>
                <a:latin typeface="Roboto Mono"/>
              </a:rPr>
              <a:t>25M2N3200U/00</a:t>
            </a:r>
          </a:p>
        </p:txBody>
      </p:sp>
      <p:sp>
        <p:nvSpPr>
          <p:cNvPr id="79" name="TextBox 78"/>
          <p:cNvSpPr txBox="1"/>
          <p:nvPr/>
        </p:nvSpPr>
        <p:spPr>
          <a:xfrm>
            <a:off x="7734300" y="6515100"/>
            <a:ext cx="732086"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eligió</a:t>
            </a:r>
          </a:p>
        </p:txBody>
      </p:sp>
      <p:sp>
        <p:nvSpPr>
          <p:cNvPr id="80" name="TextBox 79"/>
          <p:cNvSpPr txBox="1"/>
          <p:nvPr/>
        </p:nvSpPr>
        <p:spPr>
          <a:xfrm>
            <a:off x="8256836" y="6515100"/>
            <a:ext cx="1771650" cy="266700"/>
          </a:xfrm>
          <a:prstGeom prst="rect">
            <a:avLst/>
          </a:prstGeom>
          <a:noFill/>
        </p:spPr>
        <p:txBody>
          <a:bodyPr wrap="square" lIns="0" rIns="0" tIns="0" bIns="0" anchor="ctr">
            <a:spAutoFit/>
          </a:bodyPr>
          <a:lstStyle/>
          <a:p>
            <a:pPr algn="l">
              <a:lnSpc>
                <a:spcPct val="83300"/>
              </a:lnSpc>
            </a:pPr>
            <a:r>
              <a:rPr sz="1500" b="0" i="0">
                <a:solidFill>
                  <a:srgbClr val="E0566B"/>
                </a:solidFill>
                <a:latin typeface="Roboto Mono"/>
              </a:rPr>
              <a:t>25M2N3200W/00</a:t>
            </a:r>
          </a:p>
        </p:txBody>
      </p:sp>
      <p:sp>
        <p:nvSpPr>
          <p:cNvPr id="81" name="TextBox 80"/>
          <p:cNvSpPr txBox="1"/>
          <p:nvPr/>
        </p:nvSpPr>
        <p:spPr>
          <a:xfrm>
            <a:off x="10306050" y="6515100"/>
            <a:ext cx="1809750" cy="266700"/>
          </a:xfrm>
          <a:prstGeom prst="rect">
            <a:avLst/>
          </a:prstGeom>
          <a:noFill/>
        </p:spPr>
        <p:txBody>
          <a:bodyPr wrap="square" lIns="0" rIns="0" tIns="0" bIns="0" anchor="ctr">
            <a:spAutoFit/>
          </a:bodyPr>
          <a:lstStyle/>
          <a:p>
            <a:pPr algn="r">
              <a:lnSpc>
                <a:spcPct val="100000"/>
              </a:lnSpc>
            </a:pPr>
            <a:r>
              <a:rPr sz="1500" b="0" i="0">
                <a:solidFill>
                  <a:srgbClr val="9FB4CC"/>
                </a:solidFill>
                <a:latin typeface="Barlow"/>
              </a:rPr>
              <a:t>score 0,99970</a:t>
            </a:r>
          </a:p>
        </p:txBody>
      </p:sp>
      <p:sp>
        <p:nvSpPr>
          <p:cNvPr id="82" name="Rectangle 81"/>
          <p:cNvSpPr/>
          <p:nvPr/>
        </p:nvSpPr>
        <p:spPr>
          <a:xfrm>
            <a:off x="6172200" y="6877050"/>
            <a:ext cx="4191000" cy="1714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6172200" y="6877050"/>
            <a:ext cx="195580" cy="1714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0515600" y="6781800"/>
            <a:ext cx="1600200" cy="361950"/>
          </a:xfrm>
          <a:prstGeom prst="rect">
            <a:avLst/>
          </a:prstGeom>
          <a:noFill/>
        </p:spPr>
        <p:txBody>
          <a:bodyPr wrap="square" lIns="0" rIns="0" tIns="0" bIns="0" anchor="ctr">
            <a:spAutoFit/>
          </a:bodyPr>
          <a:lstStyle/>
          <a:p>
            <a:pPr algn="r">
              <a:lnSpc>
                <a:spcPct val="100000"/>
              </a:lnSpc>
            </a:pPr>
            <a:r>
              <a:rPr sz="1950" b="1" i="0">
                <a:solidFill>
                  <a:srgbClr val="E0566B"/>
                </a:solidFill>
                <a:latin typeface="Montserrat"/>
              </a:rPr>
              <a:t>0,0000070</a:t>
            </a:r>
          </a:p>
        </p:txBody>
      </p:sp>
      <p:sp>
        <p:nvSpPr>
          <p:cNvPr id="85" name="TextBox 84"/>
          <p:cNvSpPr txBox="1"/>
          <p:nvPr/>
        </p:nvSpPr>
        <p:spPr>
          <a:xfrm>
            <a:off x="6172200" y="7277100"/>
            <a:ext cx="1314450" cy="266700"/>
          </a:xfrm>
          <a:prstGeom prst="rect">
            <a:avLst/>
          </a:prstGeom>
          <a:noFill/>
        </p:spPr>
        <p:txBody>
          <a:bodyPr wrap="square" lIns="0" rIns="0" tIns="0" bIns="0" anchor="ctr">
            <a:spAutoFit/>
          </a:bodyPr>
          <a:lstStyle/>
          <a:p>
            <a:pPr algn="l">
              <a:lnSpc>
                <a:spcPct val="83300"/>
              </a:lnSpc>
            </a:pPr>
            <a:r>
              <a:rPr sz="1500" b="0" i="0">
                <a:solidFill>
                  <a:srgbClr val="FFD21F"/>
                </a:solidFill>
                <a:latin typeface="Roboto Mono"/>
              </a:rPr>
              <a:t>SCF080/24</a:t>
            </a:r>
          </a:p>
        </p:txBody>
      </p:sp>
      <p:sp>
        <p:nvSpPr>
          <p:cNvPr id="86" name="TextBox 85"/>
          <p:cNvSpPr txBox="1"/>
          <p:nvPr/>
        </p:nvSpPr>
        <p:spPr>
          <a:xfrm>
            <a:off x="7277100" y="7277100"/>
            <a:ext cx="732086" cy="2667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eligió</a:t>
            </a:r>
          </a:p>
        </p:txBody>
      </p:sp>
      <p:sp>
        <p:nvSpPr>
          <p:cNvPr id="87" name="TextBox 86"/>
          <p:cNvSpPr txBox="1"/>
          <p:nvPr/>
        </p:nvSpPr>
        <p:spPr>
          <a:xfrm>
            <a:off x="7799636" y="7277100"/>
            <a:ext cx="1314450" cy="266700"/>
          </a:xfrm>
          <a:prstGeom prst="rect">
            <a:avLst/>
          </a:prstGeom>
          <a:noFill/>
        </p:spPr>
        <p:txBody>
          <a:bodyPr wrap="square" lIns="0" rIns="0" tIns="0" bIns="0" anchor="ctr">
            <a:spAutoFit/>
          </a:bodyPr>
          <a:lstStyle/>
          <a:p>
            <a:pPr algn="l">
              <a:lnSpc>
                <a:spcPct val="83300"/>
              </a:lnSpc>
            </a:pPr>
            <a:r>
              <a:rPr sz="1500" b="0" i="0">
                <a:solidFill>
                  <a:srgbClr val="E0566B"/>
                </a:solidFill>
                <a:latin typeface="Roboto Mono"/>
              </a:rPr>
              <a:t>SCF080/08</a:t>
            </a:r>
          </a:p>
        </p:txBody>
      </p:sp>
      <p:sp>
        <p:nvSpPr>
          <p:cNvPr id="88" name="TextBox 87"/>
          <p:cNvSpPr txBox="1"/>
          <p:nvPr/>
        </p:nvSpPr>
        <p:spPr>
          <a:xfrm>
            <a:off x="10306050" y="7277100"/>
            <a:ext cx="1809750" cy="266700"/>
          </a:xfrm>
          <a:prstGeom prst="rect">
            <a:avLst/>
          </a:prstGeom>
          <a:noFill/>
        </p:spPr>
        <p:txBody>
          <a:bodyPr wrap="square" lIns="0" rIns="0" tIns="0" bIns="0" anchor="ctr">
            <a:spAutoFit/>
          </a:bodyPr>
          <a:lstStyle/>
          <a:p>
            <a:pPr algn="r">
              <a:lnSpc>
                <a:spcPct val="100000"/>
              </a:lnSpc>
            </a:pPr>
            <a:r>
              <a:rPr sz="1500" b="0" i="0">
                <a:solidFill>
                  <a:srgbClr val="9FB4CC"/>
                </a:solidFill>
                <a:latin typeface="Barlow"/>
              </a:rPr>
              <a:t>score 0,99812</a:t>
            </a:r>
          </a:p>
        </p:txBody>
      </p:sp>
      <p:sp>
        <p:nvSpPr>
          <p:cNvPr id="89" name="Rectangle 88"/>
          <p:cNvSpPr/>
          <p:nvPr/>
        </p:nvSpPr>
        <p:spPr>
          <a:xfrm>
            <a:off x="6172200" y="7639050"/>
            <a:ext cx="4191000" cy="1714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6172200" y="7639050"/>
            <a:ext cx="206756" cy="1714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0515600" y="7543800"/>
            <a:ext cx="1600200" cy="361950"/>
          </a:xfrm>
          <a:prstGeom prst="rect">
            <a:avLst/>
          </a:prstGeom>
          <a:noFill/>
        </p:spPr>
        <p:txBody>
          <a:bodyPr wrap="square" lIns="0" rIns="0" tIns="0" bIns="0" anchor="ctr">
            <a:spAutoFit/>
          </a:bodyPr>
          <a:lstStyle/>
          <a:p>
            <a:pPr algn="r">
              <a:lnSpc>
                <a:spcPct val="100000"/>
              </a:lnSpc>
            </a:pPr>
            <a:r>
              <a:rPr sz="1950" b="1" i="0">
                <a:solidFill>
                  <a:srgbClr val="E0566B"/>
                </a:solidFill>
                <a:latin typeface="Montserrat"/>
              </a:rPr>
              <a:t>0,0000074</a:t>
            </a:r>
          </a:p>
        </p:txBody>
      </p:sp>
      <p:sp>
        <p:nvSpPr>
          <p:cNvPr id="92" name="Rectangle 91"/>
          <p:cNvSpPr/>
          <p:nvPr/>
        </p:nvSpPr>
        <p:spPr>
          <a:xfrm>
            <a:off x="6172200" y="7962900"/>
            <a:ext cx="5943600" cy="14288"/>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6172200" y="8115300"/>
            <a:ext cx="4191000" cy="266700"/>
          </a:xfrm>
          <a:prstGeom prst="rect">
            <a:avLst/>
          </a:prstGeom>
          <a:noFill/>
        </p:spPr>
        <p:txBody>
          <a:bodyPr wrap="square" lIns="0" rIns="0" tIns="0" bIns="0" anchor="ctr">
            <a:spAutoFit/>
          </a:bodyPr>
          <a:lstStyle/>
          <a:p>
            <a:pPr algn="l">
              <a:lnSpc>
                <a:spcPct val="100000"/>
              </a:lnSpc>
            </a:pPr>
            <a:r>
              <a:rPr sz="1500" b="1" i="0">
                <a:solidFill>
                  <a:srgbClr val="FFD21F"/>
                </a:solidFill>
                <a:latin typeface="Barlow"/>
              </a:rPr>
              <a:t>Umbral: margen mínimo para decidir sin humano</a:t>
            </a:r>
          </a:p>
        </p:txBody>
      </p:sp>
      <p:sp>
        <p:nvSpPr>
          <p:cNvPr id="94" name="Rectangle 93"/>
          <p:cNvSpPr/>
          <p:nvPr/>
        </p:nvSpPr>
        <p:spPr>
          <a:xfrm>
            <a:off x="6172200" y="8477250"/>
            <a:ext cx="4191000" cy="1714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6172200" y="8477250"/>
            <a:ext cx="419100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10515600" y="8382000"/>
            <a:ext cx="1600200" cy="361950"/>
          </a:xfrm>
          <a:prstGeom prst="rect">
            <a:avLst/>
          </a:prstGeom>
          <a:noFill/>
        </p:spPr>
        <p:txBody>
          <a:bodyPr wrap="square" lIns="0" rIns="0" tIns="0" bIns="0" anchor="ctr">
            <a:spAutoFit/>
          </a:bodyPr>
          <a:lstStyle/>
          <a:p>
            <a:pPr algn="r">
              <a:lnSpc>
                <a:spcPct val="100000"/>
              </a:lnSpc>
            </a:pPr>
            <a:r>
              <a:rPr sz="1950" b="1" i="0">
                <a:solidFill>
                  <a:srgbClr val="FFD21F"/>
                </a:solidFill>
                <a:latin typeface="Montserrat"/>
              </a:rPr>
              <a:t>0,0001500</a:t>
            </a:r>
          </a:p>
        </p:txBody>
      </p:sp>
      <p:sp>
        <p:nvSpPr>
          <p:cNvPr id="97" name="Rounded Rectangle 96"/>
          <p:cNvSpPr/>
          <p:nvPr/>
        </p:nvSpPr>
        <p:spPr>
          <a:xfrm>
            <a:off x="6172200" y="8972550"/>
            <a:ext cx="1476256"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6172200" y="8972550"/>
            <a:ext cx="1476256" cy="34290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A REVISIÓN</a:t>
            </a:r>
          </a:p>
        </p:txBody>
      </p:sp>
      <p:sp>
        <p:nvSpPr>
          <p:cNvPr id="99" name="TextBox 98"/>
          <p:cNvSpPr txBox="1"/>
          <p:nvPr/>
        </p:nvSpPr>
        <p:spPr>
          <a:xfrm>
            <a:off x="7819906" y="8877300"/>
            <a:ext cx="4295894" cy="590550"/>
          </a:xfrm>
          <a:prstGeom prst="rect">
            <a:avLst/>
          </a:prstGeom>
          <a:noFill/>
        </p:spPr>
        <p:txBody>
          <a:bodyPr wrap="square" lIns="0" rIns="0" tIns="0" bIns="0" anchor="t">
            <a:spAutoFit/>
          </a:bodyPr>
          <a:lstStyle/>
          <a:p>
            <a:pPr algn="l">
              <a:lnSpc>
                <a:spcPct val="104200"/>
              </a:lnSpc>
            </a:pPr>
            <a:r>
              <a:rPr sz="1650" b="0" i="0">
                <a:solidFill>
                  <a:srgbClr val="F3F7FC"/>
                </a:solidFill>
                <a:latin typeface="Barlow"/>
              </a:rPr>
              <a:t>El score no avisa —todos pasan de 0,998—, el margen sí: la compuerta exige score y margen.</a:t>
            </a:r>
          </a:p>
        </p:txBody>
      </p:sp>
      <p:sp>
        <p:nvSpPr>
          <p:cNvPr id="100" name="Rectangle 99"/>
          <p:cNvSpPr/>
          <p:nvPr/>
        </p:nvSpPr>
        <p:spPr>
          <a:xfrm>
            <a:off x="12801600" y="2686050"/>
            <a:ext cx="4572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2801600" y="2686050"/>
            <a:ext cx="4572000"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ounded Rectangle 101"/>
          <p:cNvSpPr/>
          <p:nvPr/>
        </p:nvSpPr>
        <p:spPr>
          <a:xfrm>
            <a:off x="13030200" y="2914650"/>
            <a:ext cx="381000" cy="381000"/>
          </a:xfrm>
          <a:prstGeom prst="roundRect">
            <a:avLst>
              <a:gd name="adj" fmla="val 10000"/>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3030200" y="2914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3</a:t>
            </a:r>
          </a:p>
        </p:txBody>
      </p:sp>
      <p:sp>
        <p:nvSpPr>
          <p:cNvPr id="104" name="TextBox 103"/>
          <p:cNvSpPr txBox="1"/>
          <p:nvPr/>
        </p:nvSpPr>
        <p:spPr>
          <a:xfrm>
            <a:off x="13563600" y="2914650"/>
            <a:ext cx="358140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Lo que sobrevive</a:t>
            </a:r>
          </a:p>
        </p:txBody>
      </p:sp>
      <p:sp>
        <p:nvSpPr>
          <p:cNvPr id="105" name="TextBox 104"/>
          <p:cNvSpPr txBox="1"/>
          <p:nvPr/>
        </p:nvSpPr>
        <p:spPr>
          <a:xfrm>
            <a:off x="13030200" y="3486150"/>
            <a:ext cx="4114800" cy="609600"/>
          </a:xfrm>
          <a:prstGeom prst="rect">
            <a:avLst/>
          </a:prstGeom>
          <a:noFill/>
        </p:spPr>
        <p:txBody>
          <a:bodyPr wrap="square" lIns="0" rIns="0" tIns="0" bIns="0" anchor="ctr">
            <a:spAutoFit/>
          </a:bodyPr>
          <a:lstStyle/>
          <a:p>
            <a:pPr algn="l">
              <a:lnSpc>
                <a:spcPct val="83300"/>
              </a:lnSpc>
            </a:pPr>
            <a:r>
              <a:rPr sz="4050" b="1" i="0">
                <a:solidFill>
                  <a:srgbClr val="E0566B"/>
                </a:solidFill>
                <a:latin typeface="Montserrat"/>
              </a:rPr>
              <a:t>4</a:t>
            </a:r>
            <a:r>
              <a:rPr sz="4050" b="1" i="0">
                <a:solidFill>
                  <a:srgbClr val="F3F7FC"/>
                </a:solidFill>
                <a:latin typeface="Montserrat"/>
              </a:rPr>
              <a:t> de 113</a:t>
            </a:r>
          </a:p>
        </p:txBody>
      </p:sp>
      <p:sp>
        <p:nvSpPr>
          <p:cNvPr id="106" name="TextBox 105"/>
          <p:cNvSpPr txBox="1"/>
          <p:nvPr/>
        </p:nvSpPr>
        <p:spPr>
          <a:xfrm>
            <a:off x="13030200" y="4114800"/>
            <a:ext cx="4114800"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negativos del test cruzan el umbral 0,998844</a:t>
            </a:r>
          </a:p>
        </p:txBody>
      </p:sp>
      <p:sp>
        <p:nvSpPr>
          <p:cNvPr id="107" name="Rectangle 106"/>
          <p:cNvSpPr/>
          <p:nvPr/>
        </p:nvSpPr>
        <p:spPr>
          <a:xfrm>
            <a:off x="13030200" y="4457700"/>
            <a:ext cx="41148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13030200" y="4572000"/>
            <a:ext cx="2496949" cy="304800"/>
          </a:xfrm>
          <a:prstGeom prst="roundRect">
            <a:avLst>
              <a:gd name="adj" fmla="val 125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3030200" y="4572000"/>
            <a:ext cx="2496949" cy="3048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CONFLICTO DE SUFIJO</a:t>
            </a:r>
          </a:p>
        </p:txBody>
      </p:sp>
      <p:sp>
        <p:nvSpPr>
          <p:cNvPr id="110" name="TextBox 109"/>
          <p:cNvSpPr txBox="1"/>
          <p:nvPr/>
        </p:nvSpPr>
        <p:spPr>
          <a:xfrm>
            <a:off x="15811500" y="4572000"/>
            <a:ext cx="1333500" cy="304800"/>
          </a:xfrm>
          <a:prstGeom prst="rect">
            <a:avLst/>
          </a:prstGeom>
          <a:noFill/>
        </p:spPr>
        <p:txBody>
          <a:bodyPr wrap="square" lIns="0" rIns="0" tIns="0" bIns="0" anchor="ctr">
            <a:spAutoFit/>
          </a:bodyPr>
          <a:lstStyle/>
          <a:p>
            <a:pPr algn="r">
              <a:lnSpc>
                <a:spcPct val="100000"/>
              </a:lnSpc>
            </a:pPr>
            <a:r>
              <a:rPr sz="1500" b="1" i="0">
                <a:solidFill>
                  <a:srgbClr val="E0566B"/>
                </a:solidFill>
                <a:latin typeface="Montserrat"/>
              </a:rPr>
              <a:t>0,9990564</a:t>
            </a:r>
          </a:p>
        </p:txBody>
      </p:sp>
      <p:sp>
        <p:nvSpPr>
          <p:cNvPr id="111" name="TextBox 110"/>
          <p:cNvSpPr txBox="1"/>
          <p:nvPr/>
        </p:nvSpPr>
        <p:spPr>
          <a:xfrm>
            <a:off x="13030200" y="4933950"/>
            <a:ext cx="4210050" cy="266700"/>
          </a:xfrm>
          <a:prstGeom prst="rect">
            <a:avLst/>
          </a:prstGeom>
          <a:noFill/>
        </p:spPr>
        <p:txBody>
          <a:bodyPr wrap="square" lIns="0" rIns="0" tIns="0" bIns="0" anchor="ctr">
            <a:spAutoFit/>
          </a:bodyPr>
          <a:lstStyle/>
          <a:p>
            <a:pPr algn="l">
              <a:lnSpc>
                <a:spcPct val="100000"/>
              </a:lnSpc>
            </a:pPr>
            <a:r>
              <a:rPr sz="1425" b="0" i="0">
                <a:solidFill>
                  <a:srgbClr val="FFD21F"/>
                </a:solidFill>
                <a:latin typeface="Roboto Mono"/>
              </a:rPr>
              <a:t>… 221v8/00 fhd va 75hz 221v8/00/01</a:t>
            </a:r>
          </a:p>
        </p:txBody>
      </p:sp>
      <p:sp>
        <p:nvSpPr>
          <p:cNvPr id="112" name="TextBox 111"/>
          <p:cNvSpPr txBox="1"/>
          <p:nvPr/>
        </p:nvSpPr>
        <p:spPr>
          <a:xfrm>
            <a:off x="13030200" y="5219700"/>
            <a:ext cx="4114800" cy="2667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dos códigos en un mismo título</a:t>
            </a:r>
          </a:p>
        </p:txBody>
      </p:sp>
      <p:sp>
        <p:nvSpPr>
          <p:cNvPr id="113" name="Rectangle 112"/>
          <p:cNvSpPr/>
          <p:nvPr/>
        </p:nvSpPr>
        <p:spPr>
          <a:xfrm>
            <a:off x="13030200" y="5562600"/>
            <a:ext cx="41148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ounded Rectangle 113"/>
          <p:cNvSpPr/>
          <p:nvPr/>
        </p:nvSpPr>
        <p:spPr>
          <a:xfrm>
            <a:off x="13030200" y="5676900"/>
            <a:ext cx="1959054" cy="304800"/>
          </a:xfrm>
          <a:prstGeom prst="roundRect">
            <a:avLst>
              <a:gd name="adj" fmla="val 125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13030200" y="5676900"/>
            <a:ext cx="1959054" cy="3048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SUFIJO DISTINTO</a:t>
            </a:r>
          </a:p>
        </p:txBody>
      </p:sp>
      <p:sp>
        <p:nvSpPr>
          <p:cNvPr id="116" name="TextBox 115"/>
          <p:cNvSpPr txBox="1"/>
          <p:nvPr/>
        </p:nvSpPr>
        <p:spPr>
          <a:xfrm>
            <a:off x="15811500" y="5676900"/>
            <a:ext cx="1333500" cy="304800"/>
          </a:xfrm>
          <a:prstGeom prst="rect">
            <a:avLst/>
          </a:prstGeom>
          <a:noFill/>
        </p:spPr>
        <p:txBody>
          <a:bodyPr wrap="square" lIns="0" rIns="0" tIns="0" bIns="0" anchor="ctr">
            <a:spAutoFit/>
          </a:bodyPr>
          <a:lstStyle/>
          <a:p>
            <a:pPr algn="r">
              <a:lnSpc>
                <a:spcPct val="100000"/>
              </a:lnSpc>
            </a:pPr>
            <a:r>
              <a:rPr sz="1500" b="1" i="0">
                <a:solidFill>
                  <a:srgbClr val="E0566B"/>
                </a:solidFill>
                <a:latin typeface="Montserrat"/>
              </a:rPr>
              <a:t>0,9989917</a:t>
            </a:r>
          </a:p>
        </p:txBody>
      </p:sp>
      <p:sp>
        <p:nvSpPr>
          <p:cNvPr id="117" name="TextBox 116"/>
          <p:cNvSpPr txBox="1"/>
          <p:nvPr/>
        </p:nvSpPr>
        <p:spPr>
          <a:xfrm>
            <a:off x="13030200" y="6038850"/>
            <a:ext cx="4210050" cy="266700"/>
          </a:xfrm>
          <a:prstGeom prst="rect">
            <a:avLst/>
          </a:prstGeom>
          <a:noFill/>
        </p:spPr>
        <p:txBody>
          <a:bodyPr wrap="square" lIns="0" rIns="0" tIns="0" bIns="0" anchor="ctr">
            <a:spAutoFit/>
          </a:bodyPr>
          <a:lstStyle/>
          <a:p>
            <a:pPr algn="l">
              <a:lnSpc>
                <a:spcPct val="100000"/>
              </a:lnSpc>
            </a:pPr>
            <a:r>
              <a:rPr sz="1425" b="0" i="0">
                <a:solidFill>
                  <a:srgbClr val="FFD21F"/>
                </a:solidFill>
                <a:latin typeface="Roboto Mono"/>
              </a:rPr>
              <a:t>… 4000 series 24b2n4200/00/rh</a:t>
            </a:r>
          </a:p>
        </p:txBody>
      </p:sp>
      <p:sp>
        <p:nvSpPr>
          <p:cNvPr id="118" name="TextBox 117"/>
          <p:cNvSpPr txBox="1"/>
          <p:nvPr/>
        </p:nvSpPr>
        <p:spPr>
          <a:xfrm>
            <a:off x="13030200" y="6324600"/>
            <a:ext cx="4114800" cy="2667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sufijo /RH = otra referencia</a:t>
            </a:r>
          </a:p>
        </p:txBody>
      </p:sp>
      <p:sp>
        <p:nvSpPr>
          <p:cNvPr id="119" name="Rectangle 118"/>
          <p:cNvSpPr/>
          <p:nvPr/>
        </p:nvSpPr>
        <p:spPr>
          <a:xfrm>
            <a:off x="13030200" y="6667500"/>
            <a:ext cx="41148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ounded Rectangle 119"/>
          <p:cNvSpPr/>
          <p:nvPr/>
        </p:nvSpPr>
        <p:spPr>
          <a:xfrm>
            <a:off x="13030200" y="6781800"/>
            <a:ext cx="2259390" cy="304800"/>
          </a:xfrm>
          <a:prstGeom prst="roundRect">
            <a:avLst>
              <a:gd name="adj" fmla="val 125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3030200" y="6781800"/>
            <a:ext cx="2259390" cy="3048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REACONDICIONADO</a:t>
            </a:r>
          </a:p>
        </p:txBody>
      </p:sp>
      <p:sp>
        <p:nvSpPr>
          <p:cNvPr id="122" name="TextBox 121"/>
          <p:cNvSpPr txBox="1"/>
          <p:nvPr/>
        </p:nvSpPr>
        <p:spPr>
          <a:xfrm>
            <a:off x="15811500" y="6781800"/>
            <a:ext cx="1333500" cy="304800"/>
          </a:xfrm>
          <a:prstGeom prst="rect">
            <a:avLst/>
          </a:prstGeom>
          <a:noFill/>
        </p:spPr>
        <p:txBody>
          <a:bodyPr wrap="square" lIns="0" rIns="0" tIns="0" bIns="0" anchor="ctr">
            <a:spAutoFit/>
          </a:bodyPr>
          <a:lstStyle/>
          <a:p>
            <a:pPr algn="r">
              <a:lnSpc>
                <a:spcPct val="100000"/>
              </a:lnSpc>
            </a:pPr>
            <a:r>
              <a:rPr sz="1500" b="1" i="0">
                <a:solidFill>
                  <a:srgbClr val="E0566B"/>
                </a:solidFill>
                <a:latin typeface="Montserrat"/>
              </a:rPr>
              <a:t>0,9989718</a:t>
            </a:r>
          </a:p>
        </p:txBody>
      </p:sp>
      <p:sp>
        <p:nvSpPr>
          <p:cNvPr id="123" name="TextBox 122"/>
          <p:cNvSpPr txBox="1"/>
          <p:nvPr/>
        </p:nvSpPr>
        <p:spPr>
          <a:xfrm>
            <a:off x="13030200" y="7143750"/>
            <a:ext cx="4210050" cy="266700"/>
          </a:xfrm>
          <a:prstGeom prst="rect">
            <a:avLst/>
          </a:prstGeom>
          <a:noFill/>
        </p:spPr>
        <p:txBody>
          <a:bodyPr wrap="square" lIns="0" rIns="0" tIns="0" bIns="0" anchor="ctr">
            <a:spAutoFit/>
          </a:bodyPr>
          <a:lstStyle/>
          <a:p>
            <a:pPr algn="l">
              <a:lnSpc>
                <a:spcPct val="100000"/>
              </a:lnSpc>
            </a:pPr>
            <a:r>
              <a:rPr sz="1425" b="0" i="0">
                <a:solidFill>
                  <a:srgbClr val="FFD21F"/>
                </a:solidFill>
                <a:latin typeface="Roboto Mono"/>
              </a:rPr>
              <a:t>… täydellinen hoito kompakti gc7844/20</a:t>
            </a:r>
          </a:p>
        </p:txBody>
      </p:sp>
      <p:sp>
        <p:nvSpPr>
          <p:cNvPr id="124" name="TextBox 123"/>
          <p:cNvSpPr txBox="1"/>
          <p:nvPr/>
        </p:nvSpPr>
        <p:spPr>
          <a:xfrm>
            <a:off x="13030200" y="7429500"/>
            <a:ext cx="4114800" cy="2667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el original y el R1 comparten texto</a:t>
            </a:r>
          </a:p>
        </p:txBody>
      </p:sp>
      <p:sp>
        <p:nvSpPr>
          <p:cNvPr id="125" name="Rectangle 124"/>
          <p:cNvSpPr/>
          <p:nvPr/>
        </p:nvSpPr>
        <p:spPr>
          <a:xfrm>
            <a:off x="13030200" y="7772400"/>
            <a:ext cx="41148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ounded Rectangle 125"/>
          <p:cNvSpPr/>
          <p:nvPr/>
        </p:nvSpPr>
        <p:spPr>
          <a:xfrm>
            <a:off x="13030200" y="7886700"/>
            <a:ext cx="1959054" cy="304800"/>
          </a:xfrm>
          <a:prstGeom prst="roundRect">
            <a:avLst>
              <a:gd name="adj" fmla="val 12500"/>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13030200" y="7886700"/>
            <a:ext cx="1959054" cy="3048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SUFIJO DISTINTO</a:t>
            </a:r>
          </a:p>
        </p:txBody>
      </p:sp>
      <p:sp>
        <p:nvSpPr>
          <p:cNvPr id="128" name="TextBox 127"/>
          <p:cNvSpPr txBox="1"/>
          <p:nvPr/>
        </p:nvSpPr>
        <p:spPr>
          <a:xfrm>
            <a:off x="15811500" y="7886700"/>
            <a:ext cx="1333500" cy="304800"/>
          </a:xfrm>
          <a:prstGeom prst="rect">
            <a:avLst/>
          </a:prstGeom>
          <a:noFill/>
        </p:spPr>
        <p:txBody>
          <a:bodyPr wrap="square" lIns="0" rIns="0" tIns="0" bIns="0" anchor="ctr">
            <a:spAutoFit/>
          </a:bodyPr>
          <a:lstStyle/>
          <a:p>
            <a:pPr algn="r">
              <a:lnSpc>
                <a:spcPct val="100000"/>
              </a:lnSpc>
            </a:pPr>
            <a:r>
              <a:rPr sz="1500" b="1" i="0">
                <a:solidFill>
                  <a:srgbClr val="E0566B"/>
                </a:solidFill>
                <a:latin typeface="Montserrat"/>
              </a:rPr>
              <a:t>0,9990379</a:t>
            </a:r>
          </a:p>
        </p:txBody>
      </p:sp>
      <p:sp>
        <p:nvSpPr>
          <p:cNvPr id="129" name="TextBox 128"/>
          <p:cNvSpPr txBox="1"/>
          <p:nvPr/>
        </p:nvSpPr>
        <p:spPr>
          <a:xfrm>
            <a:off x="13030200" y="8248650"/>
            <a:ext cx="4210050" cy="266700"/>
          </a:xfrm>
          <a:prstGeom prst="rect">
            <a:avLst/>
          </a:prstGeom>
          <a:noFill/>
        </p:spPr>
        <p:txBody>
          <a:bodyPr wrap="square" lIns="0" rIns="0" tIns="0" bIns="0" anchor="ctr">
            <a:spAutoFit/>
          </a:bodyPr>
          <a:lstStyle/>
          <a:p>
            <a:pPr algn="l">
              <a:lnSpc>
                <a:spcPct val="100000"/>
              </a:lnSpc>
            </a:pPr>
            <a:r>
              <a:rPr sz="1425" b="0" i="0">
                <a:solidFill>
                  <a:srgbClr val="FFD21F"/>
                </a:solidFill>
                <a:latin typeface="Roboto Mono"/>
              </a:rPr>
              <a:t>… 85pus8510 … barra de sonido tab4000</a:t>
            </a:r>
          </a:p>
        </p:txBody>
      </p:sp>
      <p:sp>
        <p:nvSpPr>
          <p:cNvPr id="130" name="TextBox 129"/>
          <p:cNvSpPr txBox="1"/>
          <p:nvPr/>
        </p:nvSpPr>
        <p:spPr>
          <a:xfrm>
            <a:off x="13030200" y="8534400"/>
            <a:ext cx="4114800" cy="2667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televisor + barra de sonido en un paquete</a:t>
            </a:r>
          </a:p>
        </p:txBody>
      </p:sp>
      <p:sp>
        <p:nvSpPr>
          <p:cNvPr id="131" name="Rectangle 130"/>
          <p:cNvSpPr/>
          <p:nvPr/>
        </p:nvSpPr>
        <p:spPr>
          <a:xfrm>
            <a:off x="13030200" y="8877300"/>
            <a:ext cx="41148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13030200" y="8972550"/>
            <a:ext cx="4114800" cy="514350"/>
          </a:xfrm>
          <a:prstGeom prst="rect">
            <a:avLst/>
          </a:prstGeom>
          <a:noFill/>
        </p:spPr>
        <p:txBody>
          <a:bodyPr wrap="square" lIns="0" rIns="0" tIns="0" bIns="0" anchor="t">
            <a:spAutoFit/>
          </a:bodyPr>
          <a:lstStyle/>
          <a:p>
            <a:pPr algn="l">
              <a:lnSpc>
                <a:spcPct val="104200"/>
              </a:lnSpc>
            </a:pPr>
            <a:r>
              <a:rPr sz="1575" b="0" i="0">
                <a:solidFill>
                  <a:srgbClr val="F3F7FC"/>
                </a:solidFill>
                <a:latin typeface="Barlow"/>
              </a:rPr>
              <a:t>En los cuatro, el texto sí describe el producto: difiere la referencia comercial exacta.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OE5 · EVALUAR EL DESEMPEÑO · RECUPERACIÓN</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Recall@1 sobre las 147 consultas de test</a:t>
            </a:r>
          </a:p>
        </p:txBody>
      </p:sp>
      <p:sp>
        <p:nvSpPr>
          <p:cNvPr id="9" name="Rectangle 8"/>
          <p:cNvSpPr/>
          <p:nvPr/>
        </p:nvSpPr>
        <p:spPr>
          <a:xfrm>
            <a:off x="914400" y="2686050"/>
            <a:ext cx="51435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86050"/>
            <a:ext cx="51435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582930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6124575"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61245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squinero"/>
          <p:cNvSpPr/>
          <p:nvPr/>
        </p:nvSpPr>
        <p:spPr>
          <a:xfrm>
            <a:off x="58293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19200" y="2952750"/>
            <a:ext cx="45339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MEJOR RESULTADO OBSERVADO</a:t>
            </a:r>
          </a:p>
        </p:txBody>
      </p:sp>
      <p:sp>
        <p:nvSpPr>
          <p:cNvPr id="20" name="TextBox 19"/>
          <p:cNvSpPr txBox="1"/>
          <p:nvPr/>
        </p:nvSpPr>
        <p:spPr>
          <a:xfrm>
            <a:off x="1219200" y="3257550"/>
            <a:ext cx="4533900" cy="952500"/>
          </a:xfrm>
          <a:prstGeom prst="rect">
            <a:avLst/>
          </a:prstGeom>
          <a:noFill/>
        </p:spPr>
        <p:txBody>
          <a:bodyPr wrap="square" lIns="0" rIns="0" tIns="0" bIns="0" anchor="ctr">
            <a:spAutoFit/>
          </a:bodyPr>
          <a:lstStyle/>
          <a:p>
            <a:pPr algn="l">
              <a:lnSpc>
                <a:spcPct val="83300"/>
              </a:lnSpc>
            </a:pPr>
            <a:r>
              <a:rPr sz="6000" b="1" i="0">
                <a:solidFill>
                  <a:srgbClr val="FFD21F"/>
                </a:solidFill>
                <a:latin typeface="Montserrat"/>
              </a:rPr>
              <a:t>87,07%</a:t>
            </a:r>
          </a:p>
        </p:txBody>
      </p:sp>
      <p:sp>
        <p:nvSpPr>
          <p:cNvPr id="21" name="TextBox 20"/>
          <p:cNvSpPr txBox="1"/>
          <p:nvPr/>
        </p:nvSpPr>
        <p:spPr>
          <a:xfrm>
            <a:off x="1219200" y="4457700"/>
            <a:ext cx="1333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CASCADA</a:t>
            </a:r>
          </a:p>
        </p:txBody>
      </p:sp>
      <p:sp>
        <p:nvSpPr>
          <p:cNvPr id="22" name="Rounded Rectangle 21"/>
          <p:cNvSpPr/>
          <p:nvPr/>
        </p:nvSpPr>
        <p:spPr>
          <a:xfrm>
            <a:off x="2362200" y="4381500"/>
            <a:ext cx="954881" cy="381000"/>
          </a:xfrm>
          <a:prstGeom prst="roundRect">
            <a:avLst>
              <a:gd name="adj" fmla="val 15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362200" y="4381500"/>
            <a:ext cx="954881" cy="381000"/>
          </a:xfrm>
          <a:prstGeom prst="rect">
            <a:avLst/>
          </a:prstGeom>
          <a:noFill/>
        </p:spPr>
        <p:txBody>
          <a:bodyPr wrap="none" lIns="0" rIns="0" tIns="0" bIns="0" anchor="ctr">
            <a:spAutoFit/>
          </a:bodyPr>
          <a:lstStyle/>
          <a:p>
            <a:pPr algn="ctr">
              <a:lnSpc>
                <a:spcPct val="100000"/>
              </a:lnSpc>
            </a:pPr>
            <a:r>
              <a:rPr sz="1650" b="0" i="0">
                <a:solidFill>
                  <a:srgbClr val="F3F7FC"/>
                </a:solidFill>
                <a:latin typeface="Barlow"/>
              </a:rPr>
              <a:t>exacto</a:t>
            </a:r>
          </a:p>
        </p:txBody>
      </p:sp>
      <p:sp>
        <p:nvSpPr>
          <p:cNvPr id="24" name="Right Arrow 23"/>
          <p:cNvSpPr/>
          <p:nvPr/>
        </p:nvSpPr>
        <p:spPr>
          <a:xfrm>
            <a:off x="3412331" y="4467225"/>
            <a:ext cx="40005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907631" y="4381500"/>
            <a:ext cx="1430685" cy="381000"/>
          </a:xfrm>
          <a:prstGeom prst="roundRect">
            <a:avLst>
              <a:gd name="adj" fmla="val 15000"/>
            </a:avLst>
          </a:prstGeom>
          <a:solidFill>
            <a:srgbClr val="0F2C52"/>
          </a:solidFill>
          <a:ln w="9525">
            <a:solidFill>
              <a:srgbClr val="FFD21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07631" y="4381500"/>
            <a:ext cx="1430685" cy="381000"/>
          </a:xfrm>
          <a:prstGeom prst="rect">
            <a:avLst/>
          </a:prstGeom>
          <a:noFill/>
        </p:spPr>
        <p:txBody>
          <a:bodyPr wrap="none" lIns="0" rIns="0" tIns="0" bIns="0" anchor="ctr">
            <a:spAutoFit/>
          </a:bodyPr>
          <a:lstStyle/>
          <a:p>
            <a:pPr algn="ctr">
              <a:lnSpc>
                <a:spcPct val="100000"/>
              </a:lnSpc>
            </a:pPr>
            <a:r>
              <a:rPr sz="1650" b="0" i="0">
                <a:solidFill>
                  <a:srgbClr val="FFD21F"/>
                </a:solidFill>
                <a:latin typeface="Barlow"/>
              </a:rPr>
              <a:t>transformer</a:t>
            </a:r>
          </a:p>
        </p:txBody>
      </p:sp>
      <p:sp>
        <p:nvSpPr>
          <p:cNvPr id="27" name="TextBox 26"/>
          <p:cNvSpPr txBox="1"/>
          <p:nvPr/>
        </p:nvSpPr>
        <p:spPr>
          <a:xfrm>
            <a:off x="1219200" y="4876800"/>
            <a:ext cx="4533900" cy="285750"/>
          </a:xfrm>
          <a:prstGeom prst="rect">
            <a:avLst/>
          </a:prstGeom>
          <a:noFill/>
        </p:spPr>
        <p:txBody>
          <a:bodyPr wrap="square" lIns="0" rIns="0" tIns="0" bIns="0" anchor="ctr">
            <a:spAutoFit/>
          </a:bodyPr>
          <a:lstStyle/>
          <a:p>
            <a:pPr algn="l">
              <a:lnSpc>
                <a:spcPct val="100000"/>
              </a:lnSpc>
            </a:pPr>
            <a:r>
              <a:rPr sz="1650" b="0" i="0">
                <a:solidFill>
                  <a:srgbClr val="9FB4CC"/>
                </a:solidFill>
                <a:latin typeface="Barlow"/>
              </a:rPr>
              <a:t>128 de 147 consultas · MRR 0,8783</a:t>
            </a:r>
          </a:p>
        </p:txBody>
      </p:sp>
      <p:sp>
        <p:nvSpPr>
          <p:cNvPr id="28" name="Rectangle 27"/>
          <p:cNvSpPr/>
          <p:nvPr/>
        </p:nvSpPr>
        <p:spPr>
          <a:xfrm>
            <a:off x="1219200" y="5486400"/>
            <a:ext cx="4533900" cy="14288"/>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5938285"/>
            <a:ext cx="1211148" cy="357188"/>
          </a:xfrm>
          <a:prstGeom prst="rect">
            <a:avLst/>
          </a:prstGeom>
          <a:noFill/>
        </p:spPr>
        <p:txBody>
          <a:bodyPr wrap="none" lIns="0" rIns="0" tIns="0" bIns="0" anchor="ctr">
            <a:spAutoFit/>
          </a:bodyPr>
          <a:lstStyle/>
          <a:p>
            <a:pPr algn="l">
              <a:lnSpc>
                <a:spcPct val="83300"/>
              </a:lnSpc>
            </a:pPr>
            <a:r>
              <a:rPr sz="2250" b="0" i="1">
                <a:solidFill>
                  <a:srgbClr val="F3F7FC"/>
                </a:solidFill>
                <a:latin typeface="Barlow"/>
              </a:rPr>
              <a:t>Recall@1</a:t>
            </a:r>
          </a:p>
        </p:txBody>
      </p:sp>
      <p:sp>
        <p:nvSpPr>
          <p:cNvPr id="30" name="TextBox 29"/>
          <p:cNvSpPr txBox="1"/>
          <p:nvPr/>
        </p:nvSpPr>
        <p:spPr>
          <a:xfrm>
            <a:off x="2451303" y="5938285"/>
            <a:ext cx="208598"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a:t>
            </a:r>
          </a:p>
        </p:txBody>
      </p:sp>
      <p:sp>
        <p:nvSpPr>
          <p:cNvPr id="31" name="Rectangle 30"/>
          <p:cNvSpPr/>
          <p:nvPr/>
        </p:nvSpPr>
        <p:spPr>
          <a:xfrm>
            <a:off x="2710383" y="6102591"/>
            <a:ext cx="2511571"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734196" y="5775779"/>
            <a:ext cx="2628547" cy="307181"/>
          </a:xfrm>
          <a:prstGeom prst="rect">
            <a:avLst/>
          </a:prstGeom>
          <a:noFill/>
        </p:spPr>
        <p:txBody>
          <a:bodyPr wrap="none" lIns="0" rIns="0" tIns="0" bIns="0" anchor="ctr">
            <a:spAutoFit/>
          </a:bodyPr>
          <a:lstStyle/>
          <a:p>
            <a:pPr algn="l">
              <a:lnSpc>
                <a:spcPct val="83300"/>
              </a:lnSpc>
            </a:pPr>
            <a:r>
              <a:rPr sz="1935" b="0" i="0">
                <a:solidFill>
                  <a:srgbClr val="F3F7FC"/>
                </a:solidFill>
                <a:latin typeface="Barlow"/>
              </a:rPr>
              <a:t>aciertos en 1.ª posición</a:t>
            </a:r>
          </a:p>
        </p:txBody>
      </p:sp>
      <p:sp>
        <p:nvSpPr>
          <p:cNvPr id="33" name="TextBox 32"/>
          <p:cNvSpPr txBox="1"/>
          <p:nvPr/>
        </p:nvSpPr>
        <p:spPr>
          <a:xfrm>
            <a:off x="3037833" y="6156512"/>
            <a:ext cx="1984836" cy="307181"/>
          </a:xfrm>
          <a:prstGeom prst="rect">
            <a:avLst/>
          </a:prstGeom>
          <a:noFill/>
        </p:spPr>
        <p:txBody>
          <a:bodyPr wrap="none" lIns="0" rIns="0" tIns="0" bIns="0" anchor="ctr">
            <a:spAutoFit/>
          </a:bodyPr>
          <a:lstStyle/>
          <a:p>
            <a:pPr algn="l">
              <a:lnSpc>
                <a:spcPct val="83300"/>
              </a:lnSpc>
            </a:pPr>
            <a:r>
              <a:rPr sz="1935" b="0" i="0">
                <a:solidFill>
                  <a:srgbClr val="F3F7FC"/>
                </a:solidFill>
                <a:latin typeface="Barlow"/>
              </a:rPr>
              <a:t>consultas de test</a:t>
            </a:r>
          </a:p>
        </p:txBody>
      </p:sp>
      <p:sp>
        <p:nvSpPr>
          <p:cNvPr id="34" name="TextBox 33"/>
          <p:cNvSpPr txBox="1"/>
          <p:nvPr/>
        </p:nvSpPr>
        <p:spPr>
          <a:xfrm>
            <a:off x="2434158" y="6818243"/>
            <a:ext cx="208598"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a:t>
            </a:r>
          </a:p>
        </p:txBody>
      </p:sp>
      <p:sp>
        <p:nvSpPr>
          <p:cNvPr id="35" name="Rectangle 34"/>
          <p:cNvSpPr/>
          <p:nvPr/>
        </p:nvSpPr>
        <p:spPr>
          <a:xfrm>
            <a:off x="2693238" y="6982549"/>
            <a:ext cx="431452"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717051" y="6655737"/>
            <a:ext cx="423620" cy="307181"/>
          </a:xfrm>
          <a:prstGeom prst="rect">
            <a:avLst/>
          </a:prstGeom>
          <a:noFill/>
        </p:spPr>
        <p:txBody>
          <a:bodyPr wrap="none" lIns="0" rIns="0" tIns="0" bIns="0" anchor="ctr">
            <a:spAutoFit/>
          </a:bodyPr>
          <a:lstStyle/>
          <a:p>
            <a:pPr algn="l">
              <a:lnSpc>
                <a:spcPct val="83300"/>
              </a:lnSpc>
            </a:pPr>
            <a:r>
              <a:rPr sz="1935" b="0" i="0">
                <a:solidFill>
                  <a:srgbClr val="F3F7FC"/>
                </a:solidFill>
                <a:latin typeface="Barlow"/>
              </a:rPr>
              <a:t>128</a:t>
            </a:r>
          </a:p>
        </p:txBody>
      </p:sp>
      <p:sp>
        <p:nvSpPr>
          <p:cNvPr id="37" name="TextBox 36"/>
          <p:cNvSpPr txBox="1"/>
          <p:nvPr/>
        </p:nvSpPr>
        <p:spPr>
          <a:xfrm>
            <a:off x="2724804" y="7036470"/>
            <a:ext cx="407183" cy="307181"/>
          </a:xfrm>
          <a:prstGeom prst="rect">
            <a:avLst/>
          </a:prstGeom>
          <a:noFill/>
        </p:spPr>
        <p:txBody>
          <a:bodyPr wrap="none" lIns="0" rIns="0" tIns="0" bIns="0" anchor="ctr">
            <a:spAutoFit/>
          </a:bodyPr>
          <a:lstStyle/>
          <a:p>
            <a:pPr algn="l">
              <a:lnSpc>
                <a:spcPct val="83300"/>
              </a:lnSpc>
            </a:pPr>
            <a:r>
              <a:rPr sz="1935" b="0" i="0">
                <a:solidFill>
                  <a:srgbClr val="F3F7FC"/>
                </a:solidFill>
                <a:latin typeface="Barlow"/>
              </a:rPr>
              <a:t>147</a:t>
            </a:r>
          </a:p>
        </p:txBody>
      </p:sp>
      <p:sp>
        <p:nvSpPr>
          <p:cNvPr id="38" name="TextBox 37"/>
          <p:cNvSpPr txBox="1"/>
          <p:nvPr/>
        </p:nvSpPr>
        <p:spPr>
          <a:xfrm>
            <a:off x="3202795" y="6818243"/>
            <a:ext cx="208598"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a:t>
            </a:r>
          </a:p>
        </p:txBody>
      </p:sp>
      <p:sp>
        <p:nvSpPr>
          <p:cNvPr id="39" name="TextBox 38"/>
          <p:cNvSpPr txBox="1"/>
          <p:nvPr/>
        </p:nvSpPr>
        <p:spPr>
          <a:xfrm>
            <a:off x="3414250" y="6809313"/>
            <a:ext cx="1220138" cy="375047"/>
          </a:xfrm>
          <a:prstGeom prst="rect">
            <a:avLst/>
          </a:prstGeom>
          <a:noFill/>
        </p:spPr>
        <p:txBody>
          <a:bodyPr wrap="none" lIns="0" rIns="0" tIns="0" bIns="0" anchor="ctr">
            <a:spAutoFit/>
          </a:bodyPr>
          <a:lstStyle/>
          <a:p>
            <a:pPr algn="l">
              <a:lnSpc>
                <a:spcPct val="83300"/>
              </a:lnSpc>
            </a:pPr>
            <a:r>
              <a:rPr sz="2362" b="1" i="0">
                <a:solidFill>
                  <a:srgbClr val="FFD21F"/>
                </a:solidFill>
                <a:latin typeface="Montserrat"/>
              </a:rPr>
              <a:t>87,07%</a:t>
            </a:r>
          </a:p>
        </p:txBody>
      </p:sp>
      <p:sp>
        <p:nvSpPr>
          <p:cNvPr id="40" name="Rectangle 39"/>
          <p:cNvSpPr/>
          <p:nvPr/>
        </p:nvSpPr>
        <p:spPr>
          <a:xfrm>
            <a:off x="1219200" y="7646365"/>
            <a:ext cx="4533900" cy="14288"/>
          </a:xfrm>
          <a:prstGeom prst="rect">
            <a:avLst/>
          </a:prstGeom>
          <a:solidFill>
            <a:srgbClr val="2F7BF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219200" y="7836865"/>
            <a:ext cx="2126307"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FRENTE A EXACTO</a:t>
            </a:r>
          </a:p>
        </p:txBody>
      </p:sp>
      <p:sp>
        <p:nvSpPr>
          <p:cNvPr id="42" name="Right Arrow 41"/>
          <p:cNvSpPr/>
          <p:nvPr/>
        </p:nvSpPr>
        <p:spPr>
          <a:xfrm>
            <a:off x="3269307" y="7894587"/>
            <a:ext cx="188595" cy="113157"/>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72202" y="7836865"/>
            <a:ext cx="1143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TF-IDF</a:t>
            </a:r>
          </a:p>
        </p:txBody>
      </p:sp>
      <p:sp>
        <p:nvSpPr>
          <p:cNvPr id="44" name="TextBox 43"/>
          <p:cNvSpPr txBox="1"/>
          <p:nvPr/>
        </p:nvSpPr>
        <p:spPr>
          <a:xfrm>
            <a:off x="1219200" y="8141665"/>
            <a:ext cx="4533900" cy="32385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Difieren en 3 consultas</a:t>
            </a:r>
          </a:p>
        </p:txBody>
      </p:sp>
      <p:sp>
        <p:nvSpPr>
          <p:cNvPr id="45" name="TextBox 44"/>
          <p:cNvSpPr txBox="1"/>
          <p:nvPr/>
        </p:nvSpPr>
        <p:spPr>
          <a:xfrm>
            <a:off x="1200150" y="8560765"/>
            <a:ext cx="235416"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p</a:t>
            </a:r>
          </a:p>
        </p:txBody>
      </p:sp>
      <p:sp>
        <p:nvSpPr>
          <p:cNvPr id="46" name="TextBox 45"/>
          <p:cNvSpPr txBox="1"/>
          <p:nvPr/>
        </p:nvSpPr>
        <p:spPr>
          <a:xfrm>
            <a:off x="1482048" y="8560765"/>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47" name="TextBox 46"/>
          <p:cNvSpPr txBox="1"/>
          <p:nvPr/>
        </p:nvSpPr>
        <p:spPr>
          <a:xfrm>
            <a:off x="1707600" y="8551240"/>
            <a:ext cx="505056"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1,0</a:t>
            </a:r>
          </a:p>
        </p:txBody>
      </p:sp>
      <p:sp>
        <p:nvSpPr>
          <p:cNvPr id="48" name="TextBox 47"/>
          <p:cNvSpPr txBox="1"/>
          <p:nvPr/>
        </p:nvSpPr>
        <p:spPr>
          <a:xfrm>
            <a:off x="2320653" y="8598865"/>
            <a:ext cx="3432447" cy="323850"/>
          </a:xfrm>
          <a:prstGeom prst="rect">
            <a:avLst/>
          </a:prstGeom>
          <a:noFill/>
        </p:spPr>
        <p:txBody>
          <a:bodyPr wrap="square" lIns="0" rIns="0" tIns="0" bIns="0" anchor="ctr">
            <a:spAutoFit/>
          </a:bodyPr>
          <a:lstStyle/>
          <a:p>
            <a:pPr algn="l">
              <a:lnSpc>
                <a:spcPct val="100000"/>
              </a:lnSpc>
            </a:pPr>
            <a:r>
              <a:rPr sz="1650" b="0" i="0">
                <a:solidFill>
                  <a:srgbClr val="9FB4CC"/>
                </a:solidFill>
                <a:latin typeface="Barlow"/>
              </a:rPr>
              <a:t>McNemar exacto</a:t>
            </a:r>
          </a:p>
        </p:txBody>
      </p:sp>
      <p:sp>
        <p:nvSpPr>
          <p:cNvPr id="49" name="Rounded Rectangle 48"/>
          <p:cNvSpPr/>
          <p:nvPr/>
        </p:nvSpPr>
        <p:spPr>
          <a:xfrm>
            <a:off x="1219200" y="9094165"/>
            <a:ext cx="3971538" cy="342900"/>
          </a:xfrm>
          <a:prstGeom prst="roundRect">
            <a:avLst>
              <a:gd name="adj" fmla="val 11111"/>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219200" y="9094165"/>
            <a:ext cx="3971538" cy="342900"/>
          </a:xfrm>
          <a:prstGeom prst="rect">
            <a:avLst/>
          </a:prstGeom>
          <a:noFill/>
        </p:spPr>
        <p:txBody>
          <a:bodyPr wrap="none" lIns="0" rIns="0" tIns="0" bIns="0" anchor="ctr">
            <a:spAutoFit/>
          </a:bodyPr>
          <a:lstStyle/>
          <a:p>
            <a:pPr algn="ctr">
              <a:lnSpc>
                <a:spcPct val="100000"/>
              </a:lnSpc>
            </a:pPr>
            <a:r>
              <a:rPr sz="1350" b="1" i="0" spc="120">
                <a:solidFill>
                  <a:srgbClr val="F3F7FC"/>
                </a:solidFill>
                <a:latin typeface="Montserrat"/>
              </a:rPr>
              <a:t>NO ES SUPERIORIDAD DEMOSTRADA</a:t>
            </a:r>
          </a:p>
        </p:txBody>
      </p:sp>
      <p:sp>
        <p:nvSpPr>
          <p:cNvPr id="51" name="Rectangle 50"/>
          <p:cNvSpPr/>
          <p:nvPr/>
        </p:nvSpPr>
        <p:spPr>
          <a:xfrm>
            <a:off x="6324600" y="2686050"/>
            <a:ext cx="11049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324600" y="2686050"/>
            <a:ext cx="110490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629400" y="2933700"/>
            <a:ext cx="104394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RECALL@1 POR CONFIGURACIÓN · ESCALA 0–100%</a:t>
            </a:r>
          </a:p>
        </p:txBody>
      </p:sp>
      <p:sp>
        <p:nvSpPr>
          <p:cNvPr id="54" name="TextBox 53"/>
          <p:cNvSpPr txBox="1"/>
          <p:nvPr/>
        </p:nvSpPr>
        <p:spPr>
          <a:xfrm>
            <a:off x="6629400" y="3371850"/>
            <a:ext cx="3495526" cy="304800"/>
          </a:xfrm>
          <a:prstGeom prst="rect">
            <a:avLst/>
          </a:prstGeom>
          <a:noFill/>
        </p:spPr>
        <p:txBody>
          <a:bodyPr wrap="square" lIns="0" rIns="0" tIns="0" bIns="0" anchor="ctr">
            <a:spAutoFit/>
          </a:bodyPr>
          <a:lstStyle/>
          <a:p>
            <a:pPr algn="l">
              <a:lnSpc>
                <a:spcPct val="83300"/>
              </a:lnSpc>
            </a:pPr>
            <a:r>
              <a:rPr sz="1650" b="1" i="0">
                <a:solidFill>
                  <a:srgbClr val="9FB4CC"/>
                </a:solidFill>
                <a:latin typeface="Montserrat"/>
              </a:rPr>
              <a:t>Techo del pool de candidatos</a:t>
            </a:r>
          </a:p>
        </p:txBody>
      </p:sp>
      <p:sp>
        <p:nvSpPr>
          <p:cNvPr id="55" name="TextBox 54"/>
          <p:cNvSpPr txBox="1"/>
          <p:nvPr/>
        </p:nvSpPr>
        <p:spPr>
          <a:xfrm>
            <a:off x="9991576" y="3371850"/>
            <a:ext cx="5457974"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12 consultas sin la verdad entre los 20 candidatos</a:t>
            </a:r>
          </a:p>
        </p:txBody>
      </p:sp>
      <p:sp>
        <p:nvSpPr>
          <p:cNvPr id="56" name="Rectangle 55"/>
          <p:cNvSpPr/>
          <p:nvPr/>
        </p:nvSpPr>
        <p:spPr>
          <a:xfrm>
            <a:off x="6629400" y="3771900"/>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629400" y="3771900"/>
            <a:ext cx="8100426" cy="247650"/>
          </a:xfrm>
          <a:prstGeom prst="rect">
            <a:avLst/>
          </a:prstGeom>
          <a:solidFill>
            <a:srgbClr val="6D8FB2">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629400" y="4128407"/>
            <a:ext cx="10439400" cy="14288"/>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5640050" y="3657600"/>
            <a:ext cx="1428750" cy="476250"/>
          </a:xfrm>
          <a:prstGeom prst="rect">
            <a:avLst/>
          </a:prstGeom>
          <a:noFill/>
        </p:spPr>
        <p:txBody>
          <a:bodyPr wrap="square" lIns="0" rIns="0" tIns="0" bIns="0" anchor="ctr">
            <a:spAutoFit/>
          </a:bodyPr>
          <a:lstStyle/>
          <a:p>
            <a:pPr algn="r">
              <a:lnSpc>
                <a:spcPct val="100000"/>
              </a:lnSpc>
            </a:pPr>
            <a:r>
              <a:rPr sz="2400" b="1" i="0">
                <a:solidFill>
                  <a:srgbClr val="9FB4CC"/>
                </a:solidFill>
                <a:latin typeface="Montserrat"/>
              </a:rPr>
              <a:t>91,84%</a:t>
            </a:r>
          </a:p>
        </p:txBody>
      </p:sp>
      <p:sp>
        <p:nvSpPr>
          <p:cNvPr id="60" name="TextBox 59"/>
          <p:cNvSpPr txBox="1"/>
          <p:nvPr/>
        </p:nvSpPr>
        <p:spPr>
          <a:xfrm>
            <a:off x="6629400" y="4223657"/>
            <a:ext cx="1996827"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Cascada exacto</a:t>
            </a:r>
          </a:p>
        </p:txBody>
      </p:sp>
      <p:sp>
        <p:nvSpPr>
          <p:cNvPr id="61" name="Right Arrow 60"/>
          <p:cNvSpPr/>
          <p:nvPr/>
        </p:nvSpPr>
        <p:spPr>
          <a:xfrm>
            <a:off x="8435727" y="4306906"/>
            <a:ext cx="230505" cy="138303"/>
          </a:xfrm>
          <a:prstGeom prst="rightArrow">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61482" y="4223657"/>
            <a:ext cx="1593949"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transformer</a:t>
            </a:r>
          </a:p>
        </p:txBody>
      </p:sp>
      <p:sp>
        <p:nvSpPr>
          <p:cNvPr id="63" name="TextBox 62"/>
          <p:cNvSpPr txBox="1"/>
          <p:nvPr/>
        </p:nvSpPr>
        <p:spPr>
          <a:xfrm>
            <a:off x="10222081" y="4223657"/>
            <a:ext cx="5227469"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128 de 147 · MRR 0,8783</a:t>
            </a:r>
          </a:p>
        </p:txBody>
      </p:sp>
      <p:sp>
        <p:nvSpPr>
          <p:cNvPr id="64" name="Rectangle 63"/>
          <p:cNvSpPr/>
          <p:nvPr/>
        </p:nvSpPr>
        <p:spPr>
          <a:xfrm>
            <a:off x="6629400" y="4623707"/>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6629400" y="4623707"/>
            <a:ext cx="7679705" cy="2476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5640050" y="4509407"/>
            <a:ext cx="1428750" cy="476250"/>
          </a:xfrm>
          <a:prstGeom prst="rect">
            <a:avLst/>
          </a:prstGeom>
          <a:noFill/>
        </p:spPr>
        <p:txBody>
          <a:bodyPr wrap="square" lIns="0" rIns="0" tIns="0" bIns="0" anchor="ctr">
            <a:spAutoFit/>
          </a:bodyPr>
          <a:lstStyle/>
          <a:p>
            <a:pPr algn="r">
              <a:lnSpc>
                <a:spcPct val="100000"/>
              </a:lnSpc>
            </a:pPr>
            <a:r>
              <a:rPr sz="2400" b="1" i="0">
                <a:solidFill>
                  <a:srgbClr val="FFD21F"/>
                </a:solidFill>
                <a:latin typeface="Montserrat"/>
              </a:rPr>
              <a:t>87,07%</a:t>
            </a:r>
          </a:p>
        </p:txBody>
      </p:sp>
      <p:sp>
        <p:nvSpPr>
          <p:cNvPr id="67" name="TextBox 66"/>
          <p:cNvSpPr txBox="1"/>
          <p:nvPr/>
        </p:nvSpPr>
        <p:spPr>
          <a:xfrm>
            <a:off x="6629400" y="5075464"/>
            <a:ext cx="1996827"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Cascada exacto</a:t>
            </a:r>
          </a:p>
        </p:txBody>
      </p:sp>
      <p:sp>
        <p:nvSpPr>
          <p:cNvPr id="68" name="Right Arrow 67"/>
          <p:cNvSpPr/>
          <p:nvPr/>
        </p:nvSpPr>
        <p:spPr>
          <a:xfrm>
            <a:off x="8435727" y="5158713"/>
            <a:ext cx="230505" cy="138303"/>
          </a:xfrm>
          <a:prstGeom prst="rightArrow">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761482" y="5075464"/>
            <a:ext cx="1005780"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TF-IDF</a:t>
            </a:r>
          </a:p>
        </p:txBody>
      </p:sp>
      <p:sp>
        <p:nvSpPr>
          <p:cNvPr id="70" name="TextBox 69"/>
          <p:cNvSpPr txBox="1"/>
          <p:nvPr/>
        </p:nvSpPr>
        <p:spPr>
          <a:xfrm>
            <a:off x="9633912" y="5075464"/>
            <a:ext cx="5815638"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127 de 147</a:t>
            </a:r>
          </a:p>
        </p:txBody>
      </p:sp>
      <p:sp>
        <p:nvSpPr>
          <p:cNvPr id="71" name="Rectangle 70"/>
          <p:cNvSpPr/>
          <p:nvPr/>
        </p:nvSpPr>
        <p:spPr>
          <a:xfrm>
            <a:off x="6629400" y="5475514"/>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629400" y="5475514"/>
            <a:ext cx="7619728" cy="2476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5640050" y="5361214"/>
            <a:ext cx="1428750" cy="476250"/>
          </a:xfrm>
          <a:prstGeom prst="rect">
            <a:avLst/>
          </a:prstGeom>
          <a:noFill/>
        </p:spPr>
        <p:txBody>
          <a:bodyPr wrap="square" lIns="0" rIns="0" tIns="0" bIns="0" anchor="ctr">
            <a:spAutoFit/>
          </a:bodyPr>
          <a:lstStyle/>
          <a:p>
            <a:pPr algn="r">
              <a:lnSpc>
                <a:spcPct val="100000"/>
              </a:lnSpc>
            </a:pPr>
            <a:r>
              <a:rPr sz="2400" b="1" i="0">
                <a:solidFill>
                  <a:srgbClr val="F3F7FC"/>
                </a:solidFill>
                <a:latin typeface="Montserrat"/>
              </a:rPr>
              <a:t>86,39%</a:t>
            </a:r>
          </a:p>
        </p:txBody>
      </p:sp>
      <p:sp>
        <p:nvSpPr>
          <p:cNvPr id="74" name="TextBox 73"/>
          <p:cNvSpPr txBox="1"/>
          <p:nvPr/>
        </p:nvSpPr>
        <p:spPr>
          <a:xfrm>
            <a:off x="6629400" y="5927271"/>
            <a:ext cx="1005780"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TF-IDF</a:t>
            </a:r>
          </a:p>
        </p:txBody>
      </p:sp>
      <p:sp>
        <p:nvSpPr>
          <p:cNvPr id="75" name="TextBox 74"/>
          <p:cNvSpPr txBox="1"/>
          <p:nvPr/>
        </p:nvSpPr>
        <p:spPr>
          <a:xfrm>
            <a:off x="7444680" y="5927271"/>
            <a:ext cx="2327523" cy="304800"/>
          </a:xfrm>
          <a:prstGeom prst="rect">
            <a:avLst/>
          </a:prstGeom>
          <a:noFill/>
        </p:spPr>
        <p:txBody>
          <a:bodyPr wrap="square" lIns="0" rIns="0" tIns="0" bIns="0" anchor="ctr">
            <a:spAutoFit/>
          </a:bodyPr>
          <a:lstStyle/>
          <a:p>
            <a:pPr algn="l">
              <a:lnSpc>
                <a:spcPct val="83300"/>
              </a:lnSpc>
            </a:pPr>
            <a:r>
              <a:rPr sz="1575" b="0" i="0">
                <a:solidFill>
                  <a:srgbClr val="FFD21F"/>
                </a:solidFill>
                <a:latin typeface="Roboto Mono"/>
              </a:rPr>
              <a:t>char_4_6_enriched</a:t>
            </a:r>
          </a:p>
        </p:txBody>
      </p:sp>
      <p:sp>
        <p:nvSpPr>
          <p:cNvPr id="76" name="TextBox 75"/>
          <p:cNvSpPr txBox="1"/>
          <p:nvPr/>
        </p:nvSpPr>
        <p:spPr>
          <a:xfrm>
            <a:off x="9638854" y="5927271"/>
            <a:ext cx="5810696"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Recall@10 91,16% · el mejor recuperador</a:t>
            </a:r>
          </a:p>
        </p:txBody>
      </p:sp>
      <p:sp>
        <p:nvSpPr>
          <p:cNvPr id="77" name="Rectangle 76"/>
          <p:cNvSpPr/>
          <p:nvPr/>
        </p:nvSpPr>
        <p:spPr>
          <a:xfrm>
            <a:off x="6629400" y="6327321"/>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6629400" y="6327321"/>
            <a:ext cx="7559751" cy="2476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5640050" y="6213021"/>
            <a:ext cx="1428750" cy="476250"/>
          </a:xfrm>
          <a:prstGeom prst="rect">
            <a:avLst/>
          </a:prstGeom>
          <a:noFill/>
        </p:spPr>
        <p:txBody>
          <a:bodyPr wrap="square" lIns="0" rIns="0" tIns="0" bIns="0" anchor="ctr">
            <a:spAutoFit/>
          </a:bodyPr>
          <a:lstStyle/>
          <a:p>
            <a:pPr algn="r">
              <a:lnSpc>
                <a:spcPct val="100000"/>
              </a:lnSpc>
            </a:pPr>
            <a:r>
              <a:rPr sz="2400" b="1" i="0">
                <a:solidFill>
                  <a:srgbClr val="F3F7FC"/>
                </a:solidFill>
                <a:latin typeface="Montserrat"/>
              </a:rPr>
              <a:t>85,71%</a:t>
            </a:r>
          </a:p>
        </p:txBody>
      </p:sp>
      <p:sp>
        <p:nvSpPr>
          <p:cNvPr id="80" name="TextBox 79"/>
          <p:cNvSpPr txBox="1"/>
          <p:nvPr/>
        </p:nvSpPr>
        <p:spPr>
          <a:xfrm>
            <a:off x="6629400" y="6779079"/>
            <a:ext cx="3794373"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Baseline de coincidencia exacta</a:t>
            </a:r>
          </a:p>
        </p:txBody>
      </p:sp>
      <p:sp>
        <p:nvSpPr>
          <p:cNvPr id="81" name="TextBox 80"/>
          <p:cNvSpPr txBox="1"/>
          <p:nvPr/>
        </p:nvSpPr>
        <p:spPr>
          <a:xfrm>
            <a:off x="10290423" y="6779079"/>
            <a:ext cx="5159127"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solo reglas de código</a:t>
            </a:r>
          </a:p>
        </p:txBody>
      </p:sp>
      <p:sp>
        <p:nvSpPr>
          <p:cNvPr id="82" name="Rectangle 81"/>
          <p:cNvSpPr/>
          <p:nvPr/>
        </p:nvSpPr>
        <p:spPr>
          <a:xfrm>
            <a:off x="6629400" y="7179129"/>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6629400" y="7179129"/>
            <a:ext cx="7499774" cy="2476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5640050" y="7064829"/>
            <a:ext cx="1428750" cy="476250"/>
          </a:xfrm>
          <a:prstGeom prst="rect">
            <a:avLst/>
          </a:prstGeom>
          <a:noFill/>
        </p:spPr>
        <p:txBody>
          <a:bodyPr wrap="square" lIns="0" rIns="0" tIns="0" bIns="0" anchor="ctr">
            <a:spAutoFit/>
          </a:bodyPr>
          <a:lstStyle/>
          <a:p>
            <a:pPr algn="r">
              <a:lnSpc>
                <a:spcPct val="100000"/>
              </a:lnSpc>
            </a:pPr>
            <a:r>
              <a:rPr sz="2400" b="1" i="0">
                <a:solidFill>
                  <a:srgbClr val="F3F7FC"/>
                </a:solidFill>
                <a:latin typeface="Montserrat"/>
              </a:rPr>
              <a:t>85,03%</a:t>
            </a:r>
          </a:p>
        </p:txBody>
      </p:sp>
      <p:sp>
        <p:nvSpPr>
          <p:cNvPr id="85" name="TextBox 84"/>
          <p:cNvSpPr txBox="1"/>
          <p:nvPr/>
        </p:nvSpPr>
        <p:spPr>
          <a:xfrm>
            <a:off x="6629400" y="7630886"/>
            <a:ext cx="2137916"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Transformer solo</a:t>
            </a:r>
          </a:p>
        </p:txBody>
      </p:sp>
      <p:sp>
        <p:nvSpPr>
          <p:cNvPr id="86" name="TextBox 85"/>
          <p:cNvSpPr txBox="1"/>
          <p:nvPr/>
        </p:nvSpPr>
        <p:spPr>
          <a:xfrm>
            <a:off x="8633966" y="7630886"/>
            <a:ext cx="6815584"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sin recuperador previo</a:t>
            </a:r>
          </a:p>
        </p:txBody>
      </p:sp>
      <p:sp>
        <p:nvSpPr>
          <p:cNvPr id="87" name="Rectangle 86"/>
          <p:cNvSpPr/>
          <p:nvPr/>
        </p:nvSpPr>
        <p:spPr>
          <a:xfrm>
            <a:off x="6629400" y="8030936"/>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6629400" y="8030936"/>
            <a:ext cx="7259865" cy="2476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5640050" y="7916636"/>
            <a:ext cx="1428750" cy="476250"/>
          </a:xfrm>
          <a:prstGeom prst="rect">
            <a:avLst/>
          </a:prstGeom>
          <a:noFill/>
        </p:spPr>
        <p:txBody>
          <a:bodyPr wrap="square" lIns="0" rIns="0" tIns="0" bIns="0" anchor="ctr">
            <a:spAutoFit/>
          </a:bodyPr>
          <a:lstStyle/>
          <a:p>
            <a:pPr algn="r">
              <a:lnSpc>
                <a:spcPct val="100000"/>
              </a:lnSpc>
            </a:pPr>
            <a:r>
              <a:rPr sz="2400" b="1" i="0">
                <a:solidFill>
                  <a:srgbClr val="F3F7FC"/>
                </a:solidFill>
                <a:latin typeface="Montserrat"/>
              </a:rPr>
              <a:t>82,31%</a:t>
            </a:r>
          </a:p>
        </p:txBody>
      </p:sp>
      <p:sp>
        <p:nvSpPr>
          <p:cNvPr id="90" name="TextBox 89"/>
          <p:cNvSpPr txBox="1"/>
          <p:nvPr/>
        </p:nvSpPr>
        <p:spPr>
          <a:xfrm>
            <a:off x="6629400" y="8482693"/>
            <a:ext cx="3010049" cy="30480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Embeddings congelados</a:t>
            </a:r>
          </a:p>
        </p:txBody>
      </p:sp>
      <p:sp>
        <p:nvSpPr>
          <p:cNvPr id="91" name="TextBox 90"/>
          <p:cNvSpPr txBox="1"/>
          <p:nvPr/>
        </p:nvSpPr>
        <p:spPr>
          <a:xfrm>
            <a:off x="9506099" y="8482693"/>
            <a:ext cx="5943451" cy="3048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13 de 147 · MRR 0,1352</a:t>
            </a:r>
          </a:p>
        </p:txBody>
      </p:sp>
      <p:sp>
        <p:nvSpPr>
          <p:cNvPr id="92" name="Rectangle 91"/>
          <p:cNvSpPr/>
          <p:nvPr/>
        </p:nvSpPr>
        <p:spPr>
          <a:xfrm>
            <a:off x="6629400" y="8882743"/>
            <a:ext cx="8820150" cy="2476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6629400" y="8882743"/>
            <a:ext cx="779701" cy="2476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15640050" y="8768443"/>
            <a:ext cx="1428750" cy="476250"/>
          </a:xfrm>
          <a:prstGeom prst="rect">
            <a:avLst/>
          </a:prstGeom>
          <a:noFill/>
        </p:spPr>
        <p:txBody>
          <a:bodyPr wrap="square" lIns="0" rIns="0" tIns="0" bIns="0" anchor="ctr">
            <a:spAutoFit/>
          </a:bodyPr>
          <a:lstStyle/>
          <a:p>
            <a:pPr algn="r">
              <a:lnSpc>
                <a:spcPct val="100000"/>
              </a:lnSpc>
            </a:pPr>
            <a:r>
              <a:rPr sz="2400" b="1" i="0">
                <a:solidFill>
                  <a:srgbClr val="E0566B"/>
                </a:solidFill>
                <a:latin typeface="Montserrat"/>
              </a:rPr>
              <a:t>8,84%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OE5 · EVALUAR EL DESEMPEÑO · CLASIFICACIÓN DE PARES</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Clasificación de pares: el F1 sin la matriz engaña</a:t>
            </a:r>
          </a:p>
        </p:txBody>
      </p:sp>
      <p:sp>
        <p:nvSpPr>
          <p:cNvPr id="9" name="Rectangle 8"/>
          <p:cNvSpPr/>
          <p:nvPr/>
        </p:nvSpPr>
        <p:spPr>
          <a:xfrm>
            <a:off x="914400" y="2686050"/>
            <a:ext cx="100965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86050"/>
            <a:ext cx="100965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078230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1077575"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10775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squinero"/>
          <p:cNvSpPr/>
          <p:nvPr/>
        </p:nvSpPr>
        <p:spPr>
          <a:xfrm>
            <a:off x="107823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19200" y="2933700"/>
            <a:ext cx="31432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MODELO · UMBRAL</a:t>
            </a:r>
          </a:p>
        </p:txBody>
      </p:sp>
      <p:sp>
        <p:nvSpPr>
          <p:cNvPr id="20" name="TextBox 19"/>
          <p:cNvSpPr txBox="1"/>
          <p:nvPr/>
        </p:nvSpPr>
        <p:spPr>
          <a:xfrm>
            <a:off x="4591050" y="2933700"/>
            <a:ext cx="238125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F1 DE PARES</a:t>
            </a:r>
          </a:p>
        </p:txBody>
      </p:sp>
      <p:sp>
        <p:nvSpPr>
          <p:cNvPr id="21" name="TextBox 20"/>
          <p:cNvSpPr txBox="1"/>
          <p:nvPr/>
        </p:nvSpPr>
        <p:spPr>
          <a:xfrm>
            <a:off x="7505700" y="2933700"/>
            <a:ext cx="32004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FALSOS POSITIVOS</a:t>
            </a:r>
          </a:p>
        </p:txBody>
      </p:sp>
      <p:sp>
        <p:nvSpPr>
          <p:cNvPr id="22" name="Rounded Rectangle 21"/>
          <p:cNvSpPr/>
          <p:nvPr/>
        </p:nvSpPr>
        <p:spPr>
          <a:xfrm>
            <a:off x="1219200" y="3524250"/>
            <a:ext cx="381000" cy="381000"/>
          </a:xfrm>
          <a:prstGeom prst="roundRect">
            <a:avLst>
              <a:gd name="adj" fmla="val 1000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19200" y="352425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1</a:t>
            </a:r>
          </a:p>
        </p:txBody>
      </p:sp>
      <p:sp>
        <p:nvSpPr>
          <p:cNvPr id="24" name="TextBox 23"/>
          <p:cNvSpPr txBox="1"/>
          <p:nvPr/>
        </p:nvSpPr>
        <p:spPr>
          <a:xfrm>
            <a:off x="1752600" y="3505200"/>
            <a:ext cx="2609850" cy="4191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TF-IDF</a:t>
            </a:r>
          </a:p>
        </p:txBody>
      </p:sp>
      <p:sp>
        <p:nvSpPr>
          <p:cNvPr id="25" name="TextBox 24"/>
          <p:cNvSpPr txBox="1"/>
          <p:nvPr/>
        </p:nvSpPr>
        <p:spPr>
          <a:xfrm>
            <a:off x="1219200" y="4000500"/>
            <a:ext cx="859334" cy="3048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umbral</a:t>
            </a:r>
          </a:p>
        </p:txBody>
      </p:sp>
      <p:sp>
        <p:nvSpPr>
          <p:cNvPr id="26" name="Rounded Rectangle 25"/>
          <p:cNvSpPr/>
          <p:nvPr/>
        </p:nvSpPr>
        <p:spPr>
          <a:xfrm>
            <a:off x="1868984" y="4010025"/>
            <a:ext cx="880467" cy="285750"/>
          </a:xfrm>
          <a:prstGeom prst="roundRect">
            <a:avLst>
              <a:gd name="adj" fmla="val 20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868984" y="4010025"/>
            <a:ext cx="880467" cy="28575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0,5238</a:t>
            </a:r>
          </a:p>
        </p:txBody>
      </p:sp>
      <p:sp>
        <p:nvSpPr>
          <p:cNvPr id="28" name="TextBox 27"/>
          <p:cNvSpPr txBox="1"/>
          <p:nvPr/>
        </p:nvSpPr>
        <p:spPr>
          <a:xfrm>
            <a:off x="1219200" y="4343400"/>
            <a:ext cx="3238500" cy="266700"/>
          </a:xfrm>
          <a:prstGeom prst="rect">
            <a:avLst/>
          </a:prstGeom>
          <a:noFill/>
        </p:spPr>
        <p:txBody>
          <a:bodyPr wrap="square" lIns="0" rIns="0" tIns="0" bIns="0" anchor="ctr">
            <a:spAutoFit/>
          </a:bodyPr>
          <a:lstStyle/>
          <a:p>
            <a:pPr algn="l">
              <a:lnSpc>
                <a:spcPct val="100000"/>
              </a:lnSpc>
            </a:pPr>
            <a:r>
              <a:rPr sz="1425" b="0" i="0">
                <a:solidFill>
                  <a:srgbClr val="9FB4CC"/>
                </a:solidFill>
                <a:latin typeface="Barlow"/>
              </a:rPr>
              <a:t>Precisión 74,44% · Recall 69,79%</a:t>
            </a:r>
          </a:p>
        </p:txBody>
      </p:sp>
      <p:sp>
        <p:nvSpPr>
          <p:cNvPr id="29" name="TextBox 28"/>
          <p:cNvSpPr txBox="1"/>
          <p:nvPr/>
        </p:nvSpPr>
        <p:spPr>
          <a:xfrm>
            <a:off x="4591050" y="3486150"/>
            <a:ext cx="2381250" cy="495300"/>
          </a:xfrm>
          <a:prstGeom prst="rect">
            <a:avLst/>
          </a:prstGeom>
          <a:noFill/>
        </p:spPr>
        <p:txBody>
          <a:bodyPr wrap="square" lIns="0" rIns="0" tIns="0" bIns="0" anchor="ctr">
            <a:spAutoFit/>
          </a:bodyPr>
          <a:lstStyle/>
          <a:p>
            <a:pPr algn="l">
              <a:lnSpc>
                <a:spcPct val="83300"/>
              </a:lnSpc>
            </a:pPr>
            <a:r>
              <a:rPr sz="3000" b="1" i="0">
                <a:solidFill>
                  <a:srgbClr val="F3F7FC"/>
                </a:solidFill>
                <a:latin typeface="Montserrat"/>
              </a:rPr>
              <a:t>72,04%</a:t>
            </a:r>
          </a:p>
        </p:txBody>
      </p:sp>
      <p:sp>
        <p:nvSpPr>
          <p:cNvPr id="30" name="Rectangle 29"/>
          <p:cNvSpPr/>
          <p:nvPr/>
        </p:nvSpPr>
        <p:spPr>
          <a:xfrm>
            <a:off x="4591050" y="4076700"/>
            <a:ext cx="23812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591050" y="4076700"/>
            <a:ext cx="1715453"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591050" y="4333875"/>
            <a:ext cx="2217747"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91050" y="4333875"/>
            <a:ext cx="2217747"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RECHAZA DE MÁS</a:t>
            </a:r>
          </a:p>
        </p:txBody>
      </p:sp>
      <p:sp>
        <p:nvSpPr>
          <p:cNvPr id="34" name="TextBox 33"/>
          <p:cNvSpPr txBox="1"/>
          <p:nvPr/>
        </p:nvSpPr>
        <p:spPr>
          <a:xfrm>
            <a:off x="7505700" y="3486150"/>
            <a:ext cx="3200400" cy="495300"/>
          </a:xfrm>
          <a:prstGeom prst="rect">
            <a:avLst/>
          </a:prstGeom>
          <a:noFill/>
        </p:spPr>
        <p:txBody>
          <a:bodyPr wrap="square" lIns="0" rIns="0" tIns="0" bIns="0" anchor="ctr">
            <a:spAutoFit/>
          </a:bodyPr>
          <a:lstStyle/>
          <a:p>
            <a:pPr algn="l">
              <a:lnSpc>
                <a:spcPct val="83300"/>
              </a:lnSpc>
            </a:pPr>
            <a:r>
              <a:rPr sz="3000" b="1" i="0">
                <a:solidFill>
                  <a:srgbClr val="E0566B"/>
                </a:solidFill>
                <a:latin typeface="Montserrat"/>
              </a:rPr>
              <a:t>35,38%</a:t>
            </a:r>
          </a:p>
        </p:txBody>
      </p:sp>
      <p:sp>
        <p:nvSpPr>
          <p:cNvPr id="35" name="Rectangle 34"/>
          <p:cNvSpPr/>
          <p:nvPr/>
        </p:nvSpPr>
        <p:spPr>
          <a:xfrm>
            <a:off x="7505700" y="4076700"/>
            <a:ext cx="3200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505700" y="4076700"/>
            <a:ext cx="1132302"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19200" y="4695825"/>
            <a:ext cx="9486900" cy="14288"/>
          </a:xfrm>
          <a:prstGeom prst="rect">
            <a:avLst/>
          </a:prstGeom>
          <a:solidFill>
            <a:srgbClr val="2F7B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219200" y="4876800"/>
            <a:ext cx="381000" cy="381000"/>
          </a:xfrm>
          <a:prstGeom prst="roundRect">
            <a:avLst>
              <a:gd name="adj" fmla="val 10000"/>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19200" y="487680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40" name="TextBox 39"/>
          <p:cNvSpPr txBox="1"/>
          <p:nvPr/>
        </p:nvSpPr>
        <p:spPr>
          <a:xfrm>
            <a:off x="1752600" y="4857750"/>
            <a:ext cx="2609850" cy="4191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Embeddings</a:t>
            </a:r>
          </a:p>
        </p:txBody>
      </p:sp>
      <p:sp>
        <p:nvSpPr>
          <p:cNvPr id="41" name="TextBox 40"/>
          <p:cNvSpPr txBox="1"/>
          <p:nvPr/>
        </p:nvSpPr>
        <p:spPr>
          <a:xfrm>
            <a:off x="1219200" y="5353050"/>
            <a:ext cx="859334" cy="3048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umbral</a:t>
            </a:r>
          </a:p>
        </p:txBody>
      </p:sp>
      <p:sp>
        <p:nvSpPr>
          <p:cNvPr id="42" name="Rounded Rectangle 41"/>
          <p:cNvSpPr/>
          <p:nvPr/>
        </p:nvSpPr>
        <p:spPr>
          <a:xfrm>
            <a:off x="1868984" y="5362575"/>
            <a:ext cx="771823" cy="285750"/>
          </a:xfrm>
          <a:prstGeom prst="roundRect">
            <a:avLst>
              <a:gd name="adj" fmla="val 20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868984" y="5362575"/>
            <a:ext cx="771823" cy="28575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0,378</a:t>
            </a:r>
          </a:p>
        </p:txBody>
      </p:sp>
      <p:sp>
        <p:nvSpPr>
          <p:cNvPr id="44" name="TextBox 43"/>
          <p:cNvSpPr txBox="1"/>
          <p:nvPr/>
        </p:nvSpPr>
        <p:spPr>
          <a:xfrm>
            <a:off x="1219200" y="5695950"/>
            <a:ext cx="3238500" cy="266700"/>
          </a:xfrm>
          <a:prstGeom prst="rect">
            <a:avLst/>
          </a:prstGeom>
          <a:noFill/>
        </p:spPr>
        <p:txBody>
          <a:bodyPr wrap="square" lIns="0" rIns="0" tIns="0" bIns="0" anchor="ctr">
            <a:spAutoFit/>
          </a:bodyPr>
          <a:lstStyle/>
          <a:p>
            <a:pPr algn="l">
              <a:lnSpc>
                <a:spcPct val="100000"/>
              </a:lnSpc>
            </a:pPr>
            <a:r>
              <a:rPr sz="1425" b="0" i="0">
                <a:solidFill>
                  <a:srgbClr val="9FB4CC"/>
                </a:solidFill>
                <a:latin typeface="Barlow"/>
              </a:rPr>
              <a:t>Precisión 61,70% · Recall 90,63%</a:t>
            </a:r>
          </a:p>
        </p:txBody>
      </p:sp>
      <p:sp>
        <p:nvSpPr>
          <p:cNvPr id="45" name="TextBox 44"/>
          <p:cNvSpPr txBox="1"/>
          <p:nvPr/>
        </p:nvSpPr>
        <p:spPr>
          <a:xfrm>
            <a:off x="4591050" y="4838700"/>
            <a:ext cx="2381250" cy="495300"/>
          </a:xfrm>
          <a:prstGeom prst="rect">
            <a:avLst/>
          </a:prstGeom>
          <a:noFill/>
        </p:spPr>
        <p:txBody>
          <a:bodyPr wrap="square" lIns="0" rIns="0" tIns="0" bIns="0" anchor="ctr">
            <a:spAutoFit/>
          </a:bodyPr>
          <a:lstStyle/>
          <a:p>
            <a:pPr algn="l">
              <a:lnSpc>
                <a:spcPct val="83300"/>
              </a:lnSpc>
            </a:pPr>
            <a:r>
              <a:rPr sz="3000" b="1" i="0">
                <a:solidFill>
                  <a:srgbClr val="F3F7FC"/>
                </a:solidFill>
                <a:latin typeface="Montserrat"/>
              </a:rPr>
              <a:t>73,42%</a:t>
            </a:r>
          </a:p>
        </p:txBody>
      </p:sp>
      <p:sp>
        <p:nvSpPr>
          <p:cNvPr id="46" name="Rectangle 45"/>
          <p:cNvSpPr/>
          <p:nvPr/>
        </p:nvSpPr>
        <p:spPr>
          <a:xfrm>
            <a:off x="4591050" y="5429250"/>
            <a:ext cx="23812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591050" y="5429250"/>
            <a:ext cx="1748314" cy="190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4591050" y="5686425"/>
            <a:ext cx="2385268"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591050" y="5686425"/>
            <a:ext cx="2385268"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ACEPTA CASI TODO</a:t>
            </a:r>
          </a:p>
        </p:txBody>
      </p:sp>
      <p:sp>
        <p:nvSpPr>
          <p:cNvPr id="50" name="TextBox 49"/>
          <p:cNvSpPr txBox="1"/>
          <p:nvPr/>
        </p:nvSpPr>
        <p:spPr>
          <a:xfrm>
            <a:off x="7505700" y="4838700"/>
            <a:ext cx="3200400" cy="495300"/>
          </a:xfrm>
          <a:prstGeom prst="rect">
            <a:avLst/>
          </a:prstGeom>
          <a:noFill/>
        </p:spPr>
        <p:txBody>
          <a:bodyPr wrap="square" lIns="0" rIns="0" tIns="0" bIns="0" anchor="ctr">
            <a:spAutoFit/>
          </a:bodyPr>
          <a:lstStyle/>
          <a:p>
            <a:pPr algn="l">
              <a:lnSpc>
                <a:spcPct val="83300"/>
              </a:lnSpc>
            </a:pPr>
            <a:r>
              <a:rPr sz="3000" b="1" i="0">
                <a:solidFill>
                  <a:srgbClr val="E0566B"/>
                </a:solidFill>
                <a:latin typeface="Montserrat"/>
              </a:rPr>
              <a:t>83,08%</a:t>
            </a:r>
          </a:p>
        </p:txBody>
      </p:sp>
      <p:sp>
        <p:nvSpPr>
          <p:cNvPr id="51" name="Rectangle 50"/>
          <p:cNvSpPr/>
          <p:nvPr/>
        </p:nvSpPr>
        <p:spPr>
          <a:xfrm>
            <a:off x="7505700" y="5429250"/>
            <a:ext cx="3200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7505700" y="5429250"/>
            <a:ext cx="2658892"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219200" y="6048375"/>
            <a:ext cx="9486900" cy="14288"/>
          </a:xfrm>
          <a:prstGeom prst="rect">
            <a:avLst/>
          </a:prstGeom>
          <a:solidFill>
            <a:srgbClr val="2F7B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1219200" y="622935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219200" y="62293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3</a:t>
            </a:r>
          </a:p>
        </p:txBody>
      </p:sp>
      <p:sp>
        <p:nvSpPr>
          <p:cNvPr id="56" name="TextBox 55"/>
          <p:cNvSpPr txBox="1"/>
          <p:nvPr/>
        </p:nvSpPr>
        <p:spPr>
          <a:xfrm>
            <a:off x="1752600" y="6210300"/>
            <a:ext cx="2609850" cy="4191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Cross-encoder</a:t>
            </a:r>
          </a:p>
        </p:txBody>
      </p:sp>
      <p:sp>
        <p:nvSpPr>
          <p:cNvPr id="57" name="TextBox 56"/>
          <p:cNvSpPr txBox="1"/>
          <p:nvPr/>
        </p:nvSpPr>
        <p:spPr>
          <a:xfrm>
            <a:off x="1219200" y="6705600"/>
            <a:ext cx="859334" cy="30480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umbral</a:t>
            </a:r>
          </a:p>
        </p:txBody>
      </p:sp>
      <p:sp>
        <p:nvSpPr>
          <p:cNvPr id="58" name="Rounded Rectangle 57"/>
          <p:cNvSpPr/>
          <p:nvPr/>
        </p:nvSpPr>
        <p:spPr>
          <a:xfrm>
            <a:off x="1868984" y="6715125"/>
            <a:ext cx="1097756" cy="285750"/>
          </a:xfrm>
          <a:prstGeom prst="roundRect">
            <a:avLst>
              <a:gd name="adj" fmla="val 200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868984" y="6715125"/>
            <a:ext cx="1097756" cy="285750"/>
          </a:xfrm>
          <a:prstGeom prst="rect">
            <a:avLst/>
          </a:prstGeom>
          <a:noFill/>
        </p:spPr>
        <p:txBody>
          <a:bodyPr wrap="none" lIns="0" rIns="0" tIns="0" bIns="0" anchor="ctr">
            <a:spAutoFit/>
          </a:bodyPr>
          <a:lstStyle/>
          <a:p>
            <a:pPr algn="ctr">
              <a:lnSpc>
                <a:spcPct val="100000"/>
              </a:lnSpc>
            </a:pPr>
            <a:r>
              <a:rPr sz="1425" b="0" i="0">
                <a:solidFill>
                  <a:srgbClr val="FFD21F"/>
                </a:solidFill>
                <a:latin typeface="Roboto Mono"/>
              </a:rPr>
              <a:t>0,998844</a:t>
            </a:r>
          </a:p>
        </p:txBody>
      </p:sp>
      <p:sp>
        <p:nvSpPr>
          <p:cNvPr id="60" name="TextBox 59"/>
          <p:cNvSpPr txBox="1"/>
          <p:nvPr/>
        </p:nvSpPr>
        <p:spPr>
          <a:xfrm>
            <a:off x="1219200" y="7048500"/>
            <a:ext cx="3238500" cy="266700"/>
          </a:xfrm>
          <a:prstGeom prst="rect">
            <a:avLst/>
          </a:prstGeom>
          <a:noFill/>
        </p:spPr>
        <p:txBody>
          <a:bodyPr wrap="square" lIns="0" rIns="0" tIns="0" bIns="0" anchor="ctr">
            <a:spAutoFit/>
          </a:bodyPr>
          <a:lstStyle/>
          <a:p>
            <a:pPr algn="l">
              <a:lnSpc>
                <a:spcPct val="100000"/>
              </a:lnSpc>
            </a:pPr>
            <a:r>
              <a:rPr sz="1425" b="0" i="0">
                <a:solidFill>
                  <a:srgbClr val="9FB4CC"/>
                </a:solidFill>
                <a:latin typeface="Barlow"/>
              </a:rPr>
              <a:t>Precisión 96,91% · Recall 97,92%</a:t>
            </a:r>
          </a:p>
        </p:txBody>
      </p:sp>
      <p:sp>
        <p:nvSpPr>
          <p:cNvPr id="61" name="TextBox 60"/>
          <p:cNvSpPr txBox="1"/>
          <p:nvPr/>
        </p:nvSpPr>
        <p:spPr>
          <a:xfrm>
            <a:off x="4591050" y="6191250"/>
            <a:ext cx="2381250" cy="495300"/>
          </a:xfrm>
          <a:prstGeom prst="rect">
            <a:avLst/>
          </a:prstGeom>
          <a:noFill/>
        </p:spPr>
        <p:txBody>
          <a:bodyPr wrap="square" lIns="0" rIns="0" tIns="0" bIns="0" anchor="ctr">
            <a:spAutoFit/>
          </a:bodyPr>
          <a:lstStyle/>
          <a:p>
            <a:pPr algn="l">
              <a:lnSpc>
                <a:spcPct val="83300"/>
              </a:lnSpc>
            </a:pPr>
            <a:r>
              <a:rPr sz="3000" b="1" i="0">
                <a:solidFill>
                  <a:srgbClr val="FFD21F"/>
                </a:solidFill>
                <a:latin typeface="Montserrat"/>
              </a:rPr>
              <a:t>97,41%</a:t>
            </a:r>
          </a:p>
        </p:txBody>
      </p:sp>
      <p:sp>
        <p:nvSpPr>
          <p:cNvPr id="62" name="Rectangle 61"/>
          <p:cNvSpPr/>
          <p:nvPr/>
        </p:nvSpPr>
        <p:spPr>
          <a:xfrm>
            <a:off x="4591050" y="6781800"/>
            <a:ext cx="238125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4591050" y="6781800"/>
            <a:ext cx="2319576"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505700" y="6191250"/>
            <a:ext cx="3200400" cy="495300"/>
          </a:xfrm>
          <a:prstGeom prst="rect">
            <a:avLst/>
          </a:prstGeom>
          <a:noFill/>
        </p:spPr>
        <p:txBody>
          <a:bodyPr wrap="square" lIns="0" rIns="0" tIns="0" bIns="0" anchor="ctr">
            <a:spAutoFit/>
          </a:bodyPr>
          <a:lstStyle/>
          <a:p>
            <a:pPr algn="l">
              <a:lnSpc>
                <a:spcPct val="83300"/>
              </a:lnSpc>
            </a:pPr>
            <a:r>
              <a:rPr sz="3000" b="1" i="0">
                <a:solidFill>
                  <a:srgbClr val="FFD21F"/>
                </a:solidFill>
                <a:latin typeface="Montserrat"/>
              </a:rPr>
              <a:t>4,62%</a:t>
            </a:r>
          </a:p>
        </p:txBody>
      </p:sp>
      <p:sp>
        <p:nvSpPr>
          <p:cNvPr id="65" name="Rectangle 64"/>
          <p:cNvSpPr/>
          <p:nvPr/>
        </p:nvSpPr>
        <p:spPr>
          <a:xfrm>
            <a:off x="7505700" y="6781800"/>
            <a:ext cx="32004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7505700" y="6781800"/>
            <a:ext cx="147858"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7105650" y="3733800"/>
            <a:ext cx="28575" cy="1352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7010400" y="3719512"/>
            <a:ext cx="123825"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7010400" y="5072062"/>
            <a:ext cx="123825"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7162800" y="4200525"/>
            <a:ext cx="342900" cy="419100"/>
          </a:xfrm>
          <a:prstGeom prst="rect">
            <a:avLst/>
          </a:prstGeom>
          <a:noFill/>
        </p:spPr>
        <p:txBody>
          <a:bodyPr wrap="square" lIns="0" rIns="0" tIns="0" bIns="0" anchor="ctr">
            <a:spAutoFit/>
          </a:bodyPr>
          <a:lstStyle/>
          <a:p>
            <a:pPr algn="l">
              <a:lnSpc>
                <a:spcPct val="100000"/>
              </a:lnSpc>
            </a:pPr>
            <a:r>
              <a:rPr sz="2550" b="1" i="0">
                <a:solidFill>
                  <a:srgbClr val="FFD21F"/>
                </a:solidFill>
                <a:latin typeface="Barlow"/>
              </a:rPr>
              <a:t>≈</a:t>
            </a:r>
          </a:p>
        </p:txBody>
      </p:sp>
      <p:sp>
        <p:nvSpPr>
          <p:cNvPr id="71" name="Rectangle 70"/>
          <p:cNvSpPr/>
          <p:nvPr/>
        </p:nvSpPr>
        <p:spPr>
          <a:xfrm>
            <a:off x="1219200" y="7448550"/>
            <a:ext cx="94869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276350" y="8331994"/>
            <a:ext cx="372350"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F1</a:t>
            </a:r>
          </a:p>
        </p:txBody>
      </p:sp>
      <p:sp>
        <p:nvSpPr>
          <p:cNvPr id="73" name="TextBox 72"/>
          <p:cNvSpPr txBox="1"/>
          <p:nvPr/>
        </p:nvSpPr>
        <p:spPr>
          <a:xfrm>
            <a:off x="1701659" y="8331994"/>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74" name="Rectangle 73"/>
          <p:cNvSpPr/>
          <p:nvPr/>
        </p:nvSpPr>
        <p:spPr>
          <a:xfrm>
            <a:off x="1992743" y="8520112"/>
            <a:ext cx="1042091"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022271" y="8147820"/>
            <a:ext cx="215418"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2</a:t>
            </a:r>
          </a:p>
        </p:txBody>
      </p:sp>
      <p:sp>
        <p:nvSpPr>
          <p:cNvPr id="76" name="TextBox 75"/>
          <p:cNvSpPr txBox="1"/>
          <p:nvPr/>
        </p:nvSpPr>
        <p:spPr>
          <a:xfrm>
            <a:off x="2238423" y="8147820"/>
            <a:ext cx="119185"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a:t>
            </a:r>
          </a:p>
        </p:txBody>
      </p:sp>
      <p:sp>
        <p:nvSpPr>
          <p:cNvPr id="77" name="TextBox 76"/>
          <p:cNvSpPr txBox="1"/>
          <p:nvPr/>
        </p:nvSpPr>
        <p:spPr>
          <a:xfrm>
            <a:off x="2363789" y="8147820"/>
            <a:ext cx="231961" cy="348139"/>
          </a:xfrm>
          <a:prstGeom prst="rect">
            <a:avLst/>
          </a:prstGeom>
          <a:noFill/>
        </p:spPr>
        <p:txBody>
          <a:bodyPr wrap="none" lIns="0" rIns="0" tIns="0" bIns="0" anchor="ctr">
            <a:spAutoFit/>
          </a:bodyPr>
          <a:lstStyle/>
          <a:p>
            <a:pPr algn="l">
              <a:lnSpc>
                <a:spcPct val="83300"/>
              </a:lnSpc>
            </a:pPr>
            <a:r>
              <a:rPr sz="2193" b="0" i="1">
                <a:solidFill>
                  <a:srgbClr val="F3F7FC"/>
                </a:solidFill>
                <a:latin typeface="Barlow"/>
              </a:rPr>
              <a:t>P</a:t>
            </a:r>
          </a:p>
        </p:txBody>
      </p:sp>
      <p:sp>
        <p:nvSpPr>
          <p:cNvPr id="78" name="TextBox 77"/>
          <p:cNvSpPr txBox="1"/>
          <p:nvPr/>
        </p:nvSpPr>
        <p:spPr>
          <a:xfrm>
            <a:off x="2633293" y="8147820"/>
            <a:ext cx="119185"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a:t>
            </a:r>
          </a:p>
        </p:txBody>
      </p:sp>
      <p:sp>
        <p:nvSpPr>
          <p:cNvPr id="79" name="TextBox 78"/>
          <p:cNvSpPr txBox="1"/>
          <p:nvPr/>
        </p:nvSpPr>
        <p:spPr>
          <a:xfrm>
            <a:off x="2758659" y="8147820"/>
            <a:ext cx="237846" cy="348139"/>
          </a:xfrm>
          <a:prstGeom prst="rect">
            <a:avLst/>
          </a:prstGeom>
          <a:noFill/>
        </p:spPr>
        <p:txBody>
          <a:bodyPr wrap="none" lIns="0" rIns="0" tIns="0" bIns="0" anchor="ctr">
            <a:spAutoFit/>
          </a:bodyPr>
          <a:lstStyle/>
          <a:p>
            <a:pPr algn="l">
              <a:lnSpc>
                <a:spcPct val="83300"/>
              </a:lnSpc>
            </a:pPr>
            <a:r>
              <a:rPr sz="2193" b="0" i="1">
                <a:solidFill>
                  <a:srgbClr val="F3F7FC"/>
                </a:solidFill>
                <a:latin typeface="Barlow"/>
              </a:rPr>
              <a:t>R</a:t>
            </a:r>
          </a:p>
        </p:txBody>
      </p:sp>
      <p:sp>
        <p:nvSpPr>
          <p:cNvPr id="80" name="TextBox 79"/>
          <p:cNvSpPr txBox="1"/>
          <p:nvPr/>
        </p:nvSpPr>
        <p:spPr>
          <a:xfrm>
            <a:off x="2152664" y="8579318"/>
            <a:ext cx="231961" cy="348139"/>
          </a:xfrm>
          <a:prstGeom prst="rect">
            <a:avLst/>
          </a:prstGeom>
          <a:noFill/>
        </p:spPr>
        <p:txBody>
          <a:bodyPr wrap="none" lIns="0" rIns="0" tIns="0" bIns="0" anchor="ctr">
            <a:spAutoFit/>
          </a:bodyPr>
          <a:lstStyle/>
          <a:p>
            <a:pPr algn="l">
              <a:lnSpc>
                <a:spcPct val="83300"/>
              </a:lnSpc>
            </a:pPr>
            <a:r>
              <a:rPr sz="2193" b="0" i="1">
                <a:solidFill>
                  <a:srgbClr val="F3F7FC"/>
                </a:solidFill>
                <a:latin typeface="Barlow"/>
              </a:rPr>
              <a:t>P</a:t>
            </a:r>
          </a:p>
        </p:txBody>
      </p:sp>
      <p:sp>
        <p:nvSpPr>
          <p:cNvPr id="81" name="TextBox 80"/>
          <p:cNvSpPr txBox="1"/>
          <p:nvPr/>
        </p:nvSpPr>
        <p:spPr>
          <a:xfrm>
            <a:off x="2422168" y="8579318"/>
            <a:ext cx="204761"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a:t>
            </a:r>
          </a:p>
        </p:txBody>
      </p:sp>
      <p:sp>
        <p:nvSpPr>
          <p:cNvPr id="82" name="TextBox 81"/>
          <p:cNvSpPr txBox="1"/>
          <p:nvPr/>
        </p:nvSpPr>
        <p:spPr>
          <a:xfrm>
            <a:off x="2628266" y="8579318"/>
            <a:ext cx="237846" cy="348139"/>
          </a:xfrm>
          <a:prstGeom prst="rect">
            <a:avLst/>
          </a:prstGeom>
          <a:noFill/>
        </p:spPr>
        <p:txBody>
          <a:bodyPr wrap="none" lIns="0" rIns="0" tIns="0" bIns="0" anchor="ctr">
            <a:spAutoFit/>
          </a:bodyPr>
          <a:lstStyle/>
          <a:p>
            <a:pPr algn="l">
              <a:lnSpc>
                <a:spcPct val="83300"/>
              </a:lnSpc>
            </a:pPr>
            <a:r>
              <a:rPr sz="2193" b="0" i="1">
                <a:solidFill>
                  <a:srgbClr val="F3F7FC"/>
                </a:solidFill>
                <a:latin typeface="Barlow"/>
              </a:rPr>
              <a:t>R</a:t>
            </a:r>
          </a:p>
        </p:txBody>
      </p:sp>
      <p:sp>
        <p:nvSpPr>
          <p:cNvPr id="83" name="Rectangle 82"/>
          <p:cNvSpPr/>
          <p:nvPr/>
        </p:nvSpPr>
        <p:spPr>
          <a:xfrm>
            <a:off x="3257719" y="7677150"/>
            <a:ext cx="14288" cy="171450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3524419" y="7620000"/>
            <a:ext cx="7181681" cy="1828800"/>
          </a:xfrm>
          <a:prstGeom prst="rect">
            <a:avLst/>
          </a:prstGeom>
          <a:noFill/>
        </p:spPr>
        <p:txBody>
          <a:bodyPr wrap="square" lIns="0" rIns="0" tIns="0" bIns="0" anchor="ctr">
            <a:spAutoFit/>
          </a:bodyPr>
          <a:lstStyle/>
          <a:p>
            <a:pPr algn="l">
              <a:lnSpc>
                <a:spcPct val="108300"/>
              </a:lnSpc>
            </a:pPr>
            <a:r>
              <a:rPr sz="1725" b="0" i="0">
                <a:solidFill>
                  <a:srgbClr val="F3F7FC"/>
                </a:solidFill>
                <a:latin typeface="Barlow"/>
              </a:rPr>
              <a:t>Un solo número promedia precisión y recall. </a:t>
            </a:r>
            <a:r>
              <a:rPr sz="1725" b="1" i="0">
                <a:solidFill>
                  <a:srgbClr val="F3F7FC"/>
                </a:solidFill>
                <a:latin typeface="Barlow"/>
              </a:rPr>
              <a:t>Los modelos 1 y 2 parecen equivalentes y sus matrices son opuestas.</a:t>
            </a:r>
          </a:p>
          <a:p>
            <a:pPr algn="l">
              <a:lnSpc>
                <a:spcPct val="108300"/>
              </a:lnSpc>
            </a:pPr>
            <a:r>
              <a:rPr sz="1725" b="1" i="0">
                <a:solidFill>
                  <a:srgbClr val="FFD21F"/>
                </a:solidFill>
                <a:latin typeface="Barlow"/>
              </a:rPr>
              <a:t>Aquí la superioridad del cross-encoder sí es contundente.</a:t>
            </a:r>
          </a:p>
        </p:txBody>
      </p:sp>
      <p:sp>
        <p:nvSpPr>
          <p:cNvPr id="85" name="Rectangle 84"/>
          <p:cNvSpPr/>
          <p:nvPr/>
        </p:nvSpPr>
        <p:spPr>
          <a:xfrm>
            <a:off x="11277600" y="2686050"/>
            <a:ext cx="6096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1277600" y="2686050"/>
            <a:ext cx="6096000"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1563350" y="2933700"/>
            <a:ext cx="5524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NEGATIVOS DIFÍCILES</a:t>
            </a:r>
          </a:p>
        </p:txBody>
      </p:sp>
      <p:sp>
        <p:nvSpPr>
          <p:cNvPr id="88" name="TextBox 87"/>
          <p:cNvSpPr txBox="1"/>
          <p:nvPr/>
        </p:nvSpPr>
        <p:spPr>
          <a:xfrm>
            <a:off x="11563350" y="3200400"/>
            <a:ext cx="5524500" cy="28575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Tasa de falsos positivos en variantes casi idénticas</a:t>
            </a:r>
          </a:p>
        </p:txBody>
      </p:sp>
      <p:sp>
        <p:nvSpPr>
          <p:cNvPr id="89" name="TextBox 88"/>
          <p:cNvSpPr txBox="1"/>
          <p:nvPr/>
        </p:nvSpPr>
        <p:spPr>
          <a:xfrm>
            <a:off x="11563350" y="3638550"/>
            <a:ext cx="5524500" cy="36195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Sufijo distinto</a:t>
            </a:r>
          </a:p>
        </p:txBody>
      </p:sp>
      <p:sp>
        <p:nvSpPr>
          <p:cNvPr id="90" name="TextBox 89"/>
          <p:cNvSpPr txBox="1"/>
          <p:nvPr/>
        </p:nvSpPr>
        <p:spPr>
          <a:xfrm>
            <a:off x="11563350" y="3638550"/>
            <a:ext cx="5524500" cy="361950"/>
          </a:xfrm>
          <a:prstGeom prst="rect">
            <a:avLst/>
          </a:prstGeom>
          <a:noFill/>
        </p:spPr>
        <p:txBody>
          <a:bodyPr wrap="square" lIns="0" rIns="0" tIns="0" bIns="0" anchor="ctr">
            <a:spAutoFit/>
          </a:bodyPr>
          <a:lstStyle/>
          <a:p>
            <a:pPr algn="r">
              <a:lnSpc>
                <a:spcPct val="100000"/>
              </a:lnSpc>
            </a:pPr>
            <a:r>
              <a:rPr sz="1650" b="1" i="0">
                <a:solidFill>
                  <a:srgbClr val="9FB4CC"/>
                </a:solidFill>
                <a:latin typeface="Montserrat"/>
              </a:rPr>
              <a:t>41 pares</a:t>
            </a:r>
          </a:p>
        </p:txBody>
      </p:sp>
      <p:sp>
        <p:nvSpPr>
          <p:cNvPr id="91" name="Rounded Rectangle 90"/>
          <p:cNvSpPr/>
          <p:nvPr/>
        </p:nvSpPr>
        <p:spPr>
          <a:xfrm>
            <a:off x="11563350" y="4076700"/>
            <a:ext cx="13716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1563350" y="4076700"/>
            <a:ext cx="13716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NPX150/INT</a:t>
            </a:r>
          </a:p>
        </p:txBody>
      </p:sp>
      <p:sp>
        <p:nvSpPr>
          <p:cNvPr id="93" name="TextBox 92"/>
          <p:cNvSpPr txBox="1"/>
          <p:nvPr/>
        </p:nvSpPr>
        <p:spPr>
          <a:xfrm>
            <a:off x="13030200" y="4095750"/>
            <a:ext cx="961579" cy="285750"/>
          </a:xfrm>
          <a:prstGeom prst="rect">
            <a:avLst/>
          </a:prstGeom>
          <a:noFill/>
        </p:spPr>
        <p:txBody>
          <a:bodyPr wrap="square" lIns="0" rIns="0" tIns="0" bIns="0" anchor="ctr">
            <a:spAutoFit/>
          </a:bodyPr>
          <a:lstStyle/>
          <a:p>
            <a:pPr algn="l">
              <a:lnSpc>
                <a:spcPct val="83300"/>
              </a:lnSpc>
            </a:pPr>
            <a:r>
              <a:rPr sz="1575" b="0" i="0">
                <a:solidFill>
                  <a:srgbClr val="9FB4CC"/>
                </a:solidFill>
                <a:latin typeface="Barlow"/>
              </a:rPr>
              <a:t>frente a</a:t>
            </a:r>
          </a:p>
        </p:txBody>
      </p:sp>
      <p:sp>
        <p:nvSpPr>
          <p:cNvPr id="94" name="Rounded Rectangle 93"/>
          <p:cNvSpPr/>
          <p:nvPr/>
        </p:nvSpPr>
        <p:spPr>
          <a:xfrm>
            <a:off x="13801279" y="4076700"/>
            <a:ext cx="12573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3801279" y="4076700"/>
            <a:ext cx="12573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NPX150/90</a:t>
            </a:r>
          </a:p>
        </p:txBody>
      </p:sp>
      <p:sp>
        <p:nvSpPr>
          <p:cNvPr id="96" name="TextBox 95"/>
          <p:cNvSpPr txBox="1"/>
          <p:nvPr/>
        </p:nvSpPr>
        <p:spPr>
          <a:xfrm>
            <a:off x="11563350" y="4533900"/>
            <a:ext cx="15240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Embeddings</a:t>
            </a:r>
          </a:p>
        </p:txBody>
      </p:sp>
      <p:sp>
        <p:nvSpPr>
          <p:cNvPr id="97" name="Rectangle 96"/>
          <p:cNvSpPr/>
          <p:nvPr/>
        </p:nvSpPr>
        <p:spPr>
          <a:xfrm>
            <a:off x="13087350" y="460057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3087350" y="4600575"/>
            <a:ext cx="2578608"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16097250" y="4533900"/>
            <a:ext cx="990600" cy="323850"/>
          </a:xfrm>
          <a:prstGeom prst="rect">
            <a:avLst/>
          </a:prstGeom>
          <a:noFill/>
        </p:spPr>
        <p:txBody>
          <a:bodyPr wrap="square" lIns="0" rIns="0" tIns="0" bIns="0" anchor="ctr">
            <a:spAutoFit/>
          </a:bodyPr>
          <a:lstStyle/>
          <a:p>
            <a:pPr algn="r">
              <a:lnSpc>
                <a:spcPct val="83300"/>
              </a:lnSpc>
            </a:pPr>
            <a:r>
              <a:rPr sz="1950" b="1" i="0">
                <a:solidFill>
                  <a:srgbClr val="E0566B"/>
                </a:solidFill>
                <a:latin typeface="Montserrat"/>
              </a:rPr>
              <a:t>90,24%</a:t>
            </a:r>
          </a:p>
        </p:txBody>
      </p:sp>
      <p:sp>
        <p:nvSpPr>
          <p:cNvPr id="100" name="TextBox 99"/>
          <p:cNvSpPr txBox="1"/>
          <p:nvPr/>
        </p:nvSpPr>
        <p:spPr>
          <a:xfrm>
            <a:off x="11563350" y="5010150"/>
            <a:ext cx="15240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TF-IDF</a:t>
            </a:r>
          </a:p>
        </p:txBody>
      </p:sp>
      <p:sp>
        <p:nvSpPr>
          <p:cNvPr id="101" name="Rectangle 100"/>
          <p:cNvSpPr/>
          <p:nvPr/>
        </p:nvSpPr>
        <p:spPr>
          <a:xfrm>
            <a:off x="13087350" y="507682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3087350" y="5076825"/>
            <a:ext cx="1045559"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6097250" y="5010150"/>
            <a:ext cx="990600" cy="323850"/>
          </a:xfrm>
          <a:prstGeom prst="rect">
            <a:avLst/>
          </a:prstGeom>
          <a:noFill/>
        </p:spPr>
        <p:txBody>
          <a:bodyPr wrap="square" lIns="0" rIns="0" tIns="0" bIns="0" anchor="ctr">
            <a:spAutoFit/>
          </a:bodyPr>
          <a:lstStyle/>
          <a:p>
            <a:pPr algn="r">
              <a:lnSpc>
                <a:spcPct val="83300"/>
              </a:lnSpc>
            </a:pPr>
            <a:r>
              <a:rPr sz="1950" b="1" i="0">
                <a:solidFill>
                  <a:srgbClr val="E0566B"/>
                </a:solidFill>
                <a:latin typeface="Montserrat"/>
              </a:rPr>
              <a:t>36,59%</a:t>
            </a:r>
          </a:p>
        </p:txBody>
      </p:sp>
      <p:sp>
        <p:nvSpPr>
          <p:cNvPr id="104" name="TextBox 103"/>
          <p:cNvSpPr txBox="1"/>
          <p:nvPr/>
        </p:nvSpPr>
        <p:spPr>
          <a:xfrm>
            <a:off x="11563350" y="5486400"/>
            <a:ext cx="1524000" cy="323850"/>
          </a:xfrm>
          <a:prstGeom prst="rect">
            <a:avLst/>
          </a:prstGeom>
          <a:noFill/>
        </p:spPr>
        <p:txBody>
          <a:bodyPr wrap="square" lIns="0" rIns="0" tIns="0" bIns="0" anchor="ctr">
            <a:spAutoFit/>
          </a:bodyPr>
          <a:lstStyle/>
          <a:p>
            <a:pPr algn="l">
              <a:lnSpc>
                <a:spcPct val="100000"/>
              </a:lnSpc>
            </a:pPr>
            <a:r>
              <a:rPr sz="1575" b="1" i="0">
                <a:solidFill>
                  <a:srgbClr val="F3F7FC"/>
                </a:solidFill>
                <a:latin typeface="Barlow"/>
              </a:rPr>
              <a:t>Cross-encoder</a:t>
            </a:r>
          </a:p>
        </p:txBody>
      </p:sp>
      <p:sp>
        <p:nvSpPr>
          <p:cNvPr id="105" name="Rectangle 104"/>
          <p:cNvSpPr/>
          <p:nvPr/>
        </p:nvSpPr>
        <p:spPr>
          <a:xfrm>
            <a:off x="13087350" y="555307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3087350" y="5553075"/>
            <a:ext cx="139446"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16097250" y="5486400"/>
            <a:ext cx="990600" cy="323850"/>
          </a:xfrm>
          <a:prstGeom prst="rect">
            <a:avLst/>
          </a:prstGeom>
          <a:noFill/>
        </p:spPr>
        <p:txBody>
          <a:bodyPr wrap="square" lIns="0" rIns="0" tIns="0" bIns="0" anchor="ctr">
            <a:spAutoFit/>
          </a:bodyPr>
          <a:lstStyle/>
          <a:p>
            <a:pPr algn="r">
              <a:lnSpc>
                <a:spcPct val="83300"/>
              </a:lnSpc>
            </a:pPr>
            <a:r>
              <a:rPr sz="1950" b="1" i="0">
                <a:solidFill>
                  <a:srgbClr val="FFD21F"/>
                </a:solidFill>
                <a:latin typeface="Montserrat"/>
              </a:rPr>
              <a:t>4,88%</a:t>
            </a:r>
          </a:p>
        </p:txBody>
      </p:sp>
      <p:sp>
        <p:nvSpPr>
          <p:cNvPr id="108" name="TextBox 107"/>
          <p:cNvSpPr txBox="1"/>
          <p:nvPr/>
        </p:nvSpPr>
        <p:spPr>
          <a:xfrm>
            <a:off x="11563350" y="6153150"/>
            <a:ext cx="5524500" cy="36195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Reacondicionado</a:t>
            </a:r>
          </a:p>
        </p:txBody>
      </p:sp>
      <p:sp>
        <p:nvSpPr>
          <p:cNvPr id="109" name="TextBox 108"/>
          <p:cNvSpPr txBox="1"/>
          <p:nvPr/>
        </p:nvSpPr>
        <p:spPr>
          <a:xfrm>
            <a:off x="11563350" y="6153150"/>
            <a:ext cx="5524500" cy="361950"/>
          </a:xfrm>
          <a:prstGeom prst="rect">
            <a:avLst/>
          </a:prstGeom>
          <a:noFill/>
        </p:spPr>
        <p:txBody>
          <a:bodyPr wrap="square" lIns="0" rIns="0" tIns="0" bIns="0" anchor="ctr">
            <a:spAutoFit/>
          </a:bodyPr>
          <a:lstStyle/>
          <a:p>
            <a:pPr algn="r">
              <a:lnSpc>
                <a:spcPct val="100000"/>
              </a:lnSpc>
            </a:pPr>
            <a:r>
              <a:rPr sz="1650" b="1" i="0">
                <a:solidFill>
                  <a:srgbClr val="9FB4CC"/>
                </a:solidFill>
                <a:latin typeface="Montserrat"/>
              </a:rPr>
              <a:t>24 pares</a:t>
            </a:r>
          </a:p>
        </p:txBody>
      </p:sp>
      <p:sp>
        <p:nvSpPr>
          <p:cNvPr id="110" name="TextBox 109"/>
          <p:cNvSpPr txBox="1"/>
          <p:nvPr/>
        </p:nvSpPr>
        <p:spPr>
          <a:xfrm>
            <a:off x="11563350" y="6610350"/>
            <a:ext cx="769441" cy="285750"/>
          </a:xfrm>
          <a:prstGeom prst="rect">
            <a:avLst/>
          </a:prstGeom>
          <a:noFill/>
        </p:spPr>
        <p:txBody>
          <a:bodyPr wrap="square" lIns="0" rIns="0" tIns="0" bIns="0" anchor="ctr">
            <a:spAutoFit/>
          </a:bodyPr>
          <a:lstStyle/>
          <a:p>
            <a:pPr algn="l">
              <a:lnSpc>
                <a:spcPct val="83300"/>
              </a:lnSpc>
            </a:pPr>
            <a:r>
              <a:rPr sz="1575" b="0" i="0">
                <a:solidFill>
                  <a:srgbClr val="9FB4CC"/>
                </a:solidFill>
                <a:latin typeface="Barlow"/>
              </a:rPr>
              <a:t>sufijo</a:t>
            </a:r>
          </a:p>
        </p:txBody>
      </p:sp>
      <p:sp>
        <p:nvSpPr>
          <p:cNvPr id="111" name="Rounded Rectangle 110"/>
          <p:cNvSpPr/>
          <p:nvPr/>
        </p:nvSpPr>
        <p:spPr>
          <a:xfrm>
            <a:off x="12142291" y="6591300"/>
            <a:ext cx="4572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12142291" y="6591300"/>
            <a:ext cx="4572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R1</a:t>
            </a:r>
          </a:p>
        </p:txBody>
      </p:sp>
      <p:sp>
        <p:nvSpPr>
          <p:cNvPr id="113" name="TextBox 112"/>
          <p:cNvSpPr txBox="1"/>
          <p:nvPr/>
        </p:nvSpPr>
        <p:spPr>
          <a:xfrm>
            <a:off x="11563350" y="7048500"/>
            <a:ext cx="15240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Embeddings</a:t>
            </a:r>
          </a:p>
        </p:txBody>
      </p:sp>
      <p:sp>
        <p:nvSpPr>
          <p:cNvPr id="114" name="Rectangle 113"/>
          <p:cNvSpPr/>
          <p:nvPr/>
        </p:nvSpPr>
        <p:spPr>
          <a:xfrm>
            <a:off x="13087350" y="711517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13087350" y="7115175"/>
            <a:ext cx="2023967"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16097250" y="7048500"/>
            <a:ext cx="990600" cy="323850"/>
          </a:xfrm>
          <a:prstGeom prst="rect">
            <a:avLst/>
          </a:prstGeom>
          <a:noFill/>
        </p:spPr>
        <p:txBody>
          <a:bodyPr wrap="square" lIns="0" rIns="0" tIns="0" bIns="0" anchor="ctr">
            <a:spAutoFit/>
          </a:bodyPr>
          <a:lstStyle/>
          <a:p>
            <a:pPr algn="r">
              <a:lnSpc>
                <a:spcPct val="83300"/>
              </a:lnSpc>
            </a:pPr>
            <a:r>
              <a:rPr sz="1950" b="1" i="0">
                <a:solidFill>
                  <a:srgbClr val="E0566B"/>
                </a:solidFill>
                <a:latin typeface="Montserrat"/>
              </a:rPr>
              <a:t>70,83%</a:t>
            </a:r>
          </a:p>
        </p:txBody>
      </p:sp>
      <p:sp>
        <p:nvSpPr>
          <p:cNvPr id="117" name="TextBox 116"/>
          <p:cNvSpPr txBox="1"/>
          <p:nvPr/>
        </p:nvSpPr>
        <p:spPr>
          <a:xfrm>
            <a:off x="11563350" y="7524750"/>
            <a:ext cx="1524000" cy="32385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TF-IDF</a:t>
            </a:r>
          </a:p>
        </p:txBody>
      </p:sp>
      <p:sp>
        <p:nvSpPr>
          <p:cNvPr id="118" name="Rectangle 117"/>
          <p:cNvSpPr/>
          <p:nvPr/>
        </p:nvSpPr>
        <p:spPr>
          <a:xfrm>
            <a:off x="13087350" y="759142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3087350" y="7591425"/>
            <a:ext cx="952405" cy="1905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16097250" y="7524750"/>
            <a:ext cx="990600" cy="323850"/>
          </a:xfrm>
          <a:prstGeom prst="rect">
            <a:avLst/>
          </a:prstGeom>
          <a:noFill/>
        </p:spPr>
        <p:txBody>
          <a:bodyPr wrap="square" lIns="0" rIns="0" tIns="0" bIns="0" anchor="ctr">
            <a:spAutoFit/>
          </a:bodyPr>
          <a:lstStyle/>
          <a:p>
            <a:pPr algn="r">
              <a:lnSpc>
                <a:spcPct val="83300"/>
              </a:lnSpc>
            </a:pPr>
            <a:r>
              <a:rPr sz="1950" b="1" i="0">
                <a:solidFill>
                  <a:srgbClr val="E0566B"/>
                </a:solidFill>
                <a:latin typeface="Montserrat"/>
              </a:rPr>
              <a:t>33,33%</a:t>
            </a:r>
          </a:p>
        </p:txBody>
      </p:sp>
      <p:sp>
        <p:nvSpPr>
          <p:cNvPr id="121" name="TextBox 120"/>
          <p:cNvSpPr txBox="1"/>
          <p:nvPr/>
        </p:nvSpPr>
        <p:spPr>
          <a:xfrm>
            <a:off x="11563350" y="8001000"/>
            <a:ext cx="1524000" cy="323850"/>
          </a:xfrm>
          <a:prstGeom prst="rect">
            <a:avLst/>
          </a:prstGeom>
          <a:noFill/>
        </p:spPr>
        <p:txBody>
          <a:bodyPr wrap="square" lIns="0" rIns="0" tIns="0" bIns="0" anchor="ctr">
            <a:spAutoFit/>
          </a:bodyPr>
          <a:lstStyle/>
          <a:p>
            <a:pPr algn="l">
              <a:lnSpc>
                <a:spcPct val="100000"/>
              </a:lnSpc>
            </a:pPr>
            <a:r>
              <a:rPr sz="1575" b="1" i="0">
                <a:solidFill>
                  <a:srgbClr val="F3F7FC"/>
                </a:solidFill>
                <a:latin typeface="Barlow"/>
              </a:rPr>
              <a:t>Cross-encoder</a:t>
            </a:r>
          </a:p>
        </p:txBody>
      </p:sp>
      <p:sp>
        <p:nvSpPr>
          <p:cNvPr id="122" name="Rectangle 121"/>
          <p:cNvSpPr/>
          <p:nvPr/>
        </p:nvSpPr>
        <p:spPr>
          <a:xfrm>
            <a:off x="13087350" y="8067675"/>
            <a:ext cx="2857500" cy="1905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13087350" y="8067675"/>
            <a:ext cx="119158" cy="190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6097250" y="8001000"/>
            <a:ext cx="990600" cy="323850"/>
          </a:xfrm>
          <a:prstGeom prst="rect">
            <a:avLst/>
          </a:prstGeom>
          <a:noFill/>
        </p:spPr>
        <p:txBody>
          <a:bodyPr wrap="square" lIns="0" rIns="0" tIns="0" bIns="0" anchor="ctr">
            <a:spAutoFit/>
          </a:bodyPr>
          <a:lstStyle/>
          <a:p>
            <a:pPr algn="r">
              <a:lnSpc>
                <a:spcPct val="83300"/>
              </a:lnSpc>
            </a:pPr>
            <a:r>
              <a:rPr sz="1950" b="1" i="0">
                <a:solidFill>
                  <a:srgbClr val="FFD21F"/>
                </a:solidFill>
                <a:latin typeface="Montserrat"/>
              </a:rPr>
              <a:t>4,17%</a:t>
            </a:r>
          </a:p>
        </p:txBody>
      </p:sp>
      <p:sp>
        <p:nvSpPr>
          <p:cNvPr id="125" name="Rectangle 124"/>
          <p:cNvSpPr/>
          <p:nvPr/>
        </p:nvSpPr>
        <p:spPr>
          <a:xfrm>
            <a:off x="11563350" y="8667750"/>
            <a:ext cx="55245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11563350" y="8801100"/>
            <a:ext cx="5524500" cy="552450"/>
          </a:xfrm>
          <a:prstGeom prst="rect">
            <a:avLst/>
          </a:prstGeom>
          <a:noFill/>
        </p:spPr>
        <p:txBody>
          <a:bodyPr wrap="square" lIns="0" rIns="0" tIns="0" bIns="0" anchor="ctr">
            <a:spAutoFit/>
          </a:bodyPr>
          <a:lstStyle/>
          <a:p>
            <a:pPr algn="l">
              <a:lnSpc>
                <a:spcPct val="104200"/>
              </a:lnSpc>
            </a:pPr>
            <a:r>
              <a:rPr sz="1575" b="0" i="0">
                <a:solidFill>
                  <a:srgbClr val="F3F7FC"/>
                </a:solidFill>
                <a:latin typeface="Barlow"/>
              </a:rPr>
              <a:t>Es la variabilidad de criterio que el planteamiento del problema identifica: confundir variantes casi idénticas.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OE5 · EVALUAR EL DESEMPEÑO · CROSS-ENCODER EN TEST</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Matriz de confusión y techo del recuperador</a:t>
            </a:r>
          </a:p>
        </p:txBody>
      </p:sp>
      <p:sp>
        <p:nvSpPr>
          <p:cNvPr id="9" name="Rectangle 8"/>
          <p:cNvSpPr/>
          <p:nvPr/>
        </p:nvSpPr>
        <p:spPr>
          <a:xfrm>
            <a:off x="914400" y="2686050"/>
            <a:ext cx="9525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86050"/>
            <a:ext cx="9525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819150"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021080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10506075"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05060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squinero"/>
          <p:cNvSpPr/>
          <p:nvPr/>
        </p:nvSpPr>
        <p:spPr>
          <a:xfrm>
            <a:off x="102108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19200" y="2952750"/>
            <a:ext cx="89154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CROSS-ENCODER · 344 PARES DE TEST</a:t>
            </a:r>
          </a:p>
        </p:txBody>
      </p:sp>
      <p:sp>
        <p:nvSpPr>
          <p:cNvPr id="20" name="TextBox 19"/>
          <p:cNvSpPr txBox="1"/>
          <p:nvPr/>
        </p:nvSpPr>
        <p:spPr>
          <a:xfrm>
            <a:off x="3086100" y="3409950"/>
            <a:ext cx="3467100"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PREDICHO: CORRESPONDENCIA</a:t>
            </a:r>
          </a:p>
        </p:txBody>
      </p:sp>
      <p:sp>
        <p:nvSpPr>
          <p:cNvPr id="21" name="TextBox 20"/>
          <p:cNvSpPr txBox="1"/>
          <p:nvPr/>
        </p:nvSpPr>
        <p:spPr>
          <a:xfrm>
            <a:off x="6667500" y="3409950"/>
            <a:ext cx="3467100"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PREDICHO: NO CORRESPONDE</a:t>
            </a:r>
          </a:p>
        </p:txBody>
      </p:sp>
      <p:sp>
        <p:nvSpPr>
          <p:cNvPr id="22" name="TextBox 21"/>
          <p:cNvSpPr txBox="1"/>
          <p:nvPr/>
        </p:nvSpPr>
        <p:spPr>
          <a:xfrm>
            <a:off x="1219200" y="4076700"/>
            <a:ext cx="1714500" cy="533400"/>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REAL:</a:t>
            </a:r>
          </a:p>
          <a:p>
            <a:pPr algn="l">
              <a:lnSpc>
                <a:spcPct val="100000"/>
              </a:lnSpc>
            </a:pPr>
            <a:r>
              <a:rPr sz="1350" b="1" i="0" spc="150">
                <a:solidFill>
                  <a:srgbClr val="F3F7FC"/>
                </a:solidFill>
                <a:latin typeface="Montserrat"/>
              </a:rPr>
              <a:t>CORRESPONDE</a:t>
            </a:r>
          </a:p>
        </p:txBody>
      </p:sp>
      <p:sp>
        <p:nvSpPr>
          <p:cNvPr id="23" name="TextBox 22"/>
          <p:cNvSpPr txBox="1"/>
          <p:nvPr/>
        </p:nvSpPr>
        <p:spPr>
          <a:xfrm>
            <a:off x="1219200" y="4648200"/>
            <a:ext cx="1714500" cy="28575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231 pares</a:t>
            </a:r>
          </a:p>
        </p:txBody>
      </p:sp>
      <p:sp>
        <p:nvSpPr>
          <p:cNvPr id="24" name="Rectangle 23"/>
          <p:cNvSpPr/>
          <p:nvPr/>
        </p:nvSpPr>
        <p:spPr>
          <a:xfrm>
            <a:off x="3086100" y="3752850"/>
            <a:ext cx="3467100" cy="1524000"/>
          </a:xfrm>
          <a:prstGeom prst="rect">
            <a:avLst/>
          </a:prstGeom>
          <a:solidFill>
            <a:srgbClr val="FFD21F">
              <a:alpha val="12000"/>
            </a:srgbClr>
          </a:solidFill>
          <a:ln w="19050">
            <a:solidFill>
              <a:srgbClr val="FFD21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219450" y="3848100"/>
            <a:ext cx="571500" cy="247650"/>
          </a:xfrm>
          <a:prstGeom prst="rect">
            <a:avLst/>
          </a:prstGeom>
          <a:noFill/>
        </p:spPr>
        <p:txBody>
          <a:bodyPr wrap="square" lIns="0" rIns="0" tIns="0" bIns="0" anchor="ctr">
            <a:spAutoFit/>
          </a:bodyPr>
          <a:lstStyle/>
          <a:p>
            <a:pPr algn="l">
              <a:lnSpc>
                <a:spcPct val="100000"/>
              </a:lnSpc>
            </a:pPr>
            <a:r>
              <a:rPr sz="1350" b="1" i="0">
                <a:solidFill>
                  <a:srgbClr val="FFD21F"/>
                </a:solidFill>
                <a:latin typeface="Montserrat"/>
              </a:rPr>
              <a:t>VP</a:t>
            </a:r>
          </a:p>
        </p:txBody>
      </p:sp>
      <p:sp>
        <p:nvSpPr>
          <p:cNvPr id="26" name="TextBox 25"/>
          <p:cNvSpPr txBox="1"/>
          <p:nvPr/>
        </p:nvSpPr>
        <p:spPr>
          <a:xfrm>
            <a:off x="3086100" y="3924300"/>
            <a:ext cx="3467100" cy="762000"/>
          </a:xfrm>
          <a:prstGeom prst="rect">
            <a:avLst/>
          </a:prstGeom>
          <a:noFill/>
        </p:spPr>
        <p:txBody>
          <a:bodyPr wrap="square" lIns="0" rIns="0" tIns="0" bIns="0" anchor="ctr">
            <a:spAutoFit/>
          </a:bodyPr>
          <a:lstStyle/>
          <a:p>
            <a:pPr algn="ctr">
              <a:lnSpc>
                <a:spcPct val="83300"/>
              </a:lnSpc>
            </a:pPr>
            <a:r>
              <a:rPr sz="4800" b="1" i="0">
                <a:solidFill>
                  <a:srgbClr val="FFD21F"/>
                </a:solidFill>
                <a:latin typeface="Montserrat"/>
              </a:rPr>
              <a:t>222</a:t>
            </a:r>
          </a:p>
        </p:txBody>
      </p:sp>
      <p:sp>
        <p:nvSpPr>
          <p:cNvPr id="27" name="TextBox 26"/>
          <p:cNvSpPr txBox="1"/>
          <p:nvPr/>
        </p:nvSpPr>
        <p:spPr>
          <a:xfrm>
            <a:off x="3086100" y="4667250"/>
            <a:ext cx="3467100" cy="266700"/>
          </a:xfrm>
          <a:prstGeom prst="rect">
            <a:avLst/>
          </a:prstGeom>
          <a:noFill/>
        </p:spPr>
        <p:txBody>
          <a:bodyPr wrap="square" lIns="0" rIns="0" tIns="0" bIns="0" anchor="ctr">
            <a:spAutoFit/>
          </a:bodyPr>
          <a:lstStyle/>
          <a:p>
            <a:pPr algn="ctr">
              <a:lnSpc>
                <a:spcPct val="100000"/>
              </a:lnSpc>
            </a:pPr>
            <a:r>
              <a:rPr sz="1350" b="1" i="0" spc="150">
                <a:solidFill>
                  <a:srgbClr val="F3F7FC"/>
                </a:solidFill>
                <a:latin typeface="Montserrat"/>
              </a:rPr>
              <a:t>VERDADEROS POSITIVOS</a:t>
            </a:r>
          </a:p>
        </p:txBody>
      </p:sp>
      <p:sp>
        <p:nvSpPr>
          <p:cNvPr id="28" name="Rectangle 27"/>
          <p:cNvSpPr/>
          <p:nvPr/>
        </p:nvSpPr>
        <p:spPr>
          <a:xfrm>
            <a:off x="6667500" y="3752850"/>
            <a:ext cx="3467100" cy="1524000"/>
          </a:xfrm>
          <a:prstGeom prst="rect">
            <a:avLst/>
          </a:prstGeom>
          <a:solidFill>
            <a:srgbClr val="E0566B">
              <a:alpha val="12000"/>
            </a:srgbClr>
          </a:solidFill>
          <a:ln w="19050">
            <a:solidFill>
              <a:srgbClr val="E0566B">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00850" y="3848100"/>
            <a:ext cx="571500" cy="247650"/>
          </a:xfrm>
          <a:prstGeom prst="rect">
            <a:avLst/>
          </a:prstGeom>
          <a:noFill/>
        </p:spPr>
        <p:txBody>
          <a:bodyPr wrap="square" lIns="0" rIns="0" tIns="0" bIns="0" anchor="ctr">
            <a:spAutoFit/>
          </a:bodyPr>
          <a:lstStyle/>
          <a:p>
            <a:pPr algn="l">
              <a:lnSpc>
                <a:spcPct val="100000"/>
              </a:lnSpc>
            </a:pPr>
            <a:r>
              <a:rPr sz="1350" b="1" i="0">
                <a:solidFill>
                  <a:srgbClr val="E0566B"/>
                </a:solidFill>
                <a:latin typeface="Montserrat"/>
              </a:rPr>
              <a:t>FN</a:t>
            </a:r>
          </a:p>
        </p:txBody>
      </p:sp>
      <p:sp>
        <p:nvSpPr>
          <p:cNvPr id="30" name="TextBox 29"/>
          <p:cNvSpPr txBox="1"/>
          <p:nvPr/>
        </p:nvSpPr>
        <p:spPr>
          <a:xfrm>
            <a:off x="6667500" y="3924300"/>
            <a:ext cx="3467100" cy="762000"/>
          </a:xfrm>
          <a:prstGeom prst="rect">
            <a:avLst/>
          </a:prstGeom>
          <a:noFill/>
        </p:spPr>
        <p:txBody>
          <a:bodyPr wrap="square" lIns="0" rIns="0" tIns="0" bIns="0" anchor="ctr">
            <a:spAutoFit/>
          </a:bodyPr>
          <a:lstStyle/>
          <a:p>
            <a:pPr algn="ctr">
              <a:lnSpc>
                <a:spcPct val="83300"/>
              </a:lnSpc>
            </a:pPr>
            <a:r>
              <a:rPr sz="4800" b="1" i="0">
                <a:solidFill>
                  <a:srgbClr val="E0566B"/>
                </a:solidFill>
                <a:latin typeface="Montserrat"/>
              </a:rPr>
              <a:t>9</a:t>
            </a:r>
          </a:p>
        </p:txBody>
      </p:sp>
      <p:sp>
        <p:nvSpPr>
          <p:cNvPr id="31" name="TextBox 30"/>
          <p:cNvSpPr txBox="1"/>
          <p:nvPr/>
        </p:nvSpPr>
        <p:spPr>
          <a:xfrm>
            <a:off x="6667500" y="4667250"/>
            <a:ext cx="3467100" cy="266700"/>
          </a:xfrm>
          <a:prstGeom prst="rect">
            <a:avLst/>
          </a:prstGeom>
          <a:noFill/>
        </p:spPr>
        <p:txBody>
          <a:bodyPr wrap="square" lIns="0" rIns="0" tIns="0" bIns="0" anchor="ctr">
            <a:spAutoFit/>
          </a:bodyPr>
          <a:lstStyle/>
          <a:p>
            <a:pPr algn="ctr">
              <a:lnSpc>
                <a:spcPct val="100000"/>
              </a:lnSpc>
            </a:pPr>
            <a:r>
              <a:rPr sz="1350" b="1" i="0" spc="150">
                <a:solidFill>
                  <a:srgbClr val="F3F7FC"/>
                </a:solidFill>
                <a:latin typeface="Montserrat"/>
              </a:rPr>
              <a:t>FALSOS NEGATIVOS</a:t>
            </a:r>
          </a:p>
        </p:txBody>
      </p:sp>
      <p:sp>
        <p:nvSpPr>
          <p:cNvPr id="32" name="TextBox 31"/>
          <p:cNvSpPr txBox="1"/>
          <p:nvPr/>
        </p:nvSpPr>
        <p:spPr>
          <a:xfrm>
            <a:off x="1219200" y="5715000"/>
            <a:ext cx="1714500" cy="533400"/>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REAL: NO</a:t>
            </a:r>
          </a:p>
          <a:p>
            <a:pPr algn="l">
              <a:lnSpc>
                <a:spcPct val="100000"/>
              </a:lnSpc>
            </a:pPr>
            <a:r>
              <a:rPr sz="1350" b="1" i="0" spc="150">
                <a:solidFill>
                  <a:srgbClr val="F3F7FC"/>
                </a:solidFill>
                <a:latin typeface="Montserrat"/>
              </a:rPr>
              <a:t>CORRESPONDE</a:t>
            </a:r>
          </a:p>
        </p:txBody>
      </p:sp>
      <p:sp>
        <p:nvSpPr>
          <p:cNvPr id="33" name="TextBox 32"/>
          <p:cNvSpPr txBox="1"/>
          <p:nvPr/>
        </p:nvSpPr>
        <p:spPr>
          <a:xfrm>
            <a:off x="1219200" y="6286500"/>
            <a:ext cx="1714500" cy="28575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113 pares</a:t>
            </a:r>
          </a:p>
        </p:txBody>
      </p:sp>
      <p:sp>
        <p:nvSpPr>
          <p:cNvPr id="34" name="Rectangle 33"/>
          <p:cNvSpPr/>
          <p:nvPr/>
        </p:nvSpPr>
        <p:spPr>
          <a:xfrm>
            <a:off x="3086100" y="5391150"/>
            <a:ext cx="3467100" cy="1524000"/>
          </a:xfrm>
          <a:prstGeom prst="rect">
            <a:avLst/>
          </a:prstGeom>
          <a:solidFill>
            <a:srgbClr val="E0566B">
              <a:alpha val="12000"/>
            </a:srgbClr>
          </a:solidFill>
          <a:ln w="19050">
            <a:solidFill>
              <a:srgbClr val="E0566B">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219450" y="5486400"/>
            <a:ext cx="571500" cy="247650"/>
          </a:xfrm>
          <a:prstGeom prst="rect">
            <a:avLst/>
          </a:prstGeom>
          <a:noFill/>
        </p:spPr>
        <p:txBody>
          <a:bodyPr wrap="square" lIns="0" rIns="0" tIns="0" bIns="0" anchor="ctr">
            <a:spAutoFit/>
          </a:bodyPr>
          <a:lstStyle/>
          <a:p>
            <a:pPr algn="l">
              <a:lnSpc>
                <a:spcPct val="100000"/>
              </a:lnSpc>
            </a:pPr>
            <a:r>
              <a:rPr sz="1350" b="1" i="0">
                <a:solidFill>
                  <a:srgbClr val="E0566B"/>
                </a:solidFill>
                <a:latin typeface="Montserrat"/>
              </a:rPr>
              <a:t>FP</a:t>
            </a:r>
          </a:p>
        </p:txBody>
      </p:sp>
      <p:sp>
        <p:nvSpPr>
          <p:cNvPr id="36" name="TextBox 35"/>
          <p:cNvSpPr txBox="1"/>
          <p:nvPr/>
        </p:nvSpPr>
        <p:spPr>
          <a:xfrm>
            <a:off x="3086100" y="5562600"/>
            <a:ext cx="3467100" cy="762000"/>
          </a:xfrm>
          <a:prstGeom prst="rect">
            <a:avLst/>
          </a:prstGeom>
          <a:noFill/>
        </p:spPr>
        <p:txBody>
          <a:bodyPr wrap="square" lIns="0" rIns="0" tIns="0" bIns="0" anchor="ctr">
            <a:spAutoFit/>
          </a:bodyPr>
          <a:lstStyle/>
          <a:p>
            <a:pPr algn="ctr">
              <a:lnSpc>
                <a:spcPct val="83300"/>
              </a:lnSpc>
            </a:pPr>
            <a:r>
              <a:rPr sz="4800" b="1" i="0">
                <a:solidFill>
                  <a:srgbClr val="E0566B"/>
                </a:solidFill>
                <a:latin typeface="Montserrat"/>
              </a:rPr>
              <a:t>4</a:t>
            </a:r>
          </a:p>
        </p:txBody>
      </p:sp>
      <p:sp>
        <p:nvSpPr>
          <p:cNvPr id="37" name="TextBox 36"/>
          <p:cNvSpPr txBox="1"/>
          <p:nvPr/>
        </p:nvSpPr>
        <p:spPr>
          <a:xfrm>
            <a:off x="3086100" y="6305550"/>
            <a:ext cx="3467100" cy="266700"/>
          </a:xfrm>
          <a:prstGeom prst="rect">
            <a:avLst/>
          </a:prstGeom>
          <a:noFill/>
        </p:spPr>
        <p:txBody>
          <a:bodyPr wrap="square" lIns="0" rIns="0" tIns="0" bIns="0" anchor="ctr">
            <a:spAutoFit/>
          </a:bodyPr>
          <a:lstStyle/>
          <a:p>
            <a:pPr algn="ctr">
              <a:lnSpc>
                <a:spcPct val="100000"/>
              </a:lnSpc>
            </a:pPr>
            <a:r>
              <a:rPr sz="1350" b="1" i="0" spc="150">
                <a:solidFill>
                  <a:srgbClr val="F3F7FC"/>
                </a:solidFill>
                <a:latin typeface="Montserrat"/>
              </a:rPr>
              <a:t>FALSOS POSITIVOS</a:t>
            </a:r>
          </a:p>
        </p:txBody>
      </p:sp>
      <p:sp>
        <p:nvSpPr>
          <p:cNvPr id="38" name="TextBox 37"/>
          <p:cNvSpPr txBox="1"/>
          <p:nvPr/>
        </p:nvSpPr>
        <p:spPr>
          <a:xfrm>
            <a:off x="3086100" y="6572250"/>
            <a:ext cx="3467100" cy="266700"/>
          </a:xfrm>
          <a:prstGeom prst="rect">
            <a:avLst/>
          </a:prstGeom>
          <a:noFill/>
        </p:spPr>
        <p:txBody>
          <a:bodyPr wrap="square" lIns="0" rIns="0" tIns="0" bIns="0" anchor="ctr">
            <a:spAutoFit/>
          </a:bodyPr>
          <a:lstStyle/>
          <a:p>
            <a:pPr algn="ctr">
              <a:lnSpc>
                <a:spcPct val="83300"/>
              </a:lnSpc>
            </a:pPr>
            <a:r>
              <a:rPr sz="1500" b="0" i="0">
                <a:solidFill>
                  <a:srgbClr val="9FB4CC"/>
                </a:solidFill>
                <a:latin typeface="Barlow"/>
              </a:rPr>
              <a:t>los 4 títulos de la lámina 56</a:t>
            </a:r>
          </a:p>
        </p:txBody>
      </p:sp>
      <p:sp>
        <p:nvSpPr>
          <p:cNvPr id="39" name="Rectangle 38"/>
          <p:cNvSpPr/>
          <p:nvPr/>
        </p:nvSpPr>
        <p:spPr>
          <a:xfrm>
            <a:off x="6667500" y="5391150"/>
            <a:ext cx="3467100" cy="1524000"/>
          </a:xfrm>
          <a:prstGeom prst="rect">
            <a:avLst/>
          </a:prstGeom>
          <a:solidFill>
            <a:srgbClr val="2F7BFF">
              <a:alpha val="12000"/>
            </a:srgbClr>
          </a:solidFill>
          <a:ln w="19050">
            <a:solidFill>
              <a:srgbClr val="2F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00850" y="5486400"/>
            <a:ext cx="571500" cy="247650"/>
          </a:xfrm>
          <a:prstGeom prst="rect">
            <a:avLst/>
          </a:prstGeom>
          <a:noFill/>
        </p:spPr>
        <p:txBody>
          <a:bodyPr wrap="square" lIns="0" rIns="0" tIns="0" bIns="0" anchor="ctr">
            <a:spAutoFit/>
          </a:bodyPr>
          <a:lstStyle/>
          <a:p>
            <a:pPr algn="l">
              <a:lnSpc>
                <a:spcPct val="100000"/>
              </a:lnSpc>
            </a:pPr>
            <a:r>
              <a:rPr sz="1350" b="1" i="0">
                <a:solidFill>
                  <a:srgbClr val="2F7BFF"/>
                </a:solidFill>
                <a:latin typeface="Montserrat"/>
              </a:rPr>
              <a:t>VN</a:t>
            </a:r>
          </a:p>
        </p:txBody>
      </p:sp>
      <p:sp>
        <p:nvSpPr>
          <p:cNvPr id="41" name="TextBox 40"/>
          <p:cNvSpPr txBox="1"/>
          <p:nvPr/>
        </p:nvSpPr>
        <p:spPr>
          <a:xfrm>
            <a:off x="6667500" y="5562600"/>
            <a:ext cx="3467100" cy="762000"/>
          </a:xfrm>
          <a:prstGeom prst="rect">
            <a:avLst/>
          </a:prstGeom>
          <a:noFill/>
        </p:spPr>
        <p:txBody>
          <a:bodyPr wrap="square" lIns="0" rIns="0" tIns="0" bIns="0" anchor="ctr">
            <a:spAutoFit/>
          </a:bodyPr>
          <a:lstStyle/>
          <a:p>
            <a:pPr algn="ctr">
              <a:lnSpc>
                <a:spcPct val="83300"/>
              </a:lnSpc>
            </a:pPr>
            <a:r>
              <a:rPr sz="4800" b="1" i="0">
                <a:solidFill>
                  <a:srgbClr val="F3F7FC"/>
                </a:solidFill>
                <a:latin typeface="Montserrat"/>
              </a:rPr>
              <a:t>109</a:t>
            </a:r>
          </a:p>
        </p:txBody>
      </p:sp>
      <p:sp>
        <p:nvSpPr>
          <p:cNvPr id="42" name="TextBox 41"/>
          <p:cNvSpPr txBox="1"/>
          <p:nvPr/>
        </p:nvSpPr>
        <p:spPr>
          <a:xfrm>
            <a:off x="6667500" y="6305550"/>
            <a:ext cx="3467100" cy="266700"/>
          </a:xfrm>
          <a:prstGeom prst="rect">
            <a:avLst/>
          </a:prstGeom>
          <a:noFill/>
        </p:spPr>
        <p:txBody>
          <a:bodyPr wrap="square" lIns="0" rIns="0" tIns="0" bIns="0" anchor="ctr">
            <a:spAutoFit/>
          </a:bodyPr>
          <a:lstStyle/>
          <a:p>
            <a:pPr algn="ctr">
              <a:lnSpc>
                <a:spcPct val="100000"/>
              </a:lnSpc>
            </a:pPr>
            <a:r>
              <a:rPr sz="1350" b="1" i="0" spc="150">
                <a:solidFill>
                  <a:srgbClr val="F3F7FC"/>
                </a:solidFill>
                <a:latin typeface="Montserrat"/>
              </a:rPr>
              <a:t>VERDADEROS NEGATIVOS</a:t>
            </a:r>
          </a:p>
        </p:txBody>
      </p:sp>
      <p:sp>
        <p:nvSpPr>
          <p:cNvPr id="43" name="Rectangle 42"/>
          <p:cNvSpPr/>
          <p:nvPr/>
        </p:nvSpPr>
        <p:spPr>
          <a:xfrm>
            <a:off x="1219200" y="7162800"/>
            <a:ext cx="89154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76350" y="7624762"/>
            <a:ext cx="1161139"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Tasa FP</a:t>
            </a:r>
          </a:p>
        </p:txBody>
      </p:sp>
      <p:sp>
        <p:nvSpPr>
          <p:cNvPr id="45" name="TextBox 44"/>
          <p:cNvSpPr txBox="1"/>
          <p:nvPr/>
        </p:nvSpPr>
        <p:spPr>
          <a:xfrm>
            <a:off x="2483971" y="7624762"/>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46" name="Rectangle 45"/>
          <p:cNvSpPr/>
          <p:nvPr/>
        </p:nvSpPr>
        <p:spPr>
          <a:xfrm>
            <a:off x="2759053" y="7800975"/>
            <a:ext cx="959154"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067525" y="7451423"/>
            <a:ext cx="379506"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FP</a:t>
            </a:r>
          </a:p>
        </p:txBody>
      </p:sp>
      <p:sp>
        <p:nvSpPr>
          <p:cNvPr id="48" name="TextBox 47"/>
          <p:cNvSpPr txBox="1"/>
          <p:nvPr/>
        </p:nvSpPr>
        <p:spPr>
          <a:xfrm>
            <a:off x="2785723" y="7857538"/>
            <a:ext cx="976927"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FP + VN</a:t>
            </a:r>
          </a:p>
        </p:txBody>
      </p:sp>
      <p:sp>
        <p:nvSpPr>
          <p:cNvPr id="49" name="TextBox 48"/>
          <p:cNvSpPr txBox="1"/>
          <p:nvPr/>
        </p:nvSpPr>
        <p:spPr>
          <a:xfrm>
            <a:off x="3802789" y="7624762"/>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50" name="Rectangle 49"/>
          <p:cNvSpPr/>
          <p:nvPr/>
        </p:nvSpPr>
        <p:spPr>
          <a:xfrm>
            <a:off x="4077871" y="7800975"/>
            <a:ext cx="410616"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4191941" y="7451423"/>
            <a:ext cx="210188"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4</a:t>
            </a:r>
          </a:p>
        </p:txBody>
      </p:sp>
      <p:sp>
        <p:nvSpPr>
          <p:cNvPr id="52" name="TextBox 51"/>
          <p:cNvSpPr txBox="1"/>
          <p:nvPr/>
        </p:nvSpPr>
        <p:spPr>
          <a:xfrm>
            <a:off x="4104541" y="7857538"/>
            <a:ext cx="395477"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113</a:t>
            </a:r>
          </a:p>
        </p:txBody>
      </p:sp>
      <p:sp>
        <p:nvSpPr>
          <p:cNvPr id="53" name="TextBox 52"/>
          <p:cNvSpPr txBox="1"/>
          <p:nvPr/>
        </p:nvSpPr>
        <p:spPr>
          <a:xfrm>
            <a:off x="4573069" y="7624762"/>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54" name="TextBox 53"/>
          <p:cNvSpPr txBox="1"/>
          <p:nvPr/>
        </p:nvSpPr>
        <p:spPr>
          <a:xfrm>
            <a:off x="4798621" y="7615238"/>
            <a:ext cx="842739"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3,5%</a:t>
            </a:r>
          </a:p>
        </p:txBody>
      </p:sp>
      <p:sp>
        <p:nvSpPr>
          <p:cNvPr id="55" name="TextBox 54"/>
          <p:cNvSpPr txBox="1"/>
          <p:nvPr/>
        </p:nvSpPr>
        <p:spPr>
          <a:xfrm>
            <a:off x="1276350" y="8853488"/>
            <a:ext cx="1188274"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Tasa FN</a:t>
            </a:r>
          </a:p>
        </p:txBody>
      </p:sp>
      <p:sp>
        <p:nvSpPr>
          <p:cNvPr id="56" name="TextBox 55"/>
          <p:cNvSpPr txBox="1"/>
          <p:nvPr/>
        </p:nvSpPr>
        <p:spPr>
          <a:xfrm>
            <a:off x="2511106" y="8853488"/>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57" name="Rectangle 56"/>
          <p:cNvSpPr/>
          <p:nvPr/>
        </p:nvSpPr>
        <p:spPr>
          <a:xfrm>
            <a:off x="2786188" y="9029700"/>
            <a:ext cx="959154"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083689" y="8680148"/>
            <a:ext cx="402764"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FN</a:t>
            </a:r>
          </a:p>
        </p:txBody>
      </p:sp>
      <p:sp>
        <p:nvSpPr>
          <p:cNvPr id="59" name="TextBox 58"/>
          <p:cNvSpPr txBox="1"/>
          <p:nvPr/>
        </p:nvSpPr>
        <p:spPr>
          <a:xfrm>
            <a:off x="2812858" y="9086263"/>
            <a:ext cx="976927"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FN + VP</a:t>
            </a:r>
          </a:p>
        </p:txBody>
      </p:sp>
      <p:sp>
        <p:nvSpPr>
          <p:cNvPr id="60" name="TextBox 59"/>
          <p:cNvSpPr txBox="1"/>
          <p:nvPr/>
        </p:nvSpPr>
        <p:spPr>
          <a:xfrm>
            <a:off x="3829923" y="8853488"/>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61" name="Rectangle 60"/>
          <p:cNvSpPr/>
          <p:nvPr/>
        </p:nvSpPr>
        <p:spPr>
          <a:xfrm>
            <a:off x="4105005" y="9029700"/>
            <a:ext cx="455230"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4245259" y="8680148"/>
            <a:ext cx="201970"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9</a:t>
            </a:r>
          </a:p>
        </p:txBody>
      </p:sp>
      <p:sp>
        <p:nvSpPr>
          <p:cNvPr id="63" name="TextBox 62"/>
          <p:cNvSpPr txBox="1"/>
          <p:nvPr/>
        </p:nvSpPr>
        <p:spPr>
          <a:xfrm>
            <a:off x="4131675" y="9086263"/>
            <a:ext cx="442768"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231</a:t>
            </a:r>
          </a:p>
        </p:txBody>
      </p:sp>
      <p:sp>
        <p:nvSpPr>
          <p:cNvPr id="64" name="TextBox 63"/>
          <p:cNvSpPr txBox="1"/>
          <p:nvPr/>
        </p:nvSpPr>
        <p:spPr>
          <a:xfrm>
            <a:off x="4644818" y="8853488"/>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65" name="TextBox 64"/>
          <p:cNvSpPr txBox="1"/>
          <p:nvPr/>
        </p:nvSpPr>
        <p:spPr>
          <a:xfrm>
            <a:off x="4870370" y="8843962"/>
            <a:ext cx="860356"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3,9%</a:t>
            </a:r>
          </a:p>
        </p:txBody>
      </p:sp>
      <p:sp>
        <p:nvSpPr>
          <p:cNvPr id="66" name="Rectangle 65"/>
          <p:cNvSpPr/>
          <p:nvPr/>
        </p:nvSpPr>
        <p:spPr>
          <a:xfrm>
            <a:off x="5894812" y="7391400"/>
            <a:ext cx="14288" cy="20002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180562" y="7458075"/>
            <a:ext cx="3954038"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UMBRAL FIJADO EN VALIDACIÓN</a:t>
            </a:r>
          </a:p>
        </p:txBody>
      </p:sp>
      <p:sp>
        <p:nvSpPr>
          <p:cNvPr id="68" name="TextBox 67"/>
          <p:cNvSpPr txBox="1"/>
          <p:nvPr/>
        </p:nvSpPr>
        <p:spPr>
          <a:xfrm>
            <a:off x="6180562" y="7743825"/>
            <a:ext cx="3954038" cy="533400"/>
          </a:xfrm>
          <a:prstGeom prst="rect">
            <a:avLst/>
          </a:prstGeom>
          <a:noFill/>
        </p:spPr>
        <p:txBody>
          <a:bodyPr wrap="square" lIns="0" rIns="0" tIns="0" bIns="0" anchor="ctr">
            <a:spAutoFit/>
          </a:bodyPr>
          <a:lstStyle/>
          <a:p>
            <a:pPr algn="l">
              <a:lnSpc>
                <a:spcPct val="83300"/>
              </a:lnSpc>
            </a:pPr>
            <a:r>
              <a:rPr sz="3300" b="1" i="0">
                <a:solidFill>
                  <a:srgbClr val="FFD21F"/>
                </a:solidFill>
                <a:latin typeface="Montserrat"/>
              </a:rPr>
              <a:t>0,998844</a:t>
            </a:r>
          </a:p>
        </p:txBody>
      </p:sp>
      <p:sp>
        <p:nvSpPr>
          <p:cNvPr id="69" name="TextBox 68"/>
          <p:cNvSpPr txBox="1"/>
          <p:nvPr/>
        </p:nvSpPr>
        <p:spPr>
          <a:xfrm>
            <a:off x="6180562" y="8372475"/>
            <a:ext cx="3954038" cy="952500"/>
          </a:xfrm>
          <a:prstGeom prst="rect">
            <a:avLst/>
          </a:prstGeom>
          <a:noFill/>
        </p:spPr>
        <p:txBody>
          <a:bodyPr wrap="square" lIns="0" rIns="0" tIns="0" bIns="0" anchor="t">
            <a:spAutoFit/>
          </a:bodyPr>
          <a:lstStyle/>
          <a:p>
            <a:pPr algn="l">
              <a:lnSpc>
                <a:spcPct val="104200"/>
              </a:lnSpc>
            </a:pPr>
            <a:r>
              <a:rPr sz="1650" b="0" i="0">
                <a:solidFill>
                  <a:srgbClr val="F3F7FC"/>
                </a:solidFill>
                <a:latin typeface="Barlow"/>
              </a:rPr>
              <a:t>Se aplicó al test sin retocarlo: es la única forma de que la cifra signifique algo.</a:t>
            </a:r>
          </a:p>
        </p:txBody>
      </p:sp>
      <p:sp>
        <p:nvSpPr>
          <p:cNvPr id="70" name="Rectangle 69"/>
          <p:cNvSpPr/>
          <p:nvPr/>
        </p:nvSpPr>
        <p:spPr>
          <a:xfrm>
            <a:off x="10706100" y="2686050"/>
            <a:ext cx="66675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0706100" y="2686050"/>
            <a:ext cx="66675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0991850" y="2952750"/>
            <a:ext cx="60960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TECHO DEL RECUPERADOR · 147 CONSULTAS</a:t>
            </a:r>
          </a:p>
        </p:txBody>
      </p:sp>
      <p:sp>
        <p:nvSpPr>
          <p:cNvPr id="73" name="TextBox 72"/>
          <p:cNvSpPr txBox="1"/>
          <p:nvPr/>
        </p:nvSpPr>
        <p:spPr>
          <a:xfrm>
            <a:off x="10991850" y="3390900"/>
            <a:ext cx="2093863" cy="285750"/>
          </a:xfrm>
          <a:prstGeom prst="rect">
            <a:avLst/>
          </a:prstGeom>
          <a:noFill/>
        </p:spPr>
        <p:txBody>
          <a:bodyPr wrap="square" lIns="0" rIns="0" tIns="0" bIns="0" anchor="ctr">
            <a:spAutoFit/>
          </a:bodyPr>
          <a:lstStyle/>
          <a:p>
            <a:pPr algn="l">
              <a:lnSpc>
                <a:spcPct val="83300"/>
              </a:lnSpc>
            </a:pPr>
            <a:r>
              <a:rPr sz="1575" b="1" i="0">
                <a:solidFill>
                  <a:srgbClr val="F3F7FC"/>
                </a:solidFill>
                <a:latin typeface="Montserrat"/>
              </a:rPr>
              <a:t>Consultas de test</a:t>
            </a:r>
          </a:p>
        </p:txBody>
      </p:sp>
      <p:sp>
        <p:nvSpPr>
          <p:cNvPr id="74" name="TextBox 73"/>
          <p:cNvSpPr txBox="1"/>
          <p:nvPr/>
        </p:nvSpPr>
        <p:spPr>
          <a:xfrm>
            <a:off x="12914263" y="3390900"/>
            <a:ext cx="3240137" cy="28575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publicaciones a resolver</a:t>
            </a:r>
          </a:p>
        </p:txBody>
      </p:sp>
      <p:sp>
        <p:nvSpPr>
          <p:cNvPr id="75" name="Rectangle 74"/>
          <p:cNvSpPr/>
          <p:nvPr/>
        </p:nvSpPr>
        <p:spPr>
          <a:xfrm>
            <a:off x="10991850" y="3771900"/>
            <a:ext cx="516255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991850" y="3771900"/>
            <a:ext cx="5162550" cy="2286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6230600" y="3676650"/>
            <a:ext cx="857250" cy="419100"/>
          </a:xfrm>
          <a:prstGeom prst="rect">
            <a:avLst/>
          </a:prstGeom>
          <a:noFill/>
        </p:spPr>
        <p:txBody>
          <a:bodyPr wrap="square" lIns="0" rIns="0" tIns="0" bIns="0" anchor="ctr">
            <a:spAutoFit/>
          </a:bodyPr>
          <a:lstStyle/>
          <a:p>
            <a:pPr algn="r">
              <a:lnSpc>
                <a:spcPct val="83300"/>
              </a:lnSpc>
            </a:pPr>
            <a:r>
              <a:rPr sz="2400" b="1" i="0">
                <a:solidFill>
                  <a:srgbClr val="F3F7FC"/>
                </a:solidFill>
                <a:latin typeface="Montserrat"/>
              </a:rPr>
              <a:t>147</a:t>
            </a:r>
          </a:p>
        </p:txBody>
      </p:sp>
      <p:sp>
        <p:nvSpPr>
          <p:cNvPr id="78" name="TextBox 77"/>
          <p:cNvSpPr txBox="1"/>
          <p:nvPr/>
        </p:nvSpPr>
        <p:spPr>
          <a:xfrm>
            <a:off x="10991850" y="4210050"/>
            <a:ext cx="2954536" cy="285750"/>
          </a:xfrm>
          <a:prstGeom prst="rect">
            <a:avLst/>
          </a:prstGeom>
          <a:noFill/>
        </p:spPr>
        <p:txBody>
          <a:bodyPr wrap="square" lIns="0" rIns="0" tIns="0" bIns="0" anchor="ctr">
            <a:spAutoFit/>
          </a:bodyPr>
          <a:lstStyle/>
          <a:p>
            <a:pPr algn="l">
              <a:lnSpc>
                <a:spcPct val="83300"/>
              </a:lnSpc>
            </a:pPr>
            <a:r>
              <a:rPr sz="1575" b="1" i="0">
                <a:solidFill>
                  <a:srgbClr val="F3F7FC"/>
                </a:solidFill>
                <a:latin typeface="Montserrat"/>
              </a:rPr>
              <a:t>Con el correcto en el pool</a:t>
            </a:r>
          </a:p>
        </p:txBody>
      </p:sp>
      <p:sp>
        <p:nvSpPr>
          <p:cNvPr id="79" name="TextBox 78"/>
          <p:cNvSpPr txBox="1"/>
          <p:nvPr/>
        </p:nvSpPr>
        <p:spPr>
          <a:xfrm>
            <a:off x="13774936" y="4210050"/>
            <a:ext cx="2379464" cy="28575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techo · 91,8%</a:t>
            </a:r>
          </a:p>
        </p:txBody>
      </p:sp>
      <p:sp>
        <p:nvSpPr>
          <p:cNvPr id="80" name="Rectangle 79"/>
          <p:cNvSpPr/>
          <p:nvPr/>
        </p:nvSpPr>
        <p:spPr>
          <a:xfrm>
            <a:off x="10991850" y="4591050"/>
            <a:ext cx="516255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0991850" y="4591050"/>
            <a:ext cx="4741117" cy="228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6230600" y="4495800"/>
            <a:ext cx="857250" cy="419100"/>
          </a:xfrm>
          <a:prstGeom prst="rect">
            <a:avLst/>
          </a:prstGeom>
          <a:noFill/>
        </p:spPr>
        <p:txBody>
          <a:bodyPr wrap="square" lIns="0" rIns="0" tIns="0" bIns="0" anchor="ctr">
            <a:spAutoFit/>
          </a:bodyPr>
          <a:lstStyle/>
          <a:p>
            <a:pPr algn="r">
              <a:lnSpc>
                <a:spcPct val="83300"/>
              </a:lnSpc>
            </a:pPr>
            <a:r>
              <a:rPr sz="2400" b="1" i="0">
                <a:solidFill>
                  <a:srgbClr val="FFD21F"/>
                </a:solidFill>
                <a:latin typeface="Montserrat"/>
              </a:rPr>
              <a:t>135</a:t>
            </a:r>
          </a:p>
        </p:txBody>
      </p:sp>
      <p:sp>
        <p:nvSpPr>
          <p:cNvPr id="83" name="TextBox 82"/>
          <p:cNvSpPr txBox="1"/>
          <p:nvPr/>
        </p:nvSpPr>
        <p:spPr>
          <a:xfrm>
            <a:off x="10991850" y="5029200"/>
            <a:ext cx="2510879" cy="285750"/>
          </a:xfrm>
          <a:prstGeom prst="rect">
            <a:avLst/>
          </a:prstGeom>
          <a:noFill/>
        </p:spPr>
        <p:txBody>
          <a:bodyPr wrap="square" lIns="0" rIns="0" tIns="0" bIns="0" anchor="ctr">
            <a:spAutoFit/>
          </a:bodyPr>
          <a:lstStyle/>
          <a:p>
            <a:pPr algn="l">
              <a:lnSpc>
                <a:spcPct val="83300"/>
              </a:lnSpc>
            </a:pPr>
            <a:r>
              <a:rPr sz="1575" b="1" i="0">
                <a:solidFill>
                  <a:srgbClr val="F3F7FC"/>
                </a:solidFill>
                <a:latin typeface="Montserrat"/>
              </a:rPr>
              <a:t>En las cinco primeras</a:t>
            </a:r>
          </a:p>
        </p:txBody>
      </p:sp>
      <p:sp>
        <p:nvSpPr>
          <p:cNvPr id="84" name="TextBox 83"/>
          <p:cNvSpPr txBox="1"/>
          <p:nvPr/>
        </p:nvSpPr>
        <p:spPr>
          <a:xfrm>
            <a:off x="13331279" y="5029200"/>
            <a:ext cx="2823121" cy="28575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Recall@5 · 87,8%</a:t>
            </a:r>
          </a:p>
        </p:txBody>
      </p:sp>
      <p:sp>
        <p:nvSpPr>
          <p:cNvPr id="85" name="Rectangle 84"/>
          <p:cNvSpPr/>
          <p:nvPr/>
        </p:nvSpPr>
        <p:spPr>
          <a:xfrm>
            <a:off x="10991850" y="5410200"/>
            <a:ext cx="516255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0991850" y="5410200"/>
            <a:ext cx="4530401"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6230600" y="5314950"/>
            <a:ext cx="857250" cy="419100"/>
          </a:xfrm>
          <a:prstGeom prst="rect">
            <a:avLst/>
          </a:prstGeom>
          <a:noFill/>
        </p:spPr>
        <p:txBody>
          <a:bodyPr wrap="square" lIns="0" rIns="0" tIns="0" bIns="0" anchor="ctr">
            <a:spAutoFit/>
          </a:bodyPr>
          <a:lstStyle/>
          <a:p>
            <a:pPr algn="r">
              <a:lnSpc>
                <a:spcPct val="83300"/>
              </a:lnSpc>
            </a:pPr>
            <a:r>
              <a:rPr sz="2400" b="1" i="0">
                <a:solidFill>
                  <a:srgbClr val="F3F7FC"/>
                </a:solidFill>
                <a:latin typeface="Montserrat"/>
              </a:rPr>
              <a:t>129</a:t>
            </a:r>
          </a:p>
        </p:txBody>
      </p:sp>
      <p:sp>
        <p:nvSpPr>
          <p:cNvPr id="88" name="TextBox 87"/>
          <p:cNvSpPr txBox="1"/>
          <p:nvPr/>
        </p:nvSpPr>
        <p:spPr>
          <a:xfrm>
            <a:off x="10991850" y="5848350"/>
            <a:ext cx="2376041" cy="285750"/>
          </a:xfrm>
          <a:prstGeom prst="rect">
            <a:avLst/>
          </a:prstGeom>
          <a:noFill/>
        </p:spPr>
        <p:txBody>
          <a:bodyPr wrap="square" lIns="0" rIns="0" tIns="0" bIns="0" anchor="ctr">
            <a:spAutoFit/>
          </a:bodyPr>
          <a:lstStyle/>
          <a:p>
            <a:pPr algn="l">
              <a:lnSpc>
                <a:spcPct val="83300"/>
              </a:lnSpc>
            </a:pPr>
            <a:r>
              <a:rPr sz="1575" b="1" i="0">
                <a:solidFill>
                  <a:srgbClr val="F3F7FC"/>
                </a:solidFill>
                <a:latin typeface="Montserrat"/>
              </a:rPr>
              <a:t>En primera posición</a:t>
            </a:r>
          </a:p>
        </p:txBody>
      </p:sp>
      <p:sp>
        <p:nvSpPr>
          <p:cNvPr id="89" name="TextBox 88"/>
          <p:cNvSpPr txBox="1"/>
          <p:nvPr/>
        </p:nvSpPr>
        <p:spPr>
          <a:xfrm>
            <a:off x="13196441" y="5848350"/>
            <a:ext cx="2957959" cy="28575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Recall@1 · 82,3% · MRR 0,8515</a:t>
            </a:r>
          </a:p>
        </p:txBody>
      </p:sp>
      <p:sp>
        <p:nvSpPr>
          <p:cNvPr id="90" name="Rectangle 89"/>
          <p:cNvSpPr/>
          <p:nvPr/>
        </p:nvSpPr>
        <p:spPr>
          <a:xfrm>
            <a:off x="10991850" y="6229350"/>
            <a:ext cx="516255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0991850" y="6229350"/>
            <a:ext cx="4249446" cy="2286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6230600" y="6134100"/>
            <a:ext cx="857250" cy="419100"/>
          </a:xfrm>
          <a:prstGeom prst="rect">
            <a:avLst/>
          </a:prstGeom>
          <a:noFill/>
        </p:spPr>
        <p:txBody>
          <a:bodyPr wrap="square" lIns="0" rIns="0" tIns="0" bIns="0" anchor="ctr">
            <a:spAutoFit/>
          </a:bodyPr>
          <a:lstStyle/>
          <a:p>
            <a:pPr algn="r">
              <a:lnSpc>
                <a:spcPct val="83300"/>
              </a:lnSpc>
            </a:pPr>
            <a:r>
              <a:rPr sz="2400" b="1" i="0">
                <a:solidFill>
                  <a:srgbClr val="F3F7FC"/>
                </a:solidFill>
                <a:latin typeface="Montserrat"/>
              </a:rPr>
              <a:t>121</a:t>
            </a:r>
          </a:p>
        </p:txBody>
      </p:sp>
      <p:sp>
        <p:nvSpPr>
          <p:cNvPr id="93" name="TextBox 92"/>
          <p:cNvSpPr txBox="1"/>
          <p:nvPr/>
        </p:nvSpPr>
        <p:spPr>
          <a:xfrm>
            <a:off x="10991850" y="6667500"/>
            <a:ext cx="1427411" cy="285750"/>
          </a:xfrm>
          <a:prstGeom prst="rect">
            <a:avLst/>
          </a:prstGeom>
          <a:noFill/>
        </p:spPr>
        <p:txBody>
          <a:bodyPr wrap="square" lIns="0" rIns="0" tIns="0" bIns="0" anchor="ctr">
            <a:spAutoFit/>
          </a:bodyPr>
          <a:lstStyle/>
          <a:p>
            <a:pPr algn="l">
              <a:lnSpc>
                <a:spcPct val="83300"/>
              </a:lnSpc>
            </a:pPr>
            <a:r>
              <a:rPr sz="1575" b="1" i="0">
                <a:solidFill>
                  <a:srgbClr val="F3F7FC"/>
                </a:solidFill>
                <a:latin typeface="Montserrat"/>
              </a:rPr>
              <a:t>Imposibles</a:t>
            </a:r>
          </a:p>
        </p:txBody>
      </p:sp>
      <p:sp>
        <p:nvSpPr>
          <p:cNvPr id="94" name="TextBox 93"/>
          <p:cNvSpPr txBox="1"/>
          <p:nvPr/>
        </p:nvSpPr>
        <p:spPr>
          <a:xfrm>
            <a:off x="12247811" y="6667500"/>
            <a:ext cx="3906589" cy="28575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la verdad nunca entró al pool</a:t>
            </a:r>
          </a:p>
        </p:txBody>
      </p:sp>
      <p:sp>
        <p:nvSpPr>
          <p:cNvPr id="95" name="Rectangle 94"/>
          <p:cNvSpPr/>
          <p:nvPr/>
        </p:nvSpPr>
        <p:spPr>
          <a:xfrm>
            <a:off x="10991850" y="7048500"/>
            <a:ext cx="5162550" cy="2286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5732967" y="7048500"/>
            <a:ext cx="421433" cy="22860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16230600" y="6953250"/>
            <a:ext cx="857250" cy="419100"/>
          </a:xfrm>
          <a:prstGeom prst="rect">
            <a:avLst/>
          </a:prstGeom>
          <a:noFill/>
        </p:spPr>
        <p:txBody>
          <a:bodyPr wrap="square" lIns="0" rIns="0" tIns="0" bIns="0" anchor="ctr">
            <a:spAutoFit/>
          </a:bodyPr>
          <a:lstStyle/>
          <a:p>
            <a:pPr algn="r">
              <a:lnSpc>
                <a:spcPct val="83300"/>
              </a:lnSpc>
            </a:pPr>
            <a:r>
              <a:rPr sz="2400" b="1" i="0">
                <a:solidFill>
                  <a:srgbClr val="E0566B"/>
                </a:solidFill>
                <a:latin typeface="Montserrat"/>
              </a:rPr>
              <a:t>12</a:t>
            </a:r>
          </a:p>
        </p:txBody>
      </p:sp>
      <p:cxnSp>
        <p:nvCxnSpPr>
          <p:cNvPr id="98" name="Connector 97"/>
          <p:cNvCxnSpPr/>
          <p:nvPr/>
        </p:nvCxnSpPr>
        <p:spPr>
          <a:xfrm>
            <a:off x="15732967" y="3676650"/>
            <a:ext cx="0" cy="3695700"/>
          </a:xfrm>
          <a:prstGeom prst="line">
            <a:avLst/>
          </a:prstGeom>
          <a:ln w="19050">
            <a:solidFill>
              <a:srgbClr val="FFD21F">
                <a:alpha val="90000"/>
              </a:srgbClr>
            </a:solidFill>
            <a:prstDash val="dash"/>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10991850" y="7524750"/>
            <a:ext cx="60960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1049000" y="7892461"/>
            <a:ext cx="906676"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Techo</a:t>
            </a:r>
          </a:p>
        </p:txBody>
      </p:sp>
      <p:sp>
        <p:nvSpPr>
          <p:cNvPr id="101" name="TextBox 100"/>
          <p:cNvSpPr txBox="1"/>
          <p:nvPr/>
        </p:nvSpPr>
        <p:spPr>
          <a:xfrm>
            <a:off x="12002158" y="7892461"/>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102" name="Rectangle 101"/>
          <p:cNvSpPr/>
          <p:nvPr/>
        </p:nvSpPr>
        <p:spPr>
          <a:xfrm>
            <a:off x="12277240" y="8068673"/>
            <a:ext cx="452890"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2303910" y="7719121"/>
            <a:ext cx="440287"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135</a:t>
            </a:r>
          </a:p>
        </p:txBody>
      </p:sp>
      <p:sp>
        <p:nvSpPr>
          <p:cNvPr id="104" name="TextBox 103"/>
          <p:cNvSpPr txBox="1"/>
          <p:nvPr/>
        </p:nvSpPr>
        <p:spPr>
          <a:xfrm>
            <a:off x="12308518" y="8125236"/>
            <a:ext cx="430519"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147</a:t>
            </a:r>
          </a:p>
        </p:txBody>
      </p:sp>
      <p:sp>
        <p:nvSpPr>
          <p:cNvPr id="105" name="TextBox 104"/>
          <p:cNvSpPr txBox="1"/>
          <p:nvPr/>
        </p:nvSpPr>
        <p:spPr>
          <a:xfrm>
            <a:off x="12814712" y="7892461"/>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106" name="TextBox 105"/>
          <p:cNvSpPr txBox="1"/>
          <p:nvPr/>
        </p:nvSpPr>
        <p:spPr>
          <a:xfrm>
            <a:off x="13040264" y="7882936"/>
            <a:ext cx="1015011"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91,8%</a:t>
            </a:r>
          </a:p>
        </p:txBody>
      </p:sp>
      <p:sp>
        <p:nvSpPr>
          <p:cNvPr id="107" name="TextBox 106"/>
          <p:cNvSpPr txBox="1"/>
          <p:nvPr/>
        </p:nvSpPr>
        <p:spPr>
          <a:xfrm>
            <a:off x="10991850" y="8584021"/>
            <a:ext cx="6096000" cy="845729"/>
          </a:xfrm>
          <a:prstGeom prst="rect">
            <a:avLst/>
          </a:prstGeom>
          <a:noFill/>
        </p:spPr>
        <p:txBody>
          <a:bodyPr wrap="square" lIns="0" rIns="0" tIns="0" bIns="0" anchor="ctr">
            <a:spAutoFit/>
          </a:bodyPr>
          <a:lstStyle/>
          <a:p>
            <a:pPr algn="l">
              <a:lnSpc>
                <a:spcPct val="104200"/>
              </a:lnSpc>
            </a:pPr>
            <a:r>
              <a:rPr sz="1650" b="0" i="0">
                <a:solidFill>
                  <a:srgbClr val="F3F7FC"/>
                </a:solidFill>
                <a:latin typeface="Barlow"/>
              </a:rPr>
              <a:t>De los 26 fallos en primera posición, 12 son irrecuperables: </a:t>
            </a:r>
            <a:r>
              <a:rPr sz="1650" b="1" i="0">
                <a:solidFill>
                  <a:srgbClr val="FFD21F"/>
                </a:solidFill>
                <a:latin typeface="Barlow"/>
              </a:rPr>
              <a:t>hay que ensanchar la recuperación.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OE5 · EVALUAR EL DESEMPEÑO · EVIDENCIA FUERA DEL DATASET</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Evidencia externa: gold y benchmark multipaís</a:t>
            </a:r>
          </a:p>
        </p:txBody>
      </p:sp>
      <p:sp>
        <p:nvSpPr>
          <p:cNvPr id="9" name="Rectangle 8"/>
          <p:cNvSpPr/>
          <p:nvPr/>
        </p:nvSpPr>
        <p:spPr>
          <a:xfrm>
            <a:off x="914400" y="2686050"/>
            <a:ext cx="57150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86050"/>
            <a:ext cx="57150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2952750"/>
            <a:ext cx="5143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GOLD EXTERNO</a:t>
            </a:r>
          </a:p>
        </p:txBody>
      </p:sp>
      <p:sp>
        <p:nvSpPr>
          <p:cNvPr id="12" name="TextBox 11"/>
          <p:cNvSpPr txBox="1"/>
          <p:nvPr/>
        </p:nvSpPr>
        <p:spPr>
          <a:xfrm>
            <a:off x="1200150" y="3238500"/>
            <a:ext cx="5143500" cy="609600"/>
          </a:xfrm>
          <a:prstGeom prst="rect">
            <a:avLst/>
          </a:prstGeom>
          <a:noFill/>
        </p:spPr>
        <p:txBody>
          <a:bodyPr wrap="square" lIns="0" rIns="0" tIns="0" bIns="0" anchor="t">
            <a:spAutoFit/>
          </a:bodyPr>
          <a:lstStyle/>
          <a:p>
            <a:pPr algn="l">
              <a:lnSpc>
                <a:spcPct val="100000"/>
              </a:lnSpc>
            </a:pPr>
            <a:r>
              <a:rPr sz="1650" b="0" i="0">
                <a:solidFill>
                  <a:srgbClr val="F3F7FC"/>
                </a:solidFill>
                <a:latin typeface="Barlow"/>
              </a:rPr>
              <a:t>213 consultas anotadas a mano, fuera del entrenamiento</a:t>
            </a:r>
          </a:p>
        </p:txBody>
      </p:sp>
      <p:sp>
        <p:nvSpPr>
          <p:cNvPr id="13" name="TextBox 12"/>
          <p:cNvSpPr txBox="1"/>
          <p:nvPr/>
        </p:nvSpPr>
        <p:spPr>
          <a:xfrm>
            <a:off x="1200150" y="3810000"/>
            <a:ext cx="5143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RECALL@1 · ESCALA 0–1</a:t>
            </a:r>
          </a:p>
        </p:txBody>
      </p:sp>
      <p:sp>
        <p:nvSpPr>
          <p:cNvPr id="14" name="Rectangle 13"/>
          <p:cNvSpPr/>
          <p:nvPr/>
        </p:nvSpPr>
        <p:spPr>
          <a:xfrm>
            <a:off x="1200150" y="4248150"/>
            <a:ext cx="1066800" cy="22479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00150" y="5113592"/>
            <a:ext cx="1066800" cy="1382458"/>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599242"/>
            <a:ext cx="1638300" cy="419100"/>
          </a:xfrm>
          <a:prstGeom prst="rect">
            <a:avLst/>
          </a:prstGeom>
          <a:noFill/>
        </p:spPr>
        <p:txBody>
          <a:bodyPr wrap="square" lIns="0" rIns="0" tIns="0" bIns="0" anchor="ctr">
            <a:spAutoFit/>
          </a:bodyPr>
          <a:lstStyle/>
          <a:p>
            <a:pPr algn="ctr">
              <a:lnSpc>
                <a:spcPct val="83300"/>
              </a:lnSpc>
            </a:pPr>
            <a:r>
              <a:rPr sz="2550" b="1" i="0">
                <a:solidFill>
                  <a:srgbClr val="FFD21F"/>
                </a:solidFill>
                <a:latin typeface="Montserrat"/>
              </a:rPr>
              <a:t>0,615</a:t>
            </a:r>
          </a:p>
        </p:txBody>
      </p:sp>
      <p:sp>
        <p:nvSpPr>
          <p:cNvPr id="17" name="TextBox 16"/>
          <p:cNvSpPr txBox="1"/>
          <p:nvPr/>
        </p:nvSpPr>
        <p:spPr>
          <a:xfrm>
            <a:off x="1200150" y="6591300"/>
            <a:ext cx="1514475" cy="323850"/>
          </a:xfrm>
          <a:prstGeom prst="rect">
            <a:avLst/>
          </a:prstGeom>
          <a:noFill/>
        </p:spPr>
        <p:txBody>
          <a:bodyPr wrap="square" lIns="0" rIns="0" tIns="0" bIns="0" anchor="ctr">
            <a:spAutoFit/>
          </a:bodyPr>
          <a:lstStyle/>
          <a:p>
            <a:pPr algn="ctr">
              <a:lnSpc>
                <a:spcPct val="100000"/>
              </a:lnSpc>
            </a:pPr>
            <a:r>
              <a:rPr sz="1950" b="1" i="0">
                <a:solidFill>
                  <a:srgbClr val="FFD21F"/>
                </a:solidFill>
                <a:latin typeface="Montserrat"/>
              </a:rPr>
              <a:t>M1</a:t>
            </a:r>
          </a:p>
        </p:txBody>
      </p:sp>
      <p:sp>
        <p:nvSpPr>
          <p:cNvPr id="18" name="TextBox 17"/>
          <p:cNvSpPr txBox="1"/>
          <p:nvPr/>
        </p:nvSpPr>
        <p:spPr>
          <a:xfrm>
            <a:off x="1200150" y="6915150"/>
            <a:ext cx="1514475" cy="533400"/>
          </a:xfrm>
          <a:prstGeom prst="rect">
            <a:avLst/>
          </a:prstGeom>
          <a:noFill/>
        </p:spPr>
        <p:txBody>
          <a:bodyPr wrap="square" lIns="0" rIns="0" tIns="0" bIns="0" anchor="t">
            <a:spAutoFit/>
          </a:bodyPr>
          <a:lstStyle/>
          <a:p>
            <a:pPr algn="ctr">
              <a:lnSpc>
                <a:spcPct val="95800"/>
              </a:lnSpc>
            </a:pPr>
            <a:r>
              <a:rPr sz="1500" b="0" i="0">
                <a:solidFill>
                  <a:srgbClr val="9FB4CC"/>
                </a:solidFill>
                <a:latin typeface="Barlow"/>
              </a:rPr>
              <a:t>TF-IDF</a:t>
            </a:r>
          </a:p>
        </p:txBody>
      </p:sp>
      <p:sp>
        <p:nvSpPr>
          <p:cNvPr id="19" name="Rectangle 18"/>
          <p:cNvSpPr/>
          <p:nvPr/>
        </p:nvSpPr>
        <p:spPr>
          <a:xfrm>
            <a:off x="3238500" y="4248150"/>
            <a:ext cx="1066800" cy="22479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238500" y="6084684"/>
            <a:ext cx="1066800" cy="411366"/>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952750" y="5570334"/>
            <a:ext cx="1638300" cy="419100"/>
          </a:xfrm>
          <a:prstGeom prst="rect">
            <a:avLst/>
          </a:prstGeom>
          <a:noFill/>
        </p:spPr>
        <p:txBody>
          <a:bodyPr wrap="square" lIns="0" rIns="0" tIns="0" bIns="0" anchor="ctr">
            <a:spAutoFit/>
          </a:bodyPr>
          <a:lstStyle/>
          <a:p>
            <a:pPr algn="ctr">
              <a:lnSpc>
                <a:spcPct val="83300"/>
              </a:lnSpc>
            </a:pPr>
            <a:r>
              <a:rPr sz="2550" b="1" i="0">
                <a:solidFill>
                  <a:srgbClr val="E0566B"/>
                </a:solidFill>
                <a:latin typeface="Montserrat"/>
              </a:rPr>
              <a:t>0,183</a:t>
            </a:r>
          </a:p>
        </p:txBody>
      </p:sp>
      <p:sp>
        <p:nvSpPr>
          <p:cNvPr id="22" name="TextBox 21"/>
          <p:cNvSpPr txBox="1"/>
          <p:nvPr/>
        </p:nvSpPr>
        <p:spPr>
          <a:xfrm>
            <a:off x="2790825" y="6591300"/>
            <a:ext cx="1962150" cy="323850"/>
          </a:xfrm>
          <a:prstGeom prst="rect">
            <a:avLst/>
          </a:prstGeom>
          <a:noFill/>
        </p:spPr>
        <p:txBody>
          <a:bodyPr wrap="square" lIns="0" rIns="0" tIns="0" bIns="0" anchor="ctr">
            <a:spAutoFit/>
          </a:bodyPr>
          <a:lstStyle/>
          <a:p>
            <a:pPr algn="ctr">
              <a:lnSpc>
                <a:spcPct val="100000"/>
              </a:lnSpc>
            </a:pPr>
            <a:r>
              <a:rPr sz="1950" b="1" i="0">
                <a:solidFill>
                  <a:srgbClr val="E0566B"/>
                </a:solidFill>
                <a:latin typeface="Montserrat"/>
              </a:rPr>
              <a:t>M2</a:t>
            </a:r>
          </a:p>
        </p:txBody>
      </p:sp>
      <p:sp>
        <p:nvSpPr>
          <p:cNvPr id="23" name="TextBox 22"/>
          <p:cNvSpPr txBox="1"/>
          <p:nvPr/>
        </p:nvSpPr>
        <p:spPr>
          <a:xfrm>
            <a:off x="2790825" y="6915150"/>
            <a:ext cx="1962150" cy="533400"/>
          </a:xfrm>
          <a:prstGeom prst="rect">
            <a:avLst/>
          </a:prstGeom>
          <a:noFill/>
        </p:spPr>
        <p:txBody>
          <a:bodyPr wrap="square" lIns="0" rIns="0" tIns="0" bIns="0" anchor="t">
            <a:spAutoFit/>
          </a:bodyPr>
          <a:lstStyle/>
          <a:p>
            <a:pPr algn="ctr">
              <a:lnSpc>
                <a:spcPct val="95800"/>
              </a:lnSpc>
            </a:pPr>
            <a:r>
              <a:rPr sz="1500" b="0" i="0">
                <a:solidFill>
                  <a:srgbClr val="9FB4CC"/>
                </a:solidFill>
                <a:latin typeface="Barlow"/>
              </a:rPr>
              <a:t>Embeddings</a:t>
            </a:r>
          </a:p>
        </p:txBody>
      </p:sp>
      <p:sp>
        <p:nvSpPr>
          <p:cNvPr id="24" name="Rectangle 23"/>
          <p:cNvSpPr/>
          <p:nvPr/>
        </p:nvSpPr>
        <p:spPr>
          <a:xfrm>
            <a:off x="5276850" y="4248150"/>
            <a:ext cx="1066800" cy="224790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276850" y="5113592"/>
            <a:ext cx="1066800" cy="1382458"/>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991100" y="4599242"/>
            <a:ext cx="1638300" cy="419100"/>
          </a:xfrm>
          <a:prstGeom prst="rect">
            <a:avLst/>
          </a:prstGeom>
          <a:noFill/>
        </p:spPr>
        <p:txBody>
          <a:bodyPr wrap="square" lIns="0" rIns="0" tIns="0" bIns="0" anchor="ctr">
            <a:spAutoFit/>
          </a:bodyPr>
          <a:lstStyle/>
          <a:p>
            <a:pPr algn="ctr">
              <a:lnSpc>
                <a:spcPct val="83300"/>
              </a:lnSpc>
            </a:pPr>
            <a:r>
              <a:rPr sz="2550" b="1" i="0">
                <a:solidFill>
                  <a:srgbClr val="FFD21F"/>
                </a:solidFill>
                <a:latin typeface="Montserrat"/>
              </a:rPr>
              <a:t>0,615</a:t>
            </a:r>
          </a:p>
        </p:txBody>
      </p:sp>
      <p:sp>
        <p:nvSpPr>
          <p:cNvPr id="27" name="TextBox 26"/>
          <p:cNvSpPr txBox="1"/>
          <p:nvPr/>
        </p:nvSpPr>
        <p:spPr>
          <a:xfrm>
            <a:off x="4829175" y="6591300"/>
            <a:ext cx="1514475" cy="323850"/>
          </a:xfrm>
          <a:prstGeom prst="rect">
            <a:avLst/>
          </a:prstGeom>
          <a:noFill/>
        </p:spPr>
        <p:txBody>
          <a:bodyPr wrap="square" lIns="0" rIns="0" tIns="0" bIns="0" anchor="ctr">
            <a:spAutoFit/>
          </a:bodyPr>
          <a:lstStyle/>
          <a:p>
            <a:pPr algn="ctr">
              <a:lnSpc>
                <a:spcPct val="100000"/>
              </a:lnSpc>
            </a:pPr>
            <a:r>
              <a:rPr sz="1950" b="1" i="0">
                <a:solidFill>
                  <a:srgbClr val="FFD21F"/>
                </a:solidFill>
                <a:latin typeface="Montserrat"/>
              </a:rPr>
              <a:t>M3</a:t>
            </a:r>
          </a:p>
        </p:txBody>
      </p:sp>
      <p:sp>
        <p:nvSpPr>
          <p:cNvPr id="28" name="TextBox 27"/>
          <p:cNvSpPr txBox="1"/>
          <p:nvPr/>
        </p:nvSpPr>
        <p:spPr>
          <a:xfrm>
            <a:off x="4829175" y="6915150"/>
            <a:ext cx="1514475" cy="533400"/>
          </a:xfrm>
          <a:prstGeom prst="rect">
            <a:avLst/>
          </a:prstGeom>
          <a:noFill/>
        </p:spPr>
        <p:txBody>
          <a:bodyPr wrap="square" lIns="0" rIns="0" tIns="0" bIns="0" anchor="t">
            <a:spAutoFit/>
          </a:bodyPr>
          <a:lstStyle/>
          <a:p>
            <a:pPr algn="ctr">
              <a:lnSpc>
                <a:spcPct val="95800"/>
              </a:lnSpc>
            </a:pPr>
            <a:r>
              <a:rPr sz="1500" b="0" i="0">
                <a:solidFill>
                  <a:srgbClr val="9FB4CC"/>
                </a:solidFill>
                <a:latin typeface="Barlow"/>
              </a:rPr>
              <a:t>Unión +</a:t>
            </a:r>
          </a:p>
          <a:p>
            <a:pPr algn="ctr">
              <a:lnSpc>
                <a:spcPct val="95800"/>
              </a:lnSpc>
            </a:pPr>
            <a:r>
              <a:rPr sz="1500" b="0" i="0">
                <a:solidFill>
                  <a:srgbClr val="9FB4CC"/>
                </a:solidFill>
                <a:latin typeface="Barlow"/>
              </a:rPr>
              <a:t>reordenador</a:t>
            </a:r>
          </a:p>
        </p:txBody>
      </p:sp>
      <p:sp>
        <p:nvSpPr>
          <p:cNvPr id="29" name="Rectangle 28"/>
          <p:cNvSpPr/>
          <p:nvPr/>
        </p:nvSpPr>
        <p:spPr>
          <a:xfrm>
            <a:off x="1200150" y="7486650"/>
            <a:ext cx="51435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19200" y="7688485"/>
            <a:ext cx="276118"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Δ</a:t>
            </a:r>
          </a:p>
        </p:txBody>
      </p:sp>
      <p:sp>
        <p:nvSpPr>
          <p:cNvPr id="31" name="TextBox 30"/>
          <p:cNvSpPr txBox="1"/>
          <p:nvPr/>
        </p:nvSpPr>
        <p:spPr>
          <a:xfrm>
            <a:off x="1503497" y="7688485"/>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32" name="TextBox 31"/>
          <p:cNvSpPr txBox="1"/>
          <p:nvPr/>
        </p:nvSpPr>
        <p:spPr>
          <a:xfrm>
            <a:off x="1743146" y="7688485"/>
            <a:ext cx="80886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0,615</a:t>
            </a:r>
          </a:p>
        </p:txBody>
      </p:sp>
      <p:sp>
        <p:nvSpPr>
          <p:cNvPr id="33" name="TextBox 32"/>
          <p:cNvSpPr txBox="1"/>
          <p:nvPr/>
        </p:nvSpPr>
        <p:spPr>
          <a:xfrm>
            <a:off x="2530036" y="7688485"/>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34" name="TextBox 33"/>
          <p:cNvSpPr txBox="1"/>
          <p:nvPr/>
        </p:nvSpPr>
        <p:spPr>
          <a:xfrm>
            <a:off x="2769685" y="7688485"/>
            <a:ext cx="80886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0,615</a:t>
            </a:r>
          </a:p>
        </p:txBody>
      </p:sp>
      <p:sp>
        <p:nvSpPr>
          <p:cNvPr id="35" name="TextBox 34"/>
          <p:cNvSpPr txBox="1"/>
          <p:nvPr/>
        </p:nvSpPr>
        <p:spPr>
          <a:xfrm>
            <a:off x="3556575" y="7688485"/>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36" name="TextBox 35"/>
          <p:cNvSpPr txBox="1"/>
          <p:nvPr/>
        </p:nvSpPr>
        <p:spPr>
          <a:xfrm>
            <a:off x="3796224" y="7678364"/>
            <a:ext cx="631609" cy="425053"/>
          </a:xfrm>
          <a:prstGeom prst="rect">
            <a:avLst/>
          </a:prstGeom>
          <a:noFill/>
        </p:spPr>
        <p:txBody>
          <a:bodyPr wrap="none" lIns="0" rIns="0" tIns="0" bIns="0" anchor="ctr">
            <a:spAutoFit/>
          </a:bodyPr>
          <a:lstStyle/>
          <a:p>
            <a:pPr algn="l">
              <a:lnSpc>
                <a:spcPct val="83300"/>
              </a:lnSpc>
            </a:pPr>
            <a:r>
              <a:rPr sz="2677" b="1" i="0">
                <a:solidFill>
                  <a:srgbClr val="FFD21F"/>
                </a:solidFill>
                <a:latin typeface="Montserrat"/>
              </a:rPr>
              <a:t>0,0</a:t>
            </a:r>
          </a:p>
        </p:txBody>
      </p:sp>
      <p:sp>
        <p:nvSpPr>
          <p:cNvPr id="37" name="TextBox 36"/>
          <p:cNvSpPr txBox="1"/>
          <p:nvPr/>
        </p:nvSpPr>
        <p:spPr>
          <a:xfrm>
            <a:off x="1200150" y="8199882"/>
            <a:ext cx="5143500" cy="49530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Diferencia M3 − M1 · bootstrap de 10.000 muestras</a:t>
            </a:r>
          </a:p>
          <a:p>
            <a:pPr algn="l">
              <a:lnSpc>
                <a:spcPct val="100000"/>
              </a:lnSpc>
            </a:pPr>
            <a:r>
              <a:rPr sz="1500" b="0" i="0">
                <a:solidFill>
                  <a:srgbClr val="9FB4CC"/>
                </a:solidFill>
                <a:latin typeface="Barlow"/>
              </a:rPr>
              <a:t>IC 95% [−0,047; +0,047] · p = 1,0</a:t>
            </a:r>
          </a:p>
        </p:txBody>
      </p:sp>
      <p:sp>
        <p:nvSpPr>
          <p:cNvPr id="38" name="TextBox 37"/>
          <p:cNvSpPr txBox="1"/>
          <p:nvPr/>
        </p:nvSpPr>
        <p:spPr>
          <a:xfrm>
            <a:off x="1200150" y="8790432"/>
            <a:ext cx="5143500" cy="552450"/>
          </a:xfrm>
          <a:prstGeom prst="rect">
            <a:avLst/>
          </a:prstGeom>
          <a:noFill/>
        </p:spPr>
        <p:txBody>
          <a:bodyPr wrap="square" lIns="0" rIns="0" tIns="0" bIns="0" anchor="t">
            <a:spAutoFit/>
          </a:bodyPr>
          <a:lstStyle/>
          <a:p>
            <a:pPr algn="l">
              <a:lnSpc>
                <a:spcPct val="100000"/>
              </a:lnSpc>
            </a:pPr>
            <a:r>
              <a:rPr sz="1725" b="1" i="0">
                <a:solidFill>
                  <a:srgbClr val="FFD21F"/>
                </a:solidFill>
                <a:latin typeface="Montserrat"/>
              </a:rPr>
              <a:t>El reordenador no recupera mejor: decide cuándo automatizar</a:t>
            </a:r>
          </a:p>
        </p:txBody>
      </p:sp>
      <p:sp>
        <p:nvSpPr>
          <p:cNvPr id="39" name="Rectangle 38"/>
          <p:cNvSpPr/>
          <p:nvPr/>
        </p:nvSpPr>
        <p:spPr>
          <a:xfrm>
            <a:off x="6896100" y="2686050"/>
            <a:ext cx="10477500" cy="69342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896100" y="2686050"/>
            <a:ext cx="104775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Esquinero"/>
          <p:cNvSpPr/>
          <p:nvPr/>
        </p:nvSpPr>
        <p:spPr>
          <a:xfrm>
            <a:off x="680085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Esquinero"/>
          <p:cNvSpPr/>
          <p:nvPr/>
        </p:nvSpPr>
        <p:spPr>
          <a:xfrm>
            <a:off x="6800850"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Esquinero"/>
          <p:cNvSpPr/>
          <p:nvPr/>
        </p:nvSpPr>
        <p:spPr>
          <a:xfrm>
            <a:off x="17145000" y="25908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Esquinero"/>
          <p:cNvSpPr/>
          <p:nvPr/>
        </p:nvSpPr>
        <p:spPr>
          <a:xfrm>
            <a:off x="17440275" y="25908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quinero"/>
          <p:cNvSpPr/>
          <p:nvPr/>
        </p:nvSpPr>
        <p:spPr>
          <a:xfrm>
            <a:off x="68008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Esquinero"/>
          <p:cNvSpPr/>
          <p:nvPr/>
        </p:nvSpPr>
        <p:spPr>
          <a:xfrm>
            <a:off x="68008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quinero"/>
          <p:cNvSpPr/>
          <p:nvPr/>
        </p:nvSpPr>
        <p:spPr>
          <a:xfrm>
            <a:off x="174402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quinero"/>
          <p:cNvSpPr/>
          <p:nvPr/>
        </p:nvSpPr>
        <p:spPr>
          <a:xfrm>
            <a:off x="171450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200900" y="2952750"/>
            <a:ext cx="98679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BENCHMARK MULTIPAÍS V7.5 · 19 PAÍSES · RETAILERS NO VISTOS</a:t>
            </a:r>
          </a:p>
        </p:txBody>
      </p:sp>
      <p:sp>
        <p:nvSpPr>
          <p:cNvPr id="50" name="TextBox 49"/>
          <p:cNvSpPr txBox="1"/>
          <p:nvPr/>
        </p:nvSpPr>
        <p:spPr>
          <a:xfrm>
            <a:off x="7200900" y="3314700"/>
            <a:ext cx="2238375" cy="666750"/>
          </a:xfrm>
          <a:prstGeom prst="rect">
            <a:avLst/>
          </a:prstGeom>
          <a:noFill/>
        </p:spPr>
        <p:txBody>
          <a:bodyPr wrap="square" lIns="0" rIns="0" tIns="0" bIns="0" anchor="ctr">
            <a:spAutoFit/>
          </a:bodyPr>
          <a:lstStyle/>
          <a:p>
            <a:pPr algn="l">
              <a:lnSpc>
                <a:spcPct val="83300"/>
              </a:lnSpc>
            </a:pPr>
            <a:r>
              <a:rPr sz="4200" b="1" i="0">
                <a:solidFill>
                  <a:srgbClr val="F3F7FC"/>
                </a:solidFill>
                <a:latin typeface="Montserrat"/>
              </a:rPr>
              <a:t>2.365</a:t>
            </a:r>
          </a:p>
        </p:txBody>
      </p:sp>
      <p:sp>
        <p:nvSpPr>
          <p:cNvPr id="51" name="TextBox 50"/>
          <p:cNvSpPr txBox="1"/>
          <p:nvPr/>
        </p:nvSpPr>
        <p:spPr>
          <a:xfrm>
            <a:off x="7200900" y="4000500"/>
            <a:ext cx="2238375"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PUBLICACIONES</a:t>
            </a:r>
          </a:p>
        </p:txBody>
      </p:sp>
      <p:sp>
        <p:nvSpPr>
          <p:cNvPr id="52" name="TextBox 51"/>
          <p:cNvSpPr txBox="1"/>
          <p:nvPr/>
        </p:nvSpPr>
        <p:spPr>
          <a:xfrm>
            <a:off x="7200900" y="4248150"/>
            <a:ext cx="2238375"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evaluadas</a:t>
            </a:r>
          </a:p>
        </p:txBody>
      </p:sp>
      <p:sp>
        <p:nvSpPr>
          <p:cNvPr id="53" name="Rectangle 52"/>
          <p:cNvSpPr/>
          <p:nvPr/>
        </p:nvSpPr>
        <p:spPr>
          <a:xfrm>
            <a:off x="9515475" y="3409950"/>
            <a:ext cx="14288" cy="10477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667875" y="3314700"/>
            <a:ext cx="2238375" cy="666750"/>
          </a:xfrm>
          <a:prstGeom prst="rect">
            <a:avLst/>
          </a:prstGeom>
          <a:noFill/>
        </p:spPr>
        <p:txBody>
          <a:bodyPr wrap="square" lIns="0" rIns="0" tIns="0" bIns="0" anchor="ctr">
            <a:spAutoFit/>
          </a:bodyPr>
          <a:lstStyle/>
          <a:p>
            <a:pPr algn="l">
              <a:lnSpc>
                <a:spcPct val="83300"/>
              </a:lnSpc>
            </a:pPr>
            <a:r>
              <a:rPr sz="4200" b="1" i="0">
                <a:solidFill>
                  <a:srgbClr val="F3F7FC"/>
                </a:solidFill>
                <a:latin typeface="Montserrat"/>
              </a:rPr>
              <a:t>54,2%</a:t>
            </a:r>
          </a:p>
        </p:txBody>
      </p:sp>
      <p:sp>
        <p:nvSpPr>
          <p:cNvPr id="55" name="TextBox 54"/>
          <p:cNvSpPr txBox="1"/>
          <p:nvPr/>
        </p:nvSpPr>
        <p:spPr>
          <a:xfrm>
            <a:off x="9667875" y="4000500"/>
            <a:ext cx="2238375"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AUTOMATIZADAS</a:t>
            </a:r>
          </a:p>
        </p:txBody>
      </p:sp>
      <p:sp>
        <p:nvSpPr>
          <p:cNvPr id="56" name="TextBox 55"/>
          <p:cNvSpPr txBox="1"/>
          <p:nvPr/>
        </p:nvSpPr>
        <p:spPr>
          <a:xfrm>
            <a:off x="9667875" y="4248150"/>
            <a:ext cx="2238375"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1.282 de 2.365</a:t>
            </a:r>
          </a:p>
        </p:txBody>
      </p:sp>
      <p:sp>
        <p:nvSpPr>
          <p:cNvPr id="57" name="Rectangle 56"/>
          <p:cNvSpPr/>
          <p:nvPr/>
        </p:nvSpPr>
        <p:spPr>
          <a:xfrm>
            <a:off x="11982450" y="3409950"/>
            <a:ext cx="14288" cy="10477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2134850" y="3314700"/>
            <a:ext cx="2238375" cy="666750"/>
          </a:xfrm>
          <a:prstGeom prst="rect">
            <a:avLst/>
          </a:prstGeom>
          <a:noFill/>
        </p:spPr>
        <p:txBody>
          <a:bodyPr wrap="square" lIns="0" rIns="0" tIns="0" bIns="0" anchor="ctr">
            <a:spAutoFit/>
          </a:bodyPr>
          <a:lstStyle/>
          <a:p>
            <a:pPr algn="l">
              <a:lnSpc>
                <a:spcPct val="83300"/>
              </a:lnSpc>
            </a:pPr>
            <a:r>
              <a:rPr sz="4200" b="1" i="0">
                <a:solidFill>
                  <a:srgbClr val="FFD21F"/>
                </a:solidFill>
                <a:latin typeface="Montserrat"/>
              </a:rPr>
              <a:t>94,5%</a:t>
            </a:r>
          </a:p>
        </p:txBody>
      </p:sp>
      <p:sp>
        <p:nvSpPr>
          <p:cNvPr id="59" name="TextBox 58"/>
          <p:cNvSpPr txBox="1"/>
          <p:nvPr/>
        </p:nvSpPr>
        <p:spPr>
          <a:xfrm>
            <a:off x="12134850" y="4000500"/>
            <a:ext cx="2238375"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PRECISIÓN</a:t>
            </a:r>
          </a:p>
        </p:txBody>
      </p:sp>
      <p:sp>
        <p:nvSpPr>
          <p:cNvPr id="60" name="TextBox 59"/>
          <p:cNvSpPr txBox="1"/>
          <p:nvPr/>
        </p:nvSpPr>
        <p:spPr>
          <a:xfrm>
            <a:off x="12134850" y="4248150"/>
            <a:ext cx="2238375"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de lo automatizado</a:t>
            </a:r>
          </a:p>
        </p:txBody>
      </p:sp>
      <p:sp>
        <p:nvSpPr>
          <p:cNvPr id="61" name="Rectangle 60"/>
          <p:cNvSpPr/>
          <p:nvPr/>
        </p:nvSpPr>
        <p:spPr>
          <a:xfrm>
            <a:off x="14449425" y="3409950"/>
            <a:ext cx="14288" cy="10477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4601825" y="3314700"/>
            <a:ext cx="2238375" cy="666750"/>
          </a:xfrm>
          <a:prstGeom prst="rect">
            <a:avLst/>
          </a:prstGeom>
          <a:noFill/>
        </p:spPr>
        <p:txBody>
          <a:bodyPr wrap="square" lIns="0" rIns="0" tIns="0" bIns="0" anchor="ctr">
            <a:spAutoFit/>
          </a:bodyPr>
          <a:lstStyle/>
          <a:p>
            <a:pPr algn="l">
              <a:lnSpc>
                <a:spcPct val="83300"/>
              </a:lnSpc>
            </a:pPr>
            <a:r>
              <a:rPr sz="4200" b="1" i="0">
                <a:solidFill>
                  <a:srgbClr val="E0566B"/>
                </a:solidFill>
                <a:latin typeface="Montserrat"/>
              </a:rPr>
              <a:t>70</a:t>
            </a:r>
          </a:p>
        </p:txBody>
      </p:sp>
      <p:sp>
        <p:nvSpPr>
          <p:cNvPr id="63" name="TextBox 62"/>
          <p:cNvSpPr txBox="1"/>
          <p:nvPr/>
        </p:nvSpPr>
        <p:spPr>
          <a:xfrm>
            <a:off x="14601825" y="4000500"/>
            <a:ext cx="2238375"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DESACUERDOS</a:t>
            </a:r>
          </a:p>
        </p:txBody>
      </p:sp>
      <p:sp>
        <p:nvSpPr>
          <p:cNvPr id="64" name="TextBox 63"/>
          <p:cNvSpPr txBox="1"/>
          <p:nvPr/>
        </p:nvSpPr>
        <p:spPr>
          <a:xfrm>
            <a:off x="14601825" y="4248150"/>
            <a:ext cx="2238375" cy="266700"/>
          </a:xfrm>
          <a:prstGeom prst="rect">
            <a:avLst/>
          </a:prstGeom>
          <a:noFill/>
        </p:spPr>
        <p:txBody>
          <a:bodyPr wrap="square" lIns="0" rIns="0" tIns="0" bIns="0" anchor="ctr">
            <a:spAutoFit/>
          </a:bodyPr>
          <a:lstStyle/>
          <a:p>
            <a:pPr algn="l">
              <a:lnSpc>
                <a:spcPct val="100000"/>
              </a:lnSpc>
            </a:pPr>
            <a:r>
              <a:rPr sz="1500" b="0" i="0">
                <a:solidFill>
                  <a:srgbClr val="9FB4CC"/>
                </a:solidFill>
                <a:latin typeface="Barlow"/>
              </a:rPr>
              <a:t>externos</a:t>
            </a:r>
          </a:p>
        </p:txBody>
      </p:sp>
      <p:sp>
        <p:nvSpPr>
          <p:cNvPr id="65" name="Rectangle 64"/>
          <p:cNvSpPr/>
          <p:nvPr/>
        </p:nvSpPr>
        <p:spPr>
          <a:xfrm>
            <a:off x="7200900" y="4629150"/>
            <a:ext cx="9867900"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200900" y="4781550"/>
            <a:ext cx="98679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PRECISIÓN DE LO AUTOMATIZADO POR RETAILER</a:t>
            </a:r>
          </a:p>
        </p:txBody>
      </p:sp>
      <p:cxnSp>
        <p:nvCxnSpPr>
          <p:cNvPr id="67" name="Connector 66"/>
          <p:cNvCxnSpPr/>
          <p:nvPr/>
        </p:nvCxnSpPr>
        <p:spPr>
          <a:xfrm>
            <a:off x="15211901" y="5067300"/>
            <a:ext cx="0" cy="3562350"/>
          </a:xfrm>
          <a:prstGeom prst="line">
            <a:avLst/>
          </a:prstGeom>
          <a:ln w="19050">
            <a:solidFill>
              <a:srgbClr val="F3F7FC">
                <a:alpha val="60000"/>
              </a:srgbClr>
            </a:solidFill>
            <a:prstDash val="dash"/>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13306901" y="4762500"/>
            <a:ext cx="1809750" cy="266700"/>
          </a:xfrm>
          <a:prstGeom prst="rect">
            <a:avLst/>
          </a:prstGeom>
          <a:noFill/>
        </p:spPr>
        <p:txBody>
          <a:bodyPr wrap="square" lIns="0" rIns="0" tIns="0" bIns="0" anchor="ctr">
            <a:spAutoFit/>
          </a:bodyPr>
          <a:lstStyle/>
          <a:p>
            <a:pPr algn="r">
              <a:lnSpc>
                <a:spcPct val="100000"/>
              </a:lnSpc>
            </a:pPr>
            <a:r>
              <a:rPr sz="1425" b="0" i="0">
                <a:solidFill>
                  <a:srgbClr val="F3F7FC"/>
                </a:solidFill>
                <a:latin typeface="Barlow"/>
              </a:rPr>
              <a:t>global 94,5%</a:t>
            </a:r>
          </a:p>
        </p:txBody>
      </p:sp>
      <p:sp>
        <p:nvSpPr>
          <p:cNvPr id="69" name="TextBox 68"/>
          <p:cNvSpPr txBox="1"/>
          <p:nvPr/>
        </p:nvSpPr>
        <p:spPr>
          <a:xfrm>
            <a:off x="7200900" y="5181600"/>
            <a:ext cx="1787128"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Kuwait · Xcite</a:t>
            </a:r>
          </a:p>
        </p:txBody>
      </p:sp>
      <p:sp>
        <p:nvSpPr>
          <p:cNvPr id="70" name="TextBox 69"/>
          <p:cNvSpPr txBox="1"/>
          <p:nvPr/>
        </p:nvSpPr>
        <p:spPr>
          <a:xfrm>
            <a:off x="8816578" y="5181600"/>
            <a:ext cx="3240435" cy="28575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173 consultas · 67,6% automatizadas</a:t>
            </a:r>
          </a:p>
        </p:txBody>
      </p:sp>
      <p:sp>
        <p:nvSpPr>
          <p:cNvPr id="71" name="Rectangle 70"/>
          <p:cNvSpPr/>
          <p:nvPr/>
        </p:nvSpPr>
        <p:spPr>
          <a:xfrm>
            <a:off x="7200900" y="5562600"/>
            <a:ext cx="8477250" cy="2095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7200900" y="5562600"/>
            <a:ext cx="8477250"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5197614" y="5505450"/>
            <a:ext cx="28575" cy="32385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5754350" y="5448300"/>
            <a:ext cx="1314450" cy="419100"/>
          </a:xfrm>
          <a:prstGeom prst="rect">
            <a:avLst/>
          </a:prstGeom>
          <a:noFill/>
        </p:spPr>
        <p:txBody>
          <a:bodyPr wrap="square" lIns="0" rIns="0" tIns="0" bIns="0" anchor="ctr">
            <a:spAutoFit/>
          </a:bodyPr>
          <a:lstStyle/>
          <a:p>
            <a:pPr algn="r">
              <a:lnSpc>
                <a:spcPct val="83300"/>
              </a:lnSpc>
            </a:pPr>
            <a:r>
              <a:rPr sz="2250" b="1" i="0">
                <a:solidFill>
                  <a:srgbClr val="FFD21F"/>
                </a:solidFill>
                <a:latin typeface="Montserrat"/>
              </a:rPr>
              <a:t>100,0%</a:t>
            </a:r>
          </a:p>
        </p:txBody>
      </p:sp>
      <p:sp>
        <p:nvSpPr>
          <p:cNvPr id="75" name="TextBox 74"/>
          <p:cNvSpPr txBox="1"/>
          <p:nvPr/>
        </p:nvSpPr>
        <p:spPr>
          <a:xfrm>
            <a:off x="7200900" y="5886450"/>
            <a:ext cx="2197596"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Sudáfrica · Makro</a:t>
            </a:r>
          </a:p>
        </p:txBody>
      </p:sp>
      <p:sp>
        <p:nvSpPr>
          <p:cNvPr id="76" name="TextBox 75"/>
          <p:cNvSpPr txBox="1"/>
          <p:nvPr/>
        </p:nvSpPr>
        <p:spPr>
          <a:xfrm>
            <a:off x="9227046" y="5886450"/>
            <a:ext cx="3303091" cy="28575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353 consultas · 45,3% automatizadas</a:t>
            </a:r>
          </a:p>
        </p:txBody>
      </p:sp>
      <p:sp>
        <p:nvSpPr>
          <p:cNvPr id="77" name="Rectangle 76"/>
          <p:cNvSpPr/>
          <p:nvPr/>
        </p:nvSpPr>
        <p:spPr>
          <a:xfrm>
            <a:off x="7200900" y="6267450"/>
            <a:ext cx="8477250" cy="2095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200900" y="6267450"/>
            <a:ext cx="8316182"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5197614" y="6210300"/>
            <a:ext cx="28575" cy="32385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5754350" y="6153150"/>
            <a:ext cx="1314450" cy="419100"/>
          </a:xfrm>
          <a:prstGeom prst="rect">
            <a:avLst/>
          </a:prstGeom>
          <a:noFill/>
        </p:spPr>
        <p:txBody>
          <a:bodyPr wrap="square" lIns="0" rIns="0" tIns="0" bIns="0" anchor="ctr">
            <a:spAutoFit/>
          </a:bodyPr>
          <a:lstStyle/>
          <a:p>
            <a:pPr algn="r">
              <a:lnSpc>
                <a:spcPct val="83300"/>
              </a:lnSpc>
            </a:pPr>
            <a:r>
              <a:rPr sz="2250" b="1" i="0">
                <a:solidFill>
                  <a:srgbClr val="FFD21F"/>
                </a:solidFill>
                <a:latin typeface="Montserrat"/>
              </a:rPr>
              <a:t>98,1%</a:t>
            </a:r>
          </a:p>
        </p:txBody>
      </p:sp>
      <p:sp>
        <p:nvSpPr>
          <p:cNvPr id="81" name="TextBox 80"/>
          <p:cNvSpPr txBox="1"/>
          <p:nvPr/>
        </p:nvSpPr>
        <p:spPr>
          <a:xfrm>
            <a:off x="7200900" y="6591300"/>
            <a:ext cx="3888432"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Vietnam · ShopeeVN + LazadaVN</a:t>
            </a:r>
          </a:p>
        </p:txBody>
      </p:sp>
      <p:sp>
        <p:nvSpPr>
          <p:cNvPr id="82" name="TextBox 81"/>
          <p:cNvSpPr txBox="1"/>
          <p:nvPr/>
        </p:nvSpPr>
        <p:spPr>
          <a:xfrm>
            <a:off x="10917882" y="6591300"/>
            <a:ext cx="3274368" cy="28575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293 consultas · 62,1% automatizadas</a:t>
            </a:r>
          </a:p>
        </p:txBody>
      </p:sp>
      <p:sp>
        <p:nvSpPr>
          <p:cNvPr id="83" name="Rectangle 82"/>
          <p:cNvSpPr/>
          <p:nvPr/>
        </p:nvSpPr>
        <p:spPr>
          <a:xfrm>
            <a:off x="7200900" y="6972300"/>
            <a:ext cx="8477250" cy="2095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200900" y="6972300"/>
            <a:ext cx="8155115" cy="2095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5197614" y="6915150"/>
            <a:ext cx="28575" cy="32385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5754350" y="6858000"/>
            <a:ext cx="1314450" cy="419100"/>
          </a:xfrm>
          <a:prstGeom prst="rect">
            <a:avLst/>
          </a:prstGeom>
          <a:noFill/>
        </p:spPr>
        <p:txBody>
          <a:bodyPr wrap="square" lIns="0" rIns="0" tIns="0" bIns="0" anchor="ctr">
            <a:spAutoFit/>
          </a:bodyPr>
          <a:lstStyle/>
          <a:p>
            <a:pPr algn="r">
              <a:lnSpc>
                <a:spcPct val="83300"/>
              </a:lnSpc>
            </a:pPr>
            <a:r>
              <a:rPr sz="2250" b="1" i="0">
                <a:solidFill>
                  <a:srgbClr val="FFD21F"/>
                </a:solidFill>
                <a:latin typeface="Montserrat"/>
              </a:rPr>
              <a:t>96,2%</a:t>
            </a:r>
          </a:p>
        </p:txBody>
      </p:sp>
      <p:sp>
        <p:nvSpPr>
          <p:cNvPr id="87" name="TextBox 86"/>
          <p:cNvSpPr txBox="1"/>
          <p:nvPr/>
        </p:nvSpPr>
        <p:spPr>
          <a:xfrm>
            <a:off x="7200900" y="7296150"/>
            <a:ext cx="4621857"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Alemania · AmazonDE + MediamarktDE</a:t>
            </a:r>
          </a:p>
        </p:txBody>
      </p:sp>
      <p:sp>
        <p:nvSpPr>
          <p:cNvPr id="88" name="TextBox 87"/>
          <p:cNvSpPr txBox="1"/>
          <p:nvPr/>
        </p:nvSpPr>
        <p:spPr>
          <a:xfrm>
            <a:off x="11651307" y="7296150"/>
            <a:ext cx="2384971" cy="28575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360 consultas · 23 errores</a:t>
            </a:r>
          </a:p>
        </p:txBody>
      </p:sp>
      <p:sp>
        <p:nvSpPr>
          <p:cNvPr id="89" name="Rounded Rectangle 88"/>
          <p:cNvSpPr/>
          <p:nvPr/>
        </p:nvSpPr>
        <p:spPr>
          <a:xfrm>
            <a:off x="13845778" y="7277100"/>
            <a:ext cx="1841153"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3845778" y="7277100"/>
            <a:ext cx="1841153"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MARKETPLACE</a:t>
            </a:r>
          </a:p>
        </p:txBody>
      </p:sp>
      <p:sp>
        <p:nvSpPr>
          <p:cNvPr id="91" name="Rectangle 90"/>
          <p:cNvSpPr/>
          <p:nvPr/>
        </p:nvSpPr>
        <p:spPr>
          <a:xfrm>
            <a:off x="7200900" y="7677150"/>
            <a:ext cx="8477250" cy="2095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7200900" y="7677150"/>
            <a:ext cx="7426071" cy="2095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5197614" y="7620000"/>
            <a:ext cx="28575" cy="32385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15754350" y="7562850"/>
            <a:ext cx="1314450" cy="419100"/>
          </a:xfrm>
          <a:prstGeom prst="rect">
            <a:avLst/>
          </a:prstGeom>
          <a:noFill/>
        </p:spPr>
        <p:txBody>
          <a:bodyPr wrap="square" lIns="0" rIns="0" tIns="0" bIns="0" anchor="ctr">
            <a:spAutoFit/>
          </a:bodyPr>
          <a:lstStyle/>
          <a:p>
            <a:pPr algn="r">
              <a:lnSpc>
                <a:spcPct val="83300"/>
              </a:lnSpc>
            </a:pPr>
            <a:r>
              <a:rPr sz="2250" b="1" i="0">
                <a:solidFill>
                  <a:srgbClr val="E0566B"/>
                </a:solidFill>
                <a:latin typeface="Montserrat"/>
              </a:rPr>
              <a:t>87,6%</a:t>
            </a:r>
          </a:p>
        </p:txBody>
      </p:sp>
      <p:sp>
        <p:nvSpPr>
          <p:cNvPr id="95" name="TextBox 94"/>
          <p:cNvSpPr txBox="1"/>
          <p:nvPr/>
        </p:nvSpPr>
        <p:spPr>
          <a:xfrm>
            <a:off x="7200900" y="8001000"/>
            <a:ext cx="3358455" cy="285750"/>
          </a:xfrm>
          <a:prstGeom prst="rect">
            <a:avLst/>
          </a:prstGeom>
          <a:noFill/>
        </p:spPr>
        <p:txBody>
          <a:bodyPr wrap="square" lIns="0" rIns="0" tIns="0" bIns="0" anchor="ctr">
            <a:spAutoFit/>
          </a:bodyPr>
          <a:lstStyle/>
          <a:p>
            <a:pPr algn="l">
              <a:lnSpc>
                <a:spcPct val="83300"/>
              </a:lnSpc>
            </a:pPr>
            <a:r>
              <a:rPr sz="1650" b="1" i="0">
                <a:solidFill>
                  <a:srgbClr val="F3F7FC"/>
                </a:solidFill>
                <a:latin typeface="Montserrat"/>
              </a:rPr>
              <a:t>Estados Unidos · AmazonUS</a:t>
            </a:r>
          </a:p>
        </p:txBody>
      </p:sp>
      <p:sp>
        <p:nvSpPr>
          <p:cNvPr id="96" name="TextBox 95"/>
          <p:cNvSpPr txBox="1"/>
          <p:nvPr/>
        </p:nvSpPr>
        <p:spPr>
          <a:xfrm>
            <a:off x="10387905" y="8001000"/>
            <a:ext cx="2321868" cy="285750"/>
          </a:xfrm>
          <a:prstGeom prst="rect">
            <a:avLst/>
          </a:prstGeom>
          <a:noFill/>
        </p:spPr>
        <p:txBody>
          <a:bodyPr wrap="square" lIns="0" rIns="0" tIns="0" bIns="0" anchor="ctr">
            <a:spAutoFit/>
          </a:bodyPr>
          <a:lstStyle/>
          <a:p>
            <a:pPr algn="l">
              <a:lnSpc>
                <a:spcPct val="83300"/>
              </a:lnSpc>
            </a:pPr>
            <a:r>
              <a:rPr sz="1500" b="0" i="0">
                <a:solidFill>
                  <a:srgbClr val="9FB4CC"/>
                </a:solidFill>
                <a:latin typeface="Barlow"/>
              </a:rPr>
              <a:t>124 consultas · 18 errores</a:t>
            </a:r>
          </a:p>
        </p:txBody>
      </p:sp>
      <p:sp>
        <p:nvSpPr>
          <p:cNvPr id="97" name="Rounded Rectangle 96"/>
          <p:cNvSpPr/>
          <p:nvPr/>
        </p:nvSpPr>
        <p:spPr>
          <a:xfrm>
            <a:off x="12519273" y="7981950"/>
            <a:ext cx="1841153"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2519273" y="7981950"/>
            <a:ext cx="1841153"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MARKETPLACE</a:t>
            </a:r>
          </a:p>
        </p:txBody>
      </p:sp>
      <p:sp>
        <p:nvSpPr>
          <p:cNvPr id="99" name="Rectangle 98"/>
          <p:cNvSpPr/>
          <p:nvPr/>
        </p:nvSpPr>
        <p:spPr>
          <a:xfrm>
            <a:off x="7200900" y="8382000"/>
            <a:ext cx="8477250" cy="2095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7200900" y="8382000"/>
            <a:ext cx="6858095" cy="2095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5197614" y="8324850"/>
            <a:ext cx="28575" cy="32385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15754350" y="8267700"/>
            <a:ext cx="1314450" cy="419100"/>
          </a:xfrm>
          <a:prstGeom prst="rect">
            <a:avLst/>
          </a:prstGeom>
          <a:noFill/>
        </p:spPr>
        <p:txBody>
          <a:bodyPr wrap="square" lIns="0" rIns="0" tIns="0" bIns="0" anchor="ctr">
            <a:spAutoFit/>
          </a:bodyPr>
          <a:lstStyle/>
          <a:p>
            <a:pPr algn="r">
              <a:lnSpc>
                <a:spcPct val="83300"/>
              </a:lnSpc>
            </a:pPr>
            <a:r>
              <a:rPr sz="2250" b="1" i="0">
                <a:solidFill>
                  <a:srgbClr val="E0566B"/>
                </a:solidFill>
                <a:latin typeface="Montserrat"/>
              </a:rPr>
              <a:t>80,9%</a:t>
            </a:r>
          </a:p>
        </p:txBody>
      </p:sp>
      <p:sp>
        <p:nvSpPr>
          <p:cNvPr id="103" name="TextBox 102"/>
          <p:cNvSpPr txBox="1"/>
          <p:nvPr/>
        </p:nvSpPr>
        <p:spPr>
          <a:xfrm>
            <a:off x="7200900" y="8782050"/>
            <a:ext cx="9867900" cy="571500"/>
          </a:xfrm>
          <a:prstGeom prst="rect">
            <a:avLst/>
          </a:prstGeom>
          <a:noFill/>
        </p:spPr>
        <p:txBody>
          <a:bodyPr wrap="square" lIns="0" rIns="0" tIns="0" bIns="0" anchor="ctr">
            <a:spAutoFit/>
          </a:bodyPr>
          <a:lstStyle/>
          <a:p>
            <a:pPr algn="l">
              <a:lnSpc>
                <a:spcPct val="100000"/>
              </a:lnSpc>
            </a:pPr>
            <a:r>
              <a:rPr sz="1650" b="0" i="0">
                <a:solidFill>
                  <a:srgbClr val="F3F7FC"/>
                </a:solidFill>
                <a:latin typeface="Barlow"/>
              </a:rPr>
              <a:t>Los dos peores son los marketplaces más grandes: </a:t>
            </a:r>
            <a:r>
              <a:rPr sz="1650" b="1" i="0">
                <a:solidFill>
                  <a:srgbClr val="F3F7FC"/>
                </a:solidFill>
                <a:latin typeface="Barlow"/>
              </a:rPr>
              <a:t>títulos de vendedores terceros, sin código.</a:t>
            </a:r>
          </a:p>
          <a:p>
            <a:pPr algn="l">
              <a:lnSpc>
                <a:spcPct val="100000"/>
              </a:lnSpc>
            </a:pPr>
            <a:r>
              <a:rPr sz="1650" b="1" i="0">
                <a:solidFill>
                  <a:srgbClr val="FFD21F"/>
                </a:solidFill>
                <a:latin typeface="Barlow"/>
              </a:rPr>
              <a:t>La degradación tiene una causa identificable, no es ruido.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OE5 · EVALUAR EL DESEMPEÑO · EVIDENCIA FUERA DEL DATASET</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Casos reales: cuándo automatiza y cuándo se abstiene</a:t>
            </a:r>
          </a:p>
        </p:txBody>
      </p:sp>
      <p:sp>
        <p:nvSpPr>
          <p:cNvPr id="9" name="TextBox 8"/>
          <p:cNvSpPr txBox="1"/>
          <p:nvPr/>
        </p:nvSpPr>
        <p:spPr>
          <a:xfrm>
            <a:off x="914400" y="2609850"/>
            <a:ext cx="4313039" cy="323850"/>
          </a:xfrm>
          <a:prstGeom prst="rect">
            <a:avLst/>
          </a:prstGeom>
          <a:noFill/>
        </p:spPr>
        <p:txBody>
          <a:bodyPr wrap="square" lIns="0" rIns="0" tIns="0" bIns="0" anchor="ctr">
            <a:spAutoFit/>
          </a:bodyPr>
          <a:lstStyle/>
          <a:p>
            <a:pPr algn="l">
              <a:lnSpc>
                <a:spcPct val="83300"/>
              </a:lnSpc>
            </a:pPr>
            <a:r>
              <a:rPr sz="1800" b="1" i="0">
                <a:solidFill>
                  <a:srgbClr val="F3F7FC"/>
                </a:solidFill>
                <a:latin typeface="Montserrat"/>
              </a:rPr>
              <a:t>Bélgica · dos publicaciones reales</a:t>
            </a:r>
          </a:p>
        </p:txBody>
      </p:sp>
      <p:sp>
        <p:nvSpPr>
          <p:cNvPr id="10" name="TextBox 9"/>
          <p:cNvSpPr txBox="1"/>
          <p:nvPr/>
        </p:nvSpPr>
        <p:spPr>
          <a:xfrm>
            <a:off x="5075039" y="2609850"/>
            <a:ext cx="3935611" cy="32385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el margen delata la ambigüedad</a:t>
            </a:r>
          </a:p>
        </p:txBody>
      </p:sp>
      <p:sp>
        <p:nvSpPr>
          <p:cNvPr id="11" name="TextBox 10"/>
          <p:cNvSpPr txBox="1"/>
          <p:nvPr/>
        </p:nvSpPr>
        <p:spPr>
          <a:xfrm>
            <a:off x="9277350" y="2609850"/>
            <a:ext cx="4405312" cy="323850"/>
          </a:xfrm>
          <a:prstGeom prst="rect">
            <a:avLst/>
          </a:prstGeom>
          <a:noFill/>
        </p:spPr>
        <p:txBody>
          <a:bodyPr wrap="square" lIns="0" rIns="0" tIns="0" bIns="0" anchor="ctr">
            <a:spAutoFit/>
          </a:bodyPr>
          <a:lstStyle/>
          <a:p>
            <a:pPr algn="l">
              <a:lnSpc>
                <a:spcPct val="83300"/>
              </a:lnSpc>
            </a:pPr>
            <a:r>
              <a:rPr sz="1800" b="1" i="0">
                <a:solidFill>
                  <a:srgbClr val="F3F7FC"/>
                </a:solidFill>
                <a:latin typeface="Montserrat"/>
              </a:rPr>
              <a:t>Retailers no vistos · mismo umbral</a:t>
            </a:r>
          </a:p>
        </p:txBody>
      </p:sp>
      <p:sp>
        <p:nvSpPr>
          <p:cNvPr id="12" name="TextBox 11"/>
          <p:cNvSpPr txBox="1"/>
          <p:nvPr/>
        </p:nvSpPr>
        <p:spPr>
          <a:xfrm>
            <a:off x="13530262" y="2609850"/>
            <a:ext cx="3843338" cy="323850"/>
          </a:xfrm>
          <a:prstGeom prst="rect">
            <a:avLst/>
          </a:prstGeom>
          <a:noFill/>
        </p:spPr>
        <p:txBody>
          <a:bodyPr wrap="square" lIns="0" rIns="0" tIns="0" bIns="0" anchor="ctr">
            <a:spAutoFit/>
          </a:bodyPr>
          <a:lstStyle/>
          <a:p>
            <a:pPr algn="l">
              <a:lnSpc>
                <a:spcPct val="100000"/>
              </a:lnSpc>
            </a:pPr>
            <a:r>
              <a:rPr sz="1575" b="0" i="0">
                <a:solidFill>
                  <a:srgbClr val="9FB4CC"/>
                </a:solidFill>
                <a:latin typeface="Barlow"/>
              </a:rPr>
              <a:t>scores casi idénticos, dos desenlaces</a:t>
            </a:r>
          </a:p>
        </p:txBody>
      </p:sp>
      <p:sp>
        <p:nvSpPr>
          <p:cNvPr id="13" name="Rectangle 12"/>
          <p:cNvSpPr/>
          <p:nvPr/>
        </p:nvSpPr>
        <p:spPr>
          <a:xfrm>
            <a:off x="914400" y="3048000"/>
            <a:ext cx="8096250" cy="29908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14400" y="3048000"/>
            <a:ext cx="57150" cy="29908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3200400"/>
            <a:ext cx="75628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COOLBLUEBE · BÉLGICA</a:t>
            </a:r>
          </a:p>
        </p:txBody>
      </p:sp>
      <p:sp>
        <p:nvSpPr>
          <p:cNvPr id="16" name="Rounded Rectangle 15"/>
          <p:cNvSpPr/>
          <p:nvPr/>
        </p:nvSpPr>
        <p:spPr>
          <a:xfrm>
            <a:off x="1181100" y="3543300"/>
            <a:ext cx="2952750" cy="2305050"/>
          </a:xfrm>
          <a:prstGeom prst="roundRect">
            <a:avLst>
              <a:gd name="adj" fmla="val 2479"/>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33500" y="3657600"/>
            <a:ext cx="26479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TÍTULO PUBLICADO</a:t>
            </a:r>
          </a:p>
        </p:txBody>
      </p:sp>
      <p:sp>
        <p:nvSpPr>
          <p:cNvPr id="18" name="TextBox 17"/>
          <p:cNvSpPr txBox="1"/>
          <p:nvPr/>
        </p:nvSpPr>
        <p:spPr>
          <a:xfrm>
            <a:off x="1333500" y="3962400"/>
            <a:ext cx="2647950" cy="1352550"/>
          </a:xfrm>
          <a:prstGeom prst="rect">
            <a:avLst/>
          </a:prstGeom>
          <a:noFill/>
        </p:spPr>
        <p:txBody>
          <a:bodyPr wrap="square" lIns="0" rIns="0" tIns="0" bIns="0" anchor="t">
            <a:spAutoFit/>
          </a:bodyPr>
          <a:lstStyle/>
          <a:p>
            <a:pPr algn="l">
              <a:lnSpc>
                <a:spcPct val="104200"/>
              </a:lnSpc>
            </a:pPr>
            <a:r>
              <a:rPr sz="1500" b="0" i="0">
                <a:solidFill>
                  <a:srgbClr val="F3F7FC"/>
                </a:solidFill>
                <a:latin typeface="Roboto Mono"/>
              </a:rPr>
              <a:t>Philips Ambilight 43" </a:t>
            </a:r>
            <a:r>
              <a:rPr sz="1500" b="0" i="0">
                <a:solidFill>
                  <a:srgbClr val="FFD21F"/>
                </a:solidFill>
                <a:latin typeface="Roboto Mono"/>
              </a:rPr>
              <a:t>PUS8550</a:t>
            </a:r>
            <a:r>
              <a:rPr sz="1500" b="0" i="0">
                <a:solidFill>
                  <a:srgbClr val="F3F7FC"/>
                </a:solidFill>
                <a:latin typeface="Roboto Mono"/>
              </a:rPr>
              <a:t> QLED (2025)</a:t>
            </a:r>
          </a:p>
        </p:txBody>
      </p:sp>
      <p:sp>
        <p:nvSpPr>
          <p:cNvPr id="19" name="Rounded Rectangle 18"/>
          <p:cNvSpPr/>
          <p:nvPr/>
        </p:nvSpPr>
        <p:spPr>
          <a:xfrm>
            <a:off x="1333500" y="5391150"/>
            <a:ext cx="2638514" cy="323850"/>
          </a:xfrm>
          <a:prstGeom prst="roundRect">
            <a:avLst>
              <a:gd name="adj" fmla="val 11764"/>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5391150"/>
            <a:ext cx="2638514" cy="323850"/>
          </a:xfrm>
          <a:prstGeom prst="rect">
            <a:avLst/>
          </a:prstGeom>
          <a:noFill/>
        </p:spPr>
        <p:txBody>
          <a:bodyPr wrap="none" lIns="0" rIns="0" tIns="0" bIns="0" anchor="ctr">
            <a:spAutoFit/>
          </a:bodyPr>
          <a:lstStyle/>
          <a:p>
            <a:pPr algn="ctr">
              <a:lnSpc>
                <a:spcPct val="100000"/>
              </a:lnSpc>
            </a:pPr>
            <a:r>
              <a:rPr sz="1500" b="1" i="0" spc="120">
                <a:solidFill>
                  <a:srgbClr val="07172D"/>
                </a:solidFill>
                <a:latin typeface="Montserrat"/>
              </a:rPr>
              <a:t>PUBLICADO TAL CUAL</a:t>
            </a:r>
          </a:p>
        </p:txBody>
      </p:sp>
      <p:sp>
        <p:nvSpPr>
          <p:cNvPr id="21" name="Right Arrow 20"/>
          <p:cNvSpPr/>
          <p:nvPr/>
        </p:nvSpPr>
        <p:spPr>
          <a:xfrm>
            <a:off x="4210050" y="4591050"/>
            <a:ext cx="24765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3900" y="35623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ELEGIDO</a:t>
            </a:r>
          </a:p>
        </p:txBody>
      </p:sp>
      <p:sp>
        <p:nvSpPr>
          <p:cNvPr id="23" name="Rounded Rectangle 22"/>
          <p:cNvSpPr/>
          <p:nvPr/>
        </p:nvSpPr>
        <p:spPr>
          <a:xfrm>
            <a:off x="4533900" y="3829050"/>
            <a:ext cx="16002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33900" y="3829050"/>
            <a:ext cx="16002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43PUS8550/12</a:t>
            </a:r>
          </a:p>
        </p:txBody>
      </p:sp>
      <p:sp>
        <p:nvSpPr>
          <p:cNvPr id="25" name="TextBox 24"/>
          <p:cNvSpPr txBox="1"/>
          <p:nvPr/>
        </p:nvSpPr>
        <p:spPr>
          <a:xfrm>
            <a:off x="4533900" y="43307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SCORE</a:t>
            </a:r>
          </a:p>
        </p:txBody>
      </p:sp>
      <p:sp>
        <p:nvSpPr>
          <p:cNvPr id="26" name="TextBox 25"/>
          <p:cNvSpPr txBox="1"/>
          <p:nvPr/>
        </p:nvSpPr>
        <p:spPr>
          <a:xfrm>
            <a:off x="4533900" y="4578350"/>
            <a:ext cx="1638300" cy="361950"/>
          </a:xfrm>
          <a:prstGeom prst="rect">
            <a:avLst/>
          </a:prstGeom>
          <a:noFill/>
        </p:spPr>
        <p:txBody>
          <a:bodyPr wrap="square" lIns="0" rIns="0" tIns="0" bIns="0" anchor="ctr">
            <a:spAutoFit/>
          </a:bodyPr>
          <a:lstStyle/>
          <a:p>
            <a:pPr algn="l">
              <a:lnSpc>
                <a:spcPct val="83300"/>
              </a:lnSpc>
            </a:pPr>
            <a:r>
              <a:rPr sz="2100" b="1" i="0">
                <a:solidFill>
                  <a:srgbClr val="F3F7FC"/>
                </a:solidFill>
                <a:latin typeface="Montserrat"/>
              </a:rPr>
              <a:t>0,994589</a:t>
            </a:r>
          </a:p>
        </p:txBody>
      </p:sp>
      <p:sp>
        <p:nvSpPr>
          <p:cNvPr id="27" name="TextBox 26"/>
          <p:cNvSpPr txBox="1"/>
          <p:nvPr/>
        </p:nvSpPr>
        <p:spPr>
          <a:xfrm>
            <a:off x="4533900" y="50990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MARGEN</a:t>
            </a:r>
          </a:p>
        </p:txBody>
      </p:sp>
      <p:sp>
        <p:nvSpPr>
          <p:cNvPr id="28" name="TextBox 27"/>
          <p:cNvSpPr txBox="1"/>
          <p:nvPr/>
        </p:nvSpPr>
        <p:spPr>
          <a:xfrm>
            <a:off x="4533900" y="5346700"/>
            <a:ext cx="1638300" cy="361950"/>
          </a:xfrm>
          <a:prstGeom prst="rect">
            <a:avLst/>
          </a:prstGeom>
          <a:noFill/>
        </p:spPr>
        <p:txBody>
          <a:bodyPr wrap="square" lIns="0" rIns="0" tIns="0" bIns="0" anchor="ctr">
            <a:spAutoFit/>
          </a:bodyPr>
          <a:lstStyle/>
          <a:p>
            <a:pPr algn="l">
              <a:lnSpc>
                <a:spcPct val="83300"/>
              </a:lnSpc>
            </a:pPr>
            <a:r>
              <a:rPr sz="2100" b="1" i="0">
                <a:solidFill>
                  <a:srgbClr val="F3F7FC"/>
                </a:solidFill>
                <a:latin typeface="Montserrat"/>
              </a:rPr>
              <a:t>0,010567</a:t>
            </a:r>
          </a:p>
        </p:txBody>
      </p:sp>
      <p:sp>
        <p:nvSpPr>
          <p:cNvPr id="29" name="Right Arrow 28"/>
          <p:cNvSpPr/>
          <p:nvPr/>
        </p:nvSpPr>
        <p:spPr>
          <a:xfrm>
            <a:off x="6210300" y="4591050"/>
            <a:ext cx="26670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200" y="3562350"/>
            <a:ext cx="2190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DECISIÓN</a:t>
            </a:r>
          </a:p>
        </p:txBody>
      </p:sp>
      <p:sp>
        <p:nvSpPr>
          <p:cNvPr id="31" name="Rounded Rectangle 30"/>
          <p:cNvSpPr/>
          <p:nvPr/>
        </p:nvSpPr>
        <p:spPr>
          <a:xfrm>
            <a:off x="6553200" y="3867150"/>
            <a:ext cx="140845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53200" y="3867150"/>
            <a:ext cx="1408450" cy="41910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REVISIÓN</a:t>
            </a:r>
          </a:p>
        </p:txBody>
      </p:sp>
      <p:sp>
        <p:nvSpPr>
          <p:cNvPr id="33" name="TextBox 32"/>
          <p:cNvSpPr txBox="1"/>
          <p:nvPr/>
        </p:nvSpPr>
        <p:spPr>
          <a:xfrm>
            <a:off x="6553200" y="4457700"/>
            <a:ext cx="2190750" cy="857250"/>
          </a:xfrm>
          <a:prstGeom prst="rect">
            <a:avLst/>
          </a:prstGeom>
          <a:noFill/>
        </p:spPr>
        <p:txBody>
          <a:bodyPr wrap="square" lIns="0" rIns="0" tIns="0" bIns="0" anchor="t">
            <a:spAutoFit/>
          </a:bodyPr>
          <a:lstStyle/>
          <a:p>
            <a:pPr algn="l">
              <a:lnSpc>
                <a:spcPct val="100000"/>
              </a:lnSpc>
            </a:pPr>
            <a:r>
              <a:rPr sz="1650" b="1" i="0">
                <a:solidFill>
                  <a:srgbClr val="F3F7FC"/>
                </a:solidFill>
                <a:latin typeface="Montserrat"/>
              </a:rPr>
              <a:t>Candidato correcto</a:t>
            </a:r>
          </a:p>
        </p:txBody>
      </p:sp>
      <p:sp>
        <p:nvSpPr>
          <p:cNvPr id="34" name="Rectangle 33"/>
          <p:cNvSpPr/>
          <p:nvPr/>
        </p:nvSpPr>
        <p:spPr>
          <a:xfrm>
            <a:off x="914400" y="6191250"/>
            <a:ext cx="8096250" cy="29908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14400" y="6191250"/>
            <a:ext cx="57150" cy="2990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81100" y="6343650"/>
            <a:ext cx="75628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COOLBLUEBE · BÉLGICA</a:t>
            </a:r>
          </a:p>
        </p:txBody>
      </p:sp>
      <p:sp>
        <p:nvSpPr>
          <p:cNvPr id="37" name="Rounded Rectangle 36"/>
          <p:cNvSpPr/>
          <p:nvPr/>
        </p:nvSpPr>
        <p:spPr>
          <a:xfrm>
            <a:off x="1181100" y="6686550"/>
            <a:ext cx="2952750" cy="2305050"/>
          </a:xfrm>
          <a:prstGeom prst="roundRect">
            <a:avLst>
              <a:gd name="adj" fmla="val 2479"/>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33500" y="6800850"/>
            <a:ext cx="26479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TÍTULO PUBLICADO</a:t>
            </a:r>
          </a:p>
        </p:txBody>
      </p:sp>
      <p:sp>
        <p:nvSpPr>
          <p:cNvPr id="39" name="TextBox 38"/>
          <p:cNvSpPr txBox="1"/>
          <p:nvPr/>
        </p:nvSpPr>
        <p:spPr>
          <a:xfrm>
            <a:off x="1333500" y="7105650"/>
            <a:ext cx="2647950" cy="1352550"/>
          </a:xfrm>
          <a:prstGeom prst="rect">
            <a:avLst/>
          </a:prstGeom>
          <a:noFill/>
        </p:spPr>
        <p:txBody>
          <a:bodyPr wrap="square" lIns="0" rIns="0" tIns="0" bIns="0" anchor="t">
            <a:spAutoFit/>
          </a:bodyPr>
          <a:lstStyle/>
          <a:p>
            <a:pPr algn="l">
              <a:lnSpc>
                <a:spcPct val="104200"/>
              </a:lnSpc>
            </a:pPr>
            <a:r>
              <a:rPr sz="1500" b="0" i="0">
                <a:solidFill>
                  <a:srgbClr val="F3F7FC"/>
                </a:solidFill>
                <a:latin typeface="Roboto Mono"/>
              </a:rPr>
              <a:t>Philips 55" </a:t>
            </a:r>
            <a:r>
              <a:rPr sz="1500" b="0" i="0">
                <a:solidFill>
                  <a:srgbClr val="FFD21F"/>
                </a:solidFill>
                <a:latin typeface="Roboto Mono"/>
              </a:rPr>
              <a:t>PUS7800</a:t>
            </a:r>
            <a:r>
              <a:rPr sz="1500" b="0" i="0">
                <a:solidFill>
                  <a:srgbClr val="F3F7FC"/>
                </a:solidFill>
                <a:latin typeface="Roboto Mono"/>
              </a:rPr>
              <a:t> QLED 4K (2025) + Philips </a:t>
            </a:r>
            <a:r>
              <a:rPr sz="1500" b="0" i="0">
                <a:solidFill>
                  <a:srgbClr val="FFD21F"/>
                </a:solidFill>
                <a:latin typeface="Roboto Mono"/>
              </a:rPr>
              <a:t>TAB5309</a:t>
            </a:r>
          </a:p>
        </p:txBody>
      </p:sp>
      <p:sp>
        <p:nvSpPr>
          <p:cNvPr id="40" name="Rounded Rectangle 39"/>
          <p:cNvSpPr/>
          <p:nvPr/>
        </p:nvSpPr>
        <p:spPr>
          <a:xfrm>
            <a:off x="1333500" y="8534400"/>
            <a:ext cx="1567071"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8534400"/>
            <a:ext cx="1567071"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COMPUESTA</a:t>
            </a:r>
          </a:p>
        </p:txBody>
      </p:sp>
      <p:sp>
        <p:nvSpPr>
          <p:cNvPr id="42" name="Rectangle 41"/>
          <p:cNvSpPr/>
          <p:nvPr/>
        </p:nvSpPr>
        <p:spPr>
          <a:xfrm>
            <a:off x="1333500" y="7943850"/>
            <a:ext cx="28575" cy="4762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47800" y="7943850"/>
            <a:ext cx="2533650" cy="476250"/>
          </a:xfrm>
          <a:prstGeom prst="rect">
            <a:avLst/>
          </a:prstGeom>
          <a:noFill/>
        </p:spPr>
        <p:txBody>
          <a:bodyPr wrap="square" lIns="0" rIns="0" tIns="0" bIns="0" anchor="ctr">
            <a:spAutoFit/>
          </a:bodyPr>
          <a:lstStyle/>
          <a:p>
            <a:pPr algn="l">
              <a:lnSpc>
                <a:spcPct val="104200"/>
              </a:lnSpc>
            </a:pPr>
            <a:r>
              <a:rPr sz="1500" b="0" i="0">
                <a:solidFill>
                  <a:srgbClr val="F3F7FC"/>
                </a:solidFill>
                <a:latin typeface="Barlow"/>
              </a:rPr>
              <a:t>Televisor + barra de sonido: no es un solo producto</a:t>
            </a:r>
          </a:p>
        </p:txBody>
      </p:sp>
      <p:sp>
        <p:nvSpPr>
          <p:cNvPr id="44" name="Right Arrow 43"/>
          <p:cNvSpPr/>
          <p:nvPr/>
        </p:nvSpPr>
        <p:spPr>
          <a:xfrm>
            <a:off x="4210050" y="7734300"/>
            <a:ext cx="24765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33900" y="67056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ELEGIDO</a:t>
            </a:r>
          </a:p>
        </p:txBody>
      </p:sp>
      <p:sp>
        <p:nvSpPr>
          <p:cNvPr id="46" name="Rounded Rectangle 45"/>
          <p:cNvSpPr/>
          <p:nvPr/>
        </p:nvSpPr>
        <p:spPr>
          <a:xfrm>
            <a:off x="4533900" y="6972300"/>
            <a:ext cx="13716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533900" y="6972300"/>
            <a:ext cx="13716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TAB5309/10</a:t>
            </a:r>
          </a:p>
        </p:txBody>
      </p:sp>
      <p:sp>
        <p:nvSpPr>
          <p:cNvPr id="48" name="TextBox 47"/>
          <p:cNvSpPr txBox="1"/>
          <p:nvPr/>
        </p:nvSpPr>
        <p:spPr>
          <a:xfrm>
            <a:off x="4533900" y="74739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SCORE</a:t>
            </a:r>
          </a:p>
        </p:txBody>
      </p:sp>
      <p:sp>
        <p:nvSpPr>
          <p:cNvPr id="49" name="TextBox 48"/>
          <p:cNvSpPr txBox="1"/>
          <p:nvPr/>
        </p:nvSpPr>
        <p:spPr>
          <a:xfrm>
            <a:off x="4533900" y="7721600"/>
            <a:ext cx="1638300" cy="361950"/>
          </a:xfrm>
          <a:prstGeom prst="rect">
            <a:avLst/>
          </a:prstGeom>
          <a:noFill/>
        </p:spPr>
        <p:txBody>
          <a:bodyPr wrap="square" lIns="0" rIns="0" tIns="0" bIns="0" anchor="ctr">
            <a:spAutoFit/>
          </a:bodyPr>
          <a:lstStyle/>
          <a:p>
            <a:pPr algn="l">
              <a:lnSpc>
                <a:spcPct val="83300"/>
              </a:lnSpc>
            </a:pPr>
            <a:r>
              <a:rPr sz="2100" b="1" i="0">
                <a:solidFill>
                  <a:srgbClr val="F3F7FC"/>
                </a:solidFill>
                <a:latin typeface="Montserrat"/>
              </a:rPr>
              <a:t>0,996685</a:t>
            </a:r>
          </a:p>
        </p:txBody>
      </p:sp>
      <p:sp>
        <p:nvSpPr>
          <p:cNvPr id="50" name="TextBox 49"/>
          <p:cNvSpPr txBox="1"/>
          <p:nvPr/>
        </p:nvSpPr>
        <p:spPr>
          <a:xfrm>
            <a:off x="4533900" y="82423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MARGEN</a:t>
            </a:r>
          </a:p>
        </p:txBody>
      </p:sp>
      <p:sp>
        <p:nvSpPr>
          <p:cNvPr id="51" name="TextBox 50"/>
          <p:cNvSpPr txBox="1"/>
          <p:nvPr/>
        </p:nvSpPr>
        <p:spPr>
          <a:xfrm>
            <a:off x="4533900" y="8489950"/>
            <a:ext cx="1638300" cy="361950"/>
          </a:xfrm>
          <a:prstGeom prst="rect">
            <a:avLst/>
          </a:prstGeom>
          <a:noFill/>
        </p:spPr>
        <p:txBody>
          <a:bodyPr wrap="square" lIns="0" rIns="0" tIns="0" bIns="0" anchor="ctr">
            <a:spAutoFit/>
          </a:bodyPr>
          <a:lstStyle/>
          <a:p>
            <a:pPr algn="l">
              <a:lnSpc>
                <a:spcPct val="83300"/>
              </a:lnSpc>
            </a:pPr>
            <a:r>
              <a:rPr sz="2100" b="1" i="0">
                <a:solidFill>
                  <a:srgbClr val="FFD21F"/>
                </a:solidFill>
                <a:latin typeface="Montserrat"/>
              </a:rPr>
              <a:t>0,002209</a:t>
            </a:r>
          </a:p>
        </p:txBody>
      </p:sp>
      <p:sp>
        <p:nvSpPr>
          <p:cNvPr id="52" name="Right Arrow 51"/>
          <p:cNvSpPr/>
          <p:nvPr/>
        </p:nvSpPr>
        <p:spPr>
          <a:xfrm>
            <a:off x="6210300" y="7734300"/>
            <a:ext cx="26670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53200" y="6705600"/>
            <a:ext cx="2190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DECISIÓN</a:t>
            </a:r>
          </a:p>
        </p:txBody>
      </p:sp>
      <p:sp>
        <p:nvSpPr>
          <p:cNvPr id="54" name="Rounded Rectangle 53"/>
          <p:cNvSpPr/>
          <p:nvPr/>
        </p:nvSpPr>
        <p:spPr>
          <a:xfrm>
            <a:off x="6553200" y="7010400"/>
            <a:ext cx="140845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53200" y="7010400"/>
            <a:ext cx="1408450" cy="41910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REVISIÓN</a:t>
            </a:r>
          </a:p>
        </p:txBody>
      </p:sp>
      <p:sp>
        <p:nvSpPr>
          <p:cNvPr id="56" name="TextBox 55"/>
          <p:cNvSpPr txBox="1"/>
          <p:nvPr/>
        </p:nvSpPr>
        <p:spPr>
          <a:xfrm>
            <a:off x="6553200" y="7600950"/>
            <a:ext cx="2190750" cy="857250"/>
          </a:xfrm>
          <a:prstGeom prst="rect">
            <a:avLst/>
          </a:prstGeom>
          <a:noFill/>
        </p:spPr>
        <p:txBody>
          <a:bodyPr wrap="square" lIns="0" rIns="0" tIns="0" bIns="0" anchor="t">
            <a:spAutoFit/>
          </a:bodyPr>
          <a:lstStyle/>
          <a:p>
            <a:pPr algn="l">
              <a:lnSpc>
                <a:spcPct val="100000"/>
              </a:lnSpc>
            </a:pPr>
            <a:r>
              <a:rPr sz="1650" b="1" i="0">
                <a:solidFill>
                  <a:srgbClr val="FFD21F"/>
                </a:solidFill>
                <a:latin typeface="Montserrat"/>
              </a:rPr>
              <a:t>Se abstiene por la razón correcta</a:t>
            </a:r>
          </a:p>
        </p:txBody>
      </p:sp>
      <p:sp>
        <p:nvSpPr>
          <p:cNvPr id="57" name="TextBox 56"/>
          <p:cNvSpPr txBox="1"/>
          <p:nvPr/>
        </p:nvSpPr>
        <p:spPr>
          <a:xfrm>
            <a:off x="6553200" y="8324850"/>
            <a:ext cx="2190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GOLD</a:t>
            </a:r>
          </a:p>
        </p:txBody>
      </p:sp>
      <p:sp>
        <p:nvSpPr>
          <p:cNvPr id="58" name="Rounded Rectangle 57"/>
          <p:cNvSpPr/>
          <p:nvPr/>
        </p:nvSpPr>
        <p:spPr>
          <a:xfrm>
            <a:off x="6553200" y="8610600"/>
            <a:ext cx="5715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553200" y="8610600"/>
            <a:ext cx="5715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NIC</a:t>
            </a:r>
          </a:p>
        </p:txBody>
      </p:sp>
      <p:sp>
        <p:nvSpPr>
          <p:cNvPr id="60" name="Rectangle 59"/>
          <p:cNvSpPr/>
          <p:nvPr/>
        </p:nvSpPr>
        <p:spPr>
          <a:xfrm>
            <a:off x="9277350" y="3048000"/>
            <a:ext cx="8096250" cy="29908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9277350" y="3048000"/>
            <a:ext cx="57150" cy="2990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544050" y="3200400"/>
            <a:ext cx="75628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AMAZONDE · ALEMANIA</a:t>
            </a:r>
          </a:p>
        </p:txBody>
      </p:sp>
      <p:sp>
        <p:nvSpPr>
          <p:cNvPr id="63" name="Rounded Rectangle 62"/>
          <p:cNvSpPr/>
          <p:nvPr/>
        </p:nvSpPr>
        <p:spPr>
          <a:xfrm>
            <a:off x="9544050" y="3543300"/>
            <a:ext cx="2952750" cy="2305050"/>
          </a:xfrm>
          <a:prstGeom prst="roundRect">
            <a:avLst>
              <a:gd name="adj" fmla="val 2479"/>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696450" y="3657600"/>
            <a:ext cx="26479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TÍTULO PUBLICADO</a:t>
            </a:r>
          </a:p>
        </p:txBody>
      </p:sp>
      <p:sp>
        <p:nvSpPr>
          <p:cNvPr id="65" name="TextBox 64"/>
          <p:cNvSpPr txBox="1"/>
          <p:nvPr/>
        </p:nvSpPr>
        <p:spPr>
          <a:xfrm>
            <a:off x="9696450" y="3962400"/>
            <a:ext cx="2647950" cy="1352550"/>
          </a:xfrm>
          <a:prstGeom prst="rect">
            <a:avLst/>
          </a:prstGeom>
          <a:noFill/>
        </p:spPr>
        <p:txBody>
          <a:bodyPr wrap="square" lIns="0" rIns="0" tIns="0" bIns="0" anchor="t">
            <a:spAutoFit/>
          </a:bodyPr>
          <a:lstStyle/>
          <a:p>
            <a:pPr algn="l">
              <a:lnSpc>
                <a:spcPct val="104200"/>
              </a:lnSpc>
            </a:pPr>
            <a:r>
              <a:rPr sz="1500" b="0" i="0">
                <a:solidFill>
                  <a:srgbClr val="F3F7FC"/>
                </a:solidFill>
                <a:latin typeface="Roboto Mono"/>
              </a:rPr>
              <a:t>Philips TV Philips </a:t>
            </a:r>
            <a:r>
              <a:rPr sz="1500" b="0" i="0">
                <a:solidFill>
                  <a:srgbClr val="FFD21F"/>
                </a:solidFill>
                <a:latin typeface="Roboto Mono"/>
              </a:rPr>
              <a:t>32PFS5603/12</a:t>
            </a:r>
            <a:r>
              <a:rPr sz="1500" b="0" i="0">
                <a:solidFill>
                  <a:srgbClr val="F3F7FC"/>
                </a:solidFill>
                <a:latin typeface="Roboto Mono"/>
              </a:rPr>
              <a:t> 80 cm (32 Zoll) Full-HD Fernseher (Triple Tuner), Weiß</a:t>
            </a:r>
          </a:p>
        </p:txBody>
      </p:sp>
      <p:sp>
        <p:nvSpPr>
          <p:cNvPr id="66" name="Rounded Rectangle 65"/>
          <p:cNvSpPr/>
          <p:nvPr/>
        </p:nvSpPr>
        <p:spPr>
          <a:xfrm>
            <a:off x="9696450" y="5391150"/>
            <a:ext cx="2375178" cy="323850"/>
          </a:xfrm>
          <a:prstGeom prst="roundRect">
            <a:avLst>
              <a:gd name="adj" fmla="val 11764"/>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696450" y="5391150"/>
            <a:ext cx="2375178" cy="323850"/>
          </a:xfrm>
          <a:prstGeom prst="rect">
            <a:avLst/>
          </a:prstGeom>
          <a:noFill/>
        </p:spPr>
        <p:txBody>
          <a:bodyPr wrap="none" lIns="0" rIns="0" tIns="0" bIns="0" anchor="ctr">
            <a:spAutoFit/>
          </a:bodyPr>
          <a:lstStyle/>
          <a:p>
            <a:pPr algn="ctr">
              <a:lnSpc>
                <a:spcPct val="100000"/>
              </a:lnSpc>
            </a:pPr>
            <a:r>
              <a:rPr sz="1500" b="1" i="0" spc="120">
                <a:solidFill>
                  <a:srgbClr val="07172D"/>
                </a:solidFill>
                <a:latin typeface="Montserrat"/>
              </a:rPr>
              <a:t>CÓDIGO COMPLETO</a:t>
            </a:r>
          </a:p>
        </p:txBody>
      </p:sp>
      <p:sp>
        <p:nvSpPr>
          <p:cNvPr id="68" name="Right Arrow 67"/>
          <p:cNvSpPr/>
          <p:nvPr/>
        </p:nvSpPr>
        <p:spPr>
          <a:xfrm>
            <a:off x="12573000" y="4591050"/>
            <a:ext cx="24765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96850" y="35623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ELEGIDO</a:t>
            </a:r>
          </a:p>
        </p:txBody>
      </p:sp>
      <p:sp>
        <p:nvSpPr>
          <p:cNvPr id="70" name="Rounded Rectangle 69"/>
          <p:cNvSpPr/>
          <p:nvPr/>
        </p:nvSpPr>
        <p:spPr>
          <a:xfrm>
            <a:off x="12896850" y="3829050"/>
            <a:ext cx="16002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2896850" y="3829050"/>
            <a:ext cx="16002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32PFS5603/12</a:t>
            </a:r>
          </a:p>
        </p:txBody>
      </p:sp>
      <p:sp>
        <p:nvSpPr>
          <p:cNvPr id="72" name="TextBox 71"/>
          <p:cNvSpPr txBox="1"/>
          <p:nvPr/>
        </p:nvSpPr>
        <p:spPr>
          <a:xfrm>
            <a:off x="12896850" y="43307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SCORE</a:t>
            </a:r>
          </a:p>
        </p:txBody>
      </p:sp>
      <p:sp>
        <p:nvSpPr>
          <p:cNvPr id="73" name="TextBox 72"/>
          <p:cNvSpPr txBox="1"/>
          <p:nvPr/>
        </p:nvSpPr>
        <p:spPr>
          <a:xfrm>
            <a:off x="12896850" y="4578350"/>
            <a:ext cx="1638300" cy="361950"/>
          </a:xfrm>
          <a:prstGeom prst="rect">
            <a:avLst/>
          </a:prstGeom>
          <a:noFill/>
        </p:spPr>
        <p:txBody>
          <a:bodyPr wrap="square" lIns="0" rIns="0" tIns="0" bIns="0" anchor="ctr">
            <a:spAutoFit/>
          </a:bodyPr>
          <a:lstStyle/>
          <a:p>
            <a:pPr algn="l">
              <a:lnSpc>
                <a:spcPct val="83300"/>
              </a:lnSpc>
            </a:pPr>
            <a:r>
              <a:rPr sz="2100" b="1" i="0">
                <a:solidFill>
                  <a:srgbClr val="F3F7FC"/>
                </a:solidFill>
                <a:latin typeface="Montserrat"/>
              </a:rPr>
              <a:t>0,999573</a:t>
            </a:r>
          </a:p>
        </p:txBody>
      </p:sp>
      <p:sp>
        <p:nvSpPr>
          <p:cNvPr id="74" name="TextBox 73"/>
          <p:cNvSpPr txBox="1"/>
          <p:nvPr/>
        </p:nvSpPr>
        <p:spPr>
          <a:xfrm>
            <a:off x="12896850" y="50990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GOLD</a:t>
            </a:r>
          </a:p>
        </p:txBody>
      </p:sp>
      <p:sp>
        <p:nvSpPr>
          <p:cNvPr id="75" name="Rounded Rectangle 74"/>
          <p:cNvSpPr/>
          <p:nvPr/>
        </p:nvSpPr>
        <p:spPr>
          <a:xfrm>
            <a:off x="12896850" y="5365750"/>
            <a:ext cx="16002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2896850" y="5365750"/>
            <a:ext cx="16002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32PFS5603/12</a:t>
            </a:r>
          </a:p>
        </p:txBody>
      </p:sp>
      <p:sp>
        <p:nvSpPr>
          <p:cNvPr id="77" name="Right Arrow 76"/>
          <p:cNvSpPr/>
          <p:nvPr/>
        </p:nvSpPr>
        <p:spPr>
          <a:xfrm>
            <a:off x="14573250" y="4591050"/>
            <a:ext cx="26670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16150" y="3562350"/>
            <a:ext cx="2190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DECISIÓN</a:t>
            </a:r>
          </a:p>
        </p:txBody>
      </p:sp>
      <p:sp>
        <p:nvSpPr>
          <p:cNvPr id="79" name="Rounded Rectangle 78"/>
          <p:cNvSpPr/>
          <p:nvPr/>
        </p:nvSpPr>
        <p:spPr>
          <a:xfrm>
            <a:off x="14916150" y="3867150"/>
            <a:ext cx="1136332" cy="419100"/>
          </a:xfrm>
          <a:prstGeom prst="roundRect">
            <a:avLst>
              <a:gd name="adj" fmla="val 909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4916150" y="3867150"/>
            <a:ext cx="1136332" cy="419100"/>
          </a:xfrm>
          <a:prstGeom prst="rect">
            <a:avLst/>
          </a:prstGeom>
          <a:noFill/>
        </p:spPr>
        <p:txBody>
          <a:bodyPr wrap="none" lIns="0" rIns="0" tIns="0" bIns="0" anchor="ctr">
            <a:spAutoFit/>
          </a:bodyPr>
          <a:lstStyle/>
          <a:p>
            <a:pPr algn="ctr">
              <a:lnSpc>
                <a:spcPct val="100000"/>
              </a:lnSpc>
            </a:pPr>
            <a:r>
              <a:rPr sz="1500" b="1" i="0" spc="120">
                <a:solidFill>
                  <a:srgbClr val="07172D"/>
                </a:solidFill>
                <a:latin typeface="Montserrat"/>
              </a:rPr>
              <a:t>MATCH</a:t>
            </a:r>
          </a:p>
        </p:txBody>
      </p:sp>
      <p:sp>
        <p:nvSpPr>
          <p:cNvPr id="81" name="TextBox 80"/>
          <p:cNvSpPr txBox="1"/>
          <p:nvPr/>
        </p:nvSpPr>
        <p:spPr>
          <a:xfrm>
            <a:off x="14916150" y="4457700"/>
            <a:ext cx="2190750" cy="857250"/>
          </a:xfrm>
          <a:prstGeom prst="rect">
            <a:avLst/>
          </a:prstGeom>
          <a:noFill/>
        </p:spPr>
        <p:txBody>
          <a:bodyPr wrap="square" lIns="0" rIns="0" tIns="0" bIns="0" anchor="t">
            <a:spAutoFit/>
          </a:bodyPr>
          <a:lstStyle/>
          <a:p>
            <a:pPr algn="l">
              <a:lnSpc>
                <a:spcPct val="100000"/>
              </a:lnSpc>
            </a:pPr>
            <a:r>
              <a:rPr sz="1650" b="1" i="0">
                <a:solidFill>
                  <a:srgbClr val="FFD21F"/>
                </a:solidFill>
                <a:latin typeface="Montserrat"/>
              </a:rPr>
              <a:t>Automatizado y correcto</a:t>
            </a:r>
          </a:p>
        </p:txBody>
      </p:sp>
      <p:sp>
        <p:nvSpPr>
          <p:cNvPr id="82" name="Rectangle 81"/>
          <p:cNvSpPr/>
          <p:nvPr/>
        </p:nvSpPr>
        <p:spPr>
          <a:xfrm>
            <a:off x="9277350" y="6191250"/>
            <a:ext cx="8096250" cy="29908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9277350" y="6191250"/>
            <a:ext cx="57150" cy="29908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544050" y="6343650"/>
            <a:ext cx="75628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MAKRO · SUDÁFRICA</a:t>
            </a:r>
          </a:p>
        </p:txBody>
      </p:sp>
      <p:sp>
        <p:nvSpPr>
          <p:cNvPr id="85" name="Rounded Rectangle 84"/>
          <p:cNvSpPr/>
          <p:nvPr/>
        </p:nvSpPr>
        <p:spPr>
          <a:xfrm>
            <a:off x="9544050" y="6686550"/>
            <a:ext cx="2952750" cy="2305050"/>
          </a:xfrm>
          <a:prstGeom prst="roundRect">
            <a:avLst>
              <a:gd name="adj" fmla="val 2479"/>
            </a:avLst>
          </a:prstGeom>
          <a:solidFill>
            <a:srgbClr val="0F2C52"/>
          </a:solidFill>
          <a:ln w="9525">
            <a:solidFill>
              <a:srgbClr val="2F7B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9696450" y="6800850"/>
            <a:ext cx="26479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TÍTULO PUBLICADO</a:t>
            </a:r>
          </a:p>
        </p:txBody>
      </p:sp>
      <p:sp>
        <p:nvSpPr>
          <p:cNvPr id="87" name="TextBox 86"/>
          <p:cNvSpPr txBox="1"/>
          <p:nvPr/>
        </p:nvSpPr>
        <p:spPr>
          <a:xfrm>
            <a:off x="9696450" y="7105650"/>
            <a:ext cx="2647950" cy="1352550"/>
          </a:xfrm>
          <a:prstGeom prst="rect">
            <a:avLst/>
          </a:prstGeom>
          <a:noFill/>
        </p:spPr>
        <p:txBody>
          <a:bodyPr wrap="square" lIns="0" rIns="0" tIns="0" bIns="0" anchor="t">
            <a:spAutoFit/>
          </a:bodyPr>
          <a:lstStyle/>
          <a:p>
            <a:pPr algn="l">
              <a:lnSpc>
                <a:spcPct val="104200"/>
              </a:lnSpc>
            </a:pPr>
            <a:r>
              <a:rPr sz="1500" b="0" i="0">
                <a:solidFill>
                  <a:srgbClr val="F3F7FC"/>
                </a:solidFill>
                <a:latin typeface="Roboto Mono"/>
              </a:rPr>
              <a:t>Philips Air Fryer (7.2 L)</a:t>
            </a:r>
          </a:p>
        </p:txBody>
      </p:sp>
      <p:sp>
        <p:nvSpPr>
          <p:cNvPr id="88" name="Rounded Rectangle 87"/>
          <p:cNvSpPr/>
          <p:nvPr/>
        </p:nvSpPr>
        <p:spPr>
          <a:xfrm>
            <a:off x="9696450" y="8534400"/>
            <a:ext cx="2042011" cy="323850"/>
          </a:xfrm>
          <a:prstGeom prst="roundRect">
            <a:avLst>
              <a:gd name="adj" fmla="val 11764"/>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9696450" y="8534400"/>
            <a:ext cx="2042011" cy="32385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NINGÚN CÓDIGO</a:t>
            </a:r>
          </a:p>
        </p:txBody>
      </p:sp>
      <p:sp>
        <p:nvSpPr>
          <p:cNvPr id="90" name="Rectangle 89"/>
          <p:cNvSpPr/>
          <p:nvPr/>
        </p:nvSpPr>
        <p:spPr>
          <a:xfrm>
            <a:off x="9696450" y="7943850"/>
            <a:ext cx="28575" cy="4762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9810750" y="7943850"/>
            <a:ext cx="2533650" cy="476250"/>
          </a:xfrm>
          <a:prstGeom prst="rect">
            <a:avLst/>
          </a:prstGeom>
          <a:noFill/>
        </p:spPr>
        <p:txBody>
          <a:bodyPr wrap="square" lIns="0" rIns="0" tIns="0" bIns="0" anchor="ctr">
            <a:spAutoFit/>
          </a:bodyPr>
          <a:lstStyle/>
          <a:p>
            <a:pPr algn="l">
              <a:lnSpc>
                <a:spcPct val="104200"/>
              </a:lnSpc>
            </a:pPr>
            <a:r>
              <a:rPr sz="1500" b="0" i="0">
                <a:solidFill>
                  <a:srgbClr val="F3F7FC"/>
                </a:solidFill>
                <a:latin typeface="Barlow"/>
              </a:rPr>
              <a:t>Describe varias freidoras del catálogo</a:t>
            </a:r>
          </a:p>
        </p:txBody>
      </p:sp>
      <p:sp>
        <p:nvSpPr>
          <p:cNvPr id="92" name="Right Arrow 91"/>
          <p:cNvSpPr/>
          <p:nvPr/>
        </p:nvSpPr>
        <p:spPr>
          <a:xfrm>
            <a:off x="12573000" y="7734300"/>
            <a:ext cx="24765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896850" y="67056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ELEGIDO</a:t>
            </a:r>
          </a:p>
        </p:txBody>
      </p:sp>
      <p:sp>
        <p:nvSpPr>
          <p:cNvPr id="94" name="Rounded Rectangle 93"/>
          <p:cNvSpPr/>
          <p:nvPr/>
        </p:nvSpPr>
        <p:spPr>
          <a:xfrm>
            <a:off x="12896850" y="6972300"/>
            <a:ext cx="1143000" cy="323850"/>
          </a:xfrm>
          <a:prstGeom prst="roundRect">
            <a:avLst>
              <a:gd name="adj" fmla="val 17647"/>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2896850" y="6972300"/>
            <a:ext cx="1143000" cy="323850"/>
          </a:xfrm>
          <a:prstGeom prst="rect">
            <a:avLst/>
          </a:prstGeom>
          <a:noFill/>
        </p:spPr>
        <p:txBody>
          <a:bodyPr wrap="none" lIns="0" rIns="0" tIns="0" bIns="0" anchor="ctr">
            <a:spAutoFit/>
          </a:bodyPr>
          <a:lstStyle/>
          <a:p>
            <a:pPr algn="ctr">
              <a:lnSpc>
                <a:spcPct val="100000"/>
              </a:lnSpc>
            </a:pPr>
            <a:r>
              <a:rPr sz="1500" b="0" i="0">
                <a:solidFill>
                  <a:srgbClr val="FFD21F"/>
                </a:solidFill>
                <a:latin typeface="Roboto Mono"/>
              </a:rPr>
              <a:t>NA341/00</a:t>
            </a:r>
          </a:p>
        </p:txBody>
      </p:sp>
      <p:sp>
        <p:nvSpPr>
          <p:cNvPr id="96" name="TextBox 95"/>
          <p:cNvSpPr txBox="1"/>
          <p:nvPr/>
        </p:nvSpPr>
        <p:spPr>
          <a:xfrm>
            <a:off x="12896850" y="747395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SCORE</a:t>
            </a:r>
          </a:p>
        </p:txBody>
      </p:sp>
      <p:sp>
        <p:nvSpPr>
          <p:cNvPr id="97" name="TextBox 96"/>
          <p:cNvSpPr txBox="1"/>
          <p:nvPr/>
        </p:nvSpPr>
        <p:spPr>
          <a:xfrm>
            <a:off x="12896850" y="7721600"/>
            <a:ext cx="1638300" cy="361950"/>
          </a:xfrm>
          <a:prstGeom prst="rect">
            <a:avLst/>
          </a:prstGeom>
          <a:noFill/>
        </p:spPr>
        <p:txBody>
          <a:bodyPr wrap="square" lIns="0" rIns="0" tIns="0" bIns="0" anchor="ctr">
            <a:spAutoFit/>
          </a:bodyPr>
          <a:lstStyle/>
          <a:p>
            <a:pPr algn="l">
              <a:lnSpc>
                <a:spcPct val="83300"/>
              </a:lnSpc>
            </a:pPr>
            <a:r>
              <a:rPr sz="2100" b="1" i="0">
                <a:solidFill>
                  <a:srgbClr val="F3F7FC"/>
                </a:solidFill>
                <a:latin typeface="Montserrat"/>
              </a:rPr>
              <a:t>0,999650</a:t>
            </a:r>
          </a:p>
        </p:txBody>
      </p:sp>
      <p:sp>
        <p:nvSpPr>
          <p:cNvPr id="98" name="TextBox 97"/>
          <p:cNvSpPr txBox="1"/>
          <p:nvPr/>
        </p:nvSpPr>
        <p:spPr>
          <a:xfrm>
            <a:off x="12896850" y="8242300"/>
            <a:ext cx="16383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GOLD</a:t>
            </a:r>
          </a:p>
        </p:txBody>
      </p:sp>
      <p:sp>
        <p:nvSpPr>
          <p:cNvPr id="99" name="Rounded Rectangle 98"/>
          <p:cNvSpPr/>
          <p:nvPr/>
        </p:nvSpPr>
        <p:spPr>
          <a:xfrm>
            <a:off x="12896850" y="8509000"/>
            <a:ext cx="1257300" cy="323850"/>
          </a:xfrm>
          <a:prstGeom prst="roundRect">
            <a:avLst>
              <a:gd name="adj" fmla="val 17647"/>
            </a:avLst>
          </a:prstGeom>
          <a:solidFill>
            <a:srgbClr val="0F2C52"/>
          </a:solidFill>
          <a:ln w="9525">
            <a:solidFill>
              <a:srgbClr val="E0566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2896850" y="8509000"/>
            <a:ext cx="1257300" cy="323850"/>
          </a:xfrm>
          <a:prstGeom prst="rect">
            <a:avLst/>
          </a:prstGeom>
          <a:noFill/>
        </p:spPr>
        <p:txBody>
          <a:bodyPr wrap="none" lIns="0" rIns="0" tIns="0" bIns="0" anchor="ctr">
            <a:spAutoFit/>
          </a:bodyPr>
          <a:lstStyle/>
          <a:p>
            <a:pPr algn="ctr">
              <a:lnSpc>
                <a:spcPct val="100000"/>
              </a:lnSpc>
            </a:pPr>
            <a:r>
              <a:rPr sz="1500" b="0" i="0">
                <a:solidFill>
                  <a:srgbClr val="E0566B"/>
                </a:solidFill>
                <a:latin typeface="Roboto Mono"/>
              </a:rPr>
              <a:t>HD9285/90</a:t>
            </a:r>
          </a:p>
        </p:txBody>
      </p:sp>
      <p:sp>
        <p:nvSpPr>
          <p:cNvPr id="101" name="Right Arrow 100"/>
          <p:cNvSpPr/>
          <p:nvPr/>
        </p:nvSpPr>
        <p:spPr>
          <a:xfrm>
            <a:off x="14573250" y="7734300"/>
            <a:ext cx="266700" cy="20955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4916150" y="6705600"/>
            <a:ext cx="219075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DECISIÓN</a:t>
            </a:r>
          </a:p>
        </p:txBody>
      </p:sp>
      <p:sp>
        <p:nvSpPr>
          <p:cNvPr id="103" name="Rounded Rectangle 102"/>
          <p:cNvSpPr/>
          <p:nvPr/>
        </p:nvSpPr>
        <p:spPr>
          <a:xfrm>
            <a:off x="14916150" y="7010400"/>
            <a:ext cx="1136332" cy="419100"/>
          </a:xfrm>
          <a:prstGeom prst="roundRect">
            <a:avLst>
              <a:gd name="adj" fmla="val 9090"/>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4916150" y="7010400"/>
            <a:ext cx="1136332" cy="419100"/>
          </a:xfrm>
          <a:prstGeom prst="rect">
            <a:avLst/>
          </a:prstGeom>
          <a:noFill/>
        </p:spPr>
        <p:txBody>
          <a:bodyPr wrap="none" lIns="0" rIns="0" tIns="0" bIns="0" anchor="ctr">
            <a:spAutoFit/>
          </a:bodyPr>
          <a:lstStyle/>
          <a:p>
            <a:pPr algn="ctr">
              <a:lnSpc>
                <a:spcPct val="100000"/>
              </a:lnSpc>
            </a:pPr>
            <a:r>
              <a:rPr sz="1500" b="1" i="0" spc="120">
                <a:solidFill>
                  <a:srgbClr val="F3F7FC"/>
                </a:solidFill>
                <a:latin typeface="Montserrat"/>
              </a:rPr>
              <a:t>MATCH</a:t>
            </a:r>
          </a:p>
        </p:txBody>
      </p:sp>
      <p:sp>
        <p:nvSpPr>
          <p:cNvPr id="105" name="TextBox 104"/>
          <p:cNvSpPr txBox="1"/>
          <p:nvPr/>
        </p:nvSpPr>
        <p:spPr>
          <a:xfrm>
            <a:off x="14916150" y="7600950"/>
            <a:ext cx="2190750" cy="857250"/>
          </a:xfrm>
          <a:prstGeom prst="rect">
            <a:avLst/>
          </a:prstGeom>
          <a:noFill/>
        </p:spPr>
        <p:txBody>
          <a:bodyPr wrap="square" lIns="0" rIns="0" tIns="0" bIns="0" anchor="t">
            <a:spAutoFit/>
          </a:bodyPr>
          <a:lstStyle/>
          <a:p>
            <a:pPr algn="l">
              <a:lnSpc>
                <a:spcPct val="100000"/>
              </a:lnSpc>
            </a:pPr>
            <a:r>
              <a:rPr sz="1650" b="1" i="0">
                <a:solidFill>
                  <a:srgbClr val="E0566B"/>
                </a:solidFill>
                <a:latin typeface="Montserrat"/>
              </a:rPr>
              <a:t>Automatizado y errado</a:t>
            </a:r>
          </a:p>
        </p:txBody>
      </p:sp>
      <p:sp>
        <p:nvSpPr>
          <p:cNvPr id="106" name="TextBox 105"/>
          <p:cNvSpPr txBox="1"/>
          <p:nvPr/>
        </p:nvSpPr>
        <p:spPr>
          <a:xfrm>
            <a:off x="914400" y="9315450"/>
            <a:ext cx="16459200" cy="304800"/>
          </a:xfrm>
          <a:prstGeom prst="rect">
            <a:avLst/>
          </a:prstGeom>
          <a:noFill/>
        </p:spPr>
        <p:txBody>
          <a:bodyPr wrap="square" lIns="0" rIns="0" tIns="0" bIns="0" anchor="ctr">
            <a:spAutoFit/>
          </a:bodyPr>
          <a:lstStyle/>
          <a:p>
            <a:pPr algn="l">
              <a:lnSpc>
                <a:spcPct val="83300"/>
              </a:lnSpc>
            </a:pPr>
            <a:r>
              <a:rPr sz="1650" b="0" i="0">
                <a:solidFill>
                  <a:srgbClr val="F3F7FC"/>
                </a:solidFill>
                <a:latin typeface="Barlow"/>
              </a:rPr>
              <a:t>Sin código, el modelo elige una freidora plausible con total confianza: </a:t>
            </a:r>
            <a:r>
              <a:rPr sz="1650" b="1" i="0">
                <a:solidFill>
                  <a:srgbClr val="FFD21F"/>
                </a:solidFill>
                <a:latin typeface="Barlow"/>
              </a:rPr>
              <a:t>es el límite del método, y marca dónde sigue haciendo falta el operador.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OE6 · CONTRASTAR CON EL PROCESO MANUAL · TIEMPO DE VALIDACIÓN</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Tiempo unitario: manual frente al modelo</a:t>
            </a:r>
          </a:p>
        </p:txBody>
      </p:sp>
      <p:sp>
        <p:nvSpPr>
          <p:cNvPr id="9" name="Rectangle 8"/>
          <p:cNvSpPr/>
          <p:nvPr/>
        </p:nvSpPr>
        <p:spPr>
          <a:xfrm>
            <a:off x="914400" y="2628900"/>
            <a:ext cx="8077200" cy="32004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80772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219200" y="2914650"/>
            <a:ext cx="381000" cy="381000"/>
          </a:xfrm>
          <a:prstGeom prst="roundRect">
            <a:avLst>
              <a:gd name="adj" fmla="val 1000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19200" y="291465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1</a:t>
            </a:r>
          </a:p>
        </p:txBody>
      </p:sp>
      <p:sp>
        <p:nvSpPr>
          <p:cNvPr id="13" name="TextBox 12"/>
          <p:cNvSpPr txBox="1"/>
          <p:nvPr/>
        </p:nvSpPr>
        <p:spPr>
          <a:xfrm>
            <a:off x="1771650" y="2895600"/>
            <a:ext cx="6915150" cy="3810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Línea base manual</a:t>
            </a:r>
          </a:p>
        </p:txBody>
      </p:sp>
      <p:sp>
        <p:nvSpPr>
          <p:cNvPr id="14" name="TextBox 13"/>
          <p:cNvSpPr txBox="1"/>
          <p:nvPr/>
        </p:nvSpPr>
        <p:spPr>
          <a:xfrm>
            <a:off x="1771650" y="3295650"/>
            <a:ext cx="691515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2 semanas operativas · unidad: publicación-semana</a:t>
            </a:r>
          </a:p>
        </p:txBody>
      </p:sp>
      <p:sp>
        <p:nvSpPr>
          <p:cNvPr id="15" name="TextBox 14"/>
          <p:cNvSpPr txBox="1"/>
          <p:nvPr/>
        </p:nvSpPr>
        <p:spPr>
          <a:xfrm>
            <a:off x="1688088" y="4071938"/>
            <a:ext cx="189509" cy="428625"/>
          </a:xfrm>
          <a:prstGeom prst="rect">
            <a:avLst/>
          </a:prstGeom>
          <a:noFill/>
        </p:spPr>
        <p:txBody>
          <a:bodyPr wrap="none" lIns="0" rIns="0" tIns="0" bIns="0" anchor="ctr">
            <a:spAutoFit/>
          </a:bodyPr>
          <a:lstStyle/>
          <a:p>
            <a:pPr algn="l">
              <a:lnSpc>
                <a:spcPct val="83300"/>
              </a:lnSpc>
            </a:pPr>
            <a:r>
              <a:rPr sz="2700" b="0" i="1">
                <a:solidFill>
                  <a:srgbClr val="F3F7FC"/>
                </a:solidFill>
                <a:latin typeface="Barlow"/>
              </a:rPr>
              <a:t>t</a:t>
            </a:r>
          </a:p>
        </p:txBody>
      </p:sp>
      <p:sp>
        <p:nvSpPr>
          <p:cNvPr id="16" name="TextBox 15"/>
          <p:cNvSpPr txBox="1"/>
          <p:nvPr/>
        </p:nvSpPr>
        <p:spPr>
          <a:xfrm>
            <a:off x="1822479" y="4256246"/>
            <a:ext cx="767783" cy="265748"/>
          </a:xfrm>
          <a:prstGeom prst="rect">
            <a:avLst/>
          </a:prstGeom>
          <a:noFill/>
        </p:spPr>
        <p:txBody>
          <a:bodyPr wrap="none" lIns="0" rIns="0" tIns="0" bIns="0" anchor="ctr">
            <a:spAutoFit/>
          </a:bodyPr>
          <a:lstStyle/>
          <a:p>
            <a:pPr algn="l">
              <a:lnSpc>
                <a:spcPct val="83300"/>
              </a:lnSpc>
            </a:pPr>
            <a:r>
              <a:rPr sz="1674" b="0" i="1">
                <a:solidFill>
                  <a:srgbClr val="F3F7FC"/>
                </a:solidFill>
                <a:latin typeface="Barlow"/>
              </a:rPr>
              <a:t>manual</a:t>
            </a:r>
          </a:p>
        </p:txBody>
      </p:sp>
      <p:sp>
        <p:nvSpPr>
          <p:cNvPr id="17" name="TextBox 16"/>
          <p:cNvSpPr txBox="1"/>
          <p:nvPr/>
        </p:nvSpPr>
        <p:spPr>
          <a:xfrm>
            <a:off x="2584709" y="4071938"/>
            <a:ext cx="311613"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 =</a:t>
            </a:r>
          </a:p>
        </p:txBody>
      </p:sp>
      <p:sp>
        <p:nvSpPr>
          <p:cNvPr id="18" name="Rectangle 17"/>
          <p:cNvSpPr/>
          <p:nvPr/>
        </p:nvSpPr>
        <p:spPr>
          <a:xfrm>
            <a:off x="2960405" y="4271962"/>
            <a:ext cx="2028896"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92790" y="3876930"/>
            <a:ext cx="2098738"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27.120 + 35.460</a:t>
            </a:r>
          </a:p>
        </p:txBody>
      </p:sp>
      <p:sp>
        <p:nvSpPr>
          <p:cNvPr id="20" name="TextBox 19"/>
          <p:cNvSpPr txBox="1"/>
          <p:nvPr/>
        </p:nvSpPr>
        <p:spPr>
          <a:xfrm>
            <a:off x="3168998" y="4333810"/>
            <a:ext cx="1725177"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1.826 + 1.942</a:t>
            </a:r>
          </a:p>
        </p:txBody>
      </p:sp>
      <p:sp>
        <p:nvSpPr>
          <p:cNvPr id="21" name="TextBox 20"/>
          <p:cNvSpPr txBox="1"/>
          <p:nvPr/>
        </p:nvSpPr>
        <p:spPr>
          <a:xfrm>
            <a:off x="5086837" y="4071938"/>
            <a:ext cx="238887"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a:t>
            </a:r>
          </a:p>
        </p:txBody>
      </p:sp>
      <p:sp>
        <p:nvSpPr>
          <p:cNvPr id="22" name="Rectangle 21"/>
          <p:cNvSpPr/>
          <p:nvPr/>
        </p:nvSpPr>
        <p:spPr>
          <a:xfrm>
            <a:off x="5393923" y="4271962"/>
            <a:ext cx="966743"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26308" y="3876930"/>
            <a:ext cx="972855"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62.580</a:t>
            </a:r>
          </a:p>
        </p:txBody>
      </p:sp>
      <p:sp>
        <p:nvSpPr>
          <p:cNvPr id="24" name="TextBox 23"/>
          <p:cNvSpPr txBox="1"/>
          <p:nvPr/>
        </p:nvSpPr>
        <p:spPr>
          <a:xfrm>
            <a:off x="5518760" y="4333810"/>
            <a:ext cx="776858"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3.768</a:t>
            </a:r>
          </a:p>
        </p:txBody>
      </p:sp>
      <p:sp>
        <p:nvSpPr>
          <p:cNvPr id="25" name="TextBox 24"/>
          <p:cNvSpPr txBox="1"/>
          <p:nvPr/>
        </p:nvSpPr>
        <p:spPr>
          <a:xfrm>
            <a:off x="6458202" y="4071938"/>
            <a:ext cx="238887"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a:t>
            </a:r>
          </a:p>
        </p:txBody>
      </p:sp>
      <p:sp>
        <p:nvSpPr>
          <p:cNvPr id="26" name="TextBox 25"/>
          <p:cNvSpPr txBox="1"/>
          <p:nvPr/>
        </p:nvSpPr>
        <p:spPr>
          <a:xfrm>
            <a:off x="6711948" y="4061222"/>
            <a:ext cx="1613086" cy="450056"/>
          </a:xfrm>
          <a:prstGeom prst="rect">
            <a:avLst/>
          </a:prstGeom>
          <a:noFill/>
        </p:spPr>
        <p:txBody>
          <a:bodyPr wrap="none" lIns="0" rIns="0" tIns="0" bIns="0" anchor="ctr">
            <a:spAutoFit/>
          </a:bodyPr>
          <a:lstStyle/>
          <a:p>
            <a:pPr algn="l">
              <a:lnSpc>
                <a:spcPct val="83300"/>
              </a:lnSpc>
            </a:pPr>
            <a:r>
              <a:rPr sz="2835" b="1" i="0">
                <a:solidFill>
                  <a:srgbClr val="FFD21F"/>
                </a:solidFill>
                <a:latin typeface="Montserrat"/>
              </a:rPr>
              <a:t>16,608 s</a:t>
            </a:r>
          </a:p>
        </p:txBody>
      </p:sp>
      <p:sp>
        <p:nvSpPr>
          <p:cNvPr id="27" name="Rectangle 26"/>
          <p:cNvSpPr/>
          <p:nvPr/>
        </p:nvSpPr>
        <p:spPr>
          <a:xfrm>
            <a:off x="1219200" y="4800600"/>
            <a:ext cx="3638550" cy="800100"/>
          </a:xfrm>
          <a:prstGeom prst="rect">
            <a:avLst/>
          </a:prstGeom>
          <a:solidFill>
            <a:srgbClr val="0F2C52"/>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90650" y="4933950"/>
            <a:ext cx="3295650" cy="257175"/>
          </a:xfrm>
          <a:prstGeom prst="rect">
            <a:avLst/>
          </a:prstGeom>
          <a:noFill/>
        </p:spPr>
        <p:txBody>
          <a:bodyPr wrap="square" lIns="0" rIns="0" tIns="0" bIns="0" anchor="t">
            <a:spAutoFit/>
          </a:bodyPr>
          <a:lstStyle/>
          <a:p>
            <a:pPr algn="l">
              <a:lnSpc>
                <a:spcPct val="100000"/>
              </a:lnSpc>
            </a:pPr>
            <a:r>
              <a:rPr sz="1350" b="1" i="0" spc="120">
                <a:solidFill>
                  <a:srgbClr val="9FB4CC"/>
                </a:solidFill>
                <a:latin typeface="Montserrat"/>
              </a:rPr>
              <a:t>SEMANA 24–27 AGO</a:t>
            </a:r>
          </a:p>
        </p:txBody>
      </p:sp>
      <p:sp>
        <p:nvSpPr>
          <p:cNvPr id="29" name="TextBox 28"/>
          <p:cNvSpPr txBox="1"/>
          <p:nvPr/>
        </p:nvSpPr>
        <p:spPr>
          <a:xfrm>
            <a:off x="1390650" y="5200650"/>
            <a:ext cx="3295650" cy="34671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14,852 s</a:t>
            </a:r>
          </a:p>
        </p:txBody>
      </p:sp>
      <p:sp>
        <p:nvSpPr>
          <p:cNvPr id="30" name="Rectangle 29"/>
          <p:cNvSpPr/>
          <p:nvPr/>
        </p:nvSpPr>
        <p:spPr>
          <a:xfrm>
            <a:off x="5048250" y="4800600"/>
            <a:ext cx="3638550" cy="800100"/>
          </a:xfrm>
          <a:prstGeom prst="rect">
            <a:avLst/>
          </a:prstGeom>
          <a:solidFill>
            <a:srgbClr val="0F2C52"/>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219700" y="4933950"/>
            <a:ext cx="3295650" cy="257175"/>
          </a:xfrm>
          <a:prstGeom prst="rect">
            <a:avLst/>
          </a:prstGeom>
          <a:noFill/>
        </p:spPr>
        <p:txBody>
          <a:bodyPr wrap="square" lIns="0" rIns="0" tIns="0" bIns="0" anchor="t">
            <a:spAutoFit/>
          </a:bodyPr>
          <a:lstStyle/>
          <a:p>
            <a:pPr algn="l">
              <a:lnSpc>
                <a:spcPct val="100000"/>
              </a:lnSpc>
            </a:pPr>
            <a:r>
              <a:rPr sz="1350" b="1" i="0" spc="120">
                <a:solidFill>
                  <a:srgbClr val="9FB4CC"/>
                </a:solidFill>
                <a:latin typeface="Montserrat"/>
              </a:rPr>
              <a:t>SEMANA 31 AGO–3 SEP</a:t>
            </a:r>
          </a:p>
        </p:txBody>
      </p:sp>
      <p:sp>
        <p:nvSpPr>
          <p:cNvPr id="32" name="TextBox 31"/>
          <p:cNvSpPr txBox="1"/>
          <p:nvPr/>
        </p:nvSpPr>
        <p:spPr>
          <a:xfrm>
            <a:off x="5219700" y="5200650"/>
            <a:ext cx="3295650" cy="34671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18,260 s</a:t>
            </a:r>
          </a:p>
        </p:txBody>
      </p:sp>
      <p:sp>
        <p:nvSpPr>
          <p:cNvPr id="33" name="Rectangle 32"/>
          <p:cNvSpPr/>
          <p:nvPr/>
        </p:nvSpPr>
        <p:spPr>
          <a:xfrm>
            <a:off x="9296400" y="2628900"/>
            <a:ext cx="8077200" cy="32004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296400" y="2628900"/>
            <a:ext cx="80772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9601200" y="291465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01200" y="2914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2</a:t>
            </a:r>
          </a:p>
        </p:txBody>
      </p:sp>
      <p:sp>
        <p:nvSpPr>
          <p:cNvPr id="37" name="TextBox 36"/>
          <p:cNvSpPr txBox="1"/>
          <p:nvPr/>
        </p:nvSpPr>
        <p:spPr>
          <a:xfrm>
            <a:off x="10153650" y="2895600"/>
            <a:ext cx="6915150" cy="3810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Latencia del sistema v7.5</a:t>
            </a:r>
          </a:p>
        </p:txBody>
      </p:sp>
      <p:sp>
        <p:nvSpPr>
          <p:cNvPr id="38" name="TextBox 37"/>
          <p:cNvSpPr txBox="1"/>
          <p:nvPr/>
        </p:nvSpPr>
        <p:spPr>
          <a:xfrm>
            <a:off x="10153650" y="3295650"/>
            <a:ext cx="691515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corrida completa · unidad: consulta</a:t>
            </a:r>
          </a:p>
        </p:txBody>
      </p:sp>
      <p:sp>
        <p:nvSpPr>
          <p:cNvPr id="39" name="TextBox 38"/>
          <p:cNvSpPr txBox="1"/>
          <p:nvPr/>
        </p:nvSpPr>
        <p:spPr>
          <a:xfrm>
            <a:off x="11273369" y="4071938"/>
            <a:ext cx="189509" cy="428625"/>
          </a:xfrm>
          <a:prstGeom prst="rect">
            <a:avLst/>
          </a:prstGeom>
          <a:noFill/>
        </p:spPr>
        <p:txBody>
          <a:bodyPr wrap="none" lIns="0" rIns="0" tIns="0" bIns="0" anchor="ctr">
            <a:spAutoFit/>
          </a:bodyPr>
          <a:lstStyle/>
          <a:p>
            <a:pPr algn="l">
              <a:lnSpc>
                <a:spcPct val="83300"/>
              </a:lnSpc>
            </a:pPr>
            <a:r>
              <a:rPr sz="2700" b="0" i="1">
                <a:solidFill>
                  <a:srgbClr val="F3F7FC"/>
                </a:solidFill>
                <a:latin typeface="Barlow"/>
              </a:rPr>
              <a:t>t</a:t>
            </a:r>
          </a:p>
        </p:txBody>
      </p:sp>
      <p:sp>
        <p:nvSpPr>
          <p:cNvPr id="40" name="TextBox 39"/>
          <p:cNvSpPr txBox="1"/>
          <p:nvPr/>
        </p:nvSpPr>
        <p:spPr>
          <a:xfrm>
            <a:off x="11407761" y="4256246"/>
            <a:ext cx="782348" cy="265748"/>
          </a:xfrm>
          <a:prstGeom prst="rect">
            <a:avLst/>
          </a:prstGeom>
          <a:noFill/>
        </p:spPr>
        <p:txBody>
          <a:bodyPr wrap="none" lIns="0" rIns="0" tIns="0" bIns="0" anchor="ctr">
            <a:spAutoFit/>
          </a:bodyPr>
          <a:lstStyle/>
          <a:p>
            <a:pPr algn="l">
              <a:lnSpc>
                <a:spcPct val="83300"/>
              </a:lnSpc>
            </a:pPr>
            <a:r>
              <a:rPr sz="1674" b="0" i="1">
                <a:solidFill>
                  <a:srgbClr val="F3F7FC"/>
                </a:solidFill>
                <a:latin typeface="Barlow"/>
              </a:rPr>
              <a:t>modelo</a:t>
            </a:r>
          </a:p>
        </p:txBody>
      </p:sp>
      <p:sp>
        <p:nvSpPr>
          <p:cNvPr id="41" name="TextBox 40"/>
          <p:cNvSpPr txBox="1"/>
          <p:nvPr/>
        </p:nvSpPr>
        <p:spPr>
          <a:xfrm>
            <a:off x="12183731" y="4071938"/>
            <a:ext cx="311613"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 =</a:t>
            </a:r>
          </a:p>
        </p:txBody>
      </p:sp>
      <p:sp>
        <p:nvSpPr>
          <p:cNvPr id="42" name="Rectangle 41"/>
          <p:cNvSpPr/>
          <p:nvPr/>
        </p:nvSpPr>
        <p:spPr>
          <a:xfrm>
            <a:off x="12559427" y="4271962"/>
            <a:ext cx="1013712"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591812" y="3876930"/>
            <a:ext cx="1022642"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15.411,8</a:t>
            </a:r>
          </a:p>
        </p:txBody>
      </p:sp>
      <p:sp>
        <p:nvSpPr>
          <p:cNvPr id="44" name="TextBox 43"/>
          <p:cNvSpPr txBox="1"/>
          <p:nvPr/>
        </p:nvSpPr>
        <p:spPr>
          <a:xfrm>
            <a:off x="12699498" y="4333810"/>
            <a:ext cx="794346" cy="368618"/>
          </a:xfrm>
          <a:prstGeom prst="rect">
            <a:avLst/>
          </a:prstGeom>
          <a:noFill/>
        </p:spPr>
        <p:txBody>
          <a:bodyPr wrap="none" lIns="0" rIns="0" tIns="0" bIns="0" anchor="ctr">
            <a:spAutoFit/>
          </a:bodyPr>
          <a:lstStyle/>
          <a:p>
            <a:pPr algn="l">
              <a:lnSpc>
                <a:spcPct val="83300"/>
              </a:lnSpc>
            </a:pPr>
            <a:r>
              <a:rPr sz="2322" b="0" i="0">
                <a:solidFill>
                  <a:srgbClr val="F3F7FC"/>
                </a:solidFill>
                <a:latin typeface="Barlow"/>
              </a:rPr>
              <a:t>2.365</a:t>
            </a:r>
          </a:p>
        </p:txBody>
      </p:sp>
      <p:sp>
        <p:nvSpPr>
          <p:cNvPr id="45" name="TextBox 44"/>
          <p:cNvSpPr txBox="1"/>
          <p:nvPr/>
        </p:nvSpPr>
        <p:spPr>
          <a:xfrm>
            <a:off x="13670675" y="4071938"/>
            <a:ext cx="238887" cy="428625"/>
          </a:xfrm>
          <a:prstGeom prst="rect">
            <a:avLst/>
          </a:prstGeom>
          <a:noFill/>
        </p:spPr>
        <p:txBody>
          <a:bodyPr wrap="none" lIns="0" rIns="0" tIns="0" bIns="0" anchor="ctr">
            <a:spAutoFit/>
          </a:bodyPr>
          <a:lstStyle/>
          <a:p>
            <a:pPr algn="l">
              <a:lnSpc>
                <a:spcPct val="83300"/>
              </a:lnSpc>
            </a:pPr>
            <a:r>
              <a:rPr sz="2700" b="0" i="0">
                <a:solidFill>
                  <a:srgbClr val="F3F7FC"/>
                </a:solidFill>
                <a:latin typeface="Barlow"/>
              </a:rPr>
              <a:t>=</a:t>
            </a:r>
          </a:p>
        </p:txBody>
      </p:sp>
      <p:sp>
        <p:nvSpPr>
          <p:cNvPr id="46" name="TextBox 45"/>
          <p:cNvSpPr txBox="1"/>
          <p:nvPr/>
        </p:nvSpPr>
        <p:spPr>
          <a:xfrm>
            <a:off x="13924421" y="4061222"/>
            <a:ext cx="1577307" cy="450056"/>
          </a:xfrm>
          <a:prstGeom prst="rect">
            <a:avLst/>
          </a:prstGeom>
          <a:noFill/>
        </p:spPr>
        <p:txBody>
          <a:bodyPr wrap="none" lIns="0" rIns="0" tIns="0" bIns="0" anchor="ctr">
            <a:spAutoFit/>
          </a:bodyPr>
          <a:lstStyle/>
          <a:p>
            <a:pPr algn="l">
              <a:lnSpc>
                <a:spcPct val="83300"/>
              </a:lnSpc>
            </a:pPr>
            <a:r>
              <a:rPr sz="2835" b="1" i="0">
                <a:solidFill>
                  <a:srgbClr val="FFD21F"/>
                </a:solidFill>
                <a:latin typeface="Montserrat"/>
              </a:rPr>
              <a:t>6,5166 s</a:t>
            </a:r>
          </a:p>
        </p:txBody>
      </p:sp>
      <p:sp>
        <p:nvSpPr>
          <p:cNvPr id="47" name="Rectangle 46"/>
          <p:cNvSpPr/>
          <p:nvPr/>
        </p:nvSpPr>
        <p:spPr>
          <a:xfrm>
            <a:off x="9601200" y="4800600"/>
            <a:ext cx="2362200" cy="800100"/>
          </a:xfrm>
          <a:prstGeom prst="rect">
            <a:avLst/>
          </a:prstGeom>
          <a:solidFill>
            <a:srgbClr val="0F2C52"/>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772650" y="4933950"/>
            <a:ext cx="2019300" cy="257175"/>
          </a:xfrm>
          <a:prstGeom prst="rect">
            <a:avLst/>
          </a:prstGeom>
          <a:noFill/>
        </p:spPr>
        <p:txBody>
          <a:bodyPr wrap="square" lIns="0" rIns="0" tIns="0" bIns="0" anchor="t">
            <a:spAutoFit/>
          </a:bodyPr>
          <a:lstStyle/>
          <a:p>
            <a:pPr algn="l">
              <a:lnSpc>
                <a:spcPct val="100000"/>
              </a:lnSpc>
            </a:pPr>
            <a:r>
              <a:rPr sz="1350" b="1" i="0" spc="120">
                <a:solidFill>
                  <a:srgbClr val="9FB4CC"/>
                </a:solidFill>
                <a:latin typeface="Montserrat"/>
              </a:rPr>
              <a:t>CONSULTAS</a:t>
            </a:r>
          </a:p>
        </p:txBody>
      </p:sp>
      <p:sp>
        <p:nvSpPr>
          <p:cNvPr id="49" name="TextBox 48"/>
          <p:cNvSpPr txBox="1"/>
          <p:nvPr/>
        </p:nvSpPr>
        <p:spPr>
          <a:xfrm>
            <a:off x="9772650" y="5200650"/>
            <a:ext cx="2019300" cy="34671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2.365</a:t>
            </a:r>
          </a:p>
        </p:txBody>
      </p:sp>
      <p:sp>
        <p:nvSpPr>
          <p:cNvPr id="50" name="Rectangle 49"/>
          <p:cNvSpPr/>
          <p:nvPr/>
        </p:nvSpPr>
        <p:spPr>
          <a:xfrm>
            <a:off x="12153900" y="4800600"/>
            <a:ext cx="2362200" cy="800100"/>
          </a:xfrm>
          <a:prstGeom prst="rect">
            <a:avLst/>
          </a:prstGeom>
          <a:solidFill>
            <a:srgbClr val="0F2C52"/>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325350" y="4933950"/>
            <a:ext cx="2019300" cy="257175"/>
          </a:xfrm>
          <a:prstGeom prst="rect">
            <a:avLst/>
          </a:prstGeom>
          <a:noFill/>
        </p:spPr>
        <p:txBody>
          <a:bodyPr wrap="square" lIns="0" rIns="0" tIns="0" bIns="0" anchor="t">
            <a:spAutoFit/>
          </a:bodyPr>
          <a:lstStyle/>
          <a:p>
            <a:pPr algn="l">
              <a:lnSpc>
                <a:spcPct val="100000"/>
              </a:lnSpc>
            </a:pPr>
            <a:r>
              <a:rPr sz="1350" b="1" i="0" spc="120">
                <a:solidFill>
                  <a:srgbClr val="9FB4CC"/>
                </a:solidFill>
                <a:latin typeface="Montserrat"/>
              </a:rPr>
              <a:t>EJECUCIÓN</a:t>
            </a:r>
          </a:p>
        </p:txBody>
      </p:sp>
      <p:sp>
        <p:nvSpPr>
          <p:cNvPr id="52" name="TextBox 51"/>
          <p:cNvSpPr txBox="1"/>
          <p:nvPr/>
        </p:nvSpPr>
        <p:spPr>
          <a:xfrm>
            <a:off x="12325350" y="5200650"/>
            <a:ext cx="2019300" cy="34671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15.411,8 s</a:t>
            </a:r>
          </a:p>
        </p:txBody>
      </p:sp>
      <p:sp>
        <p:nvSpPr>
          <p:cNvPr id="53" name="Rectangle 52"/>
          <p:cNvSpPr/>
          <p:nvPr/>
        </p:nvSpPr>
        <p:spPr>
          <a:xfrm>
            <a:off x="14706600" y="4800600"/>
            <a:ext cx="2362200" cy="800100"/>
          </a:xfrm>
          <a:prstGeom prst="rect">
            <a:avLst/>
          </a:prstGeom>
          <a:solidFill>
            <a:srgbClr val="0F2C52"/>
          </a:solidFill>
          <a:ln w="9525">
            <a:solidFill>
              <a:srgbClr val="2F7B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4878050" y="4933950"/>
            <a:ext cx="2019300" cy="257175"/>
          </a:xfrm>
          <a:prstGeom prst="rect">
            <a:avLst/>
          </a:prstGeom>
          <a:noFill/>
        </p:spPr>
        <p:txBody>
          <a:bodyPr wrap="square" lIns="0" rIns="0" tIns="0" bIns="0" anchor="t">
            <a:spAutoFit/>
          </a:bodyPr>
          <a:lstStyle/>
          <a:p>
            <a:pPr algn="l">
              <a:lnSpc>
                <a:spcPct val="100000"/>
              </a:lnSpc>
            </a:pPr>
            <a:r>
              <a:rPr sz="1350" b="1" i="0" spc="120">
                <a:solidFill>
                  <a:srgbClr val="9FB4CC"/>
                </a:solidFill>
                <a:latin typeface="Montserrat"/>
              </a:rPr>
              <a:t>MÁQUINA</a:t>
            </a:r>
          </a:p>
        </p:txBody>
      </p:sp>
      <p:sp>
        <p:nvSpPr>
          <p:cNvPr id="55" name="TextBox 54"/>
          <p:cNvSpPr txBox="1"/>
          <p:nvPr/>
        </p:nvSpPr>
        <p:spPr>
          <a:xfrm>
            <a:off x="14878050" y="5200650"/>
            <a:ext cx="2019300" cy="346710"/>
          </a:xfrm>
          <a:prstGeom prst="rect">
            <a:avLst/>
          </a:prstGeom>
          <a:noFill/>
        </p:spPr>
        <p:txBody>
          <a:bodyPr wrap="square" lIns="0" rIns="0" tIns="0" bIns="0" anchor="t">
            <a:spAutoFit/>
          </a:bodyPr>
          <a:lstStyle/>
          <a:p>
            <a:pPr algn="l">
              <a:lnSpc>
                <a:spcPct val="100000"/>
              </a:lnSpc>
            </a:pPr>
            <a:r>
              <a:rPr sz="2100" b="1" i="0">
                <a:solidFill>
                  <a:srgbClr val="F3F7FC"/>
                </a:solidFill>
                <a:latin typeface="Montserrat"/>
              </a:rPr>
              <a:t>4,28 h</a:t>
            </a:r>
          </a:p>
        </p:txBody>
      </p:sp>
      <p:sp>
        <p:nvSpPr>
          <p:cNvPr id="56" name="Rectangle 55"/>
          <p:cNvSpPr/>
          <p:nvPr/>
        </p:nvSpPr>
        <p:spPr>
          <a:xfrm>
            <a:off x="914400" y="6172200"/>
            <a:ext cx="16459200" cy="34480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Esquinero"/>
          <p:cNvSpPr/>
          <p:nvPr/>
        </p:nvSpPr>
        <p:spPr>
          <a:xfrm>
            <a:off x="819150" y="60769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Esquinero"/>
          <p:cNvSpPr/>
          <p:nvPr/>
        </p:nvSpPr>
        <p:spPr>
          <a:xfrm>
            <a:off x="819150" y="60769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Esquinero"/>
          <p:cNvSpPr/>
          <p:nvPr/>
        </p:nvSpPr>
        <p:spPr>
          <a:xfrm>
            <a:off x="17145000" y="60769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Esquinero"/>
          <p:cNvSpPr/>
          <p:nvPr/>
        </p:nvSpPr>
        <p:spPr>
          <a:xfrm>
            <a:off x="17440275" y="60769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Esquinero"/>
          <p:cNvSpPr/>
          <p:nvPr/>
        </p:nvSpPr>
        <p:spPr>
          <a:xfrm>
            <a:off x="174402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Esquinero"/>
          <p:cNvSpPr/>
          <p:nvPr/>
        </p:nvSpPr>
        <p:spPr>
          <a:xfrm>
            <a:off x="171450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219200" y="6419850"/>
            <a:ext cx="85725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COMPARACIÓN UNITARIA · A ESCALA</a:t>
            </a:r>
          </a:p>
        </p:txBody>
      </p:sp>
      <p:sp>
        <p:nvSpPr>
          <p:cNvPr id="66" name="TextBox 65"/>
          <p:cNvSpPr txBox="1"/>
          <p:nvPr/>
        </p:nvSpPr>
        <p:spPr>
          <a:xfrm>
            <a:off x="1219200" y="7143750"/>
            <a:ext cx="1905000" cy="5715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Manual</a:t>
            </a:r>
          </a:p>
        </p:txBody>
      </p:sp>
      <p:sp>
        <p:nvSpPr>
          <p:cNvPr id="67" name="TextBox 66"/>
          <p:cNvSpPr txBox="1"/>
          <p:nvPr/>
        </p:nvSpPr>
        <p:spPr>
          <a:xfrm>
            <a:off x="1219200" y="8210550"/>
            <a:ext cx="1905000" cy="5715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Modelo v7.5</a:t>
            </a:r>
          </a:p>
        </p:txBody>
      </p:sp>
      <p:sp>
        <p:nvSpPr>
          <p:cNvPr id="68" name="Rectangle 67"/>
          <p:cNvSpPr/>
          <p:nvPr/>
        </p:nvSpPr>
        <p:spPr>
          <a:xfrm>
            <a:off x="3238500" y="7143750"/>
            <a:ext cx="5334000" cy="5715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8801100" y="7143750"/>
            <a:ext cx="2000250" cy="571500"/>
          </a:xfrm>
          <a:prstGeom prst="rect">
            <a:avLst/>
          </a:prstGeom>
          <a:noFill/>
        </p:spPr>
        <p:txBody>
          <a:bodyPr wrap="square" lIns="0" rIns="0" tIns="0" bIns="0" anchor="ctr">
            <a:spAutoFit/>
          </a:bodyPr>
          <a:lstStyle/>
          <a:p>
            <a:pPr algn="l">
              <a:lnSpc>
                <a:spcPct val="100000"/>
              </a:lnSpc>
            </a:pPr>
            <a:r>
              <a:rPr sz="2550" b="1" i="0">
                <a:solidFill>
                  <a:srgbClr val="F3F7FC"/>
                </a:solidFill>
                <a:latin typeface="Montserrat"/>
              </a:rPr>
              <a:t>16,608 s</a:t>
            </a:r>
          </a:p>
        </p:txBody>
      </p:sp>
      <p:sp>
        <p:nvSpPr>
          <p:cNvPr id="70" name="Rectangle 69"/>
          <p:cNvSpPr/>
          <p:nvPr/>
        </p:nvSpPr>
        <p:spPr>
          <a:xfrm>
            <a:off x="3238500" y="8210550"/>
            <a:ext cx="2092940" cy="5715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5388590" y="8210550"/>
            <a:ext cx="3183910" cy="571500"/>
          </a:xfrm>
          <a:prstGeom prst="rect">
            <a:avLst/>
          </a:prstGeom>
          <a:noFill/>
          <a:ln w="19050">
            <a:solidFill>
              <a:srgbClr val="FFD21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5388590" y="8210550"/>
            <a:ext cx="3183910" cy="571500"/>
          </a:xfrm>
          <a:prstGeom prst="rect">
            <a:avLst/>
          </a:prstGeom>
          <a:noFill/>
        </p:spPr>
        <p:txBody>
          <a:bodyPr wrap="square" lIns="0" rIns="0" tIns="0" bIns="0" anchor="ctr">
            <a:spAutoFit/>
          </a:bodyPr>
          <a:lstStyle/>
          <a:p>
            <a:pPr algn="ctr">
              <a:lnSpc>
                <a:spcPct val="100000"/>
              </a:lnSpc>
            </a:pPr>
            <a:r>
              <a:rPr sz="1950" b="1" i="0">
                <a:solidFill>
                  <a:srgbClr val="FFD21F"/>
                </a:solidFill>
                <a:latin typeface="Montserrat"/>
              </a:rPr>
              <a:t>−10,092 s</a:t>
            </a:r>
          </a:p>
        </p:txBody>
      </p:sp>
      <p:sp>
        <p:nvSpPr>
          <p:cNvPr id="73" name="TextBox 72"/>
          <p:cNvSpPr txBox="1"/>
          <p:nvPr/>
        </p:nvSpPr>
        <p:spPr>
          <a:xfrm>
            <a:off x="8801100" y="8210550"/>
            <a:ext cx="2000250" cy="571500"/>
          </a:xfrm>
          <a:prstGeom prst="rect">
            <a:avLst/>
          </a:prstGeom>
          <a:noFill/>
        </p:spPr>
        <p:txBody>
          <a:bodyPr wrap="square" lIns="0" rIns="0" tIns="0" bIns="0" anchor="ctr">
            <a:spAutoFit/>
          </a:bodyPr>
          <a:lstStyle/>
          <a:p>
            <a:pPr algn="l">
              <a:lnSpc>
                <a:spcPct val="100000"/>
              </a:lnSpc>
            </a:pPr>
            <a:r>
              <a:rPr sz="2550" b="1" i="0">
                <a:solidFill>
                  <a:srgbClr val="FFD21F"/>
                </a:solidFill>
                <a:latin typeface="Montserrat"/>
              </a:rPr>
              <a:t>6,5166 s</a:t>
            </a:r>
          </a:p>
        </p:txBody>
      </p:sp>
      <p:sp>
        <p:nvSpPr>
          <p:cNvPr id="74" name="TextBox 73"/>
          <p:cNvSpPr txBox="1"/>
          <p:nvPr/>
        </p:nvSpPr>
        <p:spPr>
          <a:xfrm>
            <a:off x="5388590" y="8877300"/>
            <a:ext cx="3183910" cy="285750"/>
          </a:xfrm>
          <a:prstGeom prst="rect">
            <a:avLst/>
          </a:prstGeom>
          <a:noFill/>
        </p:spPr>
        <p:txBody>
          <a:bodyPr wrap="square" lIns="0" rIns="0" tIns="0" bIns="0" anchor="t">
            <a:spAutoFit/>
          </a:bodyPr>
          <a:lstStyle/>
          <a:p>
            <a:pPr algn="ctr">
              <a:lnSpc>
                <a:spcPct val="100000"/>
              </a:lnSpc>
            </a:pPr>
            <a:r>
              <a:rPr sz="1500" b="0" i="0">
                <a:solidFill>
                  <a:srgbClr val="9FB4CC"/>
                </a:solidFill>
                <a:latin typeface="Barlow"/>
              </a:rPr>
              <a:t>diferencia unitaria</a:t>
            </a:r>
          </a:p>
        </p:txBody>
      </p:sp>
      <p:sp>
        <p:nvSpPr>
          <p:cNvPr id="75" name="Rectangle 74"/>
          <p:cNvSpPr/>
          <p:nvPr/>
        </p:nvSpPr>
        <p:spPr>
          <a:xfrm>
            <a:off x="8558212" y="7715250"/>
            <a:ext cx="28575" cy="495300"/>
          </a:xfrm>
          <a:prstGeom prst="rect">
            <a:avLst/>
          </a:prstGeom>
          <a:solidFill>
            <a:srgbClr val="2F7BFF">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1049000" y="6438900"/>
            <a:ext cx="14288" cy="29146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1391900" y="6419850"/>
            <a:ext cx="56769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REDUCCIÓN UNITARIA</a:t>
            </a:r>
          </a:p>
        </p:txBody>
      </p:sp>
      <p:sp>
        <p:nvSpPr>
          <p:cNvPr id="78" name="TextBox 77"/>
          <p:cNvSpPr txBox="1"/>
          <p:nvPr/>
        </p:nvSpPr>
        <p:spPr>
          <a:xfrm>
            <a:off x="12253967" y="7449598"/>
            <a:ext cx="267283"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R</a:t>
            </a:r>
          </a:p>
        </p:txBody>
      </p:sp>
      <p:sp>
        <p:nvSpPr>
          <p:cNvPr id="79" name="TextBox 78"/>
          <p:cNvSpPr txBox="1"/>
          <p:nvPr/>
        </p:nvSpPr>
        <p:spPr>
          <a:xfrm>
            <a:off x="12461731" y="7623667"/>
            <a:ext cx="766914" cy="250984"/>
          </a:xfrm>
          <a:prstGeom prst="rect">
            <a:avLst/>
          </a:prstGeom>
          <a:noFill/>
        </p:spPr>
        <p:txBody>
          <a:bodyPr wrap="none" lIns="0" rIns="0" tIns="0" bIns="0" anchor="ctr">
            <a:spAutoFit/>
          </a:bodyPr>
          <a:lstStyle/>
          <a:p>
            <a:pPr algn="l">
              <a:lnSpc>
                <a:spcPct val="83300"/>
              </a:lnSpc>
            </a:pPr>
            <a:r>
              <a:rPr sz="1580" b="0" i="1">
                <a:solidFill>
                  <a:srgbClr val="F3F7FC"/>
                </a:solidFill>
                <a:latin typeface="Barlow"/>
              </a:rPr>
              <a:t>unitaria</a:t>
            </a:r>
          </a:p>
        </p:txBody>
      </p:sp>
      <p:sp>
        <p:nvSpPr>
          <p:cNvPr id="80" name="TextBox 79"/>
          <p:cNvSpPr txBox="1"/>
          <p:nvPr/>
        </p:nvSpPr>
        <p:spPr>
          <a:xfrm>
            <a:off x="13218568" y="7449598"/>
            <a:ext cx="297415"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a:t>
            </a:r>
          </a:p>
        </p:txBody>
      </p:sp>
      <p:sp>
        <p:nvSpPr>
          <p:cNvPr id="81" name="Rectangle 80"/>
          <p:cNvSpPr/>
          <p:nvPr/>
        </p:nvSpPr>
        <p:spPr>
          <a:xfrm>
            <a:off x="13574393" y="7637716"/>
            <a:ext cx="1845052"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3603920" y="7265424"/>
            <a:ext cx="1909920"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16,608 − 6,5166</a:t>
            </a:r>
          </a:p>
        </p:txBody>
      </p:sp>
      <p:sp>
        <p:nvSpPr>
          <p:cNvPr id="83" name="TextBox 82"/>
          <p:cNvSpPr txBox="1"/>
          <p:nvPr/>
        </p:nvSpPr>
        <p:spPr>
          <a:xfrm>
            <a:off x="14097617" y="7696922"/>
            <a:ext cx="863283"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16,608</a:t>
            </a:r>
          </a:p>
        </p:txBody>
      </p:sp>
      <p:sp>
        <p:nvSpPr>
          <p:cNvPr id="84" name="TextBox 83"/>
          <p:cNvSpPr txBox="1"/>
          <p:nvPr/>
        </p:nvSpPr>
        <p:spPr>
          <a:xfrm>
            <a:off x="15510503" y="7449598"/>
            <a:ext cx="77857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100</a:t>
            </a:r>
          </a:p>
        </p:txBody>
      </p:sp>
      <p:sp>
        <p:nvSpPr>
          <p:cNvPr id="85" name="TextBox 84"/>
          <p:cNvSpPr txBox="1"/>
          <p:nvPr/>
        </p:nvSpPr>
        <p:spPr>
          <a:xfrm>
            <a:off x="13244828" y="8373833"/>
            <a:ext cx="314611" cy="607219"/>
          </a:xfrm>
          <a:prstGeom prst="rect">
            <a:avLst/>
          </a:prstGeom>
          <a:noFill/>
        </p:spPr>
        <p:txBody>
          <a:bodyPr wrap="none" lIns="0" rIns="0" tIns="0" bIns="0" anchor="ctr">
            <a:spAutoFit/>
          </a:bodyPr>
          <a:lstStyle/>
          <a:p>
            <a:pPr algn="l">
              <a:lnSpc>
                <a:spcPct val="83300"/>
              </a:lnSpc>
            </a:pPr>
            <a:r>
              <a:rPr sz="3825" b="0" i="0">
                <a:solidFill>
                  <a:srgbClr val="F3F7FC"/>
                </a:solidFill>
                <a:latin typeface="Barlow"/>
              </a:rPr>
              <a:t>=</a:t>
            </a:r>
          </a:p>
        </p:txBody>
      </p:sp>
      <p:sp>
        <p:nvSpPr>
          <p:cNvPr id="86" name="TextBox 85"/>
          <p:cNvSpPr txBox="1"/>
          <p:nvPr/>
        </p:nvSpPr>
        <p:spPr>
          <a:xfrm>
            <a:off x="13613255" y="8183667"/>
            <a:ext cx="2574429" cy="987552"/>
          </a:xfrm>
          <a:prstGeom prst="rect">
            <a:avLst/>
          </a:prstGeom>
          <a:noFill/>
        </p:spPr>
        <p:txBody>
          <a:bodyPr wrap="none" lIns="0" rIns="0" tIns="0" bIns="0" anchor="ctr">
            <a:spAutoFit/>
          </a:bodyPr>
          <a:lstStyle/>
          <a:p>
            <a:pPr algn="l">
              <a:lnSpc>
                <a:spcPct val="100000"/>
              </a:lnSpc>
            </a:pPr>
            <a:r>
              <a:rPr sz="5400" b="1" i="0">
                <a:solidFill>
                  <a:srgbClr val="FFD21F"/>
                </a:solidFill>
                <a:latin typeface="Montserrat"/>
              </a:rPr>
              <a:t>60,76%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OE6 · CONTRASTAR CON EL PROCESO MANUAL · ESCENARIO ASISTIDO</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Escenario operativo asistido · 2.365 publicaciones</a:t>
            </a:r>
          </a:p>
        </p:txBody>
      </p:sp>
      <p:sp>
        <p:nvSpPr>
          <p:cNvPr id="9" name="Rectangle 8"/>
          <p:cNvSpPr/>
          <p:nvPr/>
        </p:nvSpPr>
        <p:spPr>
          <a:xfrm>
            <a:off x="914400" y="2628900"/>
            <a:ext cx="16459200" cy="3924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8191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71450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74402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19150" y="63246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66198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17440275" y="63246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7145000" y="661987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192000" y="2857500"/>
            <a:ext cx="1428750" cy="257175"/>
          </a:xfrm>
          <a:prstGeom prst="rect">
            <a:avLst/>
          </a:prstGeom>
          <a:noFill/>
        </p:spPr>
        <p:txBody>
          <a:bodyPr wrap="square" lIns="0" rIns="0" tIns="0" bIns="0" anchor="t">
            <a:spAutoFit/>
          </a:bodyPr>
          <a:lstStyle/>
          <a:p>
            <a:pPr algn="r">
              <a:lnSpc>
                <a:spcPct val="100000"/>
              </a:lnSpc>
            </a:pPr>
            <a:r>
              <a:rPr sz="1350" b="1" i="0" spc="150">
                <a:solidFill>
                  <a:srgbClr val="9FB4CC"/>
                </a:solidFill>
                <a:latin typeface="Montserrat"/>
              </a:rPr>
              <a:t>TOTAL</a:t>
            </a:r>
          </a:p>
        </p:txBody>
      </p:sp>
      <p:sp>
        <p:nvSpPr>
          <p:cNvPr id="19" name="TextBox 18"/>
          <p:cNvSpPr txBox="1"/>
          <p:nvPr/>
        </p:nvSpPr>
        <p:spPr>
          <a:xfrm>
            <a:off x="14116050" y="2857500"/>
            <a:ext cx="295275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DIFERENCIA</a:t>
            </a:r>
          </a:p>
        </p:txBody>
      </p:sp>
      <p:sp>
        <p:nvSpPr>
          <p:cNvPr id="20" name="Rectangle 19"/>
          <p:cNvSpPr/>
          <p:nvPr/>
        </p:nvSpPr>
        <p:spPr>
          <a:xfrm>
            <a:off x="13868400" y="2876550"/>
            <a:ext cx="14288" cy="342900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19200" y="2857500"/>
            <a:ext cx="8572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CASOS QUE REVISA EL OPERADOR</a:t>
            </a:r>
          </a:p>
        </p:txBody>
      </p:sp>
      <p:sp>
        <p:nvSpPr>
          <p:cNvPr id="22" name="TextBox 21"/>
          <p:cNvSpPr txBox="1"/>
          <p:nvPr/>
        </p:nvSpPr>
        <p:spPr>
          <a:xfrm>
            <a:off x="1219200" y="3257550"/>
            <a:ext cx="1809750" cy="4953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Manual</a:t>
            </a:r>
          </a:p>
        </p:txBody>
      </p:sp>
      <p:sp>
        <p:nvSpPr>
          <p:cNvPr id="23" name="Rectangle 22"/>
          <p:cNvSpPr/>
          <p:nvPr/>
        </p:nvSpPr>
        <p:spPr>
          <a:xfrm>
            <a:off x="3143250" y="3257550"/>
            <a:ext cx="8858250" cy="495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43250" y="3257550"/>
            <a:ext cx="8858250"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2.365 casos humanos</a:t>
            </a:r>
          </a:p>
        </p:txBody>
      </p:sp>
      <p:sp>
        <p:nvSpPr>
          <p:cNvPr id="25" name="TextBox 24"/>
          <p:cNvSpPr txBox="1"/>
          <p:nvPr/>
        </p:nvSpPr>
        <p:spPr>
          <a:xfrm>
            <a:off x="12192000" y="3257550"/>
            <a:ext cx="1428750" cy="495300"/>
          </a:xfrm>
          <a:prstGeom prst="rect">
            <a:avLst/>
          </a:prstGeom>
          <a:noFill/>
        </p:spPr>
        <p:txBody>
          <a:bodyPr wrap="square" lIns="0" rIns="0" tIns="0" bIns="0" anchor="ctr">
            <a:spAutoFit/>
          </a:bodyPr>
          <a:lstStyle/>
          <a:p>
            <a:pPr algn="r">
              <a:lnSpc>
                <a:spcPct val="100000"/>
              </a:lnSpc>
            </a:pPr>
            <a:r>
              <a:rPr sz="2250" b="1" i="0">
                <a:solidFill>
                  <a:srgbClr val="F3F7FC"/>
                </a:solidFill>
                <a:latin typeface="Montserrat"/>
              </a:rPr>
              <a:t>2.365</a:t>
            </a:r>
          </a:p>
        </p:txBody>
      </p:sp>
      <p:sp>
        <p:nvSpPr>
          <p:cNvPr id="26" name="TextBox 25"/>
          <p:cNvSpPr txBox="1"/>
          <p:nvPr/>
        </p:nvSpPr>
        <p:spPr>
          <a:xfrm>
            <a:off x="1219200" y="3905250"/>
            <a:ext cx="1809750" cy="4953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Asistido</a:t>
            </a:r>
          </a:p>
        </p:txBody>
      </p:sp>
      <p:sp>
        <p:nvSpPr>
          <p:cNvPr id="27" name="Rectangle 26"/>
          <p:cNvSpPr/>
          <p:nvPr/>
        </p:nvSpPr>
        <p:spPr>
          <a:xfrm>
            <a:off x="3143250" y="3905250"/>
            <a:ext cx="4056442" cy="495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143250" y="3905250"/>
            <a:ext cx="4056442"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1.083 casos humanos</a:t>
            </a:r>
          </a:p>
        </p:txBody>
      </p:sp>
      <p:sp>
        <p:nvSpPr>
          <p:cNvPr id="29" name="Rectangle 28"/>
          <p:cNvSpPr/>
          <p:nvPr/>
        </p:nvSpPr>
        <p:spPr>
          <a:xfrm>
            <a:off x="7199692" y="3905250"/>
            <a:ext cx="4801808" cy="4953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99692" y="3905250"/>
            <a:ext cx="4801808"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54,21% cobertura automática</a:t>
            </a:r>
          </a:p>
        </p:txBody>
      </p:sp>
      <p:sp>
        <p:nvSpPr>
          <p:cNvPr id="31" name="TextBox 30"/>
          <p:cNvSpPr txBox="1"/>
          <p:nvPr/>
        </p:nvSpPr>
        <p:spPr>
          <a:xfrm>
            <a:off x="12192000" y="3905250"/>
            <a:ext cx="1428750" cy="495300"/>
          </a:xfrm>
          <a:prstGeom prst="rect">
            <a:avLst/>
          </a:prstGeom>
          <a:noFill/>
        </p:spPr>
        <p:txBody>
          <a:bodyPr wrap="square" lIns="0" rIns="0" tIns="0" bIns="0" anchor="ctr">
            <a:spAutoFit/>
          </a:bodyPr>
          <a:lstStyle/>
          <a:p>
            <a:pPr algn="r">
              <a:lnSpc>
                <a:spcPct val="100000"/>
              </a:lnSpc>
            </a:pPr>
            <a:r>
              <a:rPr sz="2250" b="1" i="0">
                <a:solidFill>
                  <a:srgbClr val="F3F7FC"/>
                </a:solidFill>
                <a:latin typeface="Montserrat"/>
              </a:rPr>
              <a:t>1.083</a:t>
            </a:r>
          </a:p>
        </p:txBody>
      </p:sp>
      <p:sp>
        <p:nvSpPr>
          <p:cNvPr id="32" name="TextBox 31"/>
          <p:cNvSpPr txBox="1"/>
          <p:nvPr/>
        </p:nvSpPr>
        <p:spPr>
          <a:xfrm>
            <a:off x="14116050" y="3905250"/>
            <a:ext cx="2952750" cy="495300"/>
          </a:xfrm>
          <a:prstGeom prst="rect">
            <a:avLst/>
          </a:prstGeom>
          <a:noFill/>
        </p:spPr>
        <p:txBody>
          <a:bodyPr wrap="square" lIns="0" rIns="0" tIns="0" bIns="0" anchor="ctr">
            <a:spAutoFit/>
          </a:bodyPr>
          <a:lstStyle/>
          <a:p>
            <a:pPr algn="l">
              <a:lnSpc>
                <a:spcPct val="100000"/>
              </a:lnSpc>
            </a:pPr>
            <a:r>
              <a:rPr sz="1950" b="1" i="0">
                <a:solidFill>
                  <a:srgbClr val="FFD21F"/>
                </a:solidFill>
                <a:latin typeface="Montserrat"/>
              </a:rPr>
              <a:t>−1.282 casos</a:t>
            </a:r>
          </a:p>
        </p:txBody>
      </p:sp>
      <p:sp>
        <p:nvSpPr>
          <p:cNvPr id="33" name="Rectangle 32"/>
          <p:cNvSpPr/>
          <p:nvPr/>
        </p:nvSpPr>
        <p:spPr>
          <a:xfrm>
            <a:off x="1219200" y="4648200"/>
            <a:ext cx="12420600" cy="9525"/>
          </a:xfrm>
          <a:prstGeom prst="rect">
            <a:avLst/>
          </a:prstGeom>
          <a:solidFill>
            <a:srgbClr val="2F7B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19200" y="4819650"/>
            <a:ext cx="8572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HORAS DEL LOTE</a:t>
            </a:r>
          </a:p>
        </p:txBody>
      </p:sp>
      <p:sp>
        <p:nvSpPr>
          <p:cNvPr id="35" name="TextBox 34"/>
          <p:cNvSpPr txBox="1"/>
          <p:nvPr/>
        </p:nvSpPr>
        <p:spPr>
          <a:xfrm>
            <a:off x="1219200" y="5219700"/>
            <a:ext cx="1809750" cy="4953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Manual</a:t>
            </a:r>
          </a:p>
        </p:txBody>
      </p:sp>
      <p:sp>
        <p:nvSpPr>
          <p:cNvPr id="36" name="Rectangle 35"/>
          <p:cNvSpPr/>
          <p:nvPr/>
        </p:nvSpPr>
        <p:spPr>
          <a:xfrm>
            <a:off x="3143250" y="5219700"/>
            <a:ext cx="8858250" cy="495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143250" y="5219700"/>
            <a:ext cx="8858250"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10,91 h humanas</a:t>
            </a:r>
          </a:p>
        </p:txBody>
      </p:sp>
      <p:sp>
        <p:nvSpPr>
          <p:cNvPr id="38" name="TextBox 37"/>
          <p:cNvSpPr txBox="1"/>
          <p:nvPr/>
        </p:nvSpPr>
        <p:spPr>
          <a:xfrm>
            <a:off x="12192000" y="5219700"/>
            <a:ext cx="1428750" cy="495300"/>
          </a:xfrm>
          <a:prstGeom prst="rect">
            <a:avLst/>
          </a:prstGeom>
          <a:noFill/>
        </p:spPr>
        <p:txBody>
          <a:bodyPr wrap="square" lIns="0" rIns="0" tIns="0" bIns="0" anchor="ctr">
            <a:spAutoFit/>
          </a:bodyPr>
          <a:lstStyle/>
          <a:p>
            <a:pPr algn="r">
              <a:lnSpc>
                <a:spcPct val="100000"/>
              </a:lnSpc>
            </a:pPr>
            <a:r>
              <a:rPr sz="2250" b="1" i="0">
                <a:solidFill>
                  <a:srgbClr val="F3F7FC"/>
                </a:solidFill>
                <a:latin typeface="Montserrat"/>
              </a:rPr>
              <a:t>10,91 h</a:t>
            </a:r>
          </a:p>
        </p:txBody>
      </p:sp>
      <p:sp>
        <p:nvSpPr>
          <p:cNvPr id="39" name="TextBox 38"/>
          <p:cNvSpPr txBox="1"/>
          <p:nvPr/>
        </p:nvSpPr>
        <p:spPr>
          <a:xfrm>
            <a:off x="1219200" y="5867400"/>
            <a:ext cx="1809750" cy="4953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Asistido</a:t>
            </a:r>
          </a:p>
        </p:txBody>
      </p:sp>
      <p:sp>
        <p:nvSpPr>
          <p:cNvPr id="40" name="Rectangle 39"/>
          <p:cNvSpPr/>
          <p:nvPr/>
        </p:nvSpPr>
        <p:spPr>
          <a:xfrm>
            <a:off x="3143250" y="5867400"/>
            <a:ext cx="4059693" cy="4953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143250" y="5867400"/>
            <a:ext cx="4059693"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5,00 h humanas</a:t>
            </a:r>
          </a:p>
        </p:txBody>
      </p:sp>
      <p:sp>
        <p:nvSpPr>
          <p:cNvPr id="42" name="Rectangle 41"/>
          <p:cNvSpPr/>
          <p:nvPr/>
        </p:nvSpPr>
        <p:spPr>
          <a:xfrm>
            <a:off x="7202943" y="5867400"/>
            <a:ext cx="3475097" cy="495300"/>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202943" y="5867400"/>
            <a:ext cx="3475097" cy="495300"/>
          </a:xfrm>
          <a:prstGeom prst="rect">
            <a:avLst/>
          </a:prstGeom>
          <a:noFill/>
        </p:spPr>
        <p:txBody>
          <a:bodyPr wrap="square" lIns="0" rIns="0" tIns="0" bIns="0" anchor="ctr">
            <a:spAutoFit/>
          </a:bodyPr>
          <a:lstStyle/>
          <a:p>
            <a:pPr algn="ctr">
              <a:lnSpc>
                <a:spcPct val="100000"/>
              </a:lnSpc>
            </a:pPr>
            <a:r>
              <a:rPr sz="1500" b="1" i="0">
                <a:solidFill>
                  <a:srgbClr val="07172D"/>
                </a:solidFill>
                <a:latin typeface="Montserrat"/>
              </a:rPr>
              <a:t>+4,28 h de máquina</a:t>
            </a:r>
          </a:p>
        </p:txBody>
      </p:sp>
      <p:sp>
        <p:nvSpPr>
          <p:cNvPr id="44" name="TextBox 43"/>
          <p:cNvSpPr txBox="1"/>
          <p:nvPr/>
        </p:nvSpPr>
        <p:spPr>
          <a:xfrm>
            <a:off x="12192000" y="5867400"/>
            <a:ext cx="1428750" cy="495300"/>
          </a:xfrm>
          <a:prstGeom prst="rect">
            <a:avLst/>
          </a:prstGeom>
          <a:noFill/>
        </p:spPr>
        <p:txBody>
          <a:bodyPr wrap="square" lIns="0" rIns="0" tIns="0" bIns="0" anchor="ctr">
            <a:spAutoFit/>
          </a:bodyPr>
          <a:lstStyle/>
          <a:p>
            <a:pPr algn="r">
              <a:lnSpc>
                <a:spcPct val="100000"/>
              </a:lnSpc>
            </a:pPr>
            <a:r>
              <a:rPr sz="2250" b="1" i="0">
                <a:solidFill>
                  <a:srgbClr val="F3F7FC"/>
                </a:solidFill>
                <a:latin typeface="Montserrat"/>
              </a:rPr>
              <a:t>9,28 h</a:t>
            </a:r>
          </a:p>
        </p:txBody>
      </p:sp>
      <p:sp>
        <p:nvSpPr>
          <p:cNvPr id="45" name="Rectangle 44"/>
          <p:cNvSpPr/>
          <p:nvPr/>
        </p:nvSpPr>
        <p:spPr>
          <a:xfrm>
            <a:off x="10735190" y="5867400"/>
            <a:ext cx="1266310" cy="495300"/>
          </a:xfrm>
          <a:prstGeom prst="rect">
            <a:avLst/>
          </a:prstGeom>
          <a:noFill/>
          <a:ln w="19050">
            <a:solidFill>
              <a:srgbClr val="FFD21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735190" y="5867400"/>
            <a:ext cx="1266310" cy="495300"/>
          </a:xfrm>
          <a:prstGeom prst="rect">
            <a:avLst/>
          </a:prstGeom>
          <a:noFill/>
        </p:spPr>
        <p:txBody>
          <a:bodyPr wrap="square" lIns="0" rIns="0" tIns="0" bIns="0" anchor="ctr">
            <a:spAutoFit/>
          </a:bodyPr>
          <a:lstStyle/>
          <a:p>
            <a:pPr algn="ctr">
              <a:lnSpc>
                <a:spcPct val="100000"/>
              </a:lnSpc>
            </a:pPr>
            <a:r>
              <a:rPr sz="1650" b="1" i="0">
                <a:solidFill>
                  <a:srgbClr val="FFD21F"/>
                </a:solidFill>
                <a:latin typeface="Montserrat"/>
              </a:rPr>
              <a:t>−1,63 h</a:t>
            </a:r>
          </a:p>
        </p:txBody>
      </p:sp>
      <p:sp>
        <p:nvSpPr>
          <p:cNvPr id="47" name="TextBox 46"/>
          <p:cNvSpPr txBox="1"/>
          <p:nvPr/>
        </p:nvSpPr>
        <p:spPr>
          <a:xfrm>
            <a:off x="14116050" y="5772150"/>
            <a:ext cx="2952750" cy="685800"/>
          </a:xfrm>
          <a:prstGeom prst="rect">
            <a:avLst/>
          </a:prstGeom>
          <a:noFill/>
        </p:spPr>
        <p:txBody>
          <a:bodyPr wrap="square" lIns="0" rIns="0" tIns="0" bIns="0" anchor="ctr">
            <a:spAutoFit/>
          </a:bodyPr>
          <a:lstStyle/>
          <a:p>
            <a:pPr algn="l">
              <a:lnSpc>
                <a:spcPct val="100000"/>
              </a:lnSpc>
            </a:pPr>
            <a:r>
              <a:rPr sz="1950" b="1" i="0">
                <a:solidFill>
                  <a:srgbClr val="FFD21F"/>
                </a:solidFill>
                <a:latin typeface="Montserrat"/>
              </a:rPr>
              <a:t>−5,91 h humanas</a:t>
            </a:r>
          </a:p>
          <a:p>
            <a:pPr algn="l">
              <a:lnSpc>
                <a:spcPct val="100000"/>
              </a:lnSpc>
            </a:pPr>
            <a:r>
              <a:rPr sz="1950" b="1" i="0">
                <a:solidFill>
                  <a:srgbClr val="FFD21F"/>
                </a:solidFill>
                <a:latin typeface="Montserrat"/>
              </a:rPr>
              <a:t>−1,63 h total</a:t>
            </a:r>
          </a:p>
        </p:txBody>
      </p:sp>
      <p:sp>
        <p:nvSpPr>
          <p:cNvPr id="48" name="Rectangle 47"/>
          <p:cNvSpPr/>
          <p:nvPr/>
        </p:nvSpPr>
        <p:spPr>
          <a:xfrm>
            <a:off x="914400" y="6838950"/>
            <a:ext cx="5334000" cy="2781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14400" y="6838950"/>
            <a:ext cx="53340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1181100" y="710565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181100" y="7105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52" name="TextBox 51"/>
          <p:cNvSpPr txBox="1"/>
          <p:nvPr/>
        </p:nvSpPr>
        <p:spPr>
          <a:xfrm>
            <a:off x="1733550" y="7086600"/>
            <a:ext cx="424815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Reducción humana</a:t>
            </a:r>
          </a:p>
        </p:txBody>
      </p:sp>
      <p:sp>
        <p:nvSpPr>
          <p:cNvPr id="53" name="TextBox 52"/>
          <p:cNvSpPr txBox="1"/>
          <p:nvPr/>
        </p:nvSpPr>
        <p:spPr>
          <a:xfrm>
            <a:off x="1733550" y="7505700"/>
            <a:ext cx="4191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HORAS HUMANAS</a:t>
            </a:r>
          </a:p>
        </p:txBody>
      </p:sp>
      <p:sp>
        <p:nvSpPr>
          <p:cNvPr id="54" name="TextBox 53"/>
          <p:cNvSpPr txBox="1"/>
          <p:nvPr/>
        </p:nvSpPr>
        <p:spPr>
          <a:xfrm>
            <a:off x="1662396" y="8060817"/>
            <a:ext cx="254821"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R</a:t>
            </a:r>
          </a:p>
        </p:txBody>
      </p:sp>
      <p:sp>
        <p:nvSpPr>
          <p:cNvPr id="55" name="TextBox 54"/>
          <p:cNvSpPr txBox="1"/>
          <p:nvPr/>
        </p:nvSpPr>
        <p:spPr>
          <a:xfrm>
            <a:off x="1858403" y="8224647"/>
            <a:ext cx="750896" cy="236220"/>
          </a:xfrm>
          <a:prstGeom prst="rect">
            <a:avLst/>
          </a:prstGeom>
          <a:noFill/>
        </p:spPr>
        <p:txBody>
          <a:bodyPr wrap="none" lIns="0" rIns="0" tIns="0" bIns="0" anchor="ctr">
            <a:spAutoFit/>
          </a:bodyPr>
          <a:lstStyle/>
          <a:p>
            <a:pPr algn="l">
              <a:lnSpc>
                <a:spcPct val="83300"/>
              </a:lnSpc>
            </a:pPr>
            <a:r>
              <a:rPr sz="1488" b="0" i="1">
                <a:solidFill>
                  <a:srgbClr val="F3F7FC"/>
                </a:solidFill>
                <a:latin typeface="Barlow"/>
              </a:rPr>
              <a:t>humana</a:t>
            </a:r>
          </a:p>
        </p:txBody>
      </p:sp>
      <p:sp>
        <p:nvSpPr>
          <p:cNvPr id="56" name="TextBox 55"/>
          <p:cNvSpPr txBox="1"/>
          <p:nvPr/>
        </p:nvSpPr>
        <p:spPr>
          <a:xfrm>
            <a:off x="2595557" y="8060817"/>
            <a:ext cx="283375"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a:t>
            </a:r>
          </a:p>
        </p:txBody>
      </p:sp>
      <p:sp>
        <p:nvSpPr>
          <p:cNvPr id="57" name="Rectangle 56"/>
          <p:cNvSpPr/>
          <p:nvPr/>
        </p:nvSpPr>
        <p:spPr>
          <a:xfrm>
            <a:off x="2931658" y="8237030"/>
            <a:ext cx="1841934"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2958328" y="7887477"/>
            <a:ext cx="1912674"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10,9114 − 4,9967</a:t>
            </a:r>
          </a:p>
        </p:txBody>
      </p:sp>
      <p:sp>
        <p:nvSpPr>
          <p:cNvPr id="59" name="TextBox 58"/>
          <p:cNvSpPr txBox="1"/>
          <p:nvPr/>
        </p:nvSpPr>
        <p:spPr>
          <a:xfrm>
            <a:off x="3449160" y="8293593"/>
            <a:ext cx="872111"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10,9114</a:t>
            </a:r>
          </a:p>
        </p:txBody>
      </p:sp>
      <p:sp>
        <p:nvSpPr>
          <p:cNvPr id="60" name="TextBox 59"/>
          <p:cNvSpPr txBox="1"/>
          <p:nvPr/>
        </p:nvSpPr>
        <p:spPr>
          <a:xfrm>
            <a:off x="4858175" y="8060817"/>
            <a:ext cx="736297"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100</a:t>
            </a:r>
          </a:p>
        </p:txBody>
      </p:sp>
      <p:sp>
        <p:nvSpPr>
          <p:cNvPr id="61" name="TextBox 60"/>
          <p:cNvSpPr txBox="1"/>
          <p:nvPr/>
        </p:nvSpPr>
        <p:spPr>
          <a:xfrm>
            <a:off x="2619238" y="8873536"/>
            <a:ext cx="299466" cy="571500"/>
          </a:xfrm>
          <a:prstGeom prst="rect">
            <a:avLst/>
          </a:prstGeom>
          <a:noFill/>
        </p:spPr>
        <p:txBody>
          <a:bodyPr wrap="none" lIns="0" rIns="0" tIns="0" bIns="0" anchor="ctr">
            <a:spAutoFit/>
          </a:bodyPr>
          <a:lstStyle/>
          <a:p>
            <a:pPr algn="l">
              <a:lnSpc>
                <a:spcPct val="83300"/>
              </a:lnSpc>
            </a:pPr>
            <a:r>
              <a:rPr sz="3600" b="0" i="0">
                <a:solidFill>
                  <a:srgbClr val="F3F7FC"/>
                </a:solidFill>
                <a:latin typeface="Barlow"/>
              </a:rPr>
              <a:t>=</a:t>
            </a:r>
          </a:p>
        </p:txBody>
      </p:sp>
      <p:sp>
        <p:nvSpPr>
          <p:cNvPr id="62" name="TextBox 61"/>
          <p:cNvSpPr txBox="1"/>
          <p:nvPr/>
        </p:nvSpPr>
        <p:spPr>
          <a:xfrm>
            <a:off x="2968234" y="8775238"/>
            <a:ext cx="1908423" cy="768096"/>
          </a:xfrm>
          <a:prstGeom prst="rect">
            <a:avLst/>
          </a:prstGeom>
          <a:noFill/>
        </p:spPr>
        <p:txBody>
          <a:bodyPr wrap="none" lIns="0" rIns="0" tIns="0" bIns="0" anchor="ctr">
            <a:spAutoFit/>
          </a:bodyPr>
          <a:lstStyle/>
          <a:p>
            <a:pPr algn="l">
              <a:lnSpc>
                <a:spcPct val="100000"/>
              </a:lnSpc>
            </a:pPr>
            <a:r>
              <a:rPr sz="4200" b="1" i="0">
                <a:solidFill>
                  <a:srgbClr val="FFD21F"/>
                </a:solidFill>
                <a:latin typeface="Montserrat"/>
              </a:rPr>
              <a:t>54,21%</a:t>
            </a:r>
          </a:p>
        </p:txBody>
      </p:sp>
      <p:sp>
        <p:nvSpPr>
          <p:cNvPr id="63" name="Rectangle 62"/>
          <p:cNvSpPr/>
          <p:nvPr/>
        </p:nvSpPr>
        <p:spPr>
          <a:xfrm>
            <a:off x="6477000" y="6838950"/>
            <a:ext cx="5334000" cy="2781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6477000" y="6838950"/>
            <a:ext cx="533400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6743700" y="7105650"/>
            <a:ext cx="381000" cy="381000"/>
          </a:xfrm>
          <a:prstGeom prst="roundRect">
            <a:avLst>
              <a:gd name="adj" fmla="val 1000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743700" y="710565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67" name="TextBox 66"/>
          <p:cNvSpPr txBox="1"/>
          <p:nvPr/>
        </p:nvSpPr>
        <p:spPr>
          <a:xfrm>
            <a:off x="7296150" y="7086600"/>
            <a:ext cx="424815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Reducción total</a:t>
            </a:r>
          </a:p>
        </p:txBody>
      </p:sp>
      <p:sp>
        <p:nvSpPr>
          <p:cNvPr id="68" name="TextBox 67"/>
          <p:cNvSpPr txBox="1"/>
          <p:nvPr/>
        </p:nvSpPr>
        <p:spPr>
          <a:xfrm>
            <a:off x="7296150" y="7505700"/>
            <a:ext cx="4191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TIEMPO SECUENCIAL</a:t>
            </a:r>
          </a:p>
        </p:txBody>
      </p:sp>
      <p:sp>
        <p:nvSpPr>
          <p:cNvPr id="69" name="TextBox 68"/>
          <p:cNvSpPr txBox="1"/>
          <p:nvPr/>
        </p:nvSpPr>
        <p:spPr>
          <a:xfrm>
            <a:off x="7371310" y="8060817"/>
            <a:ext cx="254821"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R</a:t>
            </a:r>
          </a:p>
        </p:txBody>
      </p:sp>
      <p:sp>
        <p:nvSpPr>
          <p:cNvPr id="70" name="TextBox 69"/>
          <p:cNvSpPr txBox="1"/>
          <p:nvPr/>
        </p:nvSpPr>
        <p:spPr>
          <a:xfrm>
            <a:off x="7567317" y="8224647"/>
            <a:ext cx="456371" cy="236220"/>
          </a:xfrm>
          <a:prstGeom prst="rect">
            <a:avLst/>
          </a:prstGeom>
          <a:noFill/>
        </p:spPr>
        <p:txBody>
          <a:bodyPr wrap="none" lIns="0" rIns="0" tIns="0" bIns="0" anchor="ctr">
            <a:spAutoFit/>
          </a:bodyPr>
          <a:lstStyle/>
          <a:p>
            <a:pPr algn="l">
              <a:lnSpc>
                <a:spcPct val="83300"/>
              </a:lnSpc>
            </a:pPr>
            <a:r>
              <a:rPr sz="1488" b="0" i="1">
                <a:solidFill>
                  <a:srgbClr val="F3F7FC"/>
                </a:solidFill>
                <a:latin typeface="Barlow"/>
              </a:rPr>
              <a:t>total</a:t>
            </a:r>
          </a:p>
        </p:txBody>
      </p:sp>
      <p:sp>
        <p:nvSpPr>
          <p:cNvPr id="71" name="TextBox 70"/>
          <p:cNvSpPr txBox="1"/>
          <p:nvPr/>
        </p:nvSpPr>
        <p:spPr>
          <a:xfrm>
            <a:off x="8026617" y="8060817"/>
            <a:ext cx="283375"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a:t>
            </a:r>
          </a:p>
        </p:txBody>
      </p:sp>
      <p:sp>
        <p:nvSpPr>
          <p:cNvPr id="72" name="Rectangle 71"/>
          <p:cNvSpPr/>
          <p:nvPr/>
        </p:nvSpPr>
        <p:spPr>
          <a:xfrm>
            <a:off x="8362719" y="8237030"/>
            <a:ext cx="1827160"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389389" y="7887477"/>
            <a:ext cx="1897014"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10,9114 − 9,2778</a:t>
            </a:r>
          </a:p>
        </p:txBody>
      </p:sp>
      <p:sp>
        <p:nvSpPr>
          <p:cNvPr id="74" name="TextBox 73"/>
          <p:cNvSpPr txBox="1"/>
          <p:nvPr/>
        </p:nvSpPr>
        <p:spPr>
          <a:xfrm>
            <a:off x="8872833" y="8293593"/>
            <a:ext cx="872111"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10,9114</a:t>
            </a:r>
          </a:p>
        </p:txBody>
      </p:sp>
      <p:sp>
        <p:nvSpPr>
          <p:cNvPr id="75" name="TextBox 74"/>
          <p:cNvSpPr txBox="1"/>
          <p:nvPr/>
        </p:nvSpPr>
        <p:spPr>
          <a:xfrm>
            <a:off x="10274461" y="8060817"/>
            <a:ext cx="736297"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100</a:t>
            </a:r>
          </a:p>
        </p:txBody>
      </p:sp>
      <p:sp>
        <p:nvSpPr>
          <p:cNvPr id="76" name="TextBox 75"/>
          <p:cNvSpPr txBox="1"/>
          <p:nvPr/>
        </p:nvSpPr>
        <p:spPr>
          <a:xfrm>
            <a:off x="8050299" y="8873536"/>
            <a:ext cx="299466" cy="571500"/>
          </a:xfrm>
          <a:prstGeom prst="rect">
            <a:avLst/>
          </a:prstGeom>
          <a:noFill/>
        </p:spPr>
        <p:txBody>
          <a:bodyPr wrap="none" lIns="0" rIns="0" tIns="0" bIns="0" anchor="ctr">
            <a:spAutoFit/>
          </a:bodyPr>
          <a:lstStyle/>
          <a:p>
            <a:pPr algn="l">
              <a:lnSpc>
                <a:spcPct val="83300"/>
              </a:lnSpc>
            </a:pPr>
            <a:r>
              <a:rPr sz="3600" b="0" i="0">
                <a:solidFill>
                  <a:srgbClr val="F3F7FC"/>
                </a:solidFill>
                <a:latin typeface="Barlow"/>
              </a:rPr>
              <a:t>=</a:t>
            </a:r>
          </a:p>
        </p:txBody>
      </p:sp>
      <p:sp>
        <p:nvSpPr>
          <p:cNvPr id="77" name="TextBox 76"/>
          <p:cNvSpPr txBox="1"/>
          <p:nvPr/>
        </p:nvSpPr>
        <p:spPr>
          <a:xfrm>
            <a:off x="8399295" y="8775238"/>
            <a:ext cx="1941463" cy="768096"/>
          </a:xfrm>
          <a:prstGeom prst="rect">
            <a:avLst/>
          </a:prstGeom>
          <a:noFill/>
        </p:spPr>
        <p:txBody>
          <a:bodyPr wrap="none" lIns="0" rIns="0" tIns="0" bIns="0" anchor="ctr">
            <a:spAutoFit/>
          </a:bodyPr>
          <a:lstStyle/>
          <a:p>
            <a:pPr algn="l">
              <a:lnSpc>
                <a:spcPct val="100000"/>
              </a:lnSpc>
            </a:pPr>
            <a:r>
              <a:rPr sz="4200" b="1" i="0">
                <a:solidFill>
                  <a:srgbClr val="FFD21F"/>
                </a:solidFill>
                <a:latin typeface="Montserrat"/>
              </a:rPr>
              <a:t>14,97%</a:t>
            </a:r>
          </a:p>
        </p:txBody>
      </p:sp>
      <p:sp>
        <p:nvSpPr>
          <p:cNvPr id="78" name="Rectangle 77"/>
          <p:cNvSpPr/>
          <p:nvPr/>
        </p:nvSpPr>
        <p:spPr>
          <a:xfrm>
            <a:off x="12039600" y="6838950"/>
            <a:ext cx="5334000" cy="27813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2039600" y="6838950"/>
            <a:ext cx="5334000" cy="47625"/>
          </a:xfrm>
          <a:prstGeom prst="rect">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12306300" y="7105650"/>
            <a:ext cx="381000" cy="381000"/>
          </a:xfrm>
          <a:prstGeom prst="roundRect">
            <a:avLst>
              <a:gd name="adj" fmla="val 10000"/>
            </a:avLst>
          </a:prstGeom>
          <a:solidFill>
            <a:srgbClr val="6D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2306300" y="71056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3</a:t>
            </a:r>
          </a:p>
        </p:txBody>
      </p:sp>
      <p:sp>
        <p:nvSpPr>
          <p:cNvPr id="82" name="TextBox 81"/>
          <p:cNvSpPr txBox="1"/>
          <p:nvPr/>
        </p:nvSpPr>
        <p:spPr>
          <a:xfrm>
            <a:off x="12858750" y="7086600"/>
            <a:ext cx="424815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Tiempo de máquina</a:t>
            </a:r>
          </a:p>
        </p:txBody>
      </p:sp>
      <p:sp>
        <p:nvSpPr>
          <p:cNvPr id="83" name="TextBox 82"/>
          <p:cNvSpPr txBox="1"/>
          <p:nvPr/>
        </p:nvSpPr>
        <p:spPr>
          <a:xfrm>
            <a:off x="12858750" y="7505700"/>
            <a:ext cx="4191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EJECUCIÓN COMPLETA</a:t>
            </a:r>
          </a:p>
        </p:txBody>
      </p:sp>
      <p:sp>
        <p:nvSpPr>
          <p:cNvPr id="84" name="TextBox 83"/>
          <p:cNvSpPr txBox="1"/>
          <p:nvPr/>
        </p:nvSpPr>
        <p:spPr>
          <a:xfrm>
            <a:off x="13163818" y="8060817"/>
            <a:ext cx="174680"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t</a:t>
            </a:r>
          </a:p>
        </p:txBody>
      </p:sp>
      <p:sp>
        <p:nvSpPr>
          <p:cNvPr id="85" name="TextBox 84"/>
          <p:cNvSpPr txBox="1"/>
          <p:nvPr/>
        </p:nvSpPr>
        <p:spPr>
          <a:xfrm>
            <a:off x="13284220" y="8224647"/>
            <a:ext cx="804417" cy="236220"/>
          </a:xfrm>
          <a:prstGeom prst="rect">
            <a:avLst/>
          </a:prstGeom>
          <a:noFill/>
        </p:spPr>
        <p:txBody>
          <a:bodyPr wrap="none" lIns="0" rIns="0" tIns="0" bIns="0" anchor="ctr">
            <a:spAutoFit/>
          </a:bodyPr>
          <a:lstStyle/>
          <a:p>
            <a:pPr algn="l">
              <a:lnSpc>
                <a:spcPct val="83300"/>
              </a:lnSpc>
            </a:pPr>
            <a:r>
              <a:rPr sz="1488" b="0" i="1">
                <a:solidFill>
                  <a:srgbClr val="F3F7FC"/>
                </a:solidFill>
                <a:latin typeface="Barlow"/>
              </a:rPr>
              <a:t>máquina</a:t>
            </a:r>
          </a:p>
        </p:txBody>
      </p:sp>
      <p:sp>
        <p:nvSpPr>
          <p:cNvPr id="86" name="TextBox 85"/>
          <p:cNvSpPr txBox="1"/>
          <p:nvPr/>
        </p:nvSpPr>
        <p:spPr>
          <a:xfrm>
            <a:off x="14071866" y="8060817"/>
            <a:ext cx="283375"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a:t>
            </a:r>
          </a:p>
        </p:txBody>
      </p:sp>
      <p:sp>
        <p:nvSpPr>
          <p:cNvPr id="87" name="Rectangle 86"/>
          <p:cNvSpPr/>
          <p:nvPr/>
        </p:nvSpPr>
        <p:spPr>
          <a:xfrm>
            <a:off x="14407967" y="8237030"/>
            <a:ext cx="1079393"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4434637" y="7887477"/>
            <a:ext cx="1104381"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15.411,8 s</a:t>
            </a:r>
          </a:p>
        </p:txBody>
      </p:sp>
      <p:sp>
        <p:nvSpPr>
          <p:cNvPr id="89" name="TextBox 88"/>
          <p:cNvSpPr txBox="1"/>
          <p:nvPr/>
        </p:nvSpPr>
        <p:spPr>
          <a:xfrm>
            <a:off x="14609146" y="8293593"/>
            <a:ext cx="734423" cy="327660"/>
          </a:xfrm>
          <a:prstGeom prst="rect">
            <a:avLst/>
          </a:prstGeom>
          <a:noFill/>
        </p:spPr>
        <p:txBody>
          <a:bodyPr wrap="none" lIns="0" rIns="0" tIns="0" bIns="0" anchor="ctr">
            <a:spAutoFit/>
          </a:bodyPr>
          <a:lstStyle/>
          <a:p>
            <a:pPr algn="l">
              <a:lnSpc>
                <a:spcPct val="83300"/>
              </a:lnSpc>
            </a:pPr>
            <a:r>
              <a:rPr sz="2064" b="0" i="0">
                <a:solidFill>
                  <a:srgbClr val="F3F7FC"/>
                </a:solidFill>
                <a:latin typeface="Barlow"/>
              </a:rPr>
              <a:t>3.600</a:t>
            </a:r>
          </a:p>
        </p:txBody>
      </p:sp>
      <p:sp>
        <p:nvSpPr>
          <p:cNvPr id="90" name="TextBox 89"/>
          <p:cNvSpPr txBox="1"/>
          <p:nvPr/>
        </p:nvSpPr>
        <p:spPr>
          <a:xfrm>
            <a:off x="14095547" y="8873536"/>
            <a:ext cx="299466" cy="571500"/>
          </a:xfrm>
          <a:prstGeom prst="rect">
            <a:avLst/>
          </a:prstGeom>
          <a:noFill/>
        </p:spPr>
        <p:txBody>
          <a:bodyPr wrap="none" lIns="0" rIns="0" tIns="0" bIns="0" anchor="ctr">
            <a:spAutoFit/>
          </a:bodyPr>
          <a:lstStyle/>
          <a:p>
            <a:pPr algn="l">
              <a:lnSpc>
                <a:spcPct val="83300"/>
              </a:lnSpc>
            </a:pPr>
            <a:r>
              <a:rPr sz="3600" b="0" i="0">
                <a:solidFill>
                  <a:srgbClr val="F3F7FC"/>
                </a:solidFill>
                <a:latin typeface="Barlow"/>
              </a:rPr>
              <a:t>=</a:t>
            </a:r>
          </a:p>
        </p:txBody>
      </p:sp>
      <p:sp>
        <p:nvSpPr>
          <p:cNvPr id="91" name="TextBox 90"/>
          <p:cNvSpPr txBox="1"/>
          <p:nvPr/>
        </p:nvSpPr>
        <p:spPr>
          <a:xfrm>
            <a:off x="14444543" y="8775238"/>
            <a:ext cx="1785789" cy="768096"/>
          </a:xfrm>
          <a:prstGeom prst="rect">
            <a:avLst/>
          </a:prstGeom>
          <a:noFill/>
        </p:spPr>
        <p:txBody>
          <a:bodyPr wrap="none" lIns="0" rIns="0" tIns="0" bIns="0" anchor="ctr">
            <a:spAutoFit/>
          </a:bodyPr>
          <a:lstStyle/>
          <a:p>
            <a:pPr algn="l">
              <a:lnSpc>
                <a:spcPct val="100000"/>
              </a:lnSpc>
            </a:pPr>
            <a:r>
              <a:rPr sz="4200" b="1" i="0">
                <a:solidFill>
                  <a:srgbClr val="F3F7FC"/>
                </a:solidFill>
                <a:latin typeface="Montserrat"/>
              </a:rPr>
              <a:t>4,28 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OE6 · CONTRASTAR CON EL PROCESO MANUAL · CONSISTENCIA DE LA CALIDAD</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Consistencia de la calidad: evaluación, benchmark y uso</a:t>
            </a:r>
          </a:p>
        </p:txBody>
      </p:sp>
      <p:sp>
        <p:nvSpPr>
          <p:cNvPr id="9" name="Rectangle 8"/>
          <p:cNvSpPr/>
          <p:nvPr/>
        </p:nvSpPr>
        <p:spPr>
          <a:xfrm>
            <a:off x="914400" y="2628900"/>
            <a:ext cx="11239500" cy="69913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quinero"/>
          <p:cNvSpPr/>
          <p:nvPr/>
        </p:nvSpPr>
        <p:spPr>
          <a:xfrm>
            <a:off x="81915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quinero"/>
          <p:cNvSpPr/>
          <p:nvPr/>
        </p:nvSpPr>
        <p:spPr>
          <a:xfrm>
            <a:off x="819150"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squinero"/>
          <p:cNvSpPr/>
          <p:nvPr/>
        </p:nvSpPr>
        <p:spPr>
          <a:xfrm>
            <a:off x="11925300" y="253365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quinero"/>
          <p:cNvSpPr/>
          <p:nvPr/>
        </p:nvSpPr>
        <p:spPr>
          <a:xfrm>
            <a:off x="12220575" y="2533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squinero"/>
          <p:cNvSpPr/>
          <p:nvPr/>
        </p:nvSpPr>
        <p:spPr>
          <a:xfrm>
            <a:off x="122205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quinero"/>
          <p:cNvSpPr/>
          <p:nvPr/>
        </p:nvSpPr>
        <p:spPr>
          <a:xfrm>
            <a:off x="119253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219200" y="289560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19200" y="289560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1</a:t>
            </a:r>
          </a:p>
        </p:txBody>
      </p:sp>
      <p:sp>
        <p:nvSpPr>
          <p:cNvPr id="20" name="TextBox 19"/>
          <p:cNvSpPr txBox="1"/>
          <p:nvPr/>
        </p:nvSpPr>
        <p:spPr>
          <a:xfrm>
            <a:off x="1771650" y="2876550"/>
            <a:ext cx="10077450" cy="381000"/>
          </a:xfrm>
          <a:prstGeom prst="rect">
            <a:avLst/>
          </a:prstGeom>
          <a:noFill/>
        </p:spPr>
        <p:txBody>
          <a:bodyPr wrap="square" lIns="0" rIns="0" tIns="0" bIns="0" anchor="ctr">
            <a:spAutoFit/>
          </a:bodyPr>
          <a:lstStyle/>
          <a:p>
            <a:pPr algn="l">
              <a:lnSpc>
                <a:spcPct val="100000"/>
              </a:lnSpc>
            </a:pPr>
            <a:r>
              <a:rPr sz="2100" b="1" i="0">
                <a:solidFill>
                  <a:srgbClr val="F3F7FC"/>
                </a:solidFill>
                <a:latin typeface="Montserrat"/>
              </a:rPr>
              <a:t>Evaluación interna · Modelo 3</a:t>
            </a:r>
          </a:p>
        </p:txBody>
      </p:sp>
      <p:sp>
        <p:nvSpPr>
          <p:cNvPr id="21" name="TextBox 20"/>
          <p:cNvSpPr txBox="1"/>
          <p:nvPr/>
        </p:nvSpPr>
        <p:spPr>
          <a:xfrm>
            <a:off x="1771650" y="3276600"/>
            <a:ext cx="1007745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161 pares evaluados</a:t>
            </a:r>
          </a:p>
        </p:txBody>
      </p:sp>
      <p:sp>
        <p:nvSpPr>
          <p:cNvPr id="22" name="TextBox 21"/>
          <p:cNvSpPr txBox="1"/>
          <p:nvPr/>
        </p:nvSpPr>
        <p:spPr>
          <a:xfrm>
            <a:off x="2647950" y="4167188"/>
            <a:ext cx="3370491"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PREDICHO</a:t>
            </a:r>
          </a:p>
        </p:txBody>
      </p:sp>
      <p:sp>
        <p:nvSpPr>
          <p:cNvPr id="23" name="Rectangle 22"/>
          <p:cNvSpPr/>
          <p:nvPr/>
        </p:nvSpPr>
        <p:spPr>
          <a:xfrm>
            <a:off x="2647950" y="4452938"/>
            <a:ext cx="3370491" cy="14288"/>
          </a:xfrm>
          <a:prstGeom prst="rect">
            <a:avLst/>
          </a:prstGeom>
          <a:solidFill>
            <a:srgbClr val="2F7B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19200" y="4500562"/>
            <a:ext cx="13335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REAL</a:t>
            </a:r>
          </a:p>
        </p:txBody>
      </p:sp>
      <p:sp>
        <p:nvSpPr>
          <p:cNvPr id="25" name="TextBox 24"/>
          <p:cNvSpPr txBox="1"/>
          <p:nvPr/>
        </p:nvSpPr>
        <p:spPr>
          <a:xfrm>
            <a:off x="2647950" y="4481512"/>
            <a:ext cx="1628095" cy="285750"/>
          </a:xfrm>
          <a:prstGeom prst="rect">
            <a:avLst/>
          </a:prstGeom>
          <a:noFill/>
        </p:spPr>
        <p:txBody>
          <a:bodyPr wrap="square" lIns="0" rIns="0" tIns="0" bIns="0" anchor="ctr">
            <a:spAutoFit/>
          </a:bodyPr>
          <a:lstStyle/>
          <a:p>
            <a:pPr algn="ctr">
              <a:lnSpc>
                <a:spcPct val="100000"/>
              </a:lnSpc>
            </a:pPr>
            <a:r>
              <a:rPr sz="1500" b="0" i="0">
                <a:solidFill>
                  <a:srgbClr val="F3F7FC"/>
                </a:solidFill>
                <a:latin typeface="Barlow"/>
              </a:rPr>
              <a:t>Corresponde</a:t>
            </a:r>
          </a:p>
        </p:txBody>
      </p:sp>
      <p:sp>
        <p:nvSpPr>
          <p:cNvPr id="26" name="TextBox 25"/>
          <p:cNvSpPr txBox="1"/>
          <p:nvPr/>
        </p:nvSpPr>
        <p:spPr>
          <a:xfrm>
            <a:off x="4390345" y="4481512"/>
            <a:ext cx="1628095" cy="285750"/>
          </a:xfrm>
          <a:prstGeom prst="rect">
            <a:avLst/>
          </a:prstGeom>
          <a:noFill/>
        </p:spPr>
        <p:txBody>
          <a:bodyPr wrap="square" lIns="0" rIns="0" tIns="0" bIns="0" anchor="ctr">
            <a:spAutoFit/>
          </a:bodyPr>
          <a:lstStyle/>
          <a:p>
            <a:pPr algn="ctr">
              <a:lnSpc>
                <a:spcPct val="100000"/>
              </a:lnSpc>
            </a:pPr>
            <a:r>
              <a:rPr sz="1500" b="0" i="0">
                <a:solidFill>
                  <a:srgbClr val="F3F7FC"/>
                </a:solidFill>
                <a:latin typeface="Barlow"/>
              </a:rPr>
              <a:t>No corresponde</a:t>
            </a:r>
          </a:p>
        </p:txBody>
      </p:sp>
      <p:sp>
        <p:nvSpPr>
          <p:cNvPr id="27" name="TextBox 26"/>
          <p:cNvSpPr txBox="1"/>
          <p:nvPr/>
        </p:nvSpPr>
        <p:spPr>
          <a:xfrm>
            <a:off x="1219200" y="4881562"/>
            <a:ext cx="1333500" cy="1485900"/>
          </a:xfrm>
          <a:prstGeom prst="rect">
            <a:avLst/>
          </a:prstGeom>
          <a:noFill/>
        </p:spPr>
        <p:txBody>
          <a:bodyPr wrap="square" lIns="0" rIns="0" tIns="0" bIns="0" anchor="ctr">
            <a:spAutoFit/>
          </a:bodyPr>
          <a:lstStyle/>
          <a:p>
            <a:pPr algn="l">
              <a:lnSpc>
                <a:spcPct val="100000"/>
              </a:lnSpc>
            </a:pPr>
            <a:r>
              <a:rPr sz="1500" b="0" i="0">
                <a:solidFill>
                  <a:srgbClr val="F3F7FC"/>
                </a:solidFill>
                <a:latin typeface="Barlow"/>
              </a:rPr>
              <a:t>Corresponde</a:t>
            </a:r>
          </a:p>
        </p:txBody>
      </p:sp>
      <p:sp>
        <p:nvSpPr>
          <p:cNvPr id="28" name="TextBox 27"/>
          <p:cNvSpPr txBox="1"/>
          <p:nvPr/>
        </p:nvSpPr>
        <p:spPr>
          <a:xfrm>
            <a:off x="1219200" y="6481762"/>
            <a:ext cx="1333500" cy="1485900"/>
          </a:xfrm>
          <a:prstGeom prst="rect">
            <a:avLst/>
          </a:prstGeom>
          <a:noFill/>
        </p:spPr>
        <p:txBody>
          <a:bodyPr wrap="square" lIns="0" rIns="0" tIns="0" bIns="0" anchor="ctr">
            <a:spAutoFit/>
          </a:bodyPr>
          <a:lstStyle/>
          <a:p>
            <a:pPr algn="l">
              <a:lnSpc>
                <a:spcPct val="100000"/>
              </a:lnSpc>
            </a:pPr>
            <a:r>
              <a:rPr sz="1500" b="0" i="0">
                <a:solidFill>
                  <a:srgbClr val="F3F7FC"/>
                </a:solidFill>
                <a:latin typeface="Barlow"/>
              </a:rPr>
              <a:t>No corresponde</a:t>
            </a:r>
          </a:p>
        </p:txBody>
      </p:sp>
      <p:sp>
        <p:nvSpPr>
          <p:cNvPr id="29" name="Rectangle 28"/>
          <p:cNvSpPr/>
          <p:nvPr/>
        </p:nvSpPr>
        <p:spPr>
          <a:xfrm>
            <a:off x="2647950" y="4881562"/>
            <a:ext cx="1628095" cy="1485900"/>
          </a:xfrm>
          <a:prstGeom prst="rect">
            <a:avLst/>
          </a:prstGeom>
          <a:solidFill>
            <a:srgbClr val="0F2C52"/>
          </a:solidFill>
          <a:ln w="14287">
            <a:solidFill>
              <a:srgbClr val="FFD21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647950" y="4881562"/>
            <a:ext cx="1628095"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819400" y="5053012"/>
            <a:ext cx="961345" cy="628650"/>
          </a:xfrm>
          <a:prstGeom prst="rect">
            <a:avLst/>
          </a:prstGeom>
          <a:noFill/>
        </p:spPr>
        <p:txBody>
          <a:bodyPr wrap="square" lIns="0" rIns="0" tIns="0" bIns="0" anchor="t">
            <a:spAutoFit/>
          </a:bodyPr>
          <a:lstStyle/>
          <a:p>
            <a:pPr algn="l">
              <a:lnSpc>
                <a:spcPct val="100000"/>
              </a:lnSpc>
            </a:pPr>
            <a:r>
              <a:rPr sz="4200" b="1" i="0">
                <a:solidFill>
                  <a:srgbClr val="FFD21F"/>
                </a:solidFill>
                <a:latin typeface="Montserrat"/>
              </a:rPr>
              <a:t>94</a:t>
            </a:r>
          </a:p>
        </p:txBody>
      </p:sp>
      <p:sp>
        <p:nvSpPr>
          <p:cNvPr id="32" name="TextBox 31"/>
          <p:cNvSpPr txBox="1"/>
          <p:nvPr/>
        </p:nvSpPr>
        <p:spPr>
          <a:xfrm>
            <a:off x="3723595" y="5072062"/>
            <a:ext cx="400050" cy="247650"/>
          </a:xfrm>
          <a:prstGeom prst="rect">
            <a:avLst/>
          </a:prstGeom>
          <a:noFill/>
        </p:spPr>
        <p:txBody>
          <a:bodyPr wrap="square" lIns="0" rIns="0" tIns="0" bIns="0" anchor="ctr">
            <a:spAutoFit/>
          </a:bodyPr>
          <a:lstStyle/>
          <a:p>
            <a:pPr algn="r">
              <a:lnSpc>
                <a:spcPct val="100000"/>
              </a:lnSpc>
            </a:pPr>
            <a:r>
              <a:rPr sz="1350" b="1" i="0">
                <a:solidFill>
                  <a:srgbClr val="FFD21F"/>
                </a:solidFill>
                <a:latin typeface="Montserrat"/>
              </a:rPr>
              <a:t>VP</a:t>
            </a:r>
          </a:p>
        </p:txBody>
      </p:sp>
      <p:sp>
        <p:nvSpPr>
          <p:cNvPr id="33" name="TextBox 32"/>
          <p:cNvSpPr txBox="1"/>
          <p:nvPr/>
        </p:nvSpPr>
        <p:spPr>
          <a:xfrm>
            <a:off x="2819400" y="5738812"/>
            <a:ext cx="1342345" cy="495300"/>
          </a:xfrm>
          <a:prstGeom prst="rect">
            <a:avLst/>
          </a:prstGeom>
          <a:noFill/>
        </p:spPr>
        <p:txBody>
          <a:bodyPr wrap="square" lIns="0" rIns="0" tIns="0" bIns="0" anchor="t">
            <a:spAutoFit/>
          </a:bodyPr>
          <a:lstStyle/>
          <a:p>
            <a:pPr algn="l">
              <a:lnSpc>
                <a:spcPct val="95800"/>
              </a:lnSpc>
            </a:pPr>
            <a:r>
              <a:rPr sz="1500" b="0" i="0">
                <a:solidFill>
                  <a:srgbClr val="F3F7FC"/>
                </a:solidFill>
                <a:latin typeface="Barlow"/>
              </a:rPr>
              <a:t>verdaderos</a:t>
            </a:r>
          </a:p>
          <a:p>
            <a:pPr algn="l">
              <a:lnSpc>
                <a:spcPct val="95800"/>
              </a:lnSpc>
            </a:pPr>
            <a:r>
              <a:rPr sz="1500" b="0" i="0">
                <a:solidFill>
                  <a:srgbClr val="F3F7FC"/>
                </a:solidFill>
                <a:latin typeface="Barlow"/>
              </a:rPr>
              <a:t>positivos</a:t>
            </a:r>
          </a:p>
        </p:txBody>
      </p:sp>
      <p:sp>
        <p:nvSpPr>
          <p:cNvPr id="34" name="Rectangle 33"/>
          <p:cNvSpPr/>
          <p:nvPr/>
        </p:nvSpPr>
        <p:spPr>
          <a:xfrm>
            <a:off x="4390345" y="4881562"/>
            <a:ext cx="1628095" cy="1485900"/>
          </a:xfrm>
          <a:prstGeom prst="rect">
            <a:avLst/>
          </a:prstGeom>
          <a:solidFill>
            <a:srgbClr val="0F2C52"/>
          </a:solidFill>
          <a:ln w="14287">
            <a:solidFill>
              <a:srgbClr val="E0566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390345" y="4881562"/>
            <a:ext cx="1628095"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61795" y="5053012"/>
            <a:ext cx="961345" cy="628650"/>
          </a:xfrm>
          <a:prstGeom prst="rect">
            <a:avLst/>
          </a:prstGeom>
          <a:noFill/>
        </p:spPr>
        <p:txBody>
          <a:bodyPr wrap="square" lIns="0" rIns="0" tIns="0" bIns="0" anchor="t">
            <a:spAutoFit/>
          </a:bodyPr>
          <a:lstStyle/>
          <a:p>
            <a:pPr algn="l">
              <a:lnSpc>
                <a:spcPct val="100000"/>
              </a:lnSpc>
            </a:pPr>
            <a:r>
              <a:rPr sz="4200" b="1" i="0">
                <a:solidFill>
                  <a:srgbClr val="E0566B"/>
                </a:solidFill>
                <a:latin typeface="Montserrat"/>
              </a:rPr>
              <a:t>2</a:t>
            </a:r>
          </a:p>
        </p:txBody>
      </p:sp>
      <p:sp>
        <p:nvSpPr>
          <p:cNvPr id="37" name="TextBox 36"/>
          <p:cNvSpPr txBox="1"/>
          <p:nvPr/>
        </p:nvSpPr>
        <p:spPr>
          <a:xfrm>
            <a:off x="5465991" y="5072062"/>
            <a:ext cx="400050" cy="247650"/>
          </a:xfrm>
          <a:prstGeom prst="rect">
            <a:avLst/>
          </a:prstGeom>
          <a:noFill/>
        </p:spPr>
        <p:txBody>
          <a:bodyPr wrap="square" lIns="0" rIns="0" tIns="0" bIns="0" anchor="ctr">
            <a:spAutoFit/>
          </a:bodyPr>
          <a:lstStyle/>
          <a:p>
            <a:pPr algn="r">
              <a:lnSpc>
                <a:spcPct val="100000"/>
              </a:lnSpc>
            </a:pPr>
            <a:r>
              <a:rPr sz="1350" b="1" i="0">
                <a:solidFill>
                  <a:srgbClr val="E0566B"/>
                </a:solidFill>
                <a:latin typeface="Montserrat"/>
              </a:rPr>
              <a:t>FN</a:t>
            </a:r>
          </a:p>
        </p:txBody>
      </p:sp>
      <p:sp>
        <p:nvSpPr>
          <p:cNvPr id="38" name="TextBox 37"/>
          <p:cNvSpPr txBox="1"/>
          <p:nvPr/>
        </p:nvSpPr>
        <p:spPr>
          <a:xfrm>
            <a:off x="4561795" y="5738812"/>
            <a:ext cx="1342345" cy="495300"/>
          </a:xfrm>
          <a:prstGeom prst="rect">
            <a:avLst/>
          </a:prstGeom>
          <a:noFill/>
        </p:spPr>
        <p:txBody>
          <a:bodyPr wrap="square" lIns="0" rIns="0" tIns="0" bIns="0" anchor="t">
            <a:spAutoFit/>
          </a:bodyPr>
          <a:lstStyle/>
          <a:p>
            <a:pPr algn="l">
              <a:lnSpc>
                <a:spcPct val="95800"/>
              </a:lnSpc>
            </a:pPr>
            <a:r>
              <a:rPr sz="1500" b="0" i="0">
                <a:solidFill>
                  <a:srgbClr val="F3F7FC"/>
                </a:solidFill>
                <a:latin typeface="Barlow"/>
              </a:rPr>
              <a:t>falsos</a:t>
            </a:r>
          </a:p>
          <a:p>
            <a:pPr algn="l">
              <a:lnSpc>
                <a:spcPct val="95800"/>
              </a:lnSpc>
            </a:pPr>
            <a:r>
              <a:rPr sz="1500" b="0" i="0">
                <a:solidFill>
                  <a:srgbClr val="F3F7FC"/>
                </a:solidFill>
                <a:latin typeface="Barlow"/>
              </a:rPr>
              <a:t>negativos</a:t>
            </a:r>
          </a:p>
        </p:txBody>
      </p:sp>
      <p:sp>
        <p:nvSpPr>
          <p:cNvPr id="39" name="Rectangle 38"/>
          <p:cNvSpPr/>
          <p:nvPr/>
        </p:nvSpPr>
        <p:spPr>
          <a:xfrm>
            <a:off x="2647950" y="6481762"/>
            <a:ext cx="1628095" cy="1485900"/>
          </a:xfrm>
          <a:prstGeom prst="rect">
            <a:avLst/>
          </a:prstGeom>
          <a:solidFill>
            <a:srgbClr val="0F2C52"/>
          </a:solidFill>
          <a:ln w="14287">
            <a:solidFill>
              <a:srgbClr val="E0566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647950" y="6481762"/>
            <a:ext cx="1628095" cy="47625"/>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819400" y="6653212"/>
            <a:ext cx="961345" cy="628650"/>
          </a:xfrm>
          <a:prstGeom prst="rect">
            <a:avLst/>
          </a:prstGeom>
          <a:noFill/>
        </p:spPr>
        <p:txBody>
          <a:bodyPr wrap="square" lIns="0" rIns="0" tIns="0" bIns="0" anchor="t">
            <a:spAutoFit/>
          </a:bodyPr>
          <a:lstStyle/>
          <a:p>
            <a:pPr algn="l">
              <a:lnSpc>
                <a:spcPct val="100000"/>
              </a:lnSpc>
            </a:pPr>
            <a:r>
              <a:rPr sz="4200" b="1" i="0">
                <a:solidFill>
                  <a:srgbClr val="E0566B"/>
                </a:solidFill>
                <a:latin typeface="Montserrat"/>
              </a:rPr>
              <a:t>3</a:t>
            </a:r>
          </a:p>
        </p:txBody>
      </p:sp>
      <p:sp>
        <p:nvSpPr>
          <p:cNvPr id="42" name="TextBox 41"/>
          <p:cNvSpPr txBox="1"/>
          <p:nvPr/>
        </p:nvSpPr>
        <p:spPr>
          <a:xfrm>
            <a:off x="3723595" y="6672262"/>
            <a:ext cx="400050" cy="247650"/>
          </a:xfrm>
          <a:prstGeom prst="rect">
            <a:avLst/>
          </a:prstGeom>
          <a:noFill/>
        </p:spPr>
        <p:txBody>
          <a:bodyPr wrap="square" lIns="0" rIns="0" tIns="0" bIns="0" anchor="ctr">
            <a:spAutoFit/>
          </a:bodyPr>
          <a:lstStyle/>
          <a:p>
            <a:pPr algn="r">
              <a:lnSpc>
                <a:spcPct val="100000"/>
              </a:lnSpc>
            </a:pPr>
            <a:r>
              <a:rPr sz="1350" b="1" i="0">
                <a:solidFill>
                  <a:srgbClr val="E0566B"/>
                </a:solidFill>
                <a:latin typeface="Montserrat"/>
              </a:rPr>
              <a:t>FP</a:t>
            </a:r>
          </a:p>
        </p:txBody>
      </p:sp>
      <p:sp>
        <p:nvSpPr>
          <p:cNvPr id="43" name="TextBox 42"/>
          <p:cNvSpPr txBox="1"/>
          <p:nvPr/>
        </p:nvSpPr>
        <p:spPr>
          <a:xfrm>
            <a:off x="2819400" y="7339012"/>
            <a:ext cx="1342345" cy="495300"/>
          </a:xfrm>
          <a:prstGeom prst="rect">
            <a:avLst/>
          </a:prstGeom>
          <a:noFill/>
        </p:spPr>
        <p:txBody>
          <a:bodyPr wrap="square" lIns="0" rIns="0" tIns="0" bIns="0" anchor="t">
            <a:spAutoFit/>
          </a:bodyPr>
          <a:lstStyle/>
          <a:p>
            <a:pPr algn="l">
              <a:lnSpc>
                <a:spcPct val="95800"/>
              </a:lnSpc>
            </a:pPr>
            <a:r>
              <a:rPr sz="1500" b="0" i="0">
                <a:solidFill>
                  <a:srgbClr val="F3F7FC"/>
                </a:solidFill>
                <a:latin typeface="Barlow"/>
              </a:rPr>
              <a:t>falsos</a:t>
            </a:r>
          </a:p>
          <a:p>
            <a:pPr algn="l">
              <a:lnSpc>
                <a:spcPct val="95800"/>
              </a:lnSpc>
            </a:pPr>
            <a:r>
              <a:rPr sz="1500" b="0" i="0">
                <a:solidFill>
                  <a:srgbClr val="F3F7FC"/>
                </a:solidFill>
                <a:latin typeface="Barlow"/>
              </a:rPr>
              <a:t>positivos</a:t>
            </a:r>
          </a:p>
        </p:txBody>
      </p:sp>
      <p:sp>
        <p:nvSpPr>
          <p:cNvPr id="44" name="Rectangle 43"/>
          <p:cNvSpPr/>
          <p:nvPr/>
        </p:nvSpPr>
        <p:spPr>
          <a:xfrm>
            <a:off x="4390345" y="6481762"/>
            <a:ext cx="1628095" cy="1485900"/>
          </a:xfrm>
          <a:prstGeom prst="rect">
            <a:avLst/>
          </a:prstGeom>
          <a:solidFill>
            <a:srgbClr val="0F2C52"/>
          </a:solidFill>
          <a:ln w="14287">
            <a:solidFill>
              <a:srgbClr val="FFD21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4390345" y="6481762"/>
            <a:ext cx="1628095"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561795" y="6653212"/>
            <a:ext cx="961345" cy="628650"/>
          </a:xfrm>
          <a:prstGeom prst="rect">
            <a:avLst/>
          </a:prstGeom>
          <a:noFill/>
        </p:spPr>
        <p:txBody>
          <a:bodyPr wrap="square" lIns="0" rIns="0" tIns="0" bIns="0" anchor="t">
            <a:spAutoFit/>
          </a:bodyPr>
          <a:lstStyle/>
          <a:p>
            <a:pPr algn="l">
              <a:lnSpc>
                <a:spcPct val="100000"/>
              </a:lnSpc>
            </a:pPr>
            <a:r>
              <a:rPr sz="4200" b="1" i="0">
                <a:solidFill>
                  <a:srgbClr val="FFD21F"/>
                </a:solidFill>
                <a:latin typeface="Montserrat"/>
              </a:rPr>
              <a:t>62</a:t>
            </a:r>
          </a:p>
        </p:txBody>
      </p:sp>
      <p:sp>
        <p:nvSpPr>
          <p:cNvPr id="47" name="TextBox 46"/>
          <p:cNvSpPr txBox="1"/>
          <p:nvPr/>
        </p:nvSpPr>
        <p:spPr>
          <a:xfrm>
            <a:off x="5465991" y="6672262"/>
            <a:ext cx="400050" cy="247650"/>
          </a:xfrm>
          <a:prstGeom prst="rect">
            <a:avLst/>
          </a:prstGeom>
          <a:noFill/>
        </p:spPr>
        <p:txBody>
          <a:bodyPr wrap="square" lIns="0" rIns="0" tIns="0" bIns="0" anchor="ctr">
            <a:spAutoFit/>
          </a:bodyPr>
          <a:lstStyle/>
          <a:p>
            <a:pPr algn="r">
              <a:lnSpc>
                <a:spcPct val="100000"/>
              </a:lnSpc>
            </a:pPr>
            <a:r>
              <a:rPr sz="1350" b="1" i="0">
                <a:solidFill>
                  <a:srgbClr val="FFD21F"/>
                </a:solidFill>
                <a:latin typeface="Montserrat"/>
              </a:rPr>
              <a:t>VN</a:t>
            </a:r>
          </a:p>
        </p:txBody>
      </p:sp>
      <p:sp>
        <p:nvSpPr>
          <p:cNvPr id="48" name="TextBox 47"/>
          <p:cNvSpPr txBox="1"/>
          <p:nvPr/>
        </p:nvSpPr>
        <p:spPr>
          <a:xfrm>
            <a:off x="4561795" y="7339012"/>
            <a:ext cx="1342345" cy="495300"/>
          </a:xfrm>
          <a:prstGeom prst="rect">
            <a:avLst/>
          </a:prstGeom>
          <a:noFill/>
        </p:spPr>
        <p:txBody>
          <a:bodyPr wrap="square" lIns="0" rIns="0" tIns="0" bIns="0" anchor="t">
            <a:spAutoFit/>
          </a:bodyPr>
          <a:lstStyle/>
          <a:p>
            <a:pPr algn="l">
              <a:lnSpc>
                <a:spcPct val="95800"/>
              </a:lnSpc>
            </a:pPr>
            <a:r>
              <a:rPr sz="1500" b="0" i="0">
                <a:solidFill>
                  <a:srgbClr val="F3F7FC"/>
                </a:solidFill>
                <a:latin typeface="Barlow"/>
              </a:rPr>
              <a:t>verdaderos</a:t>
            </a:r>
          </a:p>
          <a:p>
            <a:pPr algn="l">
              <a:lnSpc>
                <a:spcPct val="95800"/>
              </a:lnSpc>
            </a:pPr>
            <a:r>
              <a:rPr sz="1500" b="0" i="0">
                <a:solidFill>
                  <a:srgbClr val="F3F7FC"/>
                </a:solidFill>
                <a:latin typeface="Barlow"/>
              </a:rPr>
              <a:t>negativos</a:t>
            </a:r>
          </a:p>
        </p:txBody>
      </p:sp>
      <p:sp>
        <p:nvSpPr>
          <p:cNvPr id="49" name="TextBox 48"/>
          <p:cNvSpPr txBox="1"/>
          <p:nvPr/>
        </p:nvSpPr>
        <p:spPr>
          <a:xfrm>
            <a:off x="3011478" y="8320088"/>
            <a:ext cx="1955450"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94 + 62 + 3 + 2</a:t>
            </a:r>
          </a:p>
        </p:txBody>
      </p:sp>
      <p:sp>
        <p:nvSpPr>
          <p:cNvPr id="50" name="TextBox 49"/>
          <p:cNvSpPr txBox="1"/>
          <p:nvPr/>
        </p:nvSpPr>
        <p:spPr>
          <a:xfrm>
            <a:off x="4875479" y="8320088"/>
            <a:ext cx="283375"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 =</a:t>
            </a:r>
          </a:p>
        </p:txBody>
      </p:sp>
      <p:sp>
        <p:nvSpPr>
          <p:cNvPr id="51" name="TextBox 50"/>
          <p:cNvSpPr txBox="1"/>
          <p:nvPr/>
        </p:nvSpPr>
        <p:spPr>
          <a:xfrm>
            <a:off x="5162050" y="8310562"/>
            <a:ext cx="539198"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161</a:t>
            </a:r>
          </a:p>
        </p:txBody>
      </p:sp>
      <p:sp>
        <p:nvSpPr>
          <p:cNvPr id="52" name="TextBox 51"/>
          <p:cNvSpPr txBox="1"/>
          <p:nvPr/>
        </p:nvSpPr>
        <p:spPr>
          <a:xfrm>
            <a:off x="2647950" y="8796338"/>
            <a:ext cx="3370491" cy="257175"/>
          </a:xfrm>
          <a:prstGeom prst="rect">
            <a:avLst/>
          </a:prstGeom>
          <a:noFill/>
        </p:spPr>
        <p:txBody>
          <a:bodyPr wrap="square" lIns="0" rIns="0" tIns="0" bIns="0" anchor="t">
            <a:spAutoFit/>
          </a:bodyPr>
          <a:lstStyle/>
          <a:p>
            <a:pPr algn="ctr">
              <a:lnSpc>
                <a:spcPct val="100000"/>
              </a:lnSpc>
            </a:pPr>
            <a:r>
              <a:rPr sz="1350" b="1" i="0" spc="150">
                <a:solidFill>
                  <a:srgbClr val="9FB4CC"/>
                </a:solidFill>
                <a:latin typeface="Montserrat"/>
              </a:rPr>
              <a:t>PARES</a:t>
            </a:r>
          </a:p>
        </p:txBody>
      </p:sp>
      <p:sp>
        <p:nvSpPr>
          <p:cNvPr id="53" name="Rectangle 52"/>
          <p:cNvSpPr/>
          <p:nvPr/>
        </p:nvSpPr>
        <p:spPr>
          <a:xfrm>
            <a:off x="6285141" y="3924300"/>
            <a:ext cx="14288" cy="5353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551248" y="4131469"/>
            <a:ext cx="1435953"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Accuracy</a:t>
            </a:r>
          </a:p>
        </p:txBody>
      </p:sp>
      <p:sp>
        <p:nvSpPr>
          <p:cNvPr id="55" name="TextBox 54"/>
          <p:cNvSpPr txBox="1"/>
          <p:nvPr/>
        </p:nvSpPr>
        <p:spPr>
          <a:xfrm>
            <a:off x="8020730" y="41314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56" name="Rectangle 55"/>
          <p:cNvSpPr/>
          <p:nvPr/>
        </p:nvSpPr>
        <p:spPr>
          <a:xfrm>
            <a:off x="8311814" y="4319588"/>
            <a:ext cx="939141"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341341" y="3947295"/>
            <a:ext cx="949655"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94 + 62</a:t>
            </a:r>
          </a:p>
        </p:txBody>
      </p:sp>
      <p:sp>
        <p:nvSpPr>
          <p:cNvPr id="58" name="TextBox 57"/>
          <p:cNvSpPr txBox="1"/>
          <p:nvPr/>
        </p:nvSpPr>
        <p:spPr>
          <a:xfrm>
            <a:off x="8595542" y="4378793"/>
            <a:ext cx="410748"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161</a:t>
            </a:r>
          </a:p>
        </p:txBody>
      </p:sp>
      <p:sp>
        <p:nvSpPr>
          <p:cNvPr id="59" name="TextBox 58"/>
          <p:cNvSpPr txBox="1"/>
          <p:nvPr/>
        </p:nvSpPr>
        <p:spPr>
          <a:xfrm>
            <a:off x="9342013" y="4131469"/>
            <a:ext cx="77857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100</a:t>
            </a:r>
          </a:p>
        </p:txBody>
      </p:sp>
      <p:sp>
        <p:nvSpPr>
          <p:cNvPr id="60" name="TextBox 59"/>
          <p:cNvSpPr txBox="1"/>
          <p:nvPr/>
        </p:nvSpPr>
        <p:spPr>
          <a:xfrm>
            <a:off x="10100328" y="41314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61" name="TextBox 60"/>
          <p:cNvSpPr txBox="1"/>
          <p:nvPr/>
        </p:nvSpPr>
        <p:spPr>
          <a:xfrm>
            <a:off x="10339977" y="4121348"/>
            <a:ext cx="1401935" cy="425053"/>
          </a:xfrm>
          <a:prstGeom prst="rect">
            <a:avLst/>
          </a:prstGeom>
          <a:noFill/>
        </p:spPr>
        <p:txBody>
          <a:bodyPr wrap="none" lIns="0" rIns="0" tIns="0" bIns="0" anchor="ctr">
            <a:spAutoFit/>
          </a:bodyPr>
          <a:lstStyle/>
          <a:p>
            <a:pPr algn="l">
              <a:lnSpc>
                <a:spcPct val="83300"/>
              </a:lnSpc>
            </a:pPr>
            <a:r>
              <a:rPr sz="2677" b="1" i="0">
                <a:solidFill>
                  <a:srgbClr val="FFD21F"/>
                </a:solidFill>
                <a:latin typeface="Montserrat"/>
              </a:rPr>
              <a:t>96,89%</a:t>
            </a:r>
          </a:p>
        </p:txBody>
      </p:sp>
      <p:sp>
        <p:nvSpPr>
          <p:cNvPr id="62" name="Rectangle 61"/>
          <p:cNvSpPr/>
          <p:nvPr/>
        </p:nvSpPr>
        <p:spPr>
          <a:xfrm>
            <a:off x="6551841" y="4888706"/>
            <a:ext cx="5297259" cy="14288"/>
          </a:xfrm>
          <a:prstGeom prst="rect">
            <a:avLst/>
          </a:prstGeom>
          <a:solidFill>
            <a:srgbClr val="2F7B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532791" y="5255419"/>
            <a:ext cx="1454411"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Precisión</a:t>
            </a:r>
          </a:p>
        </p:txBody>
      </p:sp>
      <p:sp>
        <p:nvSpPr>
          <p:cNvPr id="64" name="TextBox 63"/>
          <p:cNvSpPr txBox="1"/>
          <p:nvPr/>
        </p:nvSpPr>
        <p:spPr>
          <a:xfrm>
            <a:off x="8020730" y="525541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65" name="Rectangle 64"/>
          <p:cNvSpPr/>
          <p:nvPr/>
        </p:nvSpPr>
        <p:spPr>
          <a:xfrm>
            <a:off x="8311814" y="5443538"/>
            <a:ext cx="789831"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538370" y="5071245"/>
            <a:ext cx="373686"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94</a:t>
            </a:r>
          </a:p>
        </p:txBody>
      </p:sp>
      <p:sp>
        <p:nvSpPr>
          <p:cNvPr id="67" name="TextBox 66"/>
          <p:cNvSpPr txBox="1"/>
          <p:nvPr/>
        </p:nvSpPr>
        <p:spPr>
          <a:xfrm>
            <a:off x="8341341" y="5502743"/>
            <a:ext cx="791387"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94 + 3</a:t>
            </a:r>
          </a:p>
        </p:txBody>
      </p:sp>
      <p:sp>
        <p:nvSpPr>
          <p:cNvPr id="68" name="TextBox 67"/>
          <p:cNvSpPr txBox="1"/>
          <p:nvPr/>
        </p:nvSpPr>
        <p:spPr>
          <a:xfrm>
            <a:off x="9192704" y="5255419"/>
            <a:ext cx="77857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100</a:t>
            </a:r>
          </a:p>
        </p:txBody>
      </p:sp>
      <p:sp>
        <p:nvSpPr>
          <p:cNvPr id="69" name="TextBox 68"/>
          <p:cNvSpPr txBox="1"/>
          <p:nvPr/>
        </p:nvSpPr>
        <p:spPr>
          <a:xfrm>
            <a:off x="9951019" y="525541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70" name="TextBox 69"/>
          <p:cNvSpPr txBox="1"/>
          <p:nvPr/>
        </p:nvSpPr>
        <p:spPr>
          <a:xfrm>
            <a:off x="10190668" y="5245298"/>
            <a:ext cx="1300247" cy="425053"/>
          </a:xfrm>
          <a:prstGeom prst="rect">
            <a:avLst/>
          </a:prstGeom>
          <a:noFill/>
        </p:spPr>
        <p:txBody>
          <a:bodyPr wrap="none" lIns="0" rIns="0" tIns="0" bIns="0" anchor="ctr">
            <a:spAutoFit/>
          </a:bodyPr>
          <a:lstStyle/>
          <a:p>
            <a:pPr algn="l">
              <a:lnSpc>
                <a:spcPct val="83300"/>
              </a:lnSpc>
            </a:pPr>
            <a:r>
              <a:rPr sz="2677" b="1" i="0">
                <a:solidFill>
                  <a:srgbClr val="FFD21F"/>
                </a:solidFill>
                <a:latin typeface="Montserrat"/>
              </a:rPr>
              <a:t>96,91%</a:t>
            </a:r>
          </a:p>
        </p:txBody>
      </p:sp>
      <p:sp>
        <p:nvSpPr>
          <p:cNvPr id="71" name="Rectangle 70"/>
          <p:cNvSpPr/>
          <p:nvPr/>
        </p:nvSpPr>
        <p:spPr>
          <a:xfrm>
            <a:off x="6551841" y="6012656"/>
            <a:ext cx="5297259" cy="14288"/>
          </a:xfrm>
          <a:prstGeom prst="rect">
            <a:avLst/>
          </a:prstGeom>
          <a:solidFill>
            <a:srgbClr val="2F7B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7026257" y="6379369"/>
            <a:ext cx="960945"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Recall</a:t>
            </a:r>
          </a:p>
        </p:txBody>
      </p:sp>
      <p:sp>
        <p:nvSpPr>
          <p:cNvPr id="73" name="TextBox 72"/>
          <p:cNvSpPr txBox="1"/>
          <p:nvPr/>
        </p:nvSpPr>
        <p:spPr>
          <a:xfrm>
            <a:off x="8020730" y="63793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74" name="Rectangle 73"/>
          <p:cNvSpPr/>
          <p:nvPr/>
        </p:nvSpPr>
        <p:spPr>
          <a:xfrm>
            <a:off x="8311814" y="6567488"/>
            <a:ext cx="795683"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8541296" y="6195195"/>
            <a:ext cx="373686"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94</a:t>
            </a:r>
          </a:p>
        </p:txBody>
      </p:sp>
      <p:sp>
        <p:nvSpPr>
          <p:cNvPr id="76" name="TextBox 75"/>
          <p:cNvSpPr txBox="1"/>
          <p:nvPr/>
        </p:nvSpPr>
        <p:spPr>
          <a:xfrm>
            <a:off x="8341341" y="6626693"/>
            <a:ext cx="797590"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94 + 2</a:t>
            </a:r>
          </a:p>
        </p:txBody>
      </p:sp>
      <p:sp>
        <p:nvSpPr>
          <p:cNvPr id="77" name="TextBox 76"/>
          <p:cNvSpPr txBox="1"/>
          <p:nvPr/>
        </p:nvSpPr>
        <p:spPr>
          <a:xfrm>
            <a:off x="9198556" y="6379369"/>
            <a:ext cx="77857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100</a:t>
            </a:r>
          </a:p>
        </p:txBody>
      </p:sp>
      <p:sp>
        <p:nvSpPr>
          <p:cNvPr id="78" name="TextBox 77"/>
          <p:cNvSpPr txBox="1"/>
          <p:nvPr/>
        </p:nvSpPr>
        <p:spPr>
          <a:xfrm>
            <a:off x="9956871" y="63793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79" name="TextBox 78"/>
          <p:cNvSpPr txBox="1"/>
          <p:nvPr/>
        </p:nvSpPr>
        <p:spPr>
          <a:xfrm>
            <a:off x="10196520" y="6369248"/>
            <a:ext cx="1346242" cy="425053"/>
          </a:xfrm>
          <a:prstGeom prst="rect">
            <a:avLst/>
          </a:prstGeom>
          <a:noFill/>
        </p:spPr>
        <p:txBody>
          <a:bodyPr wrap="none" lIns="0" rIns="0" tIns="0" bIns="0" anchor="ctr">
            <a:spAutoFit/>
          </a:bodyPr>
          <a:lstStyle/>
          <a:p>
            <a:pPr algn="l">
              <a:lnSpc>
                <a:spcPct val="83300"/>
              </a:lnSpc>
            </a:pPr>
            <a:r>
              <a:rPr sz="2677" b="1" i="0">
                <a:solidFill>
                  <a:srgbClr val="FFD21F"/>
                </a:solidFill>
                <a:latin typeface="Montserrat"/>
              </a:rPr>
              <a:t>97,92%</a:t>
            </a:r>
          </a:p>
        </p:txBody>
      </p:sp>
      <p:sp>
        <p:nvSpPr>
          <p:cNvPr id="80" name="Rectangle 79"/>
          <p:cNvSpPr/>
          <p:nvPr/>
        </p:nvSpPr>
        <p:spPr>
          <a:xfrm>
            <a:off x="6551841" y="7136606"/>
            <a:ext cx="5297259" cy="14288"/>
          </a:xfrm>
          <a:prstGeom prst="rect">
            <a:avLst/>
          </a:prstGeom>
          <a:solidFill>
            <a:srgbClr val="2F7B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6643694" y="7503319"/>
            <a:ext cx="1343507"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F1-score</a:t>
            </a:r>
          </a:p>
        </p:txBody>
      </p:sp>
      <p:sp>
        <p:nvSpPr>
          <p:cNvPr id="82" name="TextBox 81"/>
          <p:cNvSpPr txBox="1"/>
          <p:nvPr/>
        </p:nvSpPr>
        <p:spPr>
          <a:xfrm>
            <a:off x="8020730" y="750331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83" name="TextBox 82"/>
          <p:cNvSpPr txBox="1"/>
          <p:nvPr/>
        </p:nvSpPr>
        <p:spPr>
          <a:xfrm>
            <a:off x="8260379" y="7503319"/>
            <a:ext cx="454542"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2 ×</a:t>
            </a:r>
          </a:p>
        </p:txBody>
      </p:sp>
      <p:sp>
        <p:nvSpPr>
          <p:cNvPr id="84" name="Rectangle 83"/>
          <p:cNvSpPr/>
          <p:nvPr/>
        </p:nvSpPr>
        <p:spPr>
          <a:xfrm>
            <a:off x="8764436" y="7691438"/>
            <a:ext cx="1579146"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8804842" y="7319145"/>
            <a:ext cx="1604996"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96,91 × 97,92</a:t>
            </a:r>
          </a:p>
        </p:txBody>
      </p:sp>
      <p:sp>
        <p:nvSpPr>
          <p:cNvPr id="86" name="TextBox 85"/>
          <p:cNvSpPr txBox="1"/>
          <p:nvPr/>
        </p:nvSpPr>
        <p:spPr>
          <a:xfrm>
            <a:off x="8793963" y="7750643"/>
            <a:ext cx="1628060"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96,91 + 97,92</a:t>
            </a:r>
          </a:p>
        </p:txBody>
      </p:sp>
      <p:sp>
        <p:nvSpPr>
          <p:cNvPr id="87" name="TextBox 86"/>
          <p:cNvSpPr txBox="1"/>
          <p:nvPr/>
        </p:nvSpPr>
        <p:spPr>
          <a:xfrm>
            <a:off x="10434640" y="750331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88" name="TextBox 87"/>
          <p:cNvSpPr txBox="1"/>
          <p:nvPr/>
        </p:nvSpPr>
        <p:spPr>
          <a:xfrm>
            <a:off x="10674289" y="7493198"/>
            <a:ext cx="1282256" cy="425053"/>
          </a:xfrm>
          <a:prstGeom prst="rect">
            <a:avLst/>
          </a:prstGeom>
          <a:noFill/>
        </p:spPr>
        <p:txBody>
          <a:bodyPr wrap="none" lIns="0" rIns="0" tIns="0" bIns="0" anchor="ctr">
            <a:spAutoFit/>
          </a:bodyPr>
          <a:lstStyle/>
          <a:p>
            <a:pPr algn="l">
              <a:lnSpc>
                <a:spcPct val="83300"/>
              </a:lnSpc>
            </a:pPr>
            <a:r>
              <a:rPr sz="2677" b="1" i="0">
                <a:solidFill>
                  <a:srgbClr val="FFD21F"/>
                </a:solidFill>
                <a:latin typeface="Montserrat"/>
              </a:rPr>
              <a:t>97,41%</a:t>
            </a:r>
          </a:p>
        </p:txBody>
      </p:sp>
      <p:sp>
        <p:nvSpPr>
          <p:cNvPr id="89" name="Rectangle 88"/>
          <p:cNvSpPr/>
          <p:nvPr/>
        </p:nvSpPr>
        <p:spPr>
          <a:xfrm>
            <a:off x="6551841" y="8260556"/>
            <a:ext cx="5297259" cy="14288"/>
          </a:xfrm>
          <a:prstGeom prst="rect">
            <a:avLst/>
          </a:prstGeom>
          <a:solidFill>
            <a:srgbClr val="2F7BF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7162244" y="8627269"/>
            <a:ext cx="824957" cy="404812"/>
          </a:xfrm>
          <a:prstGeom prst="rect">
            <a:avLst/>
          </a:prstGeom>
          <a:noFill/>
        </p:spPr>
        <p:txBody>
          <a:bodyPr wrap="none" lIns="0" rIns="0" tIns="0" bIns="0" anchor="ctr">
            <a:spAutoFit/>
          </a:bodyPr>
          <a:lstStyle/>
          <a:p>
            <a:pPr algn="l">
              <a:lnSpc>
                <a:spcPct val="83300"/>
              </a:lnSpc>
            </a:pPr>
            <a:r>
              <a:rPr sz="2550" b="0" i="1">
                <a:solidFill>
                  <a:srgbClr val="F3F7FC"/>
                </a:solidFill>
                <a:latin typeface="Barlow"/>
              </a:rPr>
              <a:t>Error</a:t>
            </a:r>
          </a:p>
        </p:txBody>
      </p:sp>
      <p:sp>
        <p:nvSpPr>
          <p:cNvPr id="91" name="TextBox 90"/>
          <p:cNvSpPr txBox="1"/>
          <p:nvPr/>
        </p:nvSpPr>
        <p:spPr>
          <a:xfrm>
            <a:off x="8020730" y="86272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92" name="Rectangle 91"/>
          <p:cNvSpPr/>
          <p:nvPr/>
        </p:nvSpPr>
        <p:spPr>
          <a:xfrm>
            <a:off x="8311814" y="8815388"/>
            <a:ext cx="640522" cy="28575"/>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8341341" y="8443095"/>
            <a:ext cx="633119"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3 + 2</a:t>
            </a:r>
          </a:p>
        </p:txBody>
      </p:sp>
      <p:sp>
        <p:nvSpPr>
          <p:cNvPr id="94" name="TextBox 93"/>
          <p:cNvSpPr txBox="1"/>
          <p:nvPr/>
        </p:nvSpPr>
        <p:spPr>
          <a:xfrm>
            <a:off x="8446233" y="8874593"/>
            <a:ext cx="410748" cy="348139"/>
          </a:xfrm>
          <a:prstGeom prst="rect">
            <a:avLst/>
          </a:prstGeom>
          <a:noFill/>
        </p:spPr>
        <p:txBody>
          <a:bodyPr wrap="none" lIns="0" rIns="0" tIns="0" bIns="0" anchor="ctr">
            <a:spAutoFit/>
          </a:bodyPr>
          <a:lstStyle/>
          <a:p>
            <a:pPr algn="l">
              <a:lnSpc>
                <a:spcPct val="83300"/>
              </a:lnSpc>
            </a:pPr>
            <a:r>
              <a:rPr sz="2193" b="0" i="0">
                <a:solidFill>
                  <a:srgbClr val="F3F7FC"/>
                </a:solidFill>
                <a:latin typeface="Barlow"/>
              </a:rPr>
              <a:t>161</a:t>
            </a:r>
          </a:p>
        </p:txBody>
      </p:sp>
      <p:sp>
        <p:nvSpPr>
          <p:cNvPr id="95" name="TextBox 94"/>
          <p:cNvSpPr txBox="1"/>
          <p:nvPr/>
        </p:nvSpPr>
        <p:spPr>
          <a:xfrm>
            <a:off x="9043394" y="8627269"/>
            <a:ext cx="778576"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 100</a:t>
            </a:r>
          </a:p>
        </p:txBody>
      </p:sp>
      <p:sp>
        <p:nvSpPr>
          <p:cNvPr id="96" name="TextBox 95"/>
          <p:cNvSpPr txBox="1"/>
          <p:nvPr/>
        </p:nvSpPr>
        <p:spPr>
          <a:xfrm>
            <a:off x="9801709" y="8627269"/>
            <a:ext cx="228790" cy="404812"/>
          </a:xfrm>
          <a:prstGeom prst="rect">
            <a:avLst/>
          </a:prstGeom>
          <a:noFill/>
        </p:spPr>
        <p:txBody>
          <a:bodyPr wrap="none" lIns="0" rIns="0" tIns="0" bIns="0" anchor="ctr">
            <a:spAutoFit/>
          </a:bodyPr>
          <a:lstStyle/>
          <a:p>
            <a:pPr algn="l">
              <a:lnSpc>
                <a:spcPct val="83300"/>
              </a:lnSpc>
            </a:pPr>
            <a:r>
              <a:rPr sz="2550" b="0" i="0">
                <a:solidFill>
                  <a:srgbClr val="F3F7FC"/>
                </a:solidFill>
                <a:latin typeface="Barlow"/>
              </a:rPr>
              <a:t>=</a:t>
            </a:r>
          </a:p>
        </p:txBody>
      </p:sp>
      <p:sp>
        <p:nvSpPr>
          <p:cNvPr id="97" name="TextBox 96"/>
          <p:cNvSpPr txBox="1"/>
          <p:nvPr/>
        </p:nvSpPr>
        <p:spPr>
          <a:xfrm>
            <a:off x="10041358" y="8617148"/>
            <a:ext cx="957950" cy="425053"/>
          </a:xfrm>
          <a:prstGeom prst="rect">
            <a:avLst/>
          </a:prstGeom>
          <a:noFill/>
        </p:spPr>
        <p:txBody>
          <a:bodyPr wrap="none" lIns="0" rIns="0" tIns="0" bIns="0" anchor="ctr">
            <a:spAutoFit/>
          </a:bodyPr>
          <a:lstStyle/>
          <a:p>
            <a:pPr algn="l">
              <a:lnSpc>
                <a:spcPct val="83300"/>
              </a:lnSpc>
            </a:pPr>
            <a:r>
              <a:rPr sz="2677" b="1" i="0">
                <a:solidFill>
                  <a:srgbClr val="E0566B"/>
                </a:solidFill>
                <a:latin typeface="Montserrat"/>
              </a:rPr>
              <a:t>3,11%</a:t>
            </a:r>
          </a:p>
        </p:txBody>
      </p:sp>
      <p:sp>
        <p:nvSpPr>
          <p:cNvPr id="98" name="Rectangle 97"/>
          <p:cNvSpPr/>
          <p:nvPr/>
        </p:nvSpPr>
        <p:spPr>
          <a:xfrm>
            <a:off x="12439650" y="2628900"/>
            <a:ext cx="4933950" cy="36957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2439650" y="2628900"/>
            <a:ext cx="493395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12706350" y="2895600"/>
            <a:ext cx="381000" cy="381000"/>
          </a:xfrm>
          <a:prstGeom prst="roundRect">
            <a:avLst>
              <a:gd name="adj" fmla="val 1000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2706350" y="2895600"/>
            <a:ext cx="381000" cy="381000"/>
          </a:xfrm>
          <a:prstGeom prst="rect">
            <a:avLst/>
          </a:prstGeom>
          <a:noFill/>
        </p:spPr>
        <p:txBody>
          <a:bodyPr wrap="none" lIns="0" rIns="0" tIns="0" bIns="0" anchor="ctr">
            <a:spAutoFit/>
          </a:bodyPr>
          <a:lstStyle/>
          <a:p>
            <a:pPr algn="ctr">
              <a:lnSpc>
                <a:spcPct val="100000"/>
              </a:lnSpc>
            </a:pPr>
            <a:r>
              <a:rPr sz="1380" b="1" i="0">
                <a:solidFill>
                  <a:srgbClr val="F3F7FC"/>
                </a:solidFill>
                <a:latin typeface="Montserrat"/>
              </a:rPr>
              <a:t>2</a:t>
            </a:r>
          </a:p>
        </p:txBody>
      </p:sp>
      <p:sp>
        <p:nvSpPr>
          <p:cNvPr id="102" name="TextBox 101"/>
          <p:cNvSpPr txBox="1"/>
          <p:nvPr/>
        </p:nvSpPr>
        <p:spPr>
          <a:xfrm>
            <a:off x="13258800" y="2876550"/>
            <a:ext cx="384810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Benchmark externo · v7.5</a:t>
            </a:r>
          </a:p>
        </p:txBody>
      </p:sp>
      <p:sp>
        <p:nvSpPr>
          <p:cNvPr id="103" name="TextBox 102"/>
          <p:cNvSpPr txBox="1"/>
          <p:nvPr/>
        </p:nvSpPr>
        <p:spPr>
          <a:xfrm>
            <a:off x="13258800" y="3276600"/>
            <a:ext cx="384810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2.365 publicaciones · 19 países</a:t>
            </a:r>
          </a:p>
        </p:txBody>
      </p:sp>
      <p:sp>
        <p:nvSpPr>
          <p:cNvPr id="104" name="TextBox 103"/>
          <p:cNvSpPr txBox="1"/>
          <p:nvPr/>
        </p:nvSpPr>
        <p:spPr>
          <a:xfrm>
            <a:off x="12706350" y="3771900"/>
            <a:ext cx="4400550" cy="857250"/>
          </a:xfrm>
          <a:prstGeom prst="rect">
            <a:avLst/>
          </a:prstGeom>
          <a:noFill/>
        </p:spPr>
        <p:txBody>
          <a:bodyPr wrap="square" lIns="0" rIns="0" tIns="0" bIns="0" anchor="t">
            <a:spAutoFit/>
          </a:bodyPr>
          <a:lstStyle/>
          <a:p>
            <a:pPr algn="l">
              <a:lnSpc>
                <a:spcPct val="100000"/>
              </a:lnSpc>
            </a:pPr>
            <a:r>
              <a:rPr sz="5400" b="1" i="0">
                <a:solidFill>
                  <a:srgbClr val="FFD21F"/>
                </a:solidFill>
                <a:latin typeface="Montserrat"/>
              </a:rPr>
              <a:t>94,54%</a:t>
            </a:r>
          </a:p>
        </p:txBody>
      </p:sp>
      <p:sp>
        <p:nvSpPr>
          <p:cNvPr id="105" name="TextBox 104"/>
          <p:cNvSpPr txBox="1"/>
          <p:nvPr/>
        </p:nvSpPr>
        <p:spPr>
          <a:xfrm>
            <a:off x="12706350" y="4629150"/>
            <a:ext cx="440055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COINCIDENCIA SELECTIVA</a:t>
            </a:r>
          </a:p>
        </p:txBody>
      </p:sp>
      <p:sp>
        <p:nvSpPr>
          <p:cNvPr id="106" name="Rectangle 105"/>
          <p:cNvSpPr/>
          <p:nvPr/>
        </p:nvSpPr>
        <p:spPr>
          <a:xfrm>
            <a:off x="12706350" y="5162550"/>
            <a:ext cx="4160270" cy="2857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16895195" y="5162550"/>
            <a:ext cx="211705" cy="285750"/>
          </a:xfrm>
          <a:prstGeom prst="rect">
            <a:avLst/>
          </a:prstGeom>
          <a:solidFill>
            <a:srgbClr val="E05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2706350" y="5600700"/>
            <a:ext cx="1231404" cy="381000"/>
          </a:xfrm>
          <a:prstGeom prst="rect">
            <a:avLst/>
          </a:prstGeom>
          <a:noFill/>
        </p:spPr>
        <p:txBody>
          <a:bodyPr wrap="none" lIns="0" rIns="0" tIns="0" bIns="0" anchor="ctr">
            <a:spAutoFit/>
          </a:bodyPr>
          <a:lstStyle/>
          <a:p>
            <a:pPr algn="l">
              <a:lnSpc>
                <a:spcPct val="100000"/>
              </a:lnSpc>
            </a:pPr>
            <a:r>
              <a:rPr sz="1950" b="1" i="0">
                <a:solidFill>
                  <a:srgbClr val="E0566B"/>
                </a:solidFill>
                <a:latin typeface="Montserrat"/>
              </a:rPr>
              <a:t>70 / 1.282</a:t>
            </a:r>
          </a:p>
        </p:txBody>
      </p:sp>
      <p:sp>
        <p:nvSpPr>
          <p:cNvPr id="109" name="TextBox 108"/>
          <p:cNvSpPr txBox="1"/>
          <p:nvPr/>
        </p:nvSpPr>
        <p:spPr>
          <a:xfrm>
            <a:off x="14071104" y="5600700"/>
            <a:ext cx="3035796" cy="381000"/>
          </a:xfrm>
          <a:prstGeom prst="rect">
            <a:avLst/>
          </a:prstGeom>
          <a:noFill/>
        </p:spPr>
        <p:txBody>
          <a:bodyPr wrap="square" lIns="0" rIns="0" tIns="0" bIns="0" anchor="ctr">
            <a:spAutoFit/>
          </a:bodyPr>
          <a:lstStyle/>
          <a:p>
            <a:pPr algn="l">
              <a:lnSpc>
                <a:spcPct val="100000"/>
              </a:lnSpc>
            </a:pPr>
            <a:r>
              <a:rPr sz="1575" b="0" i="0">
                <a:solidFill>
                  <a:srgbClr val="F3F7FC"/>
                </a:solidFill>
                <a:latin typeface="Barlow"/>
              </a:rPr>
              <a:t>desacuerdos automatizados</a:t>
            </a:r>
          </a:p>
        </p:txBody>
      </p:sp>
      <p:sp>
        <p:nvSpPr>
          <p:cNvPr id="110" name="Rectangle 109"/>
          <p:cNvSpPr/>
          <p:nvPr/>
        </p:nvSpPr>
        <p:spPr>
          <a:xfrm>
            <a:off x="12439650" y="6572250"/>
            <a:ext cx="4933950" cy="30480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12439650" y="6572250"/>
            <a:ext cx="49339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ounded Rectangle 111"/>
          <p:cNvSpPr/>
          <p:nvPr/>
        </p:nvSpPr>
        <p:spPr>
          <a:xfrm>
            <a:off x="12706350" y="6838950"/>
            <a:ext cx="381000" cy="381000"/>
          </a:xfrm>
          <a:prstGeom prst="roundRect">
            <a:avLst>
              <a:gd name="adj" fmla="val 1000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2706350" y="6838950"/>
            <a:ext cx="381000" cy="381000"/>
          </a:xfrm>
          <a:prstGeom prst="rect">
            <a:avLst/>
          </a:prstGeom>
          <a:noFill/>
        </p:spPr>
        <p:txBody>
          <a:bodyPr wrap="none" lIns="0" rIns="0" tIns="0" bIns="0" anchor="ctr">
            <a:spAutoFit/>
          </a:bodyPr>
          <a:lstStyle/>
          <a:p>
            <a:pPr algn="ctr">
              <a:lnSpc>
                <a:spcPct val="100000"/>
              </a:lnSpc>
            </a:pPr>
            <a:r>
              <a:rPr sz="1380" b="1" i="0">
                <a:solidFill>
                  <a:srgbClr val="07172D"/>
                </a:solidFill>
                <a:latin typeface="Montserrat"/>
              </a:rPr>
              <a:t>3</a:t>
            </a:r>
          </a:p>
        </p:txBody>
      </p:sp>
      <p:sp>
        <p:nvSpPr>
          <p:cNvPr id="114" name="TextBox 113"/>
          <p:cNvSpPr txBox="1"/>
          <p:nvPr/>
        </p:nvSpPr>
        <p:spPr>
          <a:xfrm>
            <a:off x="13258800" y="6819900"/>
            <a:ext cx="3848100" cy="3810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Uso controlado</a:t>
            </a:r>
          </a:p>
        </p:txBody>
      </p:sp>
      <p:sp>
        <p:nvSpPr>
          <p:cNvPr id="115" name="TextBox 114"/>
          <p:cNvSpPr txBox="1"/>
          <p:nvPr/>
        </p:nvSpPr>
        <p:spPr>
          <a:xfrm>
            <a:off x="12706350" y="7448550"/>
            <a:ext cx="1143000" cy="1238250"/>
          </a:xfrm>
          <a:prstGeom prst="rect">
            <a:avLst/>
          </a:prstGeom>
          <a:noFill/>
        </p:spPr>
        <p:txBody>
          <a:bodyPr wrap="square" lIns="0" rIns="0" tIns="0" bIns="0" anchor="ctr">
            <a:spAutoFit/>
          </a:bodyPr>
          <a:lstStyle/>
          <a:p>
            <a:pPr algn="l">
              <a:lnSpc>
                <a:spcPct val="100000"/>
              </a:lnSpc>
            </a:pPr>
            <a:r>
              <a:rPr sz="8400" b="1" i="0">
                <a:solidFill>
                  <a:srgbClr val="FFD21F"/>
                </a:solidFill>
                <a:latin typeface="Montserrat"/>
              </a:rPr>
              <a:t>0</a:t>
            </a:r>
          </a:p>
        </p:txBody>
      </p:sp>
      <p:sp>
        <p:nvSpPr>
          <p:cNvPr id="116" name="TextBox 115"/>
          <p:cNvSpPr txBox="1"/>
          <p:nvPr/>
        </p:nvSpPr>
        <p:spPr>
          <a:xfrm>
            <a:off x="13963650" y="7677150"/>
            <a:ext cx="3143250" cy="800100"/>
          </a:xfrm>
          <a:prstGeom prst="rect">
            <a:avLst/>
          </a:prstGeom>
          <a:noFill/>
        </p:spPr>
        <p:txBody>
          <a:bodyPr wrap="square" lIns="0" rIns="0" tIns="0" bIns="0" anchor="ctr">
            <a:spAutoFit/>
          </a:bodyPr>
          <a:lstStyle/>
          <a:p>
            <a:pPr algn="l">
              <a:lnSpc>
                <a:spcPct val="100000"/>
              </a:lnSpc>
            </a:pPr>
            <a:r>
              <a:rPr sz="1950" b="1" i="0">
                <a:solidFill>
                  <a:srgbClr val="F3F7FC"/>
                </a:solidFill>
                <a:latin typeface="Montserrat"/>
              </a:rPr>
              <a:t>ERRORES</a:t>
            </a:r>
          </a:p>
          <a:p>
            <a:pPr algn="l">
              <a:lnSpc>
                <a:spcPct val="100000"/>
              </a:lnSpc>
            </a:pPr>
            <a:r>
              <a:rPr sz="1950" b="1" i="0">
                <a:solidFill>
                  <a:srgbClr val="F3F7FC"/>
                </a:solidFill>
                <a:latin typeface="Montserrat"/>
              </a:rPr>
              <a:t>REGISTRADOS</a:t>
            </a:r>
          </a:p>
        </p:txBody>
      </p:sp>
      <p:sp>
        <p:nvSpPr>
          <p:cNvPr id="117" name="Rounded Rectangle 116"/>
          <p:cNvSpPr/>
          <p:nvPr/>
        </p:nvSpPr>
        <p:spPr>
          <a:xfrm>
            <a:off x="12706350" y="8991600"/>
            <a:ext cx="1408896"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12706350" y="8991600"/>
            <a:ext cx="1408896"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ACEPTADO</a:t>
            </a:r>
          </a:p>
        </p:txBody>
      </p:sp>
      <p:sp>
        <p:nvSpPr>
          <p:cNvPr id="119" name="TextBox 118"/>
          <p:cNvSpPr txBox="1"/>
          <p:nvPr/>
        </p:nvSpPr>
        <p:spPr>
          <a:xfrm>
            <a:off x="14267646" y="9058275"/>
            <a:ext cx="2839254"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REGISTRO DE USO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OE6 · CONTRASTACIÓN DE LA HIPÓTESIS · PRUEBA DE MCNEMAR</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Contrastación estadística de la calidad del matching</a:t>
            </a:r>
          </a:p>
        </p:txBody>
      </p:sp>
      <p:sp>
        <p:nvSpPr>
          <p:cNvPr id="9" name="Rectangle 8"/>
          <p:cNvSpPr/>
          <p:nvPr/>
        </p:nvSpPr>
        <p:spPr>
          <a:xfrm>
            <a:off x="914400" y="2952750"/>
            <a:ext cx="6667500" cy="29527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952750"/>
            <a:ext cx="666750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19200" y="3162300"/>
            <a:ext cx="60579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PRUEBA</a:t>
            </a:r>
          </a:p>
        </p:txBody>
      </p:sp>
      <p:sp>
        <p:nvSpPr>
          <p:cNvPr id="12" name="TextBox 11"/>
          <p:cNvSpPr txBox="1"/>
          <p:nvPr/>
        </p:nvSpPr>
        <p:spPr>
          <a:xfrm>
            <a:off x="1219200" y="3429000"/>
            <a:ext cx="6057900" cy="419100"/>
          </a:xfrm>
          <a:prstGeom prst="rect">
            <a:avLst/>
          </a:prstGeom>
          <a:noFill/>
        </p:spPr>
        <p:txBody>
          <a:bodyPr wrap="square" lIns="0" rIns="0" tIns="0" bIns="0" anchor="t">
            <a:spAutoFit/>
          </a:bodyPr>
          <a:lstStyle/>
          <a:p>
            <a:pPr algn="l">
              <a:lnSpc>
                <a:spcPct val="100000"/>
              </a:lnSpc>
            </a:pPr>
            <a:r>
              <a:rPr sz="2400" b="1" i="0">
                <a:solidFill>
                  <a:srgbClr val="F3F7FC"/>
                </a:solidFill>
                <a:latin typeface="Montserrat"/>
              </a:rPr>
              <a:t>McNemar exacta bilateral</a:t>
            </a:r>
          </a:p>
        </p:txBody>
      </p:sp>
      <p:sp>
        <p:nvSpPr>
          <p:cNvPr id="13" name="TextBox 12"/>
          <p:cNvSpPr txBox="1"/>
          <p:nvPr/>
        </p:nvSpPr>
        <p:spPr>
          <a:xfrm>
            <a:off x="1219200" y="3848100"/>
            <a:ext cx="6057900" cy="323850"/>
          </a:xfrm>
          <a:prstGeom prst="rect">
            <a:avLst/>
          </a:prstGeom>
          <a:noFill/>
        </p:spPr>
        <p:txBody>
          <a:bodyPr wrap="square" lIns="0" rIns="0" tIns="0" bIns="0" anchor="t">
            <a:spAutoFit/>
          </a:bodyPr>
          <a:lstStyle/>
          <a:p>
            <a:pPr algn="l">
              <a:lnSpc>
                <a:spcPct val="100000"/>
              </a:lnSpc>
            </a:pPr>
            <a:r>
              <a:rPr sz="1725" b="0" i="0">
                <a:solidFill>
                  <a:srgbClr val="9FB4CC"/>
                </a:solidFill>
                <a:latin typeface="Barlow"/>
              </a:rPr>
              <a:t>sobre 161 pares comunes · Transformer = Modelo 3</a:t>
            </a:r>
          </a:p>
        </p:txBody>
      </p:sp>
      <p:sp>
        <p:nvSpPr>
          <p:cNvPr id="14" name="Rectangle 13"/>
          <p:cNvSpPr/>
          <p:nvPr/>
        </p:nvSpPr>
        <p:spPr>
          <a:xfrm>
            <a:off x="1219200" y="4305300"/>
            <a:ext cx="6057900" cy="685800"/>
          </a:xfrm>
          <a:prstGeom prst="rect">
            <a:avLst/>
          </a:prstGeom>
          <a:solidFill>
            <a:srgbClr val="0C2445"/>
          </a:solidFill>
          <a:ln w="14287">
            <a:solidFill>
              <a:srgbClr val="2F7BF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19200" y="4305300"/>
            <a:ext cx="800100" cy="6858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19200" y="4305300"/>
            <a:ext cx="800100" cy="685800"/>
          </a:xfrm>
          <a:prstGeom prst="rect">
            <a:avLst/>
          </a:prstGeom>
          <a:noFill/>
        </p:spPr>
        <p:txBody>
          <a:bodyPr wrap="square" lIns="0" rIns="0" tIns="0" bIns="0" anchor="ctr">
            <a:spAutoFit/>
          </a:bodyPr>
          <a:lstStyle/>
          <a:p>
            <a:pPr algn="ctr">
              <a:lnSpc>
                <a:spcPct val="100000"/>
              </a:lnSpc>
            </a:pPr>
            <a:r>
              <a:rPr sz="1950" b="1" i="0">
                <a:solidFill>
                  <a:srgbClr val="F3F7FC"/>
                </a:solidFill>
                <a:latin typeface="Montserrat"/>
              </a:rPr>
              <a:t>H₀c</a:t>
            </a:r>
          </a:p>
        </p:txBody>
      </p:sp>
      <p:sp>
        <p:nvSpPr>
          <p:cNvPr id="17" name="TextBox 16"/>
          <p:cNvSpPr txBox="1"/>
          <p:nvPr/>
        </p:nvSpPr>
        <p:spPr>
          <a:xfrm>
            <a:off x="2209800" y="4305300"/>
            <a:ext cx="4914900" cy="685800"/>
          </a:xfrm>
          <a:prstGeom prst="rect">
            <a:avLst/>
          </a:prstGeom>
          <a:noFill/>
        </p:spPr>
        <p:txBody>
          <a:bodyPr wrap="square" lIns="0" rIns="0" tIns="0" bIns="0" anchor="ctr">
            <a:spAutoFit/>
          </a:bodyPr>
          <a:lstStyle/>
          <a:p>
            <a:pPr algn="l">
              <a:lnSpc>
                <a:spcPct val="100000"/>
              </a:lnSpc>
            </a:pPr>
            <a:r>
              <a:rPr sz="1725" b="0" i="0">
                <a:solidFill>
                  <a:srgbClr val="F3F7FC"/>
                </a:solidFill>
                <a:latin typeface="Barlow"/>
              </a:rPr>
              <a:t>TF-IDF y Transformer tienen la misma probabilidad de acierto.</a:t>
            </a:r>
          </a:p>
        </p:txBody>
      </p:sp>
      <p:sp>
        <p:nvSpPr>
          <p:cNvPr id="18" name="Rectangle 17"/>
          <p:cNvSpPr/>
          <p:nvPr/>
        </p:nvSpPr>
        <p:spPr>
          <a:xfrm>
            <a:off x="1219200" y="5105400"/>
            <a:ext cx="6057900" cy="685800"/>
          </a:xfrm>
          <a:prstGeom prst="rect">
            <a:avLst/>
          </a:prstGeom>
          <a:solidFill>
            <a:srgbClr val="0C2445"/>
          </a:solidFill>
          <a:ln w="14287">
            <a:solidFill>
              <a:srgbClr val="FFD21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219200" y="5105400"/>
            <a:ext cx="800100" cy="6858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19200" y="5105400"/>
            <a:ext cx="800100" cy="685800"/>
          </a:xfrm>
          <a:prstGeom prst="rect">
            <a:avLst/>
          </a:prstGeom>
          <a:noFill/>
        </p:spPr>
        <p:txBody>
          <a:bodyPr wrap="square" lIns="0" rIns="0" tIns="0" bIns="0" anchor="ctr">
            <a:spAutoFit/>
          </a:bodyPr>
          <a:lstStyle/>
          <a:p>
            <a:pPr algn="ctr">
              <a:lnSpc>
                <a:spcPct val="100000"/>
              </a:lnSpc>
            </a:pPr>
            <a:r>
              <a:rPr sz="1950" b="1" i="0">
                <a:solidFill>
                  <a:srgbClr val="07172D"/>
                </a:solidFill>
                <a:latin typeface="Montserrat"/>
              </a:rPr>
              <a:t>H₁c</a:t>
            </a:r>
          </a:p>
        </p:txBody>
      </p:sp>
      <p:sp>
        <p:nvSpPr>
          <p:cNvPr id="21" name="TextBox 20"/>
          <p:cNvSpPr txBox="1"/>
          <p:nvPr/>
        </p:nvSpPr>
        <p:spPr>
          <a:xfrm>
            <a:off x="2209800" y="5105400"/>
            <a:ext cx="4914900" cy="685800"/>
          </a:xfrm>
          <a:prstGeom prst="rect">
            <a:avLst/>
          </a:prstGeom>
          <a:noFill/>
        </p:spPr>
        <p:txBody>
          <a:bodyPr wrap="square" lIns="0" rIns="0" tIns="0" bIns="0" anchor="ctr">
            <a:spAutoFit/>
          </a:bodyPr>
          <a:lstStyle/>
          <a:p>
            <a:pPr algn="l">
              <a:lnSpc>
                <a:spcPct val="100000"/>
              </a:lnSpc>
            </a:pPr>
            <a:r>
              <a:rPr sz="1725" b="0" i="0">
                <a:solidFill>
                  <a:srgbClr val="F3F7FC"/>
                </a:solidFill>
                <a:latin typeface="Barlow"/>
              </a:rPr>
              <a:t>Sus probabilidades de acierto son diferentes.</a:t>
            </a:r>
          </a:p>
        </p:txBody>
      </p:sp>
      <p:sp>
        <p:nvSpPr>
          <p:cNvPr id="22" name="TextBox 21"/>
          <p:cNvSpPr txBox="1"/>
          <p:nvPr/>
        </p:nvSpPr>
        <p:spPr>
          <a:xfrm>
            <a:off x="7962900" y="2628900"/>
            <a:ext cx="941070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RESULTADO SOBRE LOS 161 PARES</a:t>
            </a:r>
          </a:p>
        </p:txBody>
      </p:sp>
      <p:sp>
        <p:nvSpPr>
          <p:cNvPr id="23" name="Rectangle 22"/>
          <p:cNvSpPr/>
          <p:nvPr/>
        </p:nvSpPr>
        <p:spPr>
          <a:xfrm>
            <a:off x="10820400" y="2952750"/>
            <a:ext cx="3276600" cy="590550"/>
          </a:xfrm>
          <a:prstGeom prst="rect">
            <a:avLst/>
          </a:prstGeom>
          <a:solidFill>
            <a:srgbClr val="0B5EA8"/>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820400" y="2952750"/>
            <a:ext cx="3276600" cy="590550"/>
          </a:xfrm>
          <a:prstGeom prst="rect">
            <a:avLst/>
          </a:prstGeom>
          <a:noFill/>
        </p:spPr>
        <p:txBody>
          <a:bodyPr wrap="square" lIns="0" rIns="0" tIns="0" bIns="0" anchor="ctr">
            <a:spAutoFit/>
          </a:bodyPr>
          <a:lstStyle/>
          <a:p>
            <a:pPr algn="ctr">
              <a:lnSpc>
                <a:spcPct val="100000"/>
              </a:lnSpc>
            </a:pPr>
            <a:r>
              <a:rPr sz="1650" b="1" i="0">
                <a:solidFill>
                  <a:srgbClr val="F3F7FC"/>
                </a:solidFill>
                <a:latin typeface="Montserrat"/>
              </a:rPr>
              <a:t>Transformer correcto</a:t>
            </a:r>
          </a:p>
        </p:txBody>
      </p:sp>
      <p:sp>
        <p:nvSpPr>
          <p:cNvPr id="25" name="Rectangle 24"/>
          <p:cNvSpPr/>
          <p:nvPr/>
        </p:nvSpPr>
        <p:spPr>
          <a:xfrm>
            <a:off x="14097000" y="2952750"/>
            <a:ext cx="3276600" cy="590550"/>
          </a:xfrm>
          <a:prstGeom prst="rect">
            <a:avLst/>
          </a:prstGeom>
          <a:solidFill>
            <a:srgbClr val="0B5EA8"/>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097000" y="2952750"/>
            <a:ext cx="3276600" cy="590550"/>
          </a:xfrm>
          <a:prstGeom prst="rect">
            <a:avLst/>
          </a:prstGeom>
          <a:noFill/>
        </p:spPr>
        <p:txBody>
          <a:bodyPr wrap="square" lIns="0" rIns="0" tIns="0" bIns="0" anchor="ctr">
            <a:spAutoFit/>
          </a:bodyPr>
          <a:lstStyle/>
          <a:p>
            <a:pPr algn="ctr">
              <a:lnSpc>
                <a:spcPct val="100000"/>
              </a:lnSpc>
            </a:pPr>
            <a:r>
              <a:rPr sz="1650" b="1" i="0">
                <a:solidFill>
                  <a:srgbClr val="F3F7FC"/>
                </a:solidFill>
                <a:latin typeface="Montserrat"/>
              </a:rPr>
              <a:t>Transformer incorrecto</a:t>
            </a:r>
          </a:p>
        </p:txBody>
      </p:sp>
      <p:sp>
        <p:nvSpPr>
          <p:cNvPr id="27" name="Rectangle 26"/>
          <p:cNvSpPr/>
          <p:nvPr/>
        </p:nvSpPr>
        <p:spPr>
          <a:xfrm>
            <a:off x="7962900" y="3543300"/>
            <a:ext cx="2857500" cy="1181100"/>
          </a:xfrm>
          <a:prstGeom prst="rect">
            <a:avLst/>
          </a:prstGeom>
          <a:solidFill>
            <a:srgbClr val="0B5EA8">
              <a:alpha val="55000"/>
            </a:srgbClr>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91500" y="3543300"/>
            <a:ext cx="2476500" cy="11811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TF-IDF correcto</a:t>
            </a:r>
          </a:p>
        </p:txBody>
      </p:sp>
      <p:sp>
        <p:nvSpPr>
          <p:cNvPr id="29" name="Rectangle 28"/>
          <p:cNvSpPr/>
          <p:nvPr/>
        </p:nvSpPr>
        <p:spPr>
          <a:xfrm>
            <a:off x="10820400" y="3543300"/>
            <a:ext cx="3276600" cy="1181100"/>
          </a:xfrm>
          <a:prstGeom prst="rect">
            <a:avLst/>
          </a:prstGeom>
          <a:solidFill>
            <a:srgbClr val="0A1F3D"/>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820400" y="3543300"/>
            <a:ext cx="3276600" cy="1181100"/>
          </a:xfrm>
          <a:prstGeom prst="rect">
            <a:avLst/>
          </a:prstGeom>
          <a:noFill/>
        </p:spPr>
        <p:txBody>
          <a:bodyPr wrap="square" lIns="0" rIns="0" tIns="0" bIns="0" anchor="ctr">
            <a:spAutoFit/>
          </a:bodyPr>
          <a:lstStyle/>
          <a:p>
            <a:pPr algn="ctr">
              <a:lnSpc>
                <a:spcPct val="100000"/>
              </a:lnSpc>
            </a:pPr>
            <a:r>
              <a:rPr sz="4050" b="1" i="0">
                <a:solidFill>
                  <a:srgbClr val="9FB4CC"/>
                </a:solidFill>
                <a:latin typeface="Montserrat"/>
              </a:rPr>
              <a:t>106</a:t>
            </a:r>
          </a:p>
        </p:txBody>
      </p:sp>
      <p:sp>
        <p:nvSpPr>
          <p:cNvPr id="31" name="Rectangle 30"/>
          <p:cNvSpPr/>
          <p:nvPr/>
        </p:nvSpPr>
        <p:spPr>
          <a:xfrm>
            <a:off x="14097000" y="3543300"/>
            <a:ext cx="3276600" cy="1181100"/>
          </a:xfrm>
          <a:prstGeom prst="rect">
            <a:avLst/>
          </a:prstGeom>
          <a:solidFill>
            <a:srgbClr val="0F2C52"/>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4097000" y="3543300"/>
            <a:ext cx="3276600" cy="1181100"/>
          </a:xfrm>
          <a:prstGeom prst="rect">
            <a:avLst/>
          </a:prstGeom>
          <a:noFill/>
        </p:spPr>
        <p:txBody>
          <a:bodyPr wrap="square" lIns="0" rIns="0" tIns="0" bIns="0" anchor="ctr">
            <a:spAutoFit/>
          </a:bodyPr>
          <a:lstStyle/>
          <a:p>
            <a:pPr algn="ctr">
              <a:lnSpc>
                <a:spcPct val="100000"/>
              </a:lnSpc>
            </a:pPr>
            <a:r>
              <a:rPr sz="4050" b="1" i="0">
                <a:solidFill>
                  <a:srgbClr val="F3F7FC"/>
                </a:solidFill>
                <a:latin typeface="Montserrat"/>
              </a:rPr>
              <a:t>3</a:t>
            </a:r>
          </a:p>
        </p:txBody>
      </p:sp>
      <p:sp>
        <p:nvSpPr>
          <p:cNvPr id="33" name="Rounded Rectangle 32"/>
          <p:cNvSpPr/>
          <p:nvPr/>
        </p:nvSpPr>
        <p:spPr>
          <a:xfrm>
            <a:off x="16840200" y="3657600"/>
            <a:ext cx="381000"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6840200" y="3657600"/>
            <a:ext cx="381000" cy="342900"/>
          </a:xfrm>
          <a:prstGeom prst="rect">
            <a:avLst/>
          </a:prstGeom>
          <a:noFill/>
        </p:spPr>
        <p:txBody>
          <a:bodyPr wrap="square" lIns="0" rIns="0" tIns="0" bIns="0" anchor="ctr">
            <a:spAutoFit/>
          </a:bodyPr>
          <a:lstStyle/>
          <a:p>
            <a:pPr algn="ctr">
              <a:lnSpc>
                <a:spcPct val="100000"/>
              </a:lnSpc>
            </a:pPr>
            <a:r>
              <a:rPr sz="1800" b="1" i="1">
                <a:solidFill>
                  <a:srgbClr val="07172D"/>
                </a:solidFill>
                <a:latin typeface="Barlow"/>
              </a:rPr>
              <a:t>b</a:t>
            </a:r>
          </a:p>
        </p:txBody>
      </p:sp>
      <p:sp>
        <p:nvSpPr>
          <p:cNvPr id="35" name="Rectangle 34"/>
          <p:cNvSpPr/>
          <p:nvPr/>
        </p:nvSpPr>
        <p:spPr>
          <a:xfrm>
            <a:off x="7962900" y="4724400"/>
            <a:ext cx="2857500" cy="1181100"/>
          </a:xfrm>
          <a:prstGeom prst="rect">
            <a:avLst/>
          </a:prstGeom>
          <a:solidFill>
            <a:srgbClr val="0B5EA8">
              <a:alpha val="55000"/>
            </a:srgbClr>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91500" y="4724400"/>
            <a:ext cx="2476500" cy="1181100"/>
          </a:xfrm>
          <a:prstGeom prst="rect">
            <a:avLst/>
          </a:prstGeom>
          <a:noFill/>
        </p:spPr>
        <p:txBody>
          <a:bodyPr wrap="square" lIns="0" rIns="0" tIns="0" bIns="0" anchor="ctr">
            <a:spAutoFit/>
          </a:bodyPr>
          <a:lstStyle/>
          <a:p>
            <a:pPr algn="l">
              <a:lnSpc>
                <a:spcPct val="100000"/>
              </a:lnSpc>
            </a:pPr>
            <a:r>
              <a:rPr sz="1800" b="1" i="0">
                <a:solidFill>
                  <a:srgbClr val="F3F7FC"/>
                </a:solidFill>
                <a:latin typeface="Montserrat"/>
              </a:rPr>
              <a:t>TF-IDF incorrecto</a:t>
            </a:r>
          </a:p>
        </p:txBody>
      </p:sp>
      <p:sp>
        <p:nvSpPr>
          <p:cNvPr id="37" name="Rectangle 36"/>
          <p:cNvSpPr/>
          <p:nvPr/>
        </p:nvSpPr>
        <p:spPr>
          <a:xfrm>
            <a:off x="10820400" y="4724400"/>
            <a:ext cx="3276600" cy="1181100"/>
          </a:xfrm>
          <a:prstGeom prst="rect">
            <a:avLst/>
          </a:prstGeom>
          <a:solidFill>
            <a:srgbClr val="0F2C52"/>
          </a:solidFill>
          <a:ln w="28575">
            <a:solidFill>
              <a:srgbClr val="FFD2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820400" y="4724400"/>
            <a:ext cx="3276600" cy="1181100"/>
          </a:xfrm>
          <a:prstGeom prst="rect">
            <a:avLst/>
          </a:prstGeom>
          <a:noFill/>
        </p:spPr>
        <p:txBody>
          <a:bodyPr wrap="square" lIns="0" rIns="0" tIns="0" bIns="0" anchor="ctr">
            <a:spAutoFit/>
          </a:bodyPr>
          <a:lstStyle/>
          <a:p>
            <a:pPr algn="ctr">
              <a:lnSpc>
                <a:spcPct val="100000"/>
              </a:lnSpc>
            </a:pPr>
            <a:r>
              <a:rPr sz="4800" b="1" i="0">
                <a:solidFill>
                  <a:srgbClr val="FFD21F"/>
                </a:solidFill>
                <a:latin typeface="Montserrat"/>
              </a:rPr>
              <a:t>50</a:t>
            </a:r>
          </a:p>
        </p:txBody>
      </p:sp>
      <p:sp>
        <p:nvSpPr>
          <p:cNvPr id="39" name="Rounded Rectangle 38"/>
          <p:cNvSpPr/>
          <p:nvPr/>
        </p:nvSpPr>
        <p:spPr>
          <a:xfrm>
            <a:off x="13563600" y="4838700"/>
            <a:ext cx="381000" cy="342900"/>
          </a:xfrm>
          <a:prstGeom prst="roundRect">
            <a:avLst>
              <a:gd name="adj" fmla="val 11111"/>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3563600" y="4838700"/>
            <a:ext cx="381000" cy="342900"/>
          </a:xfrm>
          <a:prstGeom prst="rect">
            <a:avLst/>
          </a:prstGeom>
          <a:noFill/>
        </p:spPr>
        <p:txBody>
          <a:bodyPr wrap="square" lIns="0" rIns="0" tIns="0" bIns="0" anchor="ctr">
            <a:spAutoFit/>
          </a:bodyPr>
          <a:lstStyle/>
          <a:p>
            <a:pPr algn="ctr">
              <a:lnSpc>
                <a:spcPct val="100000"/>
              </a:lnSpc>
            </a:pPr>
            <a:r>
              <a:rPr sz="1800" b="1" i="1">
                <a:solidFill>
                  <a:srgbClr val="07172D"/>
                </a:solidFill>
                <a:latin typeface="Barlow"/>
              </a:rPr>
              <a:t>c</a:t>
            </a:r>
          </a:p>
        </p:txBody>
      </p:sp>
      <p:sp>
        <p:nvSpPr>
          <p:cNvPr id="41" name="Rectangle 40"/>
          <p:cNvSpPr/>
          <p:nvPr/>
        </p:nvSpPr>
        <p:spPr>
          <a:xfrm>
            <a:off x="14097000" y="4724400"/>
            <a:ext cx="3276600" cy="1181100"/>
          </a:xfrm>
          <a:prstGeom prst="rect">
            <a:avLst/>
          </a:prstGeom>
          <a:solidFill>
            <a:srgbClr val="0A1F3D"/>
          </a:solidFill>
          <a:ln w="9525">
            <a:solidFill>
              <a:srgbClr val="2F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4097000" y="4724400"/>
            <a:ext cx="3276600" cy="1181100"/>
          </a:xfrm>
          <a:prstGeom prst="rect">
            <a:avLst/>
          </a:prstGeom>
          <a:noFill/>
        </p:spPr>
        <p:txBody>
          <a:bodyPr wrap="square" lIns="0" rIns="0" tIns="0" bIns="0" anchor="ctr">
            <a:spAutoFit/>
          </a:bodyPr>
          <a:lstStyle/>
          <a:p>
            <a:pPr algn="ctr">
              <a:lnSpc>
                <a:spcPct val="100000"/>
              </a:lnSpc>
            </a:pPr>
            <a:r>
              <a:rPr sz="4050" b="1" i="0">
                <a:solidFill>
                  <a:srgbClr val="9FB4CC"/>
                </a:solidFill>
                <a:latin typeface="Montserrat"/>
              </a:rPr>
              <a:t>2</a:t>
            </a:r>
          </a:p>
        </p:txBody>
      </p:sp>
      <p:sp>
        <p:nvSpPr>
          <p:cNvPr id="43" name="TextBox 42"/>
          <p:cNvSpPr txBox="1"/>
          <p:nvPr/>
        </p:nvSpPr>
        <p:spPr>
          <a:xfrm>
            <a:off x="7962900" y="6019800"/>
            <a:ext cx="9410700" cy="285750"/>
          </a:xfrm>
          <a:prstGeom prst="rect">
            <a:avLst/>
          </a:prstGeom>
          <a:noFill/>
        </p:spPr>
        <p:txBody>
          <a:bodyPr wrap="square" lIns="0" rIns="0" tIns="0" bIns="0" anchor="t">
            <a:spAutoFit/>
          </a:bodyPr>
          <a:lstStyle/>
          <a:p>
            <a:pPr algn="l">
              <a:lnSpc>
                <a:spcPct val="100000"/>
              </a:lnSpc>
            </a:pPr>
            <a:r>
              <a:rPr sz="1500" b="0" i="0">
                <a:solidFill>
                  <a:srgbClr val="9FB4CC"/>
                </a:solidFill>
                <a:latin typeface="Barlow"/>
              </a:rPr>
              <a:t>Las celdas b y c son las discordancias: solo uno de los dos modelos acierta.</a:t>
            </a:r>
          </a:p>
        </p:txBody>
      </p:sp>
      <p:sp>
        <p:nvSpPr>
          <p:cNvPr id="44" name="Rectangle 43"/>
          <p:cNvSpPr/>
          <p:nvPr/>
        </p:nvSpPr>
        <p:spPr>
          <a:xfrm>
            <a:off x="914400" y="6457950"/>
            <a:ext cx="3943350" cy="1866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14400" y="6457950"/>
            <a:ext cx="394335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62050" y="6667500"/>
            <a:ext cx="344805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ESTADÍSTICO EXACTO</a:t>
            </a:r>
          </a:p>
        </p:txBody>
      </p:sp>
      <p:sp>
        <p:nvSpPr>
          <p:cNvPr id="47" name="Rectangle 46"/>
          <p:cNvSpPr/>
          <p:nvPr/>
        </p:nvSpPr>
        <p:spPr>
          <a:xfrm>
            <a:off x="5086350" y="6457950"/>
            <a:ext cx="3943350" cy="1866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086350" y="6457950"/>
            <a:ext cx="394335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334000" y="6667500"/>
            <a:ext cx="344805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VALOR P BILATERAL</a:t>
            </a:r>
          </a:p>
        </p:txBody>
      </p:sp>
      <p:sp>
        <p:nvSpPr>
          <p:cNvPr id="50" name="Rectangle 49"/>
          <p:cNvSpPr/>
          <p:nvPr/>
        </p:nvSpPr>
        <p:spPr>
          <a:xfrm>
            <a:off x="9258300" y="6457950"/>
            <a:ext cx="3943350" cy="1866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258300" y="6457950"/>
            <a:ext cx="3943350" cy="47625"/>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505950" y="6667500"/>
            <a:ext cx="344805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EXACTITUD</a:t>
            </a:r>
          </a:p>
        </p:txBody>
      </p:sp>
      <p:sp>
        <p:nvSpPr>
          <p:cNvPr id="53" name="Rectangle 52"/>
          <p:cNvSpPr/>
          <p:nvPr/>
        </p:nvSpPr>
        <p:spPr>
          <a:xfrm>
            <a:off x="13430250" y="6457950"/>
            <a:ext cx="3943350" cy="18669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3430250" y="6457950"/>
            <a:ext cx="39433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3677900" y="6667500"/>
            <a:ext cx="3448050" cy="257175"/>
          </a:xfrm>
          <a:prstGeom prst="rect">
            <a:avLst/>
          </a:prstGeom>
          <a:noFill/>
        </p:spPr>
        <p:txBody>
          <a:bodyPr wrap="square" lIns="0" rIns="0" tIns="0" bIns="0" anchor="t">
            <a:spAutoFit/>
          </a:bodyPr>
          <a:lstStyle/>
          <a:p>
            <a:pPr algn="l">
              <a:lnSpc>
                <a:spcPct val="100000"/>
              </a:lnSpc>
            </a:pPr>
            <a:r>
              <a:rPr sz="1350" b="1" i="0" spc="150">
                <a:solidFill>
                  <a:srgbClr val="FFD21F"/>
                </a:solidFill>
                <a:latin typeface="Montserrat"/>
              </a:rPr>
              <a:t>MEJORA</a:t>
            </a:r>
          </a:p>
        </p:txBody>
      </p:sp>
      <p:sp>
        <p:nvSpPr>
          <p:cNvPr id="56" name="TextBox 55"/>
          <p:cNvSpPr txBox="1"/>
          <p:nvPr/>
        </p:nvSpPr>
        <p:spPr>
          <a:xfrm>
            <a:off x="1143000" y="7258050"/>
            <a:ext cx="240938" cy="381000"/>
          </a:xfrm>
          <a:prstGeom prst="rect">
            <a:avLst/>
          </a:prstGeom>
          <a:noFill/>
        </p:spPr>
        <p:txBody>
          <a:bodyPr wrap="none" lIns="0" rIns="0" tIns="0" bIns="0" anchor="ctr">
            <a:spAutoFit/>
          </a:bodyPr>
          <a:lstStyle/>
          <a:p>
            <a:pPr algn="l">
              <a:lnSpc>
                <a:spcPct val="83300"/>
              </a:lnSpc>
            </a:pPr>
            <a:r>
              <a:rPr sz="2400" b="0" i="1">
                <a:solidFill>
                  <a:srgbClr val="F3F7FC"/>
                </a:solidFill>
                <a:latin typeface="Barlow"/>
              </a:rPr>
              <a:t>T</a:t>
            </a:r>
          </a:p>
        </p:txBody>
      </p:sp>
      <p:sp>
        <p:nvSpPr>
          <p:cNvPr id="57" name="TextBox 56"/>
          <p:cNvSpPr txBox="1"/>
          <p:nvPr/>
        </p:nvSpPr>
        <p:spPr>
          <a:xfrm>
            <a:off x="1430420" y="7258050"/>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58" name="TextBox 57"/>
          <p:cNvSpPr txBox="1"/>
          <p:nvPr/>
        </p:nvSpPr>
        <p:spPr>
          <a:xfrm>
            <a:off x="1655972" y="7258050"/>
            <a:ext cx="1302017"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min(b, c) </a:t>
            </a:r>
          </a:p>
        </p:txBody>
      </p:sp>
      <p:sp>
        <p:nvSpPr>
          <p:cNvPr id="59" name="TextBox 58"/>
          <p:cNvSpPr txBox="1"/>
          <p:nvPr/>
        </p:nvSpPr>
        <p:spPr>
          <a:xfrm>
            <a:off x="2903527" y="7258050"/>
            <a:ext cx="218694" cy="381000"/>
          </a:xfrm>
          <a:prstGeom prst="rect">
            <a:avLst/>
          </a:prstGeom>
          <a:noFill/>
        </p:spPr>
        <p:txBody>
          <a:bodyPr wrap="none" lIns="0" rIns="0" tIns="0" bIns="0" anchor="ctr">
            <a:spAutoFit/>
          </a:bodyPr>
          <a:lstStyle/>
          <a:p>
            <a:pPr algn="l">
              <a:lnSpc>
                <a:spcPct val="83300"/>
              </a:lnSpc>
            </a:pPr>
            <a:r>
              <a:rPr sz="2400" b="0" i="0">
                <a:solidFill>
                  <a:srgbClr val="F3F7FC"/>
                </a:solidFill>
                <a:latin typeface="Barlow"/>
              </a:rPr>
              <a:t>=</a:t>
            </a:r>
          </a:p>
        </p:txBody>
      </p:sp>
      <p:sp>
        <p:nvSpPr>
          <p:cNvPr id="60" name="TextBox 59"/>
          <p:cNvSpPr txBox="1"/>
          <p:nvPr/>
        </p:nvSpPr>
        <p:spPr>
          <a:xfrm>
            <a:off x="3129079" y="7248525"/>
            <a:ext cx="257952" cy="400050"/>
          </a:xfrm>
          <a:prstGeom prst="rect">
            <a:avLst/>
          </a:prstGeom>
          <a:noFill/>
        </p:spPr>
        <p:txBody>
          <a:bodyPr wrap="none" lIns="0" rIns="0" tIns="0" bIns="0" anchor="ctr">
            <a:spAutoFit/>
          </a:bodyPr>
          <a:lstStyle/>
          <a:p>
            <a:pPr algn="l">
              <a:lnSpc>
                <a:spcPct val="83300"/>
              </a:lnSpc>
            </a:pPr>
            <a:r>
              <a:rPr sz="2520" b="1" i="0">
                <a:solidFill>
                  <a:srgbClr val="FFD21F"/>
                </a:solidFill>
                <a:latin typeface="Montserrat"/>
              </a:rPr>
              <a:t>3</a:t>
            </a:r>
          </a:p>
        </p:txBody>
      </p:sp>
      <p:sp>
        <p:nvSpPr>
          <p:cNvPr id="61" name="TextBox 60"/>
          <p:cNvSpPr txBox="1"/>
          <p:nvPr/>
        </p:nvSpPr>
        <p:spPr>
          <a:xfrm>
            <a:off x="1162050" y="7886700"/>
            <a:ext cx="3448050" cy="323850"/>
          </a:xfrm>
          <a:prstGeom prst="rect">
            <a:avLst/>
          </a:prstGeom>
          <a:noFill/>
        </p:spPr>
        <p:txBody>
          <a:bodyPr wrap="square" lIns="0" rIns="0" tIns="0" bIns="0" anchor="t">
            <a:spAutoFit/>
          </a:bodyPr>
          <a:lstStyle/>
          <a:p>
            <a:pPr algn="l">
              <a:lnSpc>
                <a:spcPct val="100000"/>
              </a:lnSpc>
            </a:pPr>
            <a:r>
              <a:rPr sz="1650" b="0" i="0">
                <a:solidFill>
                  <a:srgbClr val="9FB4CC"/>
                </a:solidFill>
                <a:latin typeface="Barlow"/>
              </a:rPr>
              <a:t>con 53 discordancias</a:t>
            </a:r>
          </a:p>
        </p:txBody>
      </p:sp>
      <p:sp>
        <p:nvSpPr>
          <p:cNvPr id="62" name="TextBox 61"/>
          <p:cNvSpPr txBox="1"/>
          <p:nvPr/>
        </p:nvSpPr>
        <p:spPr>
          <a:xfrm>
            <a:off x="5314950" y="7269956"/>
            <a:ext cx="224373" cy="357188"/>
          </a:xfrm>
          <a:prstGeom prst="rect">
            <a:avLst/>
          </a:prstGeom>
          <a:noFill/>
        </p:spPr>
        <p:txBody>
          <a:bodyPr wrap="none" lIns="0" rIns="0" tIns="0" bIns="0" anchor="ctr">
            <a:spAutoFit/>
          </a:bodyPr>
          <a:lstStyle/>
          <a:p>
            <a:pPr algn="l">
              <a:lnSpc>
                <a:spcPct val="83300"/>
              </a:lnSpc>
            </a:pPr>
            <a:r>
              <a:rPr sz="2250" b="0" i="1">
                <a:solidFill>
                  <a:srgbClr val="F3F7FC"/>
                </a:solidFill>
                <a:latin typeface="Barlow"/>
              </a:rPr>
              <a:t>p</a:t>
            </a:r>
          </a:p>
        </p:txBody>
      </p:sp>
      <p:sp>
        <p:nvSpPr>
          <p:cNvPr id="63" name="TextBox 62"/>
          <p:cNvSpPr txBox="1"/>
          <p:nvPr/>
        </p:nvSpPr>
        <p:spPr>
          <a:xfrm>
            <a:off x="5579328" y="7269956"/>
            <a:ext cx="208598"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a:t>
            </a:r>
          </a:p>
        </p:txBody>
      </p:sp>
      <p:sp>
        <p:nvSpPr>
          <p:cNvPr id="64" name="TextBox 63"/>
          <p:cNvSpPr txBox="1"/>
          <p:nvPr/>
        </p:nvSpPr>
        <p:spPr>
          <a:xfrm>
            <a:off x="5790783" y="7269956"/>
            <a:ext cx="1137002"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5,52 × 10</a:t>
            </a:r>
          </a:p>
        </p:txBody>
      </p:sp>
      <p:sp>
        <p:nvSpPr>
          <p:cNvPr id="65" name="TextBox 64"/>
          <p:cNvSpPr txBox="1"/>
          <p:nvPr/>
        </p:nvSpPr>
        <p:spPr>
          <a:xfrm>
            <a:off x="6838087" y="7209234"/>
            <a:ext cx="350895" cy="250031"/>
          </a:xfrm>
          <a:prstGeom prst="rect">
            <a:avLst/>
          </a:prstGeom>
          <a:noFill/>
        </p:spPr>
        <p:txBody>
          <a:bodyPr wrap="none" lIns="0" rIns="0" tIns="0" bIns="0" anchor="ctr">
            <a:spAutoFit/>
          </a:bodyPr>
          <a:lstStyle/>
          <a:p>
            <a:pPr algn="l">
              <a:lnSpc>
                <a:spcPct val="83300"/>
              </a:lnSpc>
            </a:pPr>
            <a:r>
              <a:rPr sz="1575" b="0" i="0">
                <a:solidFill>
                  <a:srgbClr val="F3F7FC"/>
                </a:solidFill>
                <a:latin typeface="Barlow"/>
              </a:rPr>
              <a:t>−12</a:t>
            </a:r>
          </a:p>
        </p:txBody>
      </p:sp>
      <p:sp>
        <p:nvSpPr>
          <p:cNvPr id="66" name="TextBox 65"/>
          <p:cNvSpPr txBox="1"/>
          <p:nvPr/>
        </p:nvSpPr>
        <p:spPr>
          <a:xfrm>
            <a:off x="7212360" y="7269956"/>
            <a:ext cx="208598"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&lt;</a:t>
            </a:r>
          </a:p>
        </p:txBody>
      </p:sp>
      <p:sp>
        <p:nvSpPr>
          <p:cNvPr id="67" name="TextBox 66"/>
          <p:cNvSpPr txBox="1"/>
          <p:nvPr/>
        </p:nvSpPr>
        <p:spPr>
          <a:xfrm>
            <a:off x="7423815" y="7269956"/>
            <a:ext cx="624920" cy="357188"/>
          </a:xfrm>
          <a:prstGeom prst="rect">
            <a:avLst/>
          </a:prstGeom>
          <a:noFill/>
        </p:spPr>
        <p:txBody>
          <a:bodyPr wrap="none" lIns="0" rIns="0" tIns="0" bIns="0" anchor="ctr">
            <a:spAutoFit/>
          </a:bodyPr>
          <a:lstStyle/>
          <a:p>
            <a:pPr algn="l">
              <a:lnSpc>
                <a:spcPct val="83300"/>
              </a:lnSpc>
            </a:pPr>
            <a:r>
              <a:rPr sz="2250" b="0" i="0">
                <a:solidFill>
                  <a:srgbClr val="F3F7FC"/>
                </a:solidFill>
                <a:latin typeface="Barlow"/>
              </a:rPr>
              <a:t>0,05</a:t>
            </a:r>
          </a:p>
        </p:txBody>
      </p:sp>
      <p:sp>
        <p:nvSpPr>
          <p:cNvPr id="68" name="TextBox 67"/>
          <p:cNvSpPr txBox="1"/>
          <p:nvPr/>
        </p:nvSpPr>
        <p:spPr>
          <a:xfrm>
            <a:off x="5334000" y="7886700"/>
            <a:ext cx="3448050" cy="323850"/>
          </a:xfrm>
          <a:prstGeom prst="rect">
            <a:avLst/>
          </a:prstGeom>
          <a:noFill/>
        </p:spPr>
        <p:txBody>
          <a:bodyPr wrap="square" lIns="0" rIns="0" tIns="0" bIns="0" anchor="t">
            <a:spAutoFit/>
          </a:bodyPr>
          <a:lstStyle/>
          <a:p>
            <a:pPr algn="l">
              <a:lnSpc>
                <a:spcPct val="100000"/>
              </a:lnSpc>
            </a:pPr>
            <a:r>
              <a:rPr sz="1650" b="0" i="0">
                <a:solidFill>
                  <a:srgbClr val="9FB4CC"/>
                </a:solidFill>
                <a:latin typeface="Barlow"/>
              </a:rPr>
              <a:t>diferencia significativa</a:t>
            </a:r>
          </a:p>
        </p:txBody>
      </p:sp>
      <p:sp>
        <p:nvSpPr>
          <p:cNvPr id="69" name="TextBox 68"/>
          <p:cNvSpPr txBox="1"/>
          <p:nvPr/>
        </p:nvSpPr>
        <p:spPr>
          <a:xfrm>
            <a:off x="9505950" y="7067550"/>
            <a:ext cx="1905000" cy="266700"/>
          </a:xfrm>
          <a:prstGeom prst="rect">
            <a:avLst/>
          </a:prstGeom>
          <a:noFill/>
        </p:spPr>
        <p:txBody>
          <a:bodyPr wrap="square" lIns="0" rIns="0" tIns="0" bIns="0" anchor="t">
            <a:spAutoFit/>
          </a:bodyPr>
          <a:lstStyle/>
          <a:p>
            <a:pPr algn="l">
              <a:lnSpc>
                <a:spcPct val="100000"/>
              </a:lnSpc>
            </a:pPr>
            <a:r>
              <a:rPr sz="1500" b="1" i="0">
                <a:solidFill>
                  <a:srgbClr val="F3F7FC"/>
                </a:solidFill>
                <a:latin typeface="Barlow"/>
              </a:rPr>
              <a:t>TF-IDF</a:t>
            </a:r>
          </a:p>
        </p:txBody>
      </p:sp>
      <p:sp>
        <p:nvSpPr>
          <p:cNvPr id="70" name="TextBox 69"/>
          <p:cNvSpPr txBox="1"/>
          <p:nvPr/>
        </p:nvSpPr>
        <p:spPr>
          <a:xfrm>
            <a:off x="11715750" y="7067550"/>
            <a:ext cx="1238250" cy="266700"/>
          </a:xfrm>
          <a:prstGeom prst="rect">
            <a:avLst/>
          </a:prstGeom>
          <a:noFill/>
        </p:spPr>
        <p:txBody>
          <a:bodyPr wrap="square" lIns="0" rIns="0" tIns="0" bIns="0" anchor="t">
            <a:spAutoFit/>
          </a:bodyPr>
          <a:lstStyle/>
          <a:p>
            <a:pPr algn="r">
              <a:lnSpc>
                <a:spcPct val="100000"/>
              </a:lnSpc>
            </a:pPr>
            <a:r>
              <a:rPr sz="1650" b="1" i="0">
                <a:solidFill>
                  <a:srgbClr val="2F7BFF"/>
                </a:solidFill>
                <a:latin typeface="Montserrat"/>
              </a:rPr>
              <a:t>67,70%</a:t>
            </a:r>
          </a:p>
        </p:txBody>
      </p:sp>
      <p:sp>
        <p:nvSpPr>
          <p:cNvPr id="71" name="Rectangle 70"/>
          <p:cNvSpPr/>
          <p:nvPr/>
        </p:nvSpPr>
        <p:spPr>
          <a:xfrm>
            <a:off x="9505950" y="7391400"/>
            <a:ext cx="344805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9505950" y="7391400"/>
            <a:ext cx="2334330" cy="133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9505950" y="7696200"/>
            <a:ext cx="1905000" cy="266700"/>
          </a:xfrm>
          <a:prstGeom prst="rect">
            <a:avLst/>
          </a:prstGeom>
          <a:noFill/>
        </p:spPr>
        <p:txBody>
          <a:bodyPr wrap="square" lIns="0" rIns="0" tIns="0" bIns="0" anchor="t">
            <a:spAutoFit/>
          </a:bodyPr>
          <a:lstStyle/>
          <a:p>
            <a:pPr algn="l">
              <a:lnSpc>
                <a:spcPct val="100000"/>
              </a:lnSpc>
            </a:pPr>
            <a:r>
              <a:rPr sz="1500" b="1" i="0">
                <a:solidFill>
                  <a:srgbClr val="F3F7FC"/>
                </a:solidFill>
                <a:latin typeface="Barlow"/>
              </a:rPr>
              <a:t>Transformer</a:t>
            </a:r>
          </a:p>
        </p:txBody>
      </p:sp>
      <p:sp>
        <p:nvSpPr>
          <p:cNvPr id="74" name="TextBox 73"/>
          <p:cNvSpPr txBox="1"/>
          <p:nvPr/>
        </p:nvSpPr>
        <p:spPr>
          <a:xfrm>
            <a:off x="11715750" y="7696200"/>
            <a:ext cx="1238250" cy="266700"/>
          </a:xfrm>
          <a:prstGeom prst="rect">
            <a:avLst/>
          </a:prstGeom>
          <a:noFill/>
        </p:spPr>
        <p:txBody>
          <a:bodyPr wrap="square" lIns="0" rIns="0" tIns="0" bIns="0" anchor="t">
            <a:spAutoFit/>
          </a:bodyPr>
          <a:lstStyle/>
          <a:p>
            <a:pPr algn="r">
              <a:lnSpc>
                <a:spcPct val="100000"/>
              </a:lnSpc>
            </a:pPr>
            <a:r>
              <a:rPr sz="1650" b="1" i="0">
                <a:solidFill>
                  <a:srgbClr val="FFD21F"/>
                </a:solidFill>
                <a:latin typeface="Montserrat"/>
              </a:rPr>
              <a:t>96,89%</a:t>
            </a:r>
          </a:p>
        </p:txBody>
      </p:sp>
      <p:sp>
        <p:nvSpPr>
          <p:cNvPr id="75" name="Rectangle 74"/>
          <p:cNvSpPr/>
          <p:nvPr/>
        </p:nvSpPr>
        <p:spPr>
          <a:xfrm>
            <a:off x="9505950" y="8020050"/>
            <a:ext cx="3448050" cy="133350"/>
          </a:xfrm>
          <a:prstGeom prst="rect">
            <a:avLst/>
          </a:prstGeom>
          <a:solidFill>
            <a:srgbClr val="0F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9505950" y="8020050"/>
            <a:ext cx="3340816" cy="1333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3677900" y="7010400"/>
            <a:ext cx="3448050" cy="762000"/>
          </a:xfrm>
          <a:prstGeom prst="rect">
            <a:avLst/>
          </a:prstGeom>
          <a:noFill/>
        </p:spPr>
        <p:txBody>
          <a:bodyPr wrap="square" lIns="0" rIns="0" tIns="0" bIns="0" anchor="t">
            <a:spAutoFit/>
          </a:bodyPr>
          <a:lstStyle/>
          <a:p>
            <a:pPr algn="l">
              <a:lnSpc>
                <a:spcPct val="100000"/>
              </a:lnSpc>
            </a:pPr>
            <a:r>
              <a:rPr sz="4950" b="1" i="0">
                <a:solidFill>
                  <a:srgbClr val="FFD21F"/>
                </a:solidFill>
                <a:latin typeface="Montserrat"/>
              </a:rPr>
              <a:t>29,19</a:t>
            </a:r>
          </a:p>
        </p:txBody>
      </p:sp>
      <p:sp>
        <p:nvSpPr>
          <p:cNvPr id="78" name="TextBox 77"/>
          <p:cNvSpPr txBox="1"/>
          <p:nvPr/>
        </p:nvSpPr>
        <p:spPr>
          <a:xfrm>
            <a:off x="13677900" y="7848600"/>
            <a:ext cx="3448050" cy="323850"/>
          </a:xfrm>
          <a:prstGeom prst="rect">
            <a:avLst/>
          </a:prstGeom>
          <a:noFill/>
        </p:spPr>
        <p:txBody>
          <a:bodyPr wrap="square" lIns="0" rIns="0" tIns="0" bIns="0" anchor="t">
            <a:spAutoFit/>
          </a:bodyPr>
          <a:lstStyle/>
          <a:p>
            <a:pPr algn="l">
              <a:lnSpc>
                <a:spcPct val="100000"/>
              </a:lnSpc>
            </a:pPr>
            <a:r>
              <a:rPr sz="1650" b="0" i="0">
                <a:solidFill>
                  <a:srgbClr val="9FB4CC"/>
                </a:solidFill>
                <a:latin typeface="Barlow"/>
              </a:rPr>
              <a:t>puntos porcentuales</a:t>
            </a:r>
          </a:p>
        </p:txBody>
      </p:sp>
      <p:sp>
        <p:nvSpPr>
          <p:cNvPr id="79" name="Rectangle 78"/>
          <p:cNvSpPr/>
          <p:nvPr/>
        </p:nvSpPr>
        <p:spPr>
          <a:xfrm>
            <a:off x="914400" y="8534400"/>
            <a:ext cx="16459200" cy="1085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4578254" y="8910638"/>
            <a:ext cx="213172" cy="333375"/>
          </a:xfrm>
          <a:prstGeom prst="rect">
            <a:avLst/>
          </a:prstGeom>
          <a:noFill/>
        </p:spPr>
        <p:txBody>
          <a:bodyPr wrap="none" lIns="0" rIns="0" tIns="0" bIns="0" anchor="ctr">
            <a:spAutoFit/>
          </a:bodyPr>
          <a:lstStyle/>
          <a:p>
            <a:pPr algn="l">
              <a:lnSpc>
                <a:spcPct val="83300"/>
              </a:lnSpc>
            </a:pPr>
            <a:r>
              <a:rPr sz="2100" b="0" i="1">
                <a:solidFill>
                  <a:srgbClr val="07172D"/>
                </a:solidFill>
                <a:latin typeface="Barlow"/>
              </a:rPr>
              <a:t>p</a:t>
            </a:r>
          </a:p>
        </p:txBody>
      </p:sp>
      <p:sp>
        <p:nvSpPr>
          <p:cNvPr id="81" name="TextBox 80"/>
          <p:cNvSpPr txBox="1"/>
          <p:nvPr/>
        </p:nvSpPr>
        <p:spPr>
          <a:xfrm>
            <a:off x="14824954" y="8910638"/>
            <a:ext cx="198501" cy="333375"/>
          </a:xfrm>
          <a:prstGeom prst="rect">
            <a:avLst/>
          </a:prstGeom>
          <a:noFill/>
        </p:spPr>
        <p:txBody>
          <a:bodyPr wrap="none" lIns="0" rIns="0" tIns="0" bIns="0" anchor="ctr">
            <a:spAutoFit/>
          </a:bodyPr>
          <a:lstStyle/>
          <a:p>
            <a:pPr algn="l">
              <a:lnSpc>
                <a:spcPct val="83300"/>
              </a:lnSpc>
            </a:pPr>
            <a:r>
              <a:rPr sz="2100" b="0" i="0">
                <a:solidFill>
                  <a:srgbClr val="07172D"/>
                </a:solidFill>
                <a:latin typeface="Barlow"/>
              </a:rPr>
              <a:t>=</a:t>
            </a:r>
          </a:p>
        </p:txBody>
      </p:sp>
      <p:sp>
        <p:nvSpPr>
          <p:cNvPr id="82" name="TextBox 81"/>
          <p:cNvSpPr txBox="1"/>
          <p:nvPr/>
        </p:nvSpPr>
        <p:spPr>
          <a:xfrm>
            <a:off x="15022312" y="8910638"/>
            <a:ext cx="1064749" cy="333375"/>
          </a:xfrm>
          <a:prstGeom prst="rect">
            <a:avLst/>
          </a:prstGeom>
          <a:noFill/>
        </p:spPr>
        <p:txBody>
          <a:bodyPr wrap="none" lIns="0" rIns="0" tIns="0" bIns="0" anchor="ctr">
            <a:spAutoFit/>
          </a:bodyPr>
          <a:lstStyle/>
          <a:p>
            <a:pPr algn="l">
              <a:lnSpc>
                <a:spcPct val="83300"/>
              </a:lnSpc>
            </a:pPr>
            <a:r>
              <a:rPr sz="2100" b="0" i="0">
                <a:solidFill>
                  <a:srgbClr val="07172D"/>
                </a:solidFill>
                <a:latin typeface="Barlow"/>
              </a:rPr>
              <a:t>5,52 × 10</a:t>
            </a:r>
          </a:p>
        </p:txBody>
      </p:sp>
      <p:sp>
        <p:nvSpPr>
          <p:cNvPr id="83" name="TextBox 82"/>
          <p:cNvSpPr txBox="1"/>
          <p:nvPr/>
        </p:nvSpPr>
        <p:spPr>
          <a:xfrm>
            <a:off x="16001452" y="8853964"/>
            <a:ext cx="331415" cy="233362"/>
          </a:xfrm>
          <a:prstGeom prst="rect">
            <a:avLst/>
          </a:prstGeom>
          <a:noFill/>
        </p:spPr>
        <p:txBody>
          <a:bodyPr wrap="none" lIns="0" rIns="0" tIns="0" bIns="0" anchor="ctr">
            <a:spAutoFit/>
          </a:bodyPr>
          <a:lstStyle/>
          <a:p>
            <a:pPr algn="l">
              <a:lnSpc>
                <a:spcPct val="83300"/>
              </a:lnSpc>
            </a:pPr>
            <a:r>
              <a:rPr sz="1470" b="0" i="0">
                <a:solidFill>
                  <a:srgbClr val="07172D"/>
                </a:solidFill>
                <a:latin typeface="Barlow"/>
              </a:rPr>
              <a:t>−12</a:t>
            </a:r>
          </a:p>
        </p:txBody>
      </p:sp>
      <p:sp>
        <p:nvSpPr>
          <p:cNvPr id="84" name="TextBox 83"/>
          <p:cNvSpPr txBox="1"/>
          <p:nvPr/>
        </p:nvSpPr>
        <p:spPr>
          <a:xfrm>
            <a:off x="16352776" y="8910638"/>
            <a:ext cx="198501" cy="333375"/>
          </a:xfrm>
          <a:prstGeom prst="rect">
            <a:avLst/>
          </a:prstGeom>
          <a:noFill/>
        </p:spPr>
        <p:txBody>
          <a:bodyPr wrap="none" lIns="0" rIns="0" tIns="0" bIns="0" anchor="ctr">
            <a:spAutoFit/>
          </a:bodyPr>
          <a:lstStyle/>
          <a:p>
            <a:pPr algn="l">
              <a:lnSpc>
                <a:spcPct val="83300"/>
              </a:lnSpc>
            </a:pPr>
            <a:r>
              <a:rPr sz="2100" b="0" i="0">
                <a:solidFill>
                  <a:srgbClr val="07172D"/>
                </a:solidFill>
                <a:latin typeface="Barlow"/>
              </a:rPr>
              <a:t>&lt;</a:t>
            </a:r>
          </a:p>
        </p:txBody>
      </p:sp>
      <p:sp>
        <p:nvSpPr>
          <p:cNvPr id="85" name="TextBox 84"/>
          <p:cNvSpPr txBox="1"/>
          <p:nvPr/>
        </p:nvSpPr>
        <p:spPr>
          <a:xfrm>
            <a:off x="16550134" y="8910638"/>
            <a:ext cx="586743" cy="333375"/>
          </a:xfrm>
          <a:prstGeom prst="rect">
            <a:avLst/>
          </a:prstGeom>
          <a:noFill/>
        </p:spPr>
        <p:txBody>
          <a:bodyPr wrap="none" lIns="0" rIns="0" tIns="0" bIns="0" anchor="ctr">
            <a:spAutoFit/>
          </a:bodyPr>
          <a:lstStyle/>
          <a:p>
            <a:pPr algn="l">
              <a:lnSpc>
                <a:spcPct val="83300"/>
              </a:lnSpc>
            </a:pPr>
            <a:r>
              <a:rPr sz="2100" b="0" i="0">
                <a:solidFill>
                  <a:srgbClr val="07172D"/>
                </a:solidFill>
                <a:latin typeface="Barlow"/>
              </a:rPr>
              <a:t>0,05</a:t>
            </a:r>
          </a:p>
        </p:txBody>
      </p:sp>
      <p:sp>
        <p:nvSpPr>
          <p:cNvPr id="86" name="TextBox 85"/>
          <p:cNvSpPr txBox="1"/>
          <p:nvPr/>
        </p:nvSpPr>
        <p:spPr>
          <a:xfrm>
            <a:off x="1181100" y="8534400"/>
            <a:ext cx="1498699" cy="1085850"/>
          </a:xfrm>
          <a:prstGeom prst="rect">
            <a:avLst/>
          </a:prstGeom>
          <a:noFill/>
        </p:spPr>
        <p:txBody>
          <a:bodyPr wrap="square" lIns="0" rIns="0" tIns="0" bIns="0" anchor="ctr">
            <a:spAutoFit/>
          </a:bodyPr>
          <a:lstStyle/>
          <a:p>
            <a:pPr algn="l">
              <a:lnSpc>
                <a:spcPct val="100000"/>
              </a:lnSpc>
            </a:pPr>
            <a:r>
              <a:rPr sz="1500" b="1" i="0" spc="200">
                <a:solidFill>
                  <a:srgbClr val="07172D"/>
                </a:solidFill>
                <a:latin typeface="Montserrat"/>
              </a:rPr>
              <a:t>DECISIÓN</a:t>
            </a:r>
          </a:p>
        </p:txBody>
      </p:sp>
      <p:sp>
        <p:nvSpPr>
          <p:cNvPr id="87" name="TextBox 86"/>
          <p:cNvSpPr txBox="1"/>
          <p:nvPr/>
        </p:nvSpPr>
        <p:spPr>
          <a:xfrm>
            <a:off x="2775049" y="8534400"/>
            <a:ext cx="14198501" cy="1085850"/>
          </a:xfrm>
          <a:prstGeom prst="rect">
            <a:avLst/>
          </a:prstGeom>
          <a:noFill/>
        </p:spPr>
        <p:txBody>
          <a:bodyPr wrap="square" lIns="0" rIns="0" tIns="0" bIns="0" anchor="ctr">
            <a:spAutoFit/>
          </a:bodyPr>
          <a:lstStyle/>
          <a:p>
            <a:pPr algn="l">
              <a:lnSpc>
                <a:spcPct val="100000"/>
              </a:lnSpc>
            </a:pPr>
            <a:r>
              <a:rPr sz="1950" b="1" i="0">
                <a:solidFill>
                  <a:srgbClr val="07172D"/>
                </a:solidFill>
                <a:latin typeface="Montserrat"/>
              </a:rPr>
              <a:t>Se rechaza H₀c: la diferencia favorece al Transformer.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Marca titulo"/>
          <p:cNvSpPr/>
          <p:nvPr/>
        </p:nvSpPr>
        <p:spPr>
          <a:xfrm>
            <a:off x="914400" y="762000"/>
            <a:ext cx="171450" cy="1714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itulo"/>
          <p:cNvSpPr txBox="1"/>
          <p:nvPr/>
        </p:nvSpPr>
        <p:spPr>
          <a:xfrm>
            <a:off x="1238250" y="590550"/>
            <a:ext cx="12668250" cy="533400"/>
          </a:xfrm>
          <a:prstGeom prst="rect">
            <a:avLst/>
          </a:prstGeom>
          <a:noFill/>
        </p:spPr>
        <p:txBody>
          <a:bodyPr wrap="square" lIns="0" rIns="0" tIns="0" bIns="0" anchor="ctr">
            <a:spAutoFit/>
          </a:bodyPr>
          <a:lstStyle/>
          <a:p>
            <a:pPr algn="l">
              <a:lnSpc>
                <a:spcPct val="100000"/>
              </a:lnSpc>
            </a:pPr>
            <a:r>
              <a:rPr sz="3300" b="1" i="0">
                <a:solidFill>
                  <a:srgbClr val="F3F7FC"/>
                </a:solidFill>
                <a:latin typeface="Montserrat"/>
              </a:rPr>
              <a:t>MARCO PRÁCTICO</a:t>
            </a:r>
          </a:p>
        </p:txBody>
      </p:sp>
      <p:sp>
        <p:nvSpPr>
          <p:cNvPr id="5" name="Filete"/>
          <p:cNvSpPr/>
          <p:nvPr/>
        </p:nvSpPr>
        <p:spPr>
          <a:xfrm>
            <a:off x="914400" y="1333500"/>
            <a:ext cx="16459200" cy="19050"/>
          </a:xfrm>
          <a:prstGeom prst="rect">
            <a:avLst/>
          </a:prstGeom>
          <a:solidFill>
            <a:srgbClr val="2F7B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Logo carrera" descr="logo_carrera_sistemas_blanco.png"/>
          <p:cNvPicPr>
            <a:picLocks noChangeAspect="1"/>
          </p:cNvPicPr>
          <p:nvPr/>
        </p:nvPicPr>
        <p:blipFill>
          <a:blip r:embed="rId3"/>
          <a:stretch>
            <a:fillRect/>
          </a:stretch>
        </p:blipFill>
        <p:spPr>
          <a:xfrm>
            <a:off x="15280096" y="552450"/>
            <a:ext cx="1996257" cy="666750"/>
          </a:xfrm>
          <a:prstGeom prst="rect">
            <a:avLst/>
          </a:prstGeom>
        </p:spPr>
      </p:pic>
      <p:sp>
        <p:nvSpPr>
          <p:cNvPr id="7" name="Antetitulo"/>
          <p:cNvSpPr txBox="1"/>
          <p:nvPr/>
        </p:nvSpPr>
        <p:spPr>
          <a:xfrm>
            <a:off x="914400" y="1581150"/>
            <a:ext cx="16459200" cy="285750"/>
          </a:xfrm>
          <a:prstGeom prst="rect">
            <a:avLst/>
          </a:prstGeom>
          <a:noFill/>
        </p:spPr>
        <p:txBody>
          <a:bodyPr wrap="square" lIns="0" rIns="0" tIns="0" bIns="0" anchor="t">
            <a:spAutoFit/>
          </a:bodyPr>
          <a:lstStyle/>
          <a:p>
            <a:pPr algn="l">
              <a:lnSpc>
                <a:spcPct val="100000"/>
              </a:lnSpc>
            </a:pPr>
            <a:r>
              <a:rPr sz="1500" b="1" i="0" spc="200">
                <a:solidFill>
                  <a:srgbClr val="FFD21F"/>
                </a:solidFill>
                <a:latin typeface="Montserrat"/>
              </a:rPr>
              <a:t>OE6 · CONTRASTACIÓN DE LA HIPÓTESIS · RESULTADO FINAL</a:t>
            </a:r>
          </a:p>
        </p:txBody>
      </p:sp>
      <p:sp>
        <p:nvSpPr>
          <p:cNvPr id="8" name="Titulo de lamina"/>
          <p:cNvSpPr txBox="1"/>
          <p:nvPr/>
        </p:nvSpPr>
        <p:spPr>
          <a:xfrm>
            <a:off x="914400" y="1866900"/>
            <a:ext cx="1645920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Matriz de contrastación de la hipótesis</a:t>
            </a:r>
          </a:p>
        </p:txBody>
      </p:sp>
      <p:sp>
        <p:nvSpPr>
          <p:cNvPr id="9" name="Rectangle 8"/>
          <p:cNvSpPr/>
          <p:nvPr/>
        </p:nvSpPr>
        <p:spPr>
          <a:xfrm>
            <a:off x="914400" y="2628900"/>
            <a:ext cx="4476750" cy="48958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2628900"/>
            <a:ext cx="4476750" cy="4762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219200" y="2952750"/>
            <a:ext cx="666750" cy="419100"/>
          </a:xfrm>
          <a:prstGeom prst="roundRect">
            <a:avLst>
              <a:gd name="adj" fmla="val 9090"/>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19200" y="2952750"/>
            <a:ext cx="666750" cy="419100"/>
          </a:xfrm>
          <a:prstGeom prst="rect">
            <a:avLst/>
          </a:prstGeom>
          <a:noFill/>
        </p:spPr>
        <p:txBody>
          <a:bodyPr wrap="square" lIns="0" rIns="0" tIns="0" bIns="0" anchor="ctr">
            <a:spAutoFit/>
          </a:bodyPr>
          <a:lstStyle/>
          <a:p>
            <a:pPr algn="ctr">
              <a:lnSpc>
                <a:spcPct val="100000"/>
              </a:lnSpc>
            </a:pPr>
            <a:r>
              <a:rPr sz="1650" b="1" i="0">
                <a:solidFill>
                  <a:srgbClr val="07172D"/>
                </a:solidFill>
                <a:latin typeface="Montserrat"/>
              </a:rPr>
              <a:t>VI</a:t>
            </a:r>
          </a:p>
        </p:txBody>
      </p:sp>
      <p:sp>
        <p:nvSpPr>
          <p:cNvPr id="13" name="TextBox 12"/>
          <p:cNvSpPr txBox="1"/>
          <p:nvPr/>
        </p:nvSpPr>
        <p:spPr>
          <a:xfrm>
            <a:off x="2038350" y="3048000"/>
            <a:ext cx="3048000" cy="257175"/>
          </a:xfrm>
          <a:prstGeom prst="rect">
            <a:avLst/>
          </a:prstGeom>
          <a:noFill/>
        </p:spPr>
        <p:txBody>
          <a:bodyPr wrap="square" lIns="0" rIns="0" tIns="0" bIns="0" anchor="t">
            <a:spAutoFit/>
          </a:bodyPr>
          <a:lstStyle/>
          <a:p>
            <a:pPr algn="l">
              <a:lnSpc>
                <a:spcPct val="100000"/>
              </a:lnSpc>
            </a:pPr>
            <a:r>
              <a:rPr sz="1350" b="1" i="0" spc="150">
                <a:solidFill>
                  <a:srgbClr val="9FB4CC"/>
                </a:solidFill>
                <a:latin typeface="Montserrat"/>
              </a:rPr>
              <a:t>VARIABLE INDEPENDIENTE</a:t>
            </a:r>
          </a:p>
        </p:txBody>
      </p:sp>
      <p:sp>
        <p:nvSpPr>
          <p:cNvPr id="14" name="TextBox 13"/>
          <p:cNvSpPr txBox="1"/>
          <p:nvPr/>
        </p:nvSpPr>
        <p:spPr>
          <a:xfrm>
            <a:off x="1219200" y="3581400"/>
            <a:ext cx="3867150" cy="533400"/>
          </a:xfrm>
          <a:prstGeom prst="rect">
            <a:avLst/>
          </a:prstGeom>
          <a:noFill/>
        </p:spPr>
        <p:txBody>
          <a:bodyPr wrap="square" lIns="0" rIns="0" tIns="0" bIns="0" anchor="t">
            <a:spAutoFit/>
          </a:bodyPr>
          <a:lstStyle/>
          <a:p>
            <a:pPr algn="l">
              <a:lnSpc>
                <a:spcPct val="100000"/>
              </a:lnSpc>
            </a:pPr>
            <a:r>
              <a:rPr sz="3000" b="1" i="0">
                <a:solidFill>
                  <a:srgbClr val="F3F7FC"/>
                </a:solidFill>
                <a:latin typeface="Montserrat"/>
              </a:rPr>
              <a:t>Modelo de PLN</a:t>
            </a:r>
          </a:p>
        </p:txBody>
      </p:sp>
      <p:sp>
        <p:nvSpPr>
          <p:cNvPr id="15" name="Rounded Rectangle 14"/>
          <p:cNvSpPr/>
          <p:nvPr/>
        </p:nvSpPr>
        <p:spPr>
          <a:xfrm>
            <a:off x="1219200" y="4400550"/>
            <a:ext cx="1256258" cy="457200"/>
          </a:xfrm>
          <a:prstGeom prst="roundRect">
            <a:avLst>
              <a:gd name="adj" fmla="val 125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19200" y="4400550"/>
            <a:ext cx="1256258" cy="457200"/>
          </a:xfrm>
          <a:prstGeom prst="rect">
            <a:avLst/>
          </a:prstGeom>
          <a:noFill/>
        </p:spPr>
        <p:txBody>
          <a:bodyPr wrap="none" lIns="0" rIns="0" tIns="0" bIns="0" anchor="ctr">
            <a:spAutoFit/>
          </a:bodyPr>
          <a:lstStyle/>
          <a:p>
            <a:pPr algn="ctr">
              <a:lnSpc>
                <a:spcPct val="100000"/>
              </a:lnSpc>
            </a:pPr>
            <a:r>
              <a:rPr sz="1800" b="0" i="0">
                <a:solidFill>
                  <a:srgbClr val="F3F7FC"/>
                </a:solidFill>
                <a:latin typeface="Barlow"/>
              </a:rPr>
              <a:t>Modelo 3</a:t>
            </a:r>
          </a:p>
        </p:txBody>
      </p:sp>
      <p:sp>
        <p:nvSpPr>
          <p:cNvPr id="17" name="Rounded Rectangle 16"/>
          <p:cNvSpPr/>
          <p:nvPr/>
        </p:nvSpPr>
        <p:spPr>
          <a:xfrm>
            <a:off x="1219200" y="4991100"/>
            <a:ext cx="1655713" cy="457200"/>
          </a:xfrm>
          <a:prstGeom prst="roundRect">
            <a:avLst>
              <a:gd name="adj" fmla="val 125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19200" y="4991100"/>
            <a:ext cx="1655713" cy="457200"/>
          </a:xfrm>
          <a:prstGeom prst="rect">
            <a:avLst/>
          </a:prstGeom>
          <a:noFill/>
        </p:spPr>
        <p:txBody>
          <a:bodyPr wrap="none" lIns="0" rIns="0" tIns="0" bIns="0" anchor="ctr">
            <a:spAutoFit/>
          </a:bodyPr>
          <a:lstStyle/>
          <a:p>
            <a:pPr algn="ctr">
              <a:lnSpc>
                <a:spcPct val="100000"/>
              </a:lnSpc>
            </a:pPr>
            <a:r>
              <a:rPr sz="1800" b="0" i="0">
                <a:solidFill>
                  <a:srgbClr val="F3F7FC"/>
                </a:solidFill>
                <a:latin typeface="Barlow"/>
              </a:rPr>
              <a:t>Cascada v7.5</a:t>
            </a:r>
          </a:p>
        </p:txBody>
      </p:sp>
      <p:sp>
        <p:nvSpPr>
          <p:cNvPr id="19" name="Rounded Rectangle 18"/>
          <p:cNvSpPr/>
          <p:nvPr/>
        </p:nvSpPr>
        <p:spPr>
          <a:xfrm>
            <a:off x="1219200" y="5581650"/>
            <a:ext cx="2232571" cy="457200"/>
          </a:xfrm>
          <a:prstGeom prst="roundRect">
            <a:avLst>
              <a:gd name="adj" fmla="val 12500"/>
            </a:avLst>
          </a:prstGeom>
          <a:solidFill>
            <a:srgbClr val="0F2C52"/>
          </a:solidFill>
          <a:ln w="9525">
            <a:solidFill>
              <a:srgbClr val="2F7B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19200" y="5581650"/>
            <a:ext cx="2232571" cy="457200"/>
          </a:xfrm>
          <a:prstGeom prst="rect">
            <a:avLst/>
          </a:prstGeom>
          <a:noFill/>
        </p:spPr>
        <p:txBody>
          <a:bodyPr wrap="none" lIns="0" rIns="0" tIns="0" bIns="0" anchor="ctr">
            <a:spAutoFit/>
          </a:bodyPr>
          <a:lstStyle/>
          <a:p>
            <a:pPr algn="ctr">
              <a:lnSpc>
                <a:spcPct val="100000"/>
              </a:lnSpc>
            </a:pPr>
            <a:r>
              <a:rPr sz="1800" b="0" i="0">
                <a:solidFill>
                  <a:srgbClr val="F3F7FC"/>
                </a:solidFill>
                <a:latin typeface="Barlow"/>
              </a:rPr>
              <a:t>Human in the Loop</a:t>
            </a:r>
          </a:p>
        </p:txBody>
      </p:sp>
      <p:sp>
        <p:nvSpPr>
          <p:cNvPr id="21" name="Rounded Rectangle 20"/>
          <p:cNvSpPr/>
          <p:nvPr/>
        </p:nvSpPr>
        <p:spPr>
          <a:xfrm>
            <a:off x="1219200" y="6858000"/>
            <a:ext cx="1357997"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 y="6858000"/>
            <a:ext cx="1357997"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APLICADO</a:t>
            </a:r>
          </a:p>
        </p:txBody>
      </p:sp>
      <p:sp>
        <p:nvSpPr>
          <p:cNvPr id="23" name="Rectangle 22"/>
          <p:cNvSpPr/>
          <p:nvPr/>
        </p:nvSpPr>
        <p:spPr>
          <a:xfrm>
            <a:off x="6438900" y="2628900"/>
            <a:ext cx="10934700" cy="259080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438900" y="2628900"/>
            <a:ext cx="57150" cy="259080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743700" y="2876550"/>
            <a:ext cx="74295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743700" y="2876550"/>
            <a:ext cx="742950" cy="419100"/>
          </a:xfrm>
          <a:prstGeom prst="rect">
            <a:avLst/>
          </a:prstGeom>
          <a:noFill/>
        </p:spPr>
        <p:txBody>
          <a:bodyPr wrap="square" lIns="0" rIns="0" tIns="0" bIns="0" anchor="ctr">
            <a:spAutoFit/>
          </a:bodyPr>
          <a:lstStyle/>
          <a:p>
            <a:pPr algn="ctr">
              <a:lnSpc>
                <a:spcPct val="100000"/>
              </a:lnSpc>
            </a:pPr>
            <a:r>
              <a:rPr sz="1650" b="1" i="0">
                <a:solidFill>
                  <a:srgbClr val="F3F7FC"/>
                </a:solidFill>
                <a:latin typeface="Montserrat"/>
              </a:rPr>
              <a:t>VD₁</a:t>
            </a:r>
          </a:p>
        </p:txBody>
      </p:sp>
      <p:sp>
        <p:nvSpPr>
          <p:cNvPr id="27" name="TextBox 26"/>
          <p:cNvSpPr txBox="1"/>
          <p:nvPr/>
        </p:nvSpPr>
        <p:spPr>
          <a:xfrm>
            <a:off x="7658100" y="2876550"/>
            <a:ext cx="7505700" cy="4191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Consistencia de la calidad</a:t>
            </a:r>
          </a:p>
        </p:txBody>
      </p:sp>
      <p:sp>
        <p:nvSpPr>
          <p:cNvPr id="28" name="Rounded Rectangle 27"/>
          <p:cNvSpPr/>
          <p:nvPr/>
        </p:nvSpPr>
        <p:spPr>
          <a:xfrm>
            <a:off x="15914340" y="2914650"/>
            <a:ext cx="1154460"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5914340" y="2914650"/>
            <a:ext cx="1154460"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MEJORA</a:t>
            </a:r>
          </a:p>
        </p:txBody>
      </p:sp>
      <p:sp>
        <p:nvSpPr>
          <p:cNvPr id="30" name="TextBox 29"/>
          <p:cNvSpPr txBox="1"/>
          <p:nvPr/>
        </p:nvSpPr>
        <p:spPr>
          <a:xfrm>
            <a:off x="6743700" y="35242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96,89%</a:t>
            </a:r>
          </a:p>
        </p:txBody>
      </p:sp>
      <p:sp>
        <p:nvSpPr>
          <p:cNvPr id="31" name="TextBox 30"/>
          <p:cNvSpPr txBox="1"/>
          <p:nvPr/>
        </p:nvSpPr>
        <p:spPr>
          <a:xfrm>
            <a:off x="6743700" y="41148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INTERNA</a:t>
            </a:r>
          </a:p>
        </p:txBody>
      </p:sp>
      <p:sp>
        <p:nvSpPr>
          <p:cNvPr id="32" name="Rectangle 31"/>
          <p:cNvSpPr/>
          <p:nvPr/>
        </p:nvSpPr>
        <p:spPr>
          <a:xfrm>
            <a:off x="10052050" y="3600450"/>
            <a:ext cx="14288" cy="838200"/>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85400" y="35242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94,54%</a:t>
            </a:r>
          </a:p>
        </p:txBody>
      </p:sp>
      <p:sp>
        <p:nvSpPr>
          <p:cNvPr id="34" name="TextBox 33"/>
          <p:cNvSpPr txBox="1"/>
          <p:nvPr/>
        </p:nvSpPr>
        <p:spPr>
          <a:xfrm>
            <a:off x="10185400" y="41148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EXTERNA</a:t>
            </a:r>
          </a:p>
        </p:txBody>
      </p:sp>
      <p:sp>
        <p:nvSpPr>
          <p:cNvPr id="35" name="Rectangle 34"/>
          <p:cNvSpPr/>
          <p:nvPr/>
        </p:nvSpPr>
        <p:spPr>
          <a:xfrm>
            <a:off x="13493750" y="3600450"/>
            <a:ext cx="14288" cy="838200"/>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3627100" y="35242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0</a:t>
            </a:r>
          </a:p>
        </p:txBody>
      </p:sp>
      <p:sp>
        <p:nvSpPr>
          <p:cNvPr id="37" name="TextBox 36"/>
          <p:cNvSpPr txBox="1"/>
          <p:nvPr/>
        </p:nvSpPr>
        <p:spPr>
          <a:xfrm>
            <a:off x="13627100" y="41148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ERRORES DE USO</a:t>
            </a:r>
          </a:p>
        </p:txBody>
      </p:sp>
      <p:sp>
        <p:nvSpPr>
          <p:cNvPr id="38" name="Rectangle 37"/>
          <p:cNvSpPr/>
          <p:nvPr/>
        </p:nvSpPr>
        <p:spPr>
          <a:xfrm>
            <a:off x="6743700" y="4552950"/>
            <a:ext cx="10325100" cy="14288"/>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743700" y="4724400"/>
            <a:ext cx="1810643" cy="342900"/>
          </a:xfrm>
          <a:prstGeom prst="rect">
            <a:avLst/>
          </a:prstGeom>
          <a:noFill/>
        </p:spPr>
        <p:txBody>
          <a:bodyPr wrap="none" lIns="0" rIns="0" tIns="0" bIns="0" anchor="ctr">
            <a:spAutoFit/>
          </a:bodyPr>
          <a:lstStyle/>
          <a:p>
            <a:pPr algn="l">
              <a:lnSpc>
                <a:spcPct val="100000"/>
              </a:lnSpc>
            </a:pPr>
            <a:r>
              <a:rPr sz="1800" b="0" i="0">
                <a:solidFill>
                  <a:srgbClr val="9FB4CC"/>
                </a:solidFill>
                <a:latin typeface="Barlow"/>
              </a:rPr>
              <a:t>McNemar exacta:</a:t>
            </a:r>
          </a:p>
        </p:txBody>
      </p:sp>
      <p:sp>
        <p:nvSpPr>
          <p:cNvPr id="40" name="TextBox 39"/>
          <p:cNvSpPr txBox="1"/>
          <p:nvPr/>
        </p:nvSpPr>
        <p:spPr>
          <a:xfrm>
            <a:off x="8592443" y="4729162"/>
            <a:ext cx="213172" cy="333375"/>
          </a:xfrm>
          <a:prstGeom prst="rect">
            <a:avLst/>
          </a:prstGeom>
          <a:noFill/>
        </p:spPr>
        <p:txBody>
          <a:bodyPr wrap="none" lIns="0" rIns="0" tIns="0" bIns="0" anchor="ctr">
            <a:spAutoFit/>
          </a:bodyPr>
          <a:lstStyle/>
          <a:p>
            <a:pPr algn="l">
              <a:lnSpc>
                <a:spcPct val="83300"/>
              </a:lnSpc>
            </a:pPr>
            <a:r>
              <a:rPr sz="2100" b="0" i="1">
                <a:solidFill>
                  <a:srgbClr val="F3F7FC"/>
                </a:solidFill>
                <a:latin typeface="Barlow"/>
              </a:rPr>
              <a:t>p</a:t>
            </a:r>
          </a:p>
        </p:txBody>
      </p:sp>
      <p:sp>
        <p:nvSpPr>
          <p:cNvPr id="41" name="TextBox 40"/>
          <p:cNvSpPr txBox="1"/>
          <p:nvPr/>
        </p:nvSpPr>
        <p:spPr>
          <a:xfrm>
            <a:off x="8839143" y="4729162"/>
            <a:ext cx="198501" cy="333375"/>
          </a:xfrm>
          <a:prstGeom prst="rect">
            <a:avLst/>
          </a:prstGeom>
          <a:noFill/>
        </p:spPr>
        <p:txBody>
          <a:bodyPr wrap="none" lIns="0" rIns="0" tIns="0" bIns="0" anchor="ctr">
            <a:spAutoFit/>
          </a:bodyPr>
          <a:lstStyle/>
          <a:p>
            <a:pPr algn="l">
              <a:lnSpc>
                <a:spcPct val="83300"/>
              </a:lnSpc>
            </a:pPr>
            <a:r>
              <a:rPr sz="2100" b="0" i="0">
                <a:solidFill>
                  <a:srgbClr val="F3F7FC"/>
                </a:solidFill>
                <a:latin typeface="Barlow"/>
              </a:rPr>
              <a:t>=</a:t>
            </a:r>
          </a:p>
        </p:txBody>
      </p:sp>
      <p:sp>
        <p:nvSpPr>
          <p:cNvPr id="42" name="TextBox 41"/>
          <p:cNvSpPr txBox="1"/>
          <p:nvPr/>
        </p:nvSpPr>
        <p:spPr>
          <a:xfrm>
            <a:off x="9036501" y="4729162"/>
            <a:ext cx="1064749" cy="333375"/>
          </a:xfrm>
          <a:prstGeom prst="rect">
            <a:avLst/>
          </a:prstGeom>
          <a:noFill/>
        </p:spPr>
        <p:txBody>
          <a:bodyPr wrap="none" lIns="0" rIns="0" tIns="0" bIns="0" anchor="ctr">
            <a:spAutoFit/>
          </a:bodyPr>
          <a:lstStyle/>
          <a:p>
            <a:pPr algn="l">
              <a:lnSpc>
                <a:spcPct val="83300"/>
              </a:lnSpc>
            </a:pPr>
            <a:r>
              <a:rPr sz="2100" b="0" i="0">
                <a:solidFill>
                  <a:srgbClr val="F3F7FC"/>
                </a:solidFill>
                <a:latin typeface="Barlow"/>
              </a:rPr>
              <a:t>5,52 × 10</a:t>
            </a:r>
          </a:p>
        </p:txBody>
      </p:sp>
      <p:sp>
        <p:nvSpPr>
          <p:cNvPr id="43" name="TextBox 42"/>
          <p:cNvSpPr txBox="1"/>
          <p:nvPr/>
        </p:nvSpPr>
        <p:spPr>
          <a:xfrm>
            <a:off x="10015642" y="4672489"/>
            <a:ext cx="331415" cy="233362"/>
          </a:xfrm>
          <a:prstGeom prst="rect">
            <a:avLst/>
          </a:prstGeom>
          <a:noFill/>
        </p:spPr>
        <p:txBody>
          <a:bodyPr wrap="none" lIns="0" rIns="0" tIns="0" bIns="0" anchor="ctr">
            <a:spAutoFit/>
          </a:bodyPr>
          <a:lstStyle/>
          <a:p>
            <a:pPr algn="l">
              <a:lnSpc>
                <a:spcPct val="83300"/>
              </a:lnSpc>
            </a:pPr>
            <a:r>
              <a:rPr sz="1470" b="0" i="0">
                <a:solidFill>
                  <a:srgbClr val="F3F7FC"/>
                </a:solidFill>
                <a:latin typeface="Barlow"/>
              </a:rPr>
              <a:t>−12</a:t>
            </a:r>
          </a:p>
        </p:txBody>
      </p:sp>
      <p:sp>
        <p:nvSpPr>
          <p:cNvPr id="44" name="TextBox 43"/>
          <p:cNvSpPr txBox="1"/>
          <p:nvPr/>
        </p:nvSpPr>
        <p:spPr>
          <a:xfrm>
            <a:off x="10366965" y="4729162"/>
            <a:ext cx="198501" cy="333375"/>
          </a:xfrm>
          <a:prstGeom prst="rect">
            <a:avLst/>
          </a:prstGeom>
          <a:noFill/>
        </p:spPr>
        <p:txBody>
          <a:bodyPr wrap="none" lIns="0" rIns="0" tIns="0" bIns="0" anchor="ctr">
            <a:spAutoFit/>
          </a:bodyPr>
          <a:lstStyle/>
          <a:p>
            <a:pPr algn="l">
              <a:lnSpc>
                <a:spcPct val="83300"/>
              </a:lnSpc>
            </a:pPr>
            <a:r>
              <a:rPr sz="2100" b="0" i="0">
                <a:solidFill>
                  <a:srgbClr val="F3F7FC"/>
                </a:solidFill>
                <a:latin typeface="Barlow"/>
              </a:rPr>
              <a:t>&lt;</a:t>
            </a:r>
          </a:p>
        </p:txBody>
      </p:sp>
      <p:sp>
        <p:nvSpPr>
          <p:cNvPr id="45" name="TextBox 44"/>
          <p:cNvSpPr txBox="1"/>
          <p:nvPr/>
        </p:nvSpPr>
        <p:spPr>
          <a:xfrm>
            <a:off x="10564323" y="4729162"/>
            <a:ext cx="586743" cy="333375"/>
          </a:xfrm>
          <a:prstGeom prst="rect">
            <a:avLst/>
          </a:prstGeom>
          <a:noFill/>
        </p:spPr>
        <p:txBody>
          <a:bodyPr wrap="none" lIns="0" rIns="0" tIns="0" bIns="0" anchor="ctr">
            <a:spAutoFit/>
          </a:bodyPr>
          <a:lstStyle/>
          <a:p>
            <a:pPr algn="l">
              <a:lnSpc>
                <a:spcPct val="83300"/>
              </a:lnSpc>
            </a:pPr>
            <a:r>
              <a:rPr sz="2100" b="0" i="0">
                <a:solidFill>
                  <a:srgbClr val="F3F7FC"/>
                </a:solidFill>
                <a:latin typeface="Barlow"/>
              </a:rPr>
              <a:t>0,05</a:t>
            </a:r>
          </a:p>
        </p:txBody>
      </p:sp>
      <p:sp>
        <p:nvSpPr>
          <p:cNvPr id="46" name="Rectangle 45"/>
          <p:cNvSpPr/>
          <p:nvPr/>
        </p:nvSpPr>
        <p:spPr>
          <a:xfrm>
            <a:off x="6438900" y="5486400"/>
            <a:ext cx="10934700" cy="2038350"/>
          </a:xfrm>
          <a:prstGeom prst="rect">
            <a:avLst/>
          </a:prstGeom>
          <a:solidFill>
            <a:srgbClr val="0A1F3D"/>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6438900" y="5486400"/>
            <a:ext cx="57150" cy="2038350"/>
          </a:xfrm>
          <a:prstGeom prst="rect">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6743700" y="5734050"/>
            <a:ext cx="742950" cy="419100"/>
          </a:xfrm>
          <a:prstGeom prst="roundRect">
            <a:avLst>
              <a:gd name="adj" fmla="val 9090"/>
            </a:avLst>
          </a:prstGeom>
          <a:solidFill>
            <a:srgbClr val="2F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743700" y="5734050"/>
            <a:ext cx="742950" cy="419100"/>
          </a:xfrm>
          <a:prstGeom prst="rect">
            <a:avLst/>
          </a:prstGeom>
          <a:noFill/>
        </p:spPr>
        <p:txBody>
          <a:bodyPr wrap="square" lIns="0" rIns="0" tIns="0" bIns="0" anchor="ctr">
            <a:spAutoFit/>
          </a:bodyPr>
          <a:lstStyle/>
          <a:p>
            <a:pPr algn="ctr">
              <a:lnSpc>
                <a:spcPct val="100000"/>
              </a:lnSpc>
            </a:pPr>
            <a:r>
              <a:rPr sz="1650" b="1" i="0">
                <a:solidFill>
                  <a:srgbClr val="F3F7FC"/>
                </a:solidFill>
                <a:latin typeface="Montserrat"/>
              </a:rPr>
              <a:t>VD₂</a:t>
            </a:r>
          </a:p>
        </p:txBody>
      </p:sp>
      <p:sp>
        <p:nvSpPr>
          <p:cNvPr id="50" name="TextBox 49"/>
          <p:cNvSpPr txBox="1"/>
          <p:nvPr/>
        </p:nvSpPr>
        <p:spPr>
          <a:xfrm>
            <a:off x="7658100" y="5734050"/>
            <a:ext cx="7505700" cy="419100"/>
          </a:xfrm>
          <a:prstGeom prst="rect">
            <a:avLst/>
          </a:prstGeom>
          <a:noFill/>
        </p:spPr>
        <p:txBody>
          <a:bodyPr wrap="square" lIns="0" rIns="0" tIns="0" bIns="0" anchor="ctr">
            <a:spAutoFit/>
          </a:bodyPr>
          <a:lstStyle/>
          <a:p>
            <a:pPr algn="l">
              <a:lnSpc>
                <a:spcPct val="100000"/>
              </a:lnSpc>
            </a:pPr>
            <a:r>
              <a:rPr sz="2250" b="1" i="0">
                <a:solidFill>
                  <a:srgbClr val="F3F7FC"/>
                </a:solidFill>
                <a:latin typeface="Montserrat"/>
              </a:rPr>
              <a:t>Tiempo de validación</a:t>
            </a:r>
          </a:p>
        </p:txBody>
      </p:sp>
      <p:sp>
        <p:nvSpPr>
          <p:cNvPr id="51" name="Rounded Rectangle 50"/>
          <p:cNvSpPr/>
          <p:nvPr/>
        </p:nvSpPr>
        <p:spPr>
          <a:xfrm>
            <a:off x="15930711" y="5772150"/>
            <a:ext cx="1138089" cy="361950"/>
          </a:xfrm>
          <a:prstGeom prst="roundRect">
            <a:avLst>
              <a:gd name="adj" fmla="val 10526"/>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5930711" y="5772150"/>
            <a:ext cx="1138089" cy="361950"/>
          </a:xfrm>
          <a:prstGeom prst="rect">
            <a:avLst/>
          </a:prstGeom>
          <a:noFill/>
        </p:spPr>
        <p:txBody>
          <a:bodyPr wrap="none" lIns="0" rIns="0" tIns="0" bIns="0" anchor="ctr">
            <a:spAutoFit/>
          </a:bodyPr>
          <a:lstStyle/>
          <a:p>
            <a:pPr algn="ctr">
              <a:lnSpc>
                <a:spcPct val="100000"/>
              </a:lnSpc>
            </a:pPr>
            <a:r>
              <a:rPr sz="1350" b="1" i="0" spc="120">
                <a:solidFill>
                  <a:srgbClr val="07172D"/>
                </a:solidFill>
                <a:latin typeface="Montserrat"/>
              </a:rPr>
              <a:t>REDUCE</a:t>
            </a:r>
          </a:p>
        </p:txBody>
      </p:sp>
      <p:sp>
        <p:nvSpPr>
          <p:cNvPr id="53" name="TextBox 52"/>
          <p:cNvSpPr txBox="1"/>
          <p:nvPr/>
        </p:nvSpPr>
        <p:spPr>
          <a:xfrm>
            <a:off x="6743700" y="63817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6,5166 s</a:t>
            </a:r>
          </a:p>
        </p:txBody>
      </p:sp>
      <p:sp>
        <p:nvSpPr>
          <p:cNvPr id="54" name="TextBox 53"/>
          <p:cNvSpPr txBox="1"/>
          <p:nvPr/>
        </p:nvSpPr>
        <p:spPr>
          <a:xfrm>
            <a:off x="6743700" y="69723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POR CONSULTA</a:t>
            </a:r>
          </a:p>
        </p:txBody>
      </p:sp>
      <p:sp>
        <p:nvSpPr>
          <p:cNvPr id="55" name="Rectangle 54"/>
          <p:cNvSpPr/>
          <p:nvPr/>
        </p:nvSpPr>
        <p:spPr>
          <a:xfrm>
            <a:off x="10052050" y="6457950"/>
            <a:ext cx="14288" cy="838200"/>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0185400" y="63817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−54,21%</a:t>
            </a:r>
          </a:p>
        </p:txBody>
      </p:sp>
      <p:sp>
        <p:nvSpPr>
          <p:cNvPr id="57" name="TextBox 56"/>
          <p:cNvSpPr txBox="1"/>
          <p:nvPr/>
        </p:nvSpPr>
        <p:spPr>
          <a:xfrm>
            <a:off x="10185400" y="69723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HORAS HUMANAS</a:t>
            </a:r>
          </a:p>
        </p:txBody>
      </p:sp>
      <p:sp>
        <p:nvSpPr>
          <p:cNvPr id="58" name="Rectangle 57"/>
          <p:cNvSpPr/>
          <p:nvPr/>
        </p:nvSpPr>
        <p:spPr>
          <a:xfrm>
            <a:off x="13493750" y="6457950"/>
            <a:ext cx="14288" cy="838200"/>
          </a:xfrm>
          <a:prstGeom prst="rect">
            <a:avLst/>
          </a:prstGeom>
          <a:solidFill>
            <a:srgbClr val="2F7B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3627100" y="6381750"/>
            <a:ext cx="3175000" cy="571500"/>
          </a:xfrm>
          <a:prstGeom prst="rect">
            <a:avLst/>
          </a:prstGeom>
          <a:noFill/>
        </p:spPr>
        <p:txBody>
          <a:bodyPr wrap="square" lIns="0" rIns="0" tIns="0" bIns="0" anchor="t">
            <a:spAutoFit/>
          </a:bodyPr>
          <a:lstStyle/>
          <a:p>
            <a:pPr algn="l">
              <a:lnSpc>
                <a:spcPct val="100000"/>
              </a:lnSpc>
            </a:pPr>
            <a:r>
              <a:rPr sz="3450" b="1" i="0">
                <a:solidFill>
                  <a:srgbClr val="FFD21F"/>
                </a:solidFill>
                <a:latin typeface="Montserrat"/>
              </a:rPr>
              <a:t>−14,97%</a:t>
            </a:r>
          </a:p>
        </p:txBody>
      </p:sp>
      <p:sp>
        <p:nvSpPr>
          <p:cNvPr id="60" name="TextBox 59"/>
          <p:cNvSpPr txBox="1"/>
          <p:nvPr/>
        </p:nvSpPr>
        <p:spPr>
          <a:xfrm>
            <a:off x="13627100" y="6972300"/>
            <a:ext cx="3175000" cy="257175"/>
          </a:xfrm>
          <a:prstGeom prst="rect">
            <a:avLst/>
          </a:prstGeom>
          <a:noFill/>
        </p:spPr>
        <p:txBody>
          <a:bodyPr wrap="square" lIns="0" rIns="0" tIns="0" bIns="0" anchor="t">
            <a:spAutoFit/>
          </a:bodyPr>
          <a:lstStyle/>
          <a:p>
            <a:pPr algn="l">
              <a:lnSpc>
                <a:spcPct val="100000"/>
              </a:lnSpc>
            </a:pPr>
            <a:r>
              <a:rPr sz="1350" b="1" i="0" spc="150">
                <a:solidFill>
                  <a:srgbClr val="F3F7FC"/>
                </a:solidFill>
                <a:latin typeface="Montserrat"/>
              </a:rPr>
              <a:t>TIEMPO TOTAL</a:t>
            </a:r>
          </a:p>
        </p:txBody>
      </p:sp>
      <p:sp>
        <p:nvSpPr>
          <p:cNvPr id="61" name="Rectangle 60"/>
          <p:cNvSpPr/>
          <p:nvPr/>
        </p:nvSpPr>
        <p:spPr>
          <a:xfrm>
            <a:off x="5391150" y="5057775"/>
            <a:ext cx="438150" cy="381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810250" y="3924300"/>
            <a:ext cx="38100" cy="25812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ight Arrow 62"/>
          <p:cNvSpPr/>
          <p:nvPr/>
        </p:nvSpPr>
        <p:spPr>
          <a:xfrm>
            <a:off x="5829300" y="3790950"/>
            <a:ext cx="533400" cy="2667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ight Arrow 63"/>
          <p:cNvSpPr/>
          <p:nvPr/>
        </p:nvSpPr>
        <p:spPr>
          <a:xfrm>
            <a:off x="5829300" y="6372225"/>
            <a:ext cx="533400" cy="266700"/>
          </a:xfrm>
          <a:prstGeom prst="rightArrow">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14400" y="7867650"/>
            <a:ext cx="16459200" cy="1752600"/>
          </a:xfrm>
          <a:prstGeom prst="rect">
            <a:avLst/>
          </a:prstGeom>
          <a:solidFill>
            <a:srgbClr val="0C2445"/>
          </a:solidFill>
          <a:ln w="14287">
            <a:solidFill>
              <a:srgbClr val="2F7BFF">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Esquinero"/>
          <p:cNvSpPr/>
          <p:nvPr/>
        </p:nvSpPr>
        <p:spPr>
          <a:xfrm>
            <a:off x="819150" y="77724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Esquinero"/>
          <p:cNvSpPr/>
          <p:nvPr/>
        </p:nvSpPr>
        <p:spPr>
          <a:xfrm>
            <a:off x="819150" y="7772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Esquinero"/>
          <p:cNvSpPr/>
          <p:nvPr/>
        </p:nvSpPr>
        <p:spPr>
          <a:xfrm>
            <a:off x="17145000" y="7772400"/>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Esquinero"/>
          <p:cNvSpPr/>
          <p:nvPr/>
        </p:nvSpPr>
        <p:spPr>
          <a:xfrm>
            <a:off x="17440275" y="777240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Esquinero"/>
          <p:cNvSpPr/>
          <p:nvPr/>
        </p:nvSpPr>
        <p:spPr>
          <a:xfrm>
            <a:off x="819150"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Esquinero"/>
          <p:cNvSpPr/>
          <p:nvPr/>
        </p:nvSpPr>
        <p:spPr>
          <a:xfrm>
            <a:off x="81915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Esquinero"/>
          <p:cNvSpPr/>
          <p:nvPr/>
        </p:nvSpPr>
        <p:spPr>
          <a:xfrm>
            <a:off x="17440275" y="9391650"/>
            <a:ext cx="28575" cy="32385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Esquinero"/>
          <p:cNvSpPr/>
          <p:nvPr/>
        </p:nvSpPr>
        <p:spPr>
          <a:xfrm>
            <a:off x="17145000" y="9686925"/>
            <a:ext cx="323850" cy="28575"/>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914400" y="7867650"/>
            <a:ext cx="3619500" cy="17526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219200" y="7867650"/>
            <a:ext cx="3009900" cy="1752600"/>
          </a:xfrm>
          <a:prstGeom prst="rect">
            <a:avLst/>
          </a:prstGeom>
          <a:noFill/>
        </p:spPr>
        <p:txBody>
          <a:bodyPr wrap="square" lIns="0" rIns="0" tIns="0" bIns="0" anchor="ctr">
            <a:spAutoFit/>
          </a:bodyPr>
          <a:lstStyle/>
          <a:p>
            <a:pPr algn="l">
              <a:lnSpc>
                <a:spcPct val="91700"/>
              </a:lnSpc>
            </a:pPr>
            <a:r>
              <a:rPr sz="3300" b="1" i="0">
                <a:solidFill>
                  <a:srgbClr val="07172D"/>
                </a:solidFill>
                <a:latin typeface="Montserrat"/>
              </a:rPr>
              <a:t>Hipótesis</a:t>
            </a:r>
          </a:p>
          <a:p>
            <a:pPr algn="l">
              <a:lnSpc>
                <a:spcPct val="91700"/>
              </a:lnSpc>
            </a:pPr>
            <a:r>
              <a:rPr sz="3300" b="1" i="0">
                <a:solidFill>
                  <a:srgbClr val="07172D"/>
                </a:solidFill>
                <a:latin typeface="Montserrat"/>
              </a:rPr>
              <a:t>aceptada</a:t>
            </a:r>
          </a:p>
        </p:txBody>
      </p:sp>
      <p:sp>
        <p:nvSpPr>
          <p:cNvPr id="76" name="TextBox 75"/>
          <p:cNvSpPr txBox="1"/>
          <p:nvPr/>
        </p:nvSpPr>
        <p:spPr>
          <a:xfrm>
            <a:off x="4914900" y="8096250"/>
            <a:ext cx="12077700" cy="1295400"/>
          </a:xfrm>
          <a:prstGeom prst="rect">
            <a:avLst/>
          </a:prstGeom>
          <a:noFill/>
        </p:spPr>
        <p:txBody>
          <a:bodyPr wrap="square" lIns="0" rIns="0" tIns="0" bIns="0" anchor="ctr">
            <a:spAutoFit/>
          </a:bodyPr>
          <a:lstStyle/>
          <a:p>
            <a:pPr algn="l">
              <a:lnSpc>
                <a:spcPct val="108300"/>
              </a:lnSpc>
            </a:pPr>
            <a:r>
              <a:rPr sz="2100" b="1" i="0">
                <a:solidFill>
                  <a:srgbClr val="F3F7FC"/>
                </a:solidFill>
                <a:latin typeface="Montserrat"/>
              </a:rPr>
              <a:t>El modelo de Procesamiento de Lenguaje Natural mejora la consistencia de la calidad del matching y reduce el tiempo de validación, en comparación con el proceso manual, en el área de operaciones de Agilsoft SRL.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7172D"/>
        </a:solidFill>
        <a:effectLst/>
      </p:bgPr>
    </p:bg>
    <p:spTree>
      <p:nvGrpSpPr>
        <p:cNvPr id="1" name=""/>
        <p:cNvGrpSpPr/>
        <p:nvPr/>
      </p:nvGrpSpPr>
      <p:grpSpPr/>
      <p:pic>
        <p:nvPicPr>
          <p:cNvPr id="2" name="Fondo" descr="fondo.png"/>
          <p:cNvPicPr>
            <a:picLocks noChangeAspect="1"/>
          </p:cNvPicPr>
          <p:nvPr/>
        </p:nvPicPr>
        <p:blipFill>
          <a:blip r:embed="rId2"/>
          <a:stretch>
            <a:fillRect/>
          </a:stretch>
        </p:blipFill>
        <p:spPr>
          <a:xfrm>
            <a:off x="0" y="0"/>
            <a:ext cx="18288000" cy="10287000"/>
          </a:xfrm>
          <a:prstGeom prst="rect">
            <a:avLst/>
          </a:prstGeom>
        </p:spPr>
      </p:pic>
      <p:sp>
        <p:nvSpPr>
          <p:cNvPr id="3" name="Tarjeta logo EMI"/>
          <p:cNvSpPr/>
          <p:nvPr/>
        </p:nvSpPr>
        <p:spPr>
          <a:xfrm>
            <a:off x="914400" y="723900"/>
            <a:ext cx="3848100" cy="1866900"/>
          </a:xfrm>
          <a:prstGeom prst="roundRect">
            <a:avLst>
              <a:gd name="adj" fmla="val 91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Logo EMI" descr="logo_universidad_2e81de3fa5.png"/>
          <p:cNvPicPr>
            <a:picLocks noChangeAspect="1"/>
          </p:cNvPicPr>
          <p:nvPr/>
        </p:nvPicPr>
        <p:blipFill>
          <a:blip r:embed="rId3"/>
          <a:stretch>
            <a:fillRect/>
          </a:stretch>
        </p:blipFill>
        <p:spPr>
          <a:xfrm>
            <a:off x="1099102" y="857250"/>
            <a:ext cx="3478696" cy="1600200"/>
          </a:xfrm>
          <a:prstGeom prst="rect">
            <a:avLst/>
          </a:prstGeom>
        </p:spPr>
      </p:pic>
      <p:pic>
        <p:nvPicPr>
          <p:cNvPr id="5" name="Logo carrera" descr="logo_carrera_sistemas_blanco_4b1f370dbe.png"/>
          <p:cNvPicPr>
            <a:picLocks noChangeAspect="1"/>
          </p:cNvPicPr>
          <p:nvPr/>
        </p:nvPicPr>
        <p:blipFill>
          <a:blip r:embed="rId4"/>
          <a:stretch>
            <a:fillRect/>
          </a:stretch>
        </p:blipFill>
        <p:spPr>
          <a:xfrm>
            <a:off x="5257800" y="1233920"/>
            <a:ext cx="2857500" cy="846859"/>
          </a:xfrm>
          <a:prstGeom prst="rect">
            <a:avLst/>
          </a:prstGeom>
        </p:spPr>
      </p:pic>
      <p:sp>
        <p:nvSpPr>
          <p:cNvPr id="6" name="Gracias"/>
          <p:cNvSpPr txBox="1"/>
          <p:nvPr/>
        </p:nvSpPr>
        <p:spPr>
          <a:xfrm>
            <a:off x="1333500" y="3143250"/>
            <a:ext cx="10477500" cy="1905000"/>
          </a:xfrm>
          <a:prstGeom prst="rect">
            <a:avLst/>
          </a:prstGeom>
          <a:noFill/>
        </p:spPr>
        <p:txBody>
          <a:bodyPr wrap="square" lIns="0" rIns="0" tIns="0" bIns="0" anchor="t">
            <a:spAutoFit/>
          </a:bodyPr>
          <a:lstStyle/>
          <a:p>
            <a:pPr algn="l">
              <a:lnSpc>
                <a:spcPct val="100000"/>
              </a:lnSpc>
            </a:pPr>
            <a:r>
              <a:rPr sz="12600" b="1" i="0">
                <a:solidFill>
                  <a:srgbClr val="FFD21F"/>
                </a:solidFill>
                <a:latin typeface="Montserrat"/>
              </a:rPr>
              <a:t>Gracias</a:t>
            </a:r>
          </a:p>
        </p:txBody>
      </p:sp>
      <p:sp>
        <p:nvSpPr>
          <p:cNvPr id="7" name="Rectangle 6"/>
          <p:cNvSpPr/>
          <p:nvPr/>
        </p:nvSpPr>
        <p:spPr>
          <a:xfrm>
            <a:off x="1428750" y="5219700"/>
            <a:ext cx="2857500" cy="76200"/>
          </a:xfrm>
          <a:prstGeom prst="rect">
            <a:avLst/>
          </a:prstGeom>
          <a:solidFill>
            <a:srgbClr val="FFD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itulo"/>
          <p:cNvSpPr txBox="1"/>
          <p:nvPr/>
        </p:nvSpPr>
        <p:spPr>
          <a:xfrm>
            <a:off x="1428750" y="5715000"/>
            <a:ext cx="11239500" cy="1428750"/>
          </a:xfrm>
          <a:prstGeom prst="rect">
            <a:avLst/>
          </a:prstGeom>
          <a:noFill/>
        </p:spPr>
        <p:txBody>
          <a:bodyPr wrap="square" lIns="0" rIns="0" tIns="0" bIns="0" anchor="t">
            <a:spAutoFit/>
          </a:bodyPr>
          <a:lstStyle/>
          <a:p>
            <a:pPr algn="l">
              <a:lnSpc>
                <a:spcPct val="108300"/>
              </a:lnSpc>
            </a:pPr>
            <a:r>
              <a:rPr sz="2550" b="1" i="0">
                <a:solidFill>
                  <a:srgbClr val="F3F7FC"/>
                </a:solidFill>
                <a:latin typeface="Montserrat"/>
              </a:rPr>
              <a:t>Modelo de Procesamiento de Lenguaje Natural en la validación</a:t>
            </a:r>
          </a:p>
          <a:p>
            <a:pPr algn="l">
              <a:lnSpc>
                <a:spcPct val="108300"/>
              </a:lnSpc>
            </a:pPr>
            <a:r>
              <a:rPr sz="2550" b="1" i="0">
                <a:solidFill>
                  <a:srgbClr val="F3F7FC"/>
                </a:solidFill>
                <a:latin typeface="Montserrat"/>
              </a:rPr>
              <a:t>de correspondencia de productos del ecosistema Philips</a:t>
            </a:r>
          </a:p>
        </p:txBody>
      </p:sp>
      <p:sp>
        <p:nvSpPr>
          <p:cNvPr id="9" name="TextBox 8"/>
          <p:cNvSpPr txBox="1"/>
          <p:nvPr/>
        </p:nvSpPr>
        <p:spPr>
          <a:xfrm>
            <a:off x="1428750" y="7010400"/>
            <a:ext cx="10668000" cy="381000"/>
          </a:xfrm>
          <a:prstGeom prst="rect">
            <a:avLst/>
          </a:prstGeom>
          <a:noFill/>
        </p:spPr>
        <p:txBody>
          <a:bodyPr wrap="square" lIns="0" rIns="0" tIns="0" bIns="0" anchor="t">
            <a:spAutoFit/>
          </a:bodyPr>
          <a:lstStyle/>
          <a:p>
            <a:pPr algn="l">
              <a:lnSpc>
                <a:spcPct val="100000"/>
              </a:lnSpc>
            </a:pPr>
            <a:r>
              <a:rPr sz="2250" b="1" i="0">
                <a:solidFill>
                  <a:srgbClr val="4F9BFF"/>
                </a:solidFill>
                <a:latin typeface="Barlow"/>
              </a:rPr>
              <a:t>Quedo atento a sus preguntas.</a:t>
            </a:r>
          </a:p>
        </p:txBody>
      </p:sp>
      <p:sp>
        <p:nvSpPr>
          <p:cNvPr id="10" name="Rectangle 9"/>
          <p:cNvSpPr/>
          <p:nvPr/>
        </p:nvSpPr>
        <p:spPr>
          <a:xfrm>
            <a:off x="1428750" y="8420100"/>
            <a:ext cx="15430500" cy="19050"/>
          </a:xfrm>
          <a:prstGeom prst="rect">
            <a:avLst/>
          </a:prstGeom>
          <a:solidFill>
            <a:srgbClr val="6D8FB2">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utor"/>
          <p:cNvSpPr txBox="1"/>
          <p:nvPr/>
        </p:nvSpPr>
        <p:spPr>
          <a:xfrm>
            <a:off x="1428750" y="8686800"/>
            <a:ext cx="9525000" cy="609600"/>
          </a:xfrm>
          <a:prstGeom prst="rect">
            <a:avLst/>
          </a:prstGeom>
          <a:noFill/>
        </p:spPr>
        <p:txBody>
          <a:bodyPr wrap="square" lIns="0" rIns="0" tIns="0" bIns="0" anchor="ctr">
            <a:spAutoFit/>
          </a:bodyPr>
          <a:lstStyle/>
          <a:p>
            <a:pPr algn="l">
              <a:lnSpc>
                <a:spcPct val="100000"/>
              </a:lnSpc>
            </a:pPr>
            <a:r>
              <a:rPr sz="3150" b="1" i="0">
                <a:solidFill>
                  <a:srgbClr val="F3F7FC"/>
                </a:solidFill>
                <a:latin typeface="Montserrat"/>
              </a:rPr>
              <a:t>Est. Cañez Larico Pablo Enrique</a:t>
            </a:r>
          </a:p>
        </p:txBody>
      </p:sp>
      <p:sp>
        <p:nvSpPr>
          <p:cNvPr id="12" name="TextBox 11"/>
          <p:cNvSpPr txBox="1"/>
          <p:nvPr/>
        </p:nvSpPr>
        <p:spPr>
          <a:xfrm>
            <a:off x="11144250" y="8686800"/>
            <a:ext cx="5715000" cy="609600"/>
          </a:xfrm>
          <a:prstGeom prst="rect">
            <a:avLst/>
          </a:prstGeom>
          <a:noFill/>
        </p:spPr>
        <p:txBody>
          <a:bodyPr wrap="square" lIns="0" rIns="0" tIns="0" bIns="0" anchor="ctr">
            <a:spAutoFit/>
          </a:bodyPr>
          <a:lstStyle/>
          <a:p>
            <a:pPr algn="r">
              <a:lnSpc>
                <a:spcPct val="100000"/>
              </a:lnSpc>
            </a:pPr>
            <a:r>
              <a:rPr sz="2100" b="0" i="0">
                <a:solidFill>
                  <a:srgbClr val="9FB4CC"/>
                </a:solidFill>
                <a:latin typeface="Barlow"/>
              </a:rPr>
              <a:t>Tutor: Ing. Víctor Rodríguez Estévez</a:t>
            </a:r>
          </a:p>
        </p:txBody>
      </p:sp>
      <p:cxnSp>
        <p:nvCxnSpPr>
          <p:cNvPr id="13" name="Connector 12"/>
          <p:cNvCxnSpPr/>
          <p:nvPr/>
        </p:nvCxnSpPr>
        <p:spPr>
          <a:xfrm flipH="1">
            <a:off x="13411200" y="1866900"/>
            <a:ext cx="304800" cy="26098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0" y="1143000"/>
            <a:ext cx="2000250" cy="7239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716250" y="1143000"/>
            <a:ext cx="1962150" cy="14287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678400" y="2571750"/>
            <a:ext cx="228600" cy="32385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411200" y="4476750"/>
            <a:ext cx="285750" cy="27622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696950" y="7239000"/>
            <a:ext cx="2495550" cy="55245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6192500" y="5810250"/>
            <a:ext cx="1714500" cy="1981200"/>
          </a:xfrm>
          <a:prstGeom prst="line">
            <a:avLst/>
          </a:prstGeom>
          <a:ln w="14287">
            <a:solidFill>
              <a:srgbClr val="2F7BFF">
                <a:alpha val="45000"/>
              </a:srgbClr>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3649325" y="18002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649575" y="10763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7611725" y="25050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840325" y="57435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3344525" y="44100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630275" y="717232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6125825" y="7724775"/>
            <a:ext cx="133350" cy="133350"/>
          </a:xfrm>
          <a:prstGeom prst="ellipse">
            <a:avLst/>
          </a:prstGeom>
          <a:solidFill>
            <a:srgbClr val="4F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430250" y="2419350"/>
            <a:ext cx="4305300" cy="4305300"/>
          </a:xfrm>
          <a:prstGeom prst="ellipse">
            <a:avLst/>
          </a:prstGeom>
          <a:noFill/>
          <a:ln w="19050">
            <a:solidFill>
              <a:srgbClr val="0B5EA8">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849350" y="2838450"/>
            <a:ext cx="3467100" cy="3467100"/>
          </a:xfrm>
          <a:prstGeom prst="ellipse">
            <a:avLst/>
          </a:prstGeom>
          <a:solidFill>
            <a:srgbClr val="0D2748"/>
          </a:solidFill>
          <a:ln w="47625">
            <a:solidFill>
              <a:srgbClr val="2F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Red neuronal" descr="int_3_1e09114745.png"/>
          <p:cNvPicPr>
            <a:picLocks noChangeAspect="1"/>
          </p:cNvPicPr>
          <p:nvPr/>
        </p:nvPicPr>
        <p:blipFill>
          <a:blip r:embed="rId5"/>
          <a:stretch>
            <a:fillRect/>
          </a:stretch>
        </p:blipFill>
        <p:spPr>
          <a:xfrm>
            <a:off x="14649429" y="3429000"/>
            <a:ext cx="1866942" cy="228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trabajo de grado</dc:title>
  <dc:subject/>
  <dc:creator>Pablo Enrique Cañez Larico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