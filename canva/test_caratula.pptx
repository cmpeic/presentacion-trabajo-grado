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de importación de la carátula.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762000"/>
            <a:ext cx="3810000" cy="1866900"/>
          </a:xfrm>
          <a:prstGeom prst="roundRect">
            <a:avLst>
              <a:gd name="adj" fmla="val 918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logo_univers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480" y="876300"/>
            <a:ext cx="3449841" cy="1638300"/>
          </a:xfrm>
          <a:prstGeom prst="rect">
            <a:avLst/>
          </a:prstGeom>
        </p:spPr>
      </p:pic>
      <p:pic>
        <p:nvPicPr>
          <p:cNvPr id="5" name="Picture 4" descr="logo_carrera_sistemas_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0" y="1237298"/>
            <a:ext cx="2857500" cy="954405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1428750" y="3429000"/>
            <a:ext cx="209550" cy="0"/>
          </a:xfrm>
          <a:prstGeom prst="line">
            <a:avLst/>
          </a:prstGeom>
          <a:ln w="28575">
            <a:solidFill>
              <a:srgbClr val="FFD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28750" y="3429000"/>
            <a:ext cx="0" cy="209550"/>
          </a:xfrm>
          <a:prstGeom prst="line">
            <a:avLst/>
          </a:prstGeom>
          <a:ln w="28575">
            <a:solidFill>
              <a:srgbClr val="FFD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95950" y="3429000"/>
            <a:ext cx="209550" cy="0"/>
          </a:xfrm>
          <a:prstGeom prst="line">
            <a:avLst/>
          </a:prstGeom>
          <a:ln w="28575">
            <a:solidFill>
              <a:srgbClr val="FFD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05500" y="3429000"/>
            <a:ext cx="0" cy="209550"/>
          </a:xfrm>
          <a:prstGeom prst="line">
            <a:avLst/>
          </a:prstGeom>
          <a:ln w="28575">
            <a:solidFill>
              <a:srgbClr val="FFD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28750" y="3924300"/>
            <a:ext cx="0" cy="209550"/>
          </a:xfrm>
          <a:prstGeom prst="line">
            <a:avLst/>
          </a:prstGeom>
          <a:ln w="28575">
            <a:solidFill>
              <a:srgbClr val="FFD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28750" y="4133850"/>
            <a:ext cx="209550" cy="0"/>
          </a:xfrm>
          <a:prstGeom prst="line">
            <a:avLst/>
          </a:prstGeom>
          <a:ln w="28575">
            <a:solidFill>
              <a:srgbClr val="FFD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05500" y="3924300"/>
            <a:ext cx="0" cy="209550"/>
          </a:xfrm>
          <a:prstGeom prst="line">
            <a:avLst/>
          </a:prstGeom>
          <a:ln w="28575">
            <a:solidFill>
              <a:srgbClr val="FFD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95950" y="4133850"/>
            <a:ext cx="209550" cy="0"/>
          </a:xfrm>
          <a:prstGeom prst="line">
            <a:avLst/>
          </a:prstGeom>
          <a:ln w="28575">
            <a:solidFill>
              <a:srgbClr val="FFD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28750" y="3429000"/>
            <a:ext cx="44767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50" b="1" i="0" spc="400">
                <a:solidFill>
                  <a:srgbClr val="FFD21F"/>
                </a:solidFill>
                <a:latin typeface="Montserrat"/>
              </a:rPr>
              <a:t>TRABAJO DE GRADO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8750" y="4476750"/>
            <a:ext cx="1076325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3F7FC"/>
                </a:solidFill>
                <a:latin typeface="Montserrat"/>
              </a:rPr>
              <a:t>Modelo de Procesamiento de Lenguaje Natural en la validación de correspondencia de productos del ecosistema Philips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750" y="7334250"/>
            <a:ext cx="10763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 i="0">
                <a:solidFill>
                  <a:srgbClr val="4F9BFF"/>
                </a:solidFill>
                <a:latin typeface="Inter"/>
              </a:rPr>
              <a:t>Caso de estudio: área de Agilsoft SRL.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28750" y="8572500"/>
            <a:ext cx="15430500" cy="0"/>
          </a:xfrm>
          <a:prstGeom prst="line">
            <a:avLst/>
          </a:prstGeom>
          <a:ln w="14287">
            <a:solidFill>
              <a:srgbClr val="6D8FB2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28750" y="885825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3F7FC"/>
                </a:solidFill>
                <a:latin typeface="Montserrat"/>
              </a:rPr>
              <a:t>Est. Cañez Larico Pablo Enrique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0" y="897255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950" b="0" i="0">
                <a:solidFill>
                  <a:srgbClr val="9FB4CC"/>
                </a:solidFill>
                <a:latin typeface="Inter"/>
              </a:rPr>
              <a:t>Tutor: Ing. Víctor Rodríguez Estévez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620500" y="2381250"/>
            <a:ext cx="1047750" cy="2095500"/>
          </a:xfrm>
          <a:prstGeom prst="line">
            <a:avLst/>
          </a:prstGeom>
          <a:ln w="14287">
            <a:solidFill>
              <a:srgbClr val="2F7BF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620500" y="1428750"/>
            <a:ext cx="2857500" cy="952500"/>
          </a:xfrm>
          <a:prstGeom prst="line">
            <a:avLst/>
          </a:prstGeom>
          <a:ln w="14287">
            <a:solidFill>
              <a:srgbClr val="2F7BF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478000" y="1428750"/>
            <a:ext cx="2476500" cy="1714500"/>
          </a:xfrm>
          <a:prstGeom prst="line">
            <a:avLst/>
          </a:prstGeom>
          <a:ln w="14287">
            <a:solidFill>
              <a:srgbClr val="2F7BF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954500" y="3143250"/>
            <a:ext cx="857250" cy="2571750"/>
          </a:xfrm>
          <a:prstGeom prst="line">
            <a:avLst/>
          </a:prstGeom>
          <a:ln w="14287">
            <a:solidFill>
              <a:srgbClr val="2F7BF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382500" y="4476750"/>
            <a:ext cx="285750" cy="2762250"/>
          </a:xfrm>
          <a:prstGeom prst="line">
            <a:avLst/>
          </a:prstGeom>
          <a:ln w="14287">
            <a:solidFill>
              <a:srgbClr val="2F7BF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382500" y="7239000"/>
            <a:ext cx="2476500" cy="762000"/>
          </a:xfrm>
          <a:prstGeom prst="line">
            <a:avLst/>
          </a:prstGeom>
          <a:ln w="14287">
            <a:solidFill>
              <a:srgbClr val="2F7BF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563350" y="2324100"/>
            <a:ext cx="114300" cy="114300"/>
          </a:xfrm>
          <a:prstGeom prst="ellipse">
            <a:avLst/>
          </a:prstGeom>
          <a:solidFill>
            <a:srgbClr val="4F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420850" y="1371600"/>
            <a:ext cx="114300" cy="114300"/>
          </a:xfrm>
          <a:prstGeom prst="ellipse">
            <a:avLst/>
          </a:prstGeom>
          <a:solidFill>
            <a:srgbClr val="4F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897350" y="3086100"/>
            <a:ext cx="114300" cy="114300"/>
          </a:xfrm>
          <a:prstGeom prst="ellipse">
            <a:avLst/>
          </a:prstGeom>
          <a:solidFill>
            <a:srgbClr val="4F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754600" y="5657850"/>
            <a:ext cx="114300" cy="114300"/>
          </a:xfrm>
          <a:prstGeom prst="ellipse">
            <a:avLst/>
          </a:prstGeom>
          <a:solidFill>
            <a:srgbClr val="4F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611100" y="4419600"/>
            <a:ext cx="114300" cy="114300"/>
          </a:xfrm>
          <a:prstGeom prst="ellipse">
            <a:avLst/>
          </a:prstGeom>
          <a:solidFill>
            <a:srgbClr val="4F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325350" y="7181850"/>
            <a:ext cx="114300" cy="114300"/>
          </a:xfrm>
          <a:prstGeom prst="ellipse">
            <a:avLst/>
          </a:prstGeom>
          <a:solidFill>
            <a:srgbClr val="4F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801850" y="7943850"/>
            <a:ext cx="114300" cy="114300"/>
          </a:xfrm>
          <a:prstGeom prst="ellipse">
            <a:avLst/>
          </a:prstGeom>
          <a:solidFill>
            <a:srgbClr val="4F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477750" y="2190750"/>
            <a:ext cx="4762500" cy="4762500"/>
          </a:xfrm>
          <a:prstGeom prst="ellipse">
            <a:avLst/>
          </a:prstGeom>
          <a:noFill/>
          <a:ln w="19050">
            <a:solidFill>
              <a:srgbClr val="0B5EA8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906375" y="2619375"/>
            <a:ext cx="3905250" cy="3905250"/>
          </a:xfrm>
          <a:prstGeom prst="ellipse">
            <a:avLst/>
          </a:prstGeom>
          <a:solidFill>
            <a:srgbClr val="0D2748"/>
          </a:solidFill>
          <a:ln w="47625">
            <a:solidFill>
              <a:srgbClr val="2F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n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77875" y="3190875"/>
            <a:ext cx="2762250" cy="2762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